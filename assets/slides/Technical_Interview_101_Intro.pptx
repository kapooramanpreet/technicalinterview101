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2615" autoAdjust="0"/>
  </p:normalViewPr>
  <p:slideViewPr>
    <p:cSldViewPr snapToGrid="0" snapToObjects="1">
      <p:cViewPr varScale="1">
        <p:scale>
          <a:sx n="102" d="100"/>
          <a:sy n="102" d="100"/>
        </p:scale>
        <p:origin x="91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5263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A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22600" y="1007532"/>
            <a:ext cx="8356600" cy="493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4294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3022600" y="1806045"/>
            <a:ext cx="8356600" cy="4239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9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22600" y="1007532"/>
            <a:ext cx="8356600" cy="493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4294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3022600" y="1806045"/>
            <a:ext cx="8356600" cy="4239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9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9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echnical Interview 101 logo"/>
          <p:cNvPicPr>
            <a:picLocks noChangeAspect="1"/>
          </p:cNvPicPr>
          <p:nvPr/>
        </p:nvPicPr>
        <p:blipFill>
          <a:blip r:embed="rId3"/>
          <a:srcRect t="-27" b="-27"/>
          <a:stretch/>
        </p:blipFill>
        <p:spPr>
          <a:xfrm>
            <a:off x="812800" y="812800"/>
            <a:ext cx="1905000" cy="12763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12800" y="2551113"/>
            <a:ext cx="10566400" cy="0"/>
          </a:xfrm>
          <a:prstGeom prst="line">
            <a:avLst/>
          </a:prstGeom>
          <a:noFill/>
          <a:ln w="19050">
            <a:solidFill>
              <a:srgbClr val="EE56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812800" y="2787121"/>
            <a:ext cx="10883392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EE562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FALL 2026 · WEDNESDAYS 5:30–7:00 P.M.</a:t>
            </a:r>
            <a:endParaRPr lang="en-US" sz="1400" dirty="0"/>
          </a:p>
        </p:txBody>
      </p:sp>
      <p:sp>
        <p:nvSpPr>
          <p:cNvPr id="5" name="Text 2"/>
          <p:cNvSpPr>
            <a:spLocks noGrp="1"/>
          </p:cNvSpPr>
          <p:nvPr>
            <p:ph type="title"/>
          </p:nvPr>
        </p:nvSpPr>
        <p:spPr>
          <a:xfrm>
            <a:off x="812800" y="3213806"/>
            <a:ext cx="10883392" cy="880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732"/>
              </a:lnSpc>
              <a:buNone/>
            </a:pPr>
            <a:r>
              <a:rPr lang="en-US" sz="6600" b="1" i="0" kern="0" spc="-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Interview 101</a:t>
            </a:r>
            <a:endParaRPr lang="en-US" sz="6600" dirty="0"/>
          </a:p>
        </p:txBody>
      </p:sp>
      <p:sp>
        <p:nvSpPr>
          <p:cNvPr id="6" name="Text 3"/>
          <p:cNvSpPr/>
          <p:nvPr/>
        </p:nvSpPr>
        <p:spPr>
          <a:xfrm>
            <a:off x="812800" y="4246563"/>
            <a:ext cx="850265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dirty="0">
                <a:solidFill>
                  <a:srgbClr val="C7D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free workshop series at the University of Florida, built on peer support, real-time feedback, and AI assistance.</a:t>
            </a:r>
            <a:endParaRPr lang="en-US" sz="2000" dirty="0"/>
          </a:p>
        </p:txBody>
      </p:sp>
      <p:pic>
        <p:nvPicPr>
          <p:cNvPr id="7" name="Image 1" descr="UF Computer &amp; Information Science &amp; Engineering"/>
          <p:cNvPicPr>
            <a:picLocks noChangeAspect="1"/>
          </p:cNvPicPr>
          <p:nvPr/>
        </p:nvPicPr>
        <p:blipFill>
          <a:blip r:embed="rId4"/>
          <a:srcRect t="-350" b="-350"/>
          <a:stretch/>
        </p:blipFill>
        <p:spPr>
          <a:xfrm>
            <a:off x="812800" y="5384800"/>
            <a:ext cx="660400" cy="660400"/>
          </a:xfrm>
          <a:prstGeom prst="roundRect">
            <a:avLst>
              <a:gd name="adj" fmla="val 5769"/>
            </a:avLst>
          </a:prstGeom>
        </p:spPr>
      </p:pic>
      <p:pic>
        <p:nvPicPr>
          <p:cNvPr id="8" name="Image 2" descr="UF Engineering Education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676400" y="5384800"/>
            <a:ext cx="660400" cy="660400"/>
          </a:xfrm>
          <a:prstGeom prst="roundRect">
            <a:avLst>
              <a:gd name="adj" fmla="val 5769"/>
            </a:avLst>
          </a:prstGeom>
        </p:spPr>
      </p:pic>
      <p:sp>
        <p:nvSpPr>
          <p:cNvPr id="9" name="Text 4"/>
          <p:cNvSpPr/>
          <p:nvPr/>
        </p:nvSpPr>
        <p:spPr>
          <a:xfrm>
            <a:off x="2540000" y="5599465"/>
            <a:ext cx="4180946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7D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UF Herbert Wertheim College of Engineering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22325"/>
            <a:ext cx="10566400" cy="0"/>
          </a:xfrm>
          <a:prstGeom prst="line">
            <a:avLst/>
          </a:prstGeom>
          <a:noFill/>
          <a:ln w="19050">
            <a:solidFill>
              <a:srgbClr val="1429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12800" y="1007533"/>
            <a:ext cx="1962150" cy="1012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b="1" kern="0" spc="150" dirty="0">
                <a:solidFill>
                  <a:srgbClr val="C9410F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WHY IT MATTERS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3022600" y="1007533"/>
            <a:ext cx="8607298" cy="1012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88"/>
              </a:lnSpc>
              <a:buNone/>
            </a:pPr>
            <a:r>
              <a:rPr lang="en-US" sz="3600" b="1" i="0" kern="0" spc="-100" dirty="0">
                <a:solidFill>
                  <a:srgbClr val="1429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Interview skill is practiced, not absorbed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12800" y="2401358"/>
            <a:ext cx="196215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EE562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519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12800" y="3264958"/>
            <a:ext cx="1962150" cy="1180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562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 undergraduates at three U.S. universities, studied in Kapoor &amp; Gardner-McCune, SIGCSE ’20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022600" y="1729717"/>
            <a:ext cx="8356600" cy="0"/>
          </a:xfrm>
          <a:prstGeom prst="line">
            <a:avLst/>
          </a:prstGeom>
          <a:noFill/>
          <a:ln w="6350">
            <a:solidFill>
              <a:srgbClr val="C9C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022600" y="1935387"/>
            <a:ext cx="2354580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-25" dirty="0">
                <a:solidFill>
                  <a:srgbClr val="1429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Landed internships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562600" y="1935387"/>
            <a:ext cx="5991098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429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Deliberately practiced interview questions and set aside time for career preparation.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022600" y="2710616"/>
            <a:ext cx="8356600" cy="0"/>
          </a:xfrm>
          <a:prstGeom prst="line">
            <a:avLst/>
          </a:prstGeom>
          <a:noFill/>
          <a:ln w="6350">
            <a:solidFill>
              <a:srgbClr val="C9C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022600" y="4702358"/>
            <a:ext cx="235458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-25" dirty="0">
                <a:solidFill>
                  <a:srgbClr val="5562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Did not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562600" y="4702358"/>
            <a:ext cx="5991098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5562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Relied on their coursework alone.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022600" y="5193160"/>
            <a:ext cx="8356600" cy="0"/>
          </a:xfrm>
          <a:prstGeom prst="line">
            <a:avLst/>
          </a:prstGeom>
          <a:noFill/>
          <a:ln w="6350">
            <a:solidFill>
              <a:srgbClr val="C9C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022600" y="6173353"/>
            <a:ext cx="8356600" cy="0"/>
          </a:xfrm>
          <a:prstGeom prst="line">
            <a:avLst/>
          </a:prstGeom>
          <a:noFill/>
          <a:ln w="6350">
            <a:solidFill>
              <a:srgbClr val="C9C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022600" y="5398829"/>
            <a:ext cx="2354580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-25" dirty="0">
                <a:solidFill>
                  <a:srgbClr val="1429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Peer mock interviews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562600" y="5398829"/>
            <a:ext cx="5991098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429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students who interviewed each other at whiteboards all received Big Five offers.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2800" y="6235700"/>
            <a:ext cx="2523808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589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Technical Interview 101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145485" y="6235700"/>
            <a:ext cx="233715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589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02</a:t>
            </a:r>
            <a:endParaRPr lang="en-US" sz="12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1B010F3-504C-0472-993E-CE4EEE43C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7180" y="2889744"/>
            <a:ext cx="3234722" cy="16316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22325"/>
            <a:ext cx="10566400" cy="0"/>
          </a:xfrm>
          <a:prstGeom prst="line">
            <a:avLst/>
          </a:prstGeom>
          <a:noFill/>
          <a:ln w="19050">
            <a:solidFill>
              <a:srgbClr val="1429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12800" y="1007534"/>
            <a:ext cx="1962150" cy="12352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b="1" kern="0" spc="150" dirty="0">
                <a:solidFill>
                  <a:srgbClr val="C9410F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THE INTERVIEW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3022600" y="1007534"/>
            <a:ext cx="8607298" cy="519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88"/>
              </a:lnSpc>
              <a:buNone/>
            </a:pPr>
            <a:r>
              <a:rPr lang="en-US" sz="3600" b="1" i="0" kern="0" spc="-100" dirty="0">
                <a:solidFill>
                  <a:srgbClr val="1429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a technical interview entails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022600" y="1628246"/>
            <a:ext cx="8607298" cy="614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5562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Typically 45–60 minutes with an engineer: one or two problems, solved live in a shared editor or on a whiteboard, while you think out loud.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12800" y="2630136"/>
            <a:ext cx="1950685" cy="0"/>
          </a:xfrm>
          <a:prstGeom prst="line">
            <a:avLst/>
          </a:prstGeom>
          <a:noFill/>
          <a:ln w="12700">
            <a:solidFill>
              <a:srgbClr val="1429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12800" y="2787473"/>
            <a:ext cx="2009205" cy="416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E562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12800" y="3280217"/>
            <a:ext cx="200920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kern="0" spc="-25" dirty="0">
                <a:solidFill>
                  <a:srgbClr val="1429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Clarify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12800" y="3686617"/>
            <a:ext cx="2009205" cy="7720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562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questions. Pin down inputs, outputs, and edge cases.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966685" y="2630136"/>
            <a:ext cx="1950685" cy="0"/>
          </a:xfrm>
          <a:prstGeom prst="line">
            <a:avLst/>
          </a:prstGeom>
          <a:noFill/>
          <a:ln w="12700">
            <a:solidFill>
              <a:srgbClr val="1429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66685" y="2787473"/>
            <a:ext cx="2009205" cy="416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E562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966685" y="3280217"/>
            <a:ext cx="200920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kern="0" spc="-25" dirty="0">
                <a:solidFill>
                  <a:srgbClr val="1429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966685" y="3686617"/>
            <a:ext cx="2009205" cy="7720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562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 a brute force, then improve it before you code.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120570" y="2630136"/>
            <a:ext cx="1950773" cy="0"/>
          </a:xfrm>
          <a:prstGeom prst="line">
            <a:avLst/>
          </a:prstGeom>
          <a:noFill/>
          <a:ln w="12700">
            <a:solidFill>
              <a:srgbClr val="1429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20570" y="2787473"/>
            <a:ext cx="2009296" cy="416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E562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120570" y="3280217"/>
            <a:ext cx="200929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kern="0" spc="-25" dirty="0">
                <a:solidFill>
                  <a:srgbClr val="1429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120570" y="3686617"/>
            <a:ext cx="2009296" cy="7720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562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clean, working code and narrate your choices.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274543" y="2630136"/>
            <a:ext cx="1950685" cy="0"/>
          </a:xfrm>
          <a:prstGeom prst="line">
            <a:avLst/>
          </a:prstGeom>
          <a:noFill/>
          <a:ln w="12700">
            <a:solidFill>
              <a:srgbClr val="1429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274543" y="2787473"/>
            <a:ext cx="2009205" cy="416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E562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274543" y="3280217"/>
            <a:ext cx="200920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kern="0" spc="-25" dirty="0">
                <a:solidFill>
                  <a:srgbClr val="1429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274543" y="3686617"/>
            <a:ext cx="2009205" cy="7720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562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Trace examples by hand and catch your own bugs.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428427" y="2630136"/>
            <a:ext cx="1950773" cy="0"/>
          </a:xfrm>
          <a:prstGeom prst="line">
            <a:avLst/>
          </a:prstGeom>
          <a:noFill/>
          <a:ln w="12700">
            <a:solidFill>
              <a:srgbClr val="1429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428427" y="2787473"/>
            <a:ext cx="2009296" cy="416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E562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428427" y="3280217"/>
            <a:ext cx="200929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kern="0" spc="-25" dirty="0">
                <a:solidFill>
                  <a:srgbClr val="1429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428427" y="3686617"/>
            <a:ext cx="2009296" cy="7720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562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Give time and space complexity, and discuss tradeoffs.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12800" y="6235700"/>
            <a:ext cx="2523808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589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Technical Interview 101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145485" y="6235700"/>
            <a:ext cx="233715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589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22325"/>
            <a:ext cx="10566400" cy="0"/>
          </a:xfrm>
          <a:prstGeom prst="line">
            <a:avLst/>
          </a:prstGeom>
          <a:noFill/>
          <a:ln w="19050">
            <a:solidFill>
              <a:srgbClr val="1429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12800" y="1007534"/>
            <a:ext cx="1962150" cy="1012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b="1" kern="0" spc="150" dirty="0">
                <a:solidFill>
                  <a:srgbClr val="C9410F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WHAT THEY ASSESS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3022600" y="1007534"/>
            <a:ext cx="8607298" cy="1012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88"/>
              </a:lnSpc>
              <a:buNone/>
            </a:pPr>
            <a:r>
              <a:rPr lang="en-US" sz="3600" b="1" i="0" kern="0" spc="-100" dirty="0">
                <a:solidFill>
                  <a:srgbClr val="1429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Interviewers score the process as much as the answer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5975" y="2404534"/>
            <a:ext cx="5175250" cy="1427339"/>
          </a:xfrm>
          <a:prstGeom prst="roundRect">
            <a:avLst>
              <a:gd name="adj" fmla="val 3337"/>
            </a:avLst>
          </a:prstGeom>
          <a:solidFill>
            <a:srgbClr val="FFFFFF"/>
          </a:solidFill>
          <a:ln w="6350">
            <a:solidFill>
              <a:srgbClr val="DA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72444" y="2661003"/>
            <a:ext cx="480218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kern="0" spc="-25" dirty="0">
                <a:solidFill>
                  <a:srgbClr val="1429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solving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72444" y="3042003"/>
            <a:ext cx="480218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5562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Picking the right data structure and finding an efficient approach.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00775" y="2404534"/>
            <a:ext cx="5175250" cy="1427339"/>
          </a:xfrm>
          <a:prstGeom prst="roundRect">
            <a:avLst>
              <a:gd name="adj" fmla="val 3337"/>
            </a:avLst>
          </a:prstGeom>
          <a:solidFill>
            <a:srgbClr val="FFFFFF"/>
          </a:solidFill>
          <a:ln w="6350">
            <a:solidFill>
              <a:srgbClr val="DA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57245" y="2661003"/>
            <a:ext cx="480218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kern="0" spc="-25" dirty="0">
                <a:solidFill>
                  <a:srgbClr val="1429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Coding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57245" y="3042003"/>
            <a:ext cx="480218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5562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Correct, readable code written without an IDE to lean on.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5975" y="4041423"/>
            <a:ext cx="5175250" cy="1427339"/>
          </a:xfrm>
          <a:prstGeom prst="roundRect">
            <a:avLst>
              <a:gd name="adj" fmla="val 3337"/>
            </a:avLst>
          </a:prstGeom>
          <a:solidFill>
            <a:srgbClr val="FFFFFF"/>
          </a:solidFill>
          <a:ln w="6350">
            <a:solidFill>
              <a:srgbClr val="DA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72444" y="4297891"/>
            <a:ext cx="480218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kern="0" spc="-25" dirty="0">
                <a:solidFill>
                  <a:srgbClr val="1429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Communication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72444" y="4678891"/>
            <a:ext cx="480218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5562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Explaining your thinking out loud and using hints well.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00775" y="4041423"/>
            <a:ext cx="5175250" cy="1427339"/>
          </a:xfrm>
          <a:prstGeom prst="roundRect">
            <a:avLst>
              <a:gd name="adj" fmla="val 3337"/>
            </a:avLst>
          </a:prstGeom>
          <a:solidFill>
            <a:srgbClr val="FFFFFF"/>
          </a:solidFill>
          <a:ln w="6350">
            <a:solidFill>
              <a:srgbClr val="DA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57245" y="4297891"/>
            <a:ext cx="480218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kern="0" spc="-25" dirty="0">
                <a:solidFill>
                  <a:srgbClr val="1429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Verification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57245" y="4678891"/>
            <a:ext cx="480218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5562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 your own code and reasoning about complexity.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2800" y="6235700"/>
            <a:ext cx="2523808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589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Technical Interview 101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145485" y="6235700"/>
            <a:ext cx="233715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589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22325"/>
            <a:ext cx="10566400" cy="0"/>
          </a:xfrm>
          <a:prstGeom prst="line">
            <a:avLst/>
          </a:prstGeom>
          <a:noFill/>
          <a:ln w="19050">
            <a:solidFill>
              <a:srgbClr val="1429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12800" y="1007532"/>
            <a:ext cx="1962150" cy="1728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b="1" kern="0" spc="150" dirty="0">
                <a:solidFill>
                  <a:srgbClr val="C9410F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THE PROGRAM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3022600" y="1007532"/>
            <a:ext cx="8607298" cy="1012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88"/>
              </a:lnSpc>
              <a:buNone/>
            </a:pPr>
            <a:r>
              <a:rPr lang="en-US" sz="3600" b="1" i="0" kern="0" spc="-100" dirty="0">
                <a:solidFill>
                  <a:srgbClr val="1429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guided path from fundamentals to interview day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022600" y="2121957"/>
            <a:ext cx="8607298" cy="614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5562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Designed at UF and delivered on Edugator: taught live, practiced out loud, and backed by weekly problem sets.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12800" y="3120672"/>
            <a:ext cx="3522133" cy="0"/>
          </a:xfrm>
          <a:prstGeom prst="line">
            <a:avLst/>
          </a:prstGeom>
          <a:noFill/>
          <a:ln w="6350">
            <a:solidFill>
              <a:srgbClr val="C9C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12800" y="3300943"/>
            <a:ext cx="3418501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9410F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MEETS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800" y="3590485"/>
            <a:ext cx="3418501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kern="0" spc="-25" dirty="0">
                <a:solidFill>
                  <a:srgbClr val="1429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Wednesdays, 5:30–7:00 p.m.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334933" y="3120672"/>
            <a:ext cx="3522133" cy="0"/>
          </a:xfrm>
          <a:prstGeom prst="line">
            <a:avLst/>
          </a:prstGeom>
          <a:noFill/>
          <a:ln w="6350">
            <a:solidFill>
              <a:srgbClr val="C9C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34933" y="3300943"/>
            <a:ext cx="3418501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9410F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WORKSHOPS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34933" y="3590485"/>
            <a:ext cx="3418501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kern="0" spc="-25" dirty="0">
                <a:solidFill>
                  <a:srgbClr val="1429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in fall · 10 in spring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857067" y="3120672"/>
            <a:ext cx="3522133" cy="0"/>
          </a:xfrm>
          <a:prstGeom prst="line">
            <a:avLst/>
          </a:prstGeom>
          <a:noFill/>
          <a:ln w="6350">
            <a:solidFill>
              <a:srgbClr val="C9C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857067" y="3300943"/>
            <a:ext cx="3418501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9410F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FORMAT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857067" y="3590485"/>
            <a:ext cx="3418501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kern="0" spc="-25" dirty="0">
                <a:solidFill>
                  <a:srgbClr val="1429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person, or self-paced remote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12800" y="4381060"/>
            <a:ext cx="3522133" cy="0"/>
          </a:xfrm>
          <a:prstGeom prst="line">
            <a:avLst/>
          </a:prstGeom>
          <a:noFill/>
          <a:ln w="6350">
            <a:solidFill>
              <a:srgbClr val="C9C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12800" y="5335941"/>
            <a:ext cx="3522133" cy="0"/>
          </a:xfrm>
          <a:prstGeom prst="line">
            <a:avLst/>
          </a:prstGeom>
          <a:noFill/>
          <a:ln w="6350">
            <a:solidFill>
              <a:srgbClr val="C9C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12800" y="4561328"/>
            <a:ext cx="3418501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9410F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WEEKLY EFFORT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2800" y="4850870"/>
            <a:ext cx="3418501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kern="0" spc="-25" dirty="0">
                <a:solidFill>
                  <a:srgbClr val="1429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5–6 hours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334933" y="4381060"/>
            <a:ext cx="3522133" cy="0"/>
          </a:xfrm>
          <a:prstGeom prst="line">
            <a:avLst/>
          </a:prstGeom>
          <a:noFill/>
          <a:ln w="6350">
            <a:solidFill>
              <a:srgbClr val="C9C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334933" y="5335941"/>
            <a:ext cx="3522133" cy="0"/>
          </a:xfrm>
          <a:prstGeom prst="line">
            <a:avLst/>
          </a:prstGeom>
          <a:noFill/>
          <a:ln w="6350">
            <a:solidFill>
              <a:srgbClr val="C9C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334933" y="4561328"/>
            <a:ext cx="3418501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9410F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BACKGROUND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334933" y="4850870"/>
            <a:ext cx="3418501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kern="0" spc="-25" dirty="0">
                <a:solidFill>
                  <a:srgbClr val="1429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basics · CS1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857067" y="4381060"/>
            <a:ext cx="3522133" cy="0"/>
          </a:xfrm>
          <a:prstGeom prst="line">
            <a:avLst/>
          </a:prstGeom>
          <a:noFill/>
          <a:ln w="6350">
            <a:solidFill>
              <a:srgbClr val="C9C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857067" y="5335941"/>
            <a:ext cx="3522133" cy="0"/>
          </a:xfrm>
          <a:prstGeom prst="line">
            <a:avLst/>
          </a:prstGeom>
          <a:noFill/>
          <a:ln w="6350">
            <a:solidFill>
              <a:srgbClr val="C9C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857067" y="4561328"/>
            <a:ext cx="3418501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9410F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COST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857067" y="4850870"/>
            <a:ext cx="3418501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kern="0" spc="-25" dirty="0">
                <a:solidFill>
                  <a:srgbClr val="EE56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12800" y="6235700"/>
            <a:ext cx="2523808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589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Technical Interview 101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145485" y="6235700"/>
            <a:ext cx="233715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589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9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22325"/>
            <a:ext cx="10566400" cy="0"/>
          </a:xfrm>
          <a:prstGeom prst="line">
            <a:avLst/>
          </a:prstGeom>
          <a:noFill/>
          <a:ln w="19050">
            <a:solidFill>
              <a:srgbClr val="EE56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12800" y="1007532"/>
            <a:ext cx="1962150" cy="9406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b="1" kern="0" spc="150" dirty="0">
                <a:solidFill>
                  <a:srgbClr val="EE562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A SINGLE SESSION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3022600" y="1007532"/>
            <a:ext cx="8607298" cy="519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88"/>
              </a:lnSpc>
              <a:buNone/>
            </a:pPr>
            <a:r>
              <a:rPr lang="en-US" sz="3600" b="1" i="0" kern="0" spc="-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ninety minutes looks like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022600" y="1628245"/>
            <a:ext cx="8607298" cy="3199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C7D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session follows the same shape, so you always know what you are walking into.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12800" y="2380016"/>
            <a:ext cx="2309019" cy="101600"/>
          </a:xfrm>
          <a:prstGeom prst="roundRect">
            <a:avLst>
              <a:gd name="adj" fmla="val 25000"/>
            </a:avLst>
          </a:prstGeom>
          <a:solidFill>
            <a:srgbClr val="EE56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12800" y="2608616"/>
            <a:ext cx="2378289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EE562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FIRST 15–20 MIN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800" y="2948958"/>
            <a:ext cx="2378289" cy="6958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kern="0" spc="-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content, taught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12800" y="3746413"/>
            <a:ext cx="2378289" cy="7720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7D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focused lesson on the week’s topic, from the ground up.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25019" y="2380016"/>
            <a:ext cx="4618214" cy="101600"/>
          </a:xfrm>
          <a:prstGeom prst="roundRect">
            <a:avLst>
              <a:gd name="adj" fmla="val 25000"/>
            </a:avLst>
          </a:prstGeom>
          <a:solidFill>
            <a:srgbClr val="7FA6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25019" y="2608616"/>
            <a:ext cx="475676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7FA6D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REST OF THE SESSION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25019" y="2948958"/>
            <a:ext cx="4756760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kern="0" spc="-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3–4 worked problems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25019" y="3411184"/>
            <a:ext cx="4756760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7D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Examples solved together, out loud, start to finish.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52783" y="2386366"/>
            <a:ext cx="3220067" cy="88900"/>
          </a:xfrm>
          <a:prstGeom prst="roundRect">
            <a:avLst>
              <a:gd name="adj" fmla="val 21429"/>
            </a:avLst>
          </a:prstGeom>
          <a:noFill/>
          <a:ln w="12700">
            <a:solidFill>
              <a:srgbClr val="C7D0E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46433" y="2608616"/>
            <a:ext cx="332975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7D0E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DURING THE WEEK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46433" y="2948958"/>
            <a:ext cx="3879321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kern="0" spc="-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problems on your own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146433" y="3411184"/>
            <a:ext cx="3329750" cy="523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7D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Assigned on Edugator, due before the next session.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2800" y="6235700"/>
            <a:ext cx="2523808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7BF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Technical Interview 101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45485" y="6235700"/>
            <a:ext cx="233715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9AA7BF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22325"/>
            <a:ext cx="10566400" cy="0"/>
          </a:xfrm>
          <a:prstGeom prst="line">
            <a:avLst/>
          </a:prstGeom>
          <a:noFill/>
          <a:ln w="19050">
            <a:solidFill>
              <a:srgbClr val="1429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12800" y="1007532"/>
            <a:ext cx="1962150" cy="43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b="1" kern="0" spc="150" dirty="0">
                <a:solidFill>
                  <a:srgbClr val="C9410F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SCHEDULE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3022600" y="1007532"/>
            <a:ext cx="8607298" cy="178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0000"/>
          </a:bodyPr>
          <a:lstStyle/>
          <a:p>
            <a:pPr marL="0" indent="0" algn="l">
              <a:lnSpc>
                <a:spcPts val="2333"/>
              </a:lnSpc>
              <a:buNone/>
            </a:pPr>
            <a:r>
              <a:rPr lang="en-US" sz="2160" b="1" i="0" kern="0" spc="-100" dirty="0">
                <a:solidFill>
                  <a:srgbClr val="1429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Fall 2026: seven workshops</a:t>
            </a:r>
            <a:endParaRPr lang="en-US" sz="2160" dirty="0"/>
          </a:p>
        </p:txBody>
      </p:sp>
      <p:sp>
        <p:nvSpPr>
          <p:cNvPr id="5" name="Text 3"/>
          <p:cNvSpPr/>
          <p:nvPr/>
        </p:nvSpPr>
        <p:spPr>
          <a:xfrm>
            <a:off x="3022600" y="1261799"/>
            <a:ext cx="8607298" cy="184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75"/>
              </a:lnSpc>
              <a:buNone/>
            </a:pPr>
            <a:r>
              <a:rPr lang="en-US" sz="879" dirty="0">
                <a:solidFill>
                  <a:srgbClr val="5562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meeting Nov 11 or Nov 25 (UF holidays). Spring 2027 runs ten sessions, Jan 20 – Mar 31, adding Dynamic Programming and Greedy Algorithms.</a:t>
            </a:r>
            <a:endParaRPr lang="en-US" sz="879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229442"/>
              </p:ext>
            </p:extLst>
          </p:nvPr>
        </p:nvGraphicFramePr>
        <p:xfrm>
          <a:off x="824089" y="1737342"/>
          <a:ext cx="10414182" cy="2525205"/>
        </p:xfrm>
        <a:graphic>
          <a:graphicData uri="http://schemas.openxmlformats.org/drawingml/2006/table">
            <a:tbl>
              <a:tblPr/>
              <a:tblGrid>
                <a:gridCol w="124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53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9084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94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#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94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9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94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Topic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9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94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Problems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9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94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01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94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Oct 14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94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Introduction + Arrays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94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94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02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94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Oct 21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94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Strings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94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94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03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94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Oct 28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94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Hash Tables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94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94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04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94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Nov 4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94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Trees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94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94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05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94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Nov 18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94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Priority Queues + Heaps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94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94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06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94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Dec 2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94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Graphs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94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2800" y="6235700"/>
            <a:ext cx="2523808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589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Technical Interview 101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145485" y="6235700"/>
            <a:ext cx="233715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589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22325"/>
            <a:ext cx="10566400" cy="0"/>
          </a:xfrm>
          <a:prstGeom prst="line">
            <a:avLst/>
          </a:prstGeom>
          <a:noFill/>
          <a:ln w="19050">
            <a:solidFill>
              <a:srgbClr val="1429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12800" y="1007532"/>
            <a:ext cx="1962150" cy="519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b="1" kern="0" spc="150" dirty="0">
                <a:solidFill>
                  <a:srgbClr val="C9410F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EXPECTATIONS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3022600" y="1007532"/>
            <a:ext cx="8607298" cy="519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88"/>
              </a:lnSpc>
              <a:buNone/>
            </a:pPr>
            <a:r>
              <a:rPr lang="en-US" sz="3600" b="1" i="0" kern="0" spc="-100" dirty="0">
                <a:solidFill>
                  <a:srgbClr val="1429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ask of you, and what you get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2800" y="1860020"/>
            <a:ext cx="6654800" cy="0"/>
          </a:xfrm>
          <a:prstGeom prst="line">
            <a:avLst/>
          </a:prstGeom>
          <a:noFill/>
          <a:ln w="6350">
            <a:solidFill>
              <a:srgbClr val="C9C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12800" y="1989491"/>
            <a:ext cx="558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E562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22400" y="1989491"/>
            <a:ext cx="622655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9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 up every Wednesday,</a:t>
            </a:r>
            <a:r>
              <a:rPr lang="en-US" sz="1500" dirty="0">
                <a:solidFill>
                  <a:srgbClr val="1429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ready to solve problems out loud.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12800" y="2386366"/>
            <a:ext cx="6654800" cy="0"/>
          </a:xfrm>
          <a:prstGeom prst="line">
            <a:avLst/>
          </a:prstGeom>
          <a:noFill/>
          <a:ln w="6350">
            <a:solidFill>
              <a:srgbClr val="C9C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12800" y="2515834"/>
            <a:ext cx="558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E562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22400" y="2515834"/>
            <a:ext cx="622655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9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 5–6 hours a week,</a:t>
            </a:r>
            <a:r>
              <a:rPr lang="en-US" sz="1500" dirty="0">
                <a:solidFill>
                  <a:srgbClr val="1429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session included.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2800" y="2912709"/>
            <a:ext cx="6654800" cy="0"/>
          </a:xfrm>
          <a:prstGeom prst="line">
            <a:avLst/>
          </a:prstGeom>
          <a:noFill/>
          <a:ln w="6350">
            <a:solidFill>
              <a:srgbClr val="C9C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12800" y="3042180"/>
            <a:ext cx="558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E562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22400" y="3042180"/>
            <a:ext cx="622655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9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Finish the 3 Edugator problems</a:t>
            </a:r>
            <a:r>
              <a:rPr lang="en-US" sz="1500" dirty="0">
                <a:solidFill>
                  <a:srgbClr val="1429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before the next session.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12800" y="3439055"/>
            <a:ext cx="6654800" cy="0"/>
          </a:xfrm>
          <a:prstGeom prst="line">
            <a:avLst/>
          </a:prstGeom>
          <a:noFill/>
          <a:ln w="6350">
            <a:solidFill>
              <a:srgbClr val="C9C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2800" y="3568523"/>
            <a:ext cx="558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E562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22400" y="3568523"/>
            <a:ext cx="622655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9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AI as a study partner,</a:t>
            </a:r>
            <a:r>
              <a:rPr lang="en-US" sz="1500" dirty="0">
                <a:solidFill>
                  <a:srgbClr val="1429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never as an answer key.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12800" y="3965398"/>
            <a:ext cx="6654800" cy="0"/>
          </a:xfrm>
          <a:prstGeom prst="line">
            <a:avLst/>
          </a:prstGeom>
          <a:noFill/>
          <a:ln w="6350">
            <a:solidFill>
              <a:srgbClr val="C9C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12800" y="4491037"/>
            <a:ext cx="6654800" cy="0"/>
          </a:xfrm>
          <a:prstGeom prst="line">
            <a:avLst/>
          </a:prstGeom>
          <a:noFill/>
          <a:ln w="6350">
            <a:solidFill>
              <a:srgbClr val="C9C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12800" y="4094869"/>
            <a:ext cx="558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E562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05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22400" y="4094869"/>
            <a:ext cx="622655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9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with peers,</a:t>
            </a:r>
            <a:r>
              <a:rPr lang="en-US" sz="1500" dirty="0">
                <a:solidFill>
                  <a:srgbClr val="1429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taking turns as interviewer and candidate.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823200" y="1856845"/>
            <a:ext cx="3556000" cy="3375642"/>
          </a:xfrm>
          <a:prstGeom prst="roundRect">
            <a:avLst>
              <a:gd name="adj" fmla="val 1505"/>
            </a:avLst>
          </a:prstGeom>
          <a:solidFill>
            <a:srgbClr val="1429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128000" y="2161645"/>
            <a:ext cx="30347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EE562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FROM US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05470" y="2527390"/>
            <a:ext cx="2949702" cy="2425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4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lessons on each week’s topic</a:t>
            </a:r>
            <a:endParaRPr lang="en-US" sz="1500" dirty="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4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Worked problems, solved together</a:t>
            </a:r>
            <a:endParaRPr lang="en-US" sz="1500" dirty="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4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feedback on your approach</a:t>
            </a:r>
            <a:endParaRPr lang="en-US" sz="1500" dirty="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4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structured path on Edugator</a:t>
            </a:r>
            <a:endParaRPr lang="en-US" sz="1500" dirty="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4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Mock interview practice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12800" y="6235700"/>
            <a:ext cx="2523808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589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Technical Interview 101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145485" y="6235700"/>
            <a:ext cx="233715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589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22325"/>
            <a:ext cx="10566400" cy="0"/>
          </a:xfrm>
          <a:prstGeom prst="line">
            <a:avLst/>
          </a:prstGeom>
          <a:noFill/>
          <a:ln w="19050">
            <a:solidFill>
              <a:srgbClr val="1429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12800" y="1007535"/>
            <a:ext cx="1962150" cy="915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b="1" kern="0" spc="150" dirty="0">
                <a:solidFill>
                  <a:srgbClr val="C9410F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WHO WE ARE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3022600" y="1007535"/>
            <a:ext cx="8607298" cy="519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88"/>
              </a:lnSpc>
              <a:buNone/>
            </a:pPr>
            <a:r>
              <a:rPr lang="en-US" sz="3600" b="1" i="0" kern="0" spc="-100" dirty="0">
                <a:solidFill>
                  <a:srgbClr val="1429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team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022600" y="1602848"/>
            <a:ext cx="8607298" cy="3199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5562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by students and faculty at the University of Florida.</a:t>
            </a:r>
            <a:endParaRPr lang="en-US" sz="1600" dirty="0"/>
          </a:p>
        </p:txBody>
      </p:sp>
      <p:pic>
        <p:nvPicPr>
          <p:cNvPr id="6" name="Image 0" descr="Krina Parikh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2303816"/>
            <a:ext cx="1905000" cy="1905000"/>
          </a:xfrm>
          <a:prstGeom prst="roundRect">
            <a:avLst>
              <a:gd name="adj" fmla="val 2667"/>
            </a:avLst>
          </a:prstGeom>
        </p:spPr>
      </p:pic>
      <p:sp>
        <p:nvSpPr>
          <p:cNvPr id="7" name="Text 4"/>
          <p:cNvSpPr/>
          <p:nvPr/>
        </p:nvSpPr>
        <p:spPr>
          <a:xfrm>
            <a:off x="812800" y="4335816"/>
            <a:ext cx="1967328" cy="269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kern="0" spc="-15" dirty="0">
                <a:solidFill>
                  <a:srgbClr val="1429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Krina Parikh</a:t>
            </a:r>
            <a:endParaRPr lang="en-US" sz="1600" dirty="0"/>
          </a:p>
        </p:txBody>
      </p:sp>
      <p:pic>
        <p:nvPicPr>
          <p:cNvPr id="8" name="Image 1" descr="Rishi Gandhi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976827" y="2303816"/>
            <a:ext cx="1905000" cy="1905000"/>
          </a:xfrm>
          <a:prstGeom prst="roundRect">
            <a:avLst>
              <a:gd name="adj" fmla="val 2667"/>
            </a:avLst>
          </a:prstGeom>
        </p:spPr>
      </p:pic>
      <p:sp>
        <p:nvSpPr>
          <p:cNvPr id="9" name="Text 5"/>
          <p:cNvSpPr/>
          <p:nvPr/>
        </p:nvSpPr>
        <p:spPr>
          <a:xfrm>
            <a:off x="2976827" y="4335816"/>
            <a:ext cx="1967419" cy="269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kern="0" spc="-15" dirty="0">
                <a:solidFill>
                  <a:srgbClr val="1429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Rishi Gandhi</a:t>
            </a:r>
            <a:endParaRPr lang="en-US" sz="1600" dirty="0"/>
          </a:p>
        </p:txBody>
      </p:sp>
      <p:pic>
        <p:nvPicPr>
          <p:cNvPr id="10" name="Image 2" descr="Isabelle Gomez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140942" y="2303816"/>
            <a:ext cx="1905000" cy="1905000"/>
          </a:xfrm>
          <a:prstGeom prst="roundRect">
            <a:avLst>
              <a:gd name="adj" fmla="val 2667"/>
            </a:avLst>
          </a:prstGeom>
        </p:spPr>
      </p:pic>
      <p:sp>
        <p:nvSpPr>
          <p:cNvPr id="11" name="Text 6"/>
          <p:cNvSpPr/>
          <p:nvPr/>
        </p:nvSpPr>
        <p:spPr>
          <a:xfrm>
            <a:off x="5140942" y="4335816"/>
            <a:ext cx="1967328" cy="269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kern="0" spc="-15" dirty="0">
                <a:solidFill>
                  <a:srgbClr val="1429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Isabelle Gomez</a:t>
            </a:r>
            <a:endParaRPr lang="en-US" sz="1600" dirty="0"/>
          </a:p>
        </p:txBody>
      </p:sp>
      <p:pic>
        <p:nvPicPr>
          <p:cNvPr id="12" name="Image 3" descr="Jahnavi Tripathi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304970" y="2303816"/>
            <a:ext cx="1905000" cy="1905000"/>
          </a:xfrm>
          <a:prstGeom prst="roundRect">
            <a:avLst>
              <a:gd name="adj" fmla="val 2667"/>
            </a:avLst>
          </a:prstGeom>
        </p:spPr>
      </p:pic>
      <p:sp>
        <p:nvSpPr>
          <p:cNvPr id="13" name="Text 7"/>
          <p:cNvSpPr/>
          <p:nvPr/>
        </p:nvSpPr>
        <p:spPr>
          <a:xfrm>
            <a:off x="7304970" y="4335816"/>
            <a:ext cx="1967419" cy="269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kern="0" spc="-15" dirty="0">
                <a:solidFill>
                  <a:srgbClr val="1429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Jahnavi Tripathi</a:t>
            </a:r>
            <a:endParaRPr lang="en-US" sz="1600" dirty="0"/>
          </a:p>
        </p:txBody>
      </p:sp>
      <p:pic>
        <p:nvPicPr>
          <p:cNvPr id="14" name="Image 4" descr="Amanpreet Kapoor"/>
          <p:cNvPicPr>
            <a:picLocks noChangeAspect="1"/>
          </p:cNvPicPr>
          <p:nvPr/>
        </p:nvPicPr>
        <p:blipFill>
          <a:blip r:embed="rId7"/>
          <a:srcRect l="2000" r="2000"/>
          <a:stretch/>
        </p:blipFill>
        <p:spPr>
          <a:xfrm>
            <a:off x="9469085" y="2303816"/>
            <a:ext cx="1905000" cy="1905000"/>
          </a:xfrm>
          <a:prstGeom prst="roundRect">
            <a:avLst>
              <a:gd name="adj" fmla="val 2667"/>
            </a:avLst>
          </a:prstGeom>
        </p:spPr>
      </p:pic>
      <p:sp>
        <p:nvSpPr>
          <p:cNvPr id="15" name="Text 8"/>
          <p:cNvSpPr/>
          <p:nvPr/>
        </p:nvSpPr>
        <p:spPr>
          <a:xfrm>
            <a:off x="9469084" y="4335816"/>
            <a:ext cx="2342701" cy="512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kern="0" spc="-15" dirty="0">
                <a:solidFill>
                  <a:srgbClr val="1429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Amanpreet Kapoor, Ph.D.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812800" y="5229752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941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 contributors</a:t>
            </a:r>
            <a:r>
              <a:rPr lang="en-US" sz="1300" dirty="0">
                <a:solidFill>
                  <a:srgbClr val="5562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Anthony Perez · Justin Brown · Elizabeth Gonzalez · Sai Preethi Kota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812800" y="6235700"/>
            <a:ext cx="2523808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589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Technical Interview 101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11145485" y="6235700"/>
            <a:ext cx="233715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589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9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echnical Interview 101 logo"/>
          <p:cNvPicPr>
            <a:picLocks noChangeAspect="1"/>
          </p:cNvPicPr>
          <p:nvPr/>
        </p:nvPicPr>
        <p:blipFill>
          <a:blip r:embed="rId3"/>
          <a:srcRect t="-89" b="-89"/>
          <a:stretch/>
        </p:blipFill>
        <p:spPr>
          <a:xfrm>
            <a:off x="812800" y="812800"/>
            <a:ext cx="1524000" cy="10223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12800" y="2728472"/>
            <a:ext cx="10566400" cy="0"/>
          </a:xfrm>
          <a:prstGeom prst="line">
            <a:avLst/>
          </a:prstGeom>
          <a:noFill/>
          <a:ln w="19050">
            <a:solidFill>
              <a:srgbClr val="EE56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812800" y="2964483"/>
            <a:ext cx="10883392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EE562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QUESTIONS?</a:t>
            </a:r>
            <a:endParaRPr lang="en-US" sz="1400" dirty="0"/>
          </a:p>
        </p:txBody>
      </p:sp>
      <p:sp>
        <p:nvSpPr>
          <p:cNvPr id="5" name="Text 2"/>
          <p:cNvSpPr>
            <a:spLocks noGrp="1"/>
          </p:cNvSpPr>
          <p:nvPr>
            <p:ph type="title"/>
          </p:nvPr>
        </p:nvSpPr>
        <p:spPr>
          <a:xfrm>
            <a:off x="812800" y="3365767"/>
            <a:ext cx="10883392" cy="665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800" b="1" i="0" kern="0" spc="-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in touch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812800" y="4158190"/>
            <a:ext cx="10883392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dirty="0">
                <a:solidFill>
                  <a:srgbClr val="C7D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Amanpreet Kapoor, Ph.D. · </a:t>
            </a: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kapooramanpreet@ufl.edu</a:t>
            </a:r>
            <a:endParaRPr lang="en-US" sz="2000" dirty="0"/>
          </a:p>
        </p:txBody>
      </p:sp>
      <p:pic>
        <p:nvPicPr>
          <p:cNvPr id="7" name="Image 1" descr="Procter &amp; Gambl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12800" y="5384800"/>
            <a:ext cx="660400" cy="660400"/>
          </a:xfrm>
          <a:prstGeom prst="rect">
            <a:avLst/>
          </a:prstGeom>
        </p:spPr>
      </p:pic>
      <p:pic>
        <p:nvPicPr>
          <p:cNvPr id="8" name="Image 2" descr="UF Computer &amp; Information Science &amp; Engineering"/>
          <p:cNvPicPr>
            <a:picLocks noChangeAspect="1"/>
          </p:cNvPicPr>
          <p:nvPr/>
        </p:nvPicPr>
        <p:blipFill>
          <a:blip r:embed="rId5"/>
          <a:srcRect t="-350" b="-350"/>
          <a:stretch/>
        </p:blipFill>
        <p:spPr>
          <a:xfrm>
            <a:off x="1676400" y="5384800"/>
            <a:ext cx="660400" cy="660400"/>
          </a:xfrm>
          <a:prstGeom prst="roundRect">
            <a:avLst>
              <a:gd name="adj" fmla="val 5769"/>
            </a:avLst>
          </a:prstGeom>
        </p:spPr>
      </p:pic>
      <p:pic>
        <p:nvPicPr>
          <p:cNvPr id="9" name="Image 3" descr="UF Engineering Education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540000" y="5384800"/>
            <a:ext cx="660400" cy="660400"/>
          </a:xfrm>
          <a:prstGeom prst="roundRect">
            <a:avLst>
              <a:gd name="adj" fmla="val 5769"/>
            </a:avLst>
          </a:prstGeom>
        </p:spPr>
      </p:pic>
      <p:sp>
        <p:nvSpPr>
          <p:cNvPr id="10" name="Text 4"/>
          <p:cNvSpPr/>
          <p:nvPr/>
        </p:nvSpPr>
        <p:spPr>
          <a:xfrm>
            <a:off x="3403600" y="5483932"/>
            <a:ext cx="7194550" cy="487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7D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Sponsored by the Procter &amp; Gamble Higher Education Grant, in collaboration with UF CISE and UF Engineering Education.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nical Interview 101 — Kickoff">
  <a:themeElements>
    <a:clrScheme name="Technical Interview 101 — Kickoff">
      <a:dk1>
        <a:srgbClr val="14294F"/>
      </a:dk1>
      <a:lt1>
        <a:srgbClr val="FAFAFB"/>
      </a:lt1>
      <a:dk2>
        <a:srgbClr val="4E5D7A"/>
      </a:dk2>
      <a:lt2>
        <a:srgbClr val="E3E5EA"/>
      </a:lt2>
      <a:accent1>
        <a:srgbClr val="EE5622"/>
      </a:accent1>
      <a:accent2>
        <a:srgbClr val="C9410F"/>
      </a:accent2>
      <a:accent3>
        <a:srgbClr val="7FA6DA"/>
      </a:accent3>
      <a:accent4>
        <a:srgbClr val="55627A"/>
      </a:accent4>
      <a:accent5>
        <a:srgbClr val="6B7589"/>
      </a:accent5>
      <a:accent6>
        <a:srgbClr val="C7D0E0"/>
      </a:accent6>
      <a:hlink>
        <a:srgbClr val="0563C1"/>
      </a:hlink>
      <a:folHlink>
        <a:srgbClr val="954F72"/>
      </a:folHlink>
    </a:clrScheme>
    <a:fontScheme name="Technical Interview 101 — Kickoff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Mon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984</Words>
  <Application>Microsoft Office PowerPoint</Application>
  <PresentationFormat>Widescreen</PresentationFormat>
  <Paragraphs>167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IBM Plex Mono</vt:lpstr>
      <vt:lpstr>Inter</vt:lpstr>
      <vt:lpstr>Technical Interview 101 — Kickoff</vt:lpstr>
      <vt:lpstr>Technical Interview 101</vt:lpstr>
      <vt:lpstr>Interview skill is practiced, not absorbed</vt:lpstr>
      <vt:lpstr>What a technical interview entails</vt:lpstr>
      <vt:lpstr>Interviewers score the process as much as the answer</vt:lpstr>
      <vt:lpstr>A guided path from fundamentals to interview day</vt:lpstr>
      <vt:lpstr>What ninety minutes looks like</vt:lpstr>
      <vt:lpstr>Fall 2026: seven workshops</vt:lpstr>
      <vt:lpstr>What we ask of you, and what you get</vt:lpstr>
      <vt:lpstr>The team</vt:lpstr>
      <vt:lpstr>Get in touch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Technical Interview 101 — Kickoff</dc:title>
  <dc:subject/>
  <dc:creator/>
  <cp:lastModifiedBy>Kapoor,Amanpreet</cp:lastModifiedBy>
  <cp:revision>2</cp:revision>
  <dcterms:created xsi:type="dcterms:W3CDTF">2026-10-14T14:17:44Z</dcterms:created>
  <dcterms:modified xsi:type="dcterms:W3CDTF">2026-10-14T18:01:13Z</dcterms:modified>
</cp:coreProperties>
</file>