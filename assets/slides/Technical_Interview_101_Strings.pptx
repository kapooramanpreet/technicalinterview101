
<file path=[Content_Types].xml><?xml version="1.0" encoding="utf-8"?>
<ns0:Types xmlns:ns0="http://schemas.openxmlformats.org/package/2006/content-types">
  <ns0:Default ContentType="image/jpeg" Extension="jpg"/>
  <ns0:Default ContentType="application/x-fontdata" Extension="fntdata"/>
  <ns0:Default ContentType="application/xml" Extension="xml"/>
  <ns0:Default ContentType="image/png" Extension="png"/>
  <ns0:Default ContentType="application/vnd.openxmlformats-officedocument.obfuscatedFont" Extension="odttf"/>
  <ns0:Default ContentType="application/vnd.openxmlformats-package.relationships+xml" Extension="rels"/>
  <ns0:Override ContentType="application/vnd.openxmlformats-officedocument.presentationml.slideLayout+xml" PartName="/ppt/slideLayouts/slideLayout3.xml"/>
  <ns0:Override ContentType="application/vnd.openxmlformats-officedocument.presentationml.slideLayout+xml" PartName="/ppt/slideLayouts/slideLayout4.xml"/>
  <ns0:Override ContentType="application/vnd.openxmlformats-officedocument.presentationml.slideLayout+xml" PartName="/ppt/slideLayouts/slideLayout5.xml"/>
  <ns0:Override ContentType="application/vnd.openxmlformats-officedocument.presentationml.slideLayout+xml" PartName="/ppt/slideLayouts/slideLayout2.xml"/>
  <ns0:Override ContentType="application/vnd.openxmlformats-officedocument.presentationml.slideLayout+xml" PartName="/ppt/slideLayouts/slideLayout1.xml"/>
  <ns0:Override ContentType="application/vnd.openxmlformats-officedocument.presentationml.slideMaster+xml" PartName="/ppt/slideMasters/slideMaster1.xml"/>
  <ns0:Override ContentType="application/binary" PartName="/ppt/metadata"/>
  <ns0:Override ContentType="application/vnd.openxmlformats-officedocument.presentationml.slide+xml" PartName="/ppt/slides/slide4.xml"/>
  <ns0:Override ContentType="application/vnd.openxmlformats-officedocument.presentationml.slide+xml" PartName="/ppt/slides/slide18.xml"/>
  <ns0:Override ContentType="application/vnd.openxmlformats-officedocument.presentationml.slide+xml" PartName="/ppt/slides/slide11.xml"/>
  <ns0:Override ContentType="application/vnd.openxmlformats-officedocument.presentationml.slide+xml" PartName="/ppt/slides/slide22.xml"/>
  <ns0:Override ContentType="application/vnd.openxmlformats-officedocument.presentationml.slide+xml" PartName="/ppt/slides/slide1.xml"/>
  <ns0:Override ContentType="application/vnd.openxmlformats-officedocument.presentationml.slide+xml" PartName="/ppt/slides/slide19.xml"/>
  <ns0:Override ContentType="application/vnd.openxmlformats-officedocument.presentationml.slide+xml" PartName="/ppt/slides/slide3.xml"/>
  <ns0:Override ContentType="application/vnd.openxmlformats-officedocument.presentationml.slide+xml" PartName="/ppt/slides/slide9.xml"/>
  <ns0:Override ContentType="application/vnd.openxmlformats-officedocument.presentationml.slide+xml" PartName="/ppt/slides/slide13.xml"/>
  <ns0:Override ContentType="application/vnd.openxmlformats-officedocument.presentationml.slide+xml" PartName="/ppt/slides/slide5.xml"/>
  <ns0:Override ContentType="application/vnd.openxmlformats-officedocument.presentationml.slide+xml" PartName="/ppt/slides/slide7.xml"/>
  <ns0:Override ContentType="application/vnd.openxmlformats-officedocument.presentationml.slide+xml" PartName="/ppt/slides/slide15.xml"/>
  <ns0:Override ContentType="application/vnd.openxmlformats-officedocument.presentationml.slide+xml" PartName="/ppt/slides/slide12.xml"/>
  <ns0:Override ContentType="application/vnd.openxmlformats-officedocument.presentationml.slide+xml" PartName="/ppt/slides/slide17.xml"/>
  <ns0:Override ContentType="application/vnd.openxmlformats-officedocument.presentationml.slide+xml" PartName="/ppt/slides/slide23.xml"/>
  <ns0:Override ContentType="application/vnd.openxmlformats-officedocument.presentationml.slide+xml" PartName="/ppt/slides/slide20.xml"/>
  <ns0:Override ContentType="application/vnd.openxmlformats-officedocument.presentationml.slide+xml" PartName="/ppt/slides/slide21.xml"/>
  <ns0:Override ContentType="application/vnd.openxmlformats-officedocument.presentationml.slide+xml" PartName="/ppt/slides/slide10.xml"/>
  <ns0:Override ContentType="application/vnd.openxmlformats-officedocument.presentationml.slide+xml" PartName="/ppt/slides/slide2.xml"/>
  <ns0:Override ContentType="application/vnd.openxmlformats-officedocument.presentationml.slide+xml" PartName="/ppt/slides/slide6.xml"/>
  <ns0:Override ContentType="application/vnd.openxmlformats-officedocument.presentationml.slide+xml" PartName="/ppt/slides/slide16.xml"/>
  <ns0:Override ContentType="application/vnd.openxmlformats-officedocument.presentationml.slide+xml" PartName="/ppt/slides/slide8.xml"/>
  <ns0:Override ContentType="application/vnd.openxmlformats-officedocument.presentationml.slide+xml" PartName="/ppt/slides/slide14.xml"/>
  <ns0:Override ContentType="application/vnd.openxmlformats-package.core-properties+xml" PartName="/docProps/core.xml"/>
  <ns0:Override ContentType="application/vnd.openxmlformats-officedocument.presentationml.presentation.main+xml" PartName="/ppt/presentation.xml"/>
  <ns0:Override ContentType="application/vnd.openxmlformats-officedocument.presentationml.presProps+xml" PartName="/ppt/presProps.xml"/>
  <ns0:Override ContentType="application/vnd.openxmlformats-officedocument.theme+xml" PartName="/ppt/theme/theme1.xml"/>
  <ns0:Override ContentType="application/vnd.openxmlformats-officedocument.theme+xml" PartName="/ppt/theme/theme2.xml"/>
</ns0:Types>
</file>

<file path=_rels/.rels><?xml version='1.0' encoding='utf-8'?>
<ns0:Relationships xmlns:ns0="http://schemas.openxmlformats.org/package/2006/relationships"><ns0:Relationship Id="rId1" Type="http://schemas.openxmlformats.org/package/2006/relationships/metadata/core-properties" Target="docProps/core.xml" /><ns0:Relationship Id="rId2" Type="http://schemas.openxmlformats.org/officeDocument/2006/relationships/officeDocument" Target="ppt/presentation.xml" /></ns0: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12192000"/>
  <p:embeddedFontLst>
    <p:embeddedFont>
      <p:font typeface="Roboto Mon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ia8dc1gvnWo7L58gcU/3khe05T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ns0:Relationships xmlns:ns0="http://schemas.openxmlformats.org/package/2006/relationships"><ns0:Relationship Id="rId20" Type="http://schemas.openxmlformats.org/officeDocument/2006/relationships/slide" Target="slides/slide16.xml" /><ns0:Relationship Id="rId22" Type="http://schemas.openxmlformats.org/officeDocument/2006/relationships/slide" Target="slides/slide18.xml" /><ns0:Relationship Id="rId21" Type="http://schemas.openxmlformats.org/officeDocument/2006/relationships/slide" Target="slides/slide17.xml" /><ns0:Relationship Id="rId24" Type="http://schemas.openxmlformats.org/officeDocument/2006/relationships/slide" Target="slides/slide20.xml" /><ns0:Relationship Id="rId23" Type="http://schemas.openxmlformats.org/officeDocument/2006/relationships/slide" Target="slides/slide19.xml" /><ns0:Relationship Id="rId1" Type="http://schemas.openxmlformats.org/officeDocument/2006/relationships/theme" Target="theme/theme1.xml" /><ns0:Relationship Id="rId2" Type="http://schemas.openxmlformats.org/officeDocument/2006/relationships/presProps" Target="presProps.xml" /><ns0:Relationship Id="rId3" Type="http://schemas.openxmlformats.org/officeDocument/2006/relationships/slideMaster" Target="slideMasters/slideMaster1.xml" /><ns0:Relationship Id="rId9" Type="http://schemas.openxmlformats.org/officeDocument/2006/relationships/slide" Target="slides/slide5.xml" /><ns0:Relationship Id="rId26" Type="http://schemas.openxmlformats.org/officeDocument/2006/relationships/slide" Target="slides/slide22.xml" /><ns0:Relationship Id="rId25" Type="http://schemas.openxmlformats.org/officeDocument/2006/relationships/slide" Target="slides/slide21.xml" /><ns0:Relationship Id="rId28" Type="http://schemas.openxmlformats.org/officeDocument/2006/relationships/font" Target="fonts/RobotoMono-regular.fntdata" /><ns0:Relationship Id="rId27" Type="http://schemas.openxmlformats.org/officeDocument/2006/relationships/slide" Target="slides/slide23.xml" /><ns0:Relationship Id="rId5" Type="http://schemas.openxmlformats.org/officeDocument/2006/relationships/slide" Target="slides/slide1.xml" /><ns0:Relationship Id="rId6" Type="http://schemas.openxmlformats.org/officeDocument/2006/relationships/slide" Target="slides/slide2.xml" /><ns0:Relationship Id="rId29" Type="http://schemas.openxmlformats.org/officeDocument/2006/relationships/font" Target="fonts/RobotoMono-bold.fntdata" /><ns0:Relationship Id="rId7" Type="http://schemas.openxmlformats.org/officeDocument/2006/relationships/slide" Target="slides/slide3.xml" /><ns0:Relationship Id="rId8" Type="http://schemas.openxmlformats.org/officeDocument/2006/relationships/slide" Target="slides/slide4.xml" /><ns0:Relationship Id="rId31" Type="http://schemas.openxmlformats.org/officeDocument/2006/relationships/font" Target="fonts/RobotoMono-boldItalic.fntdata" /><ns0:Relationship Id="rId30" Type="http://schemas.openxmlformats.org/officeDocument/2006/relationships/font" Target="fonts/RobotoMono-italic.fntdata" /><ns0:Relationship Id="rId11" Type="http://schemas.openxmlformats.org/officeDocument/2006/relationships/slide" Target="slides/slide7.xml" /><ns0:Relationship Id="rId10" Type="http://schemas.openxmlformats.org/officeDocument/2006/relationships/slide" Target="slides/slide6.xml" /><ns0:Relationship Id="rId32" Type="http://customschemas.google.com/relationships/presentationmetadata" Target="metadata" /><ns0:Relationship Id="rId13" Type="http://schemas.openxmlformats.org/officeDocument/2006/relationships/slide" Target="slides/slide9.xml" /><ns0:Relationship Id="rId12" Type="http://schemas.openxmlformats.org/officeDocument/2006/relationships/slide" Target="slides/slide8.xml" /><ns0:Relationship Id="rId15" Type="http://schemas.openxmlformats.org/officeDocument/2006/relationships/slide" Target="slides/slide11.xml" /><ns0:Relationship Id="rId14" Type="http://schemas.openxmlformats.org/officeDocument/2006/relationships/slide" Target="slides/slide10.xml" /><ns0:Relationship Id="rId17" Type="http://schemas.openxmlformats.org/officeDocument/2006/relationships/slide" Target="slides/slide13.xml" /><ns0:Relationship Id="rId16" Type="http://schemas.openxmlformats.org/officeDocument/2006/relationships/slide" Target="slides/slide12.xml" /><ns0:Relationship Id="rId19" Type="http://schemas.openxmlformats.org/officeDocument/2006/relationships/slide" Target="slides/slide15.xml" /><ns0:Relationship Id="rId18" Type="http://schemas.openxmlformats.org/officeDocument/2006/relationships/slide" Target="slides/slide14.xml" /></ns0:Relationships>
</file>

<file path=ppt/slideLayouts/_rels/slideLayout1.xml.rels><?xml version='1.0' encoding='utf-8'?>
<ns0:Relationships xmlns:ns0="http://schemas.openxmlformats.org/package/2006/relationships"><ns0:Relationship Id="rId1" Type="http://schemas.openxmlformats.org/officeDocument/2006/relationships/slideMaster" Target="../slideMasters/slideMaster1.xml" /></ns0:Relationships>
</file>

<file path=ppt/slideLayouts/_rels/slideLayout2.xml.rels><?xml version='1.0' encoding='utf-8'?>
<ns0:Relationships xmlns:ns0="http://schemas.openxmlformats.org/package/2006/relationships"><ns0:Relationship Id="rId1" Type="http://schemas.openxmlformats.org/officeDocument/2006/relationships/slideMaster" Target="../slideMasters/slideMaster1.xml" /></ns0:Relationships>
</file>

<file path=ppt/slideLayouts/_rels/slideLayout3.xml.rels><?xml version='1.0' encoding='utf-8'?>
<ns0:Relationships xmlns:ns0="http://schemas.openxmlformats.org/package/2006/relationships"><ns0:Relationship Id="rId1" Type="http://schemas.openxmlformats.org/officeDocument/2006/relationships/slideMaster" Target="../slideMasters/slideMaster1.xml" /></ns0:Relationships>
</file>

<file path=ppt/slideLayouts/_rels/slideLayout4.xml.rels><?xml version='1.0' encoding='utf-8'?>
<ns0:Relationships xmlns:ns0="http://schemas.openxmlformats.org/package/2006/relationships"><ns0:Relationship Id="rId1" Type="http://schemas.openxmlformats.org/officeDocument/2006/relationships/slideMaster" Target="../slideMasters/slideMaster1.xml" /></ns0:Relationships>
</file>

<file path=ppt/slideLayouts/_rels/slideLayout5.xml.rels><?xml version='1.0' encoding='utf-8'?>
<ns0:Relationships xmlns:ns0="http://schemas.openxmlformats.org/package/2006/relationships"><ns0:Relationship Id="rId1" Type="http://schemas.openxmlformats.org/officeDocument/2006/relationships/slideMaster" Target="../slideMasters/slideMaster1.xml" /></ns0: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DARK">
  <p:cSld name="TITLE_DARK">
    <p:bg>
      <p:bgPr>
        <a:solidFill>
          <a:schemeClr val="dk2"/>
        </a:solidFill>
      </p:bgPr>
    </p:bg>
    <p:spTree>
      <p:nvGrpSpPr>
        <p:cNvPr id="10" name="Shape 10"/>
        <p:cNvGrpSpPr/>
        <p:nvPr/>
      </p:nvGrpSpPr>
      <p:grpSpPr>
        <a:xfrm>
          <a:off x="0" y="0"/>
          <a:ext cx="0" cy="0"/>
          <a:chOff x="0" y="0"/>
          <a:chExt cx="0" cy="0"/>
        </a:xfrm>
      </p:grpSpPr>
      <p:sp>
        <p:nvSpPr>
          <p:cNvPr id="11" name="Google Shape;11;p25"/>
          <p:cNvSpPr txBox="1"/>
          <p:nvPr>
            <p:ph idx="1" type="body"/>
          </p:nvPr>
        </p:nvSpPr>
        <p:spPr>
          <a:xfrm>
            <a:off x="822960" y="1371600"/>
            <a:ext cx="8229600" cy="32004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accent1"/>
              </a:buClr>
              <a:buSzPts val="1400"/>
              <a:buFont typeface="Arial"/>
              <a:buNone/>
              <a:defRPr b="1" i="0" sz="1400" u="none" cap="none" strike="noStrike">
                <a:solidFill>
                  <a:schemeClr val="accent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5"/>
          <p:cNvSpPr txBox="1"/>
          <p:nvPr>
            <p:ph type="title"/>
          </p:nvPr>
        </p:nvSpPr>
        <p:spPr>
          <a:xfrm>
            <a:off x="822960" y="1828800"/>
            <a:ext cx="10058400" cy="10972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5400"/>
              <a:buFont typeface="Arial"/>
              <a:buNone/>
              <a:defRPr b="1" i="0" sz="54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5"/>
          <p:cNvSpPr txBox="1"/>
          <p:nvPr>
            <p:ph idx="2" type="body"/>
          </p:nvPr>
        </p:nvSpPr>
        <p:spPr>
          <a:xfrm>
            <a:off x="822960" y="3017520"/>
            <a:ext cx="9144000" cy="4572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chemeClr val="lt2"/>
              </a:buClr>
              <a:buSzPts val="2000"/>
              <a:buFont typeface="Arial"/>
              <a:buNone/>
              <a:defRPr b="0" i="0" sz="2000" u="none" cap="none" strike="noStrike">
                <a:solidFill>
                  <a:schemeClr val="lt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_LIGHT">
  <p:cSld name="CONTENT_LIGHT">
    <p:bg>
      <p:bgPr>
        <a:solidFill>
          <a:schemeClr val="lt2"/>
        </a:solidFill>
      </p:bgPr>
    </p:bg>
    <p:spTree>
      <p:nvGrpSpPr>
        <p:cNvPr id="14" name="Shape 14"/>
        <p:cNvGrpSpPr/>
        <p:nvPr/>
      </p:nvGrpSpPr>
      <p:grpSpPr>
        <a:xfrm>
          <a:off x="0" y="0"/>
          <a:ext cx="0" cy="0"/>
          <a:chOff x="0" y="0"/>
          <a:chExt cx="0" cy="0"/>
        </a:xfrm>
      </p:grpSpPr>
      <p:sp>
        <p:nvSpPr>
          <p:cNvPr id="15" name="Google Shape;15;p26"/>
          <p:cNvSpPr txBox="1"/>
          <p:nvPr>
            <p:ph idx="1" type="body"/>
          </p:nvPr>
        </p:nvSpPr>
        <p:spPr>
          <a:xfrm>
            <a:off x="640080" y="457200"/>
            <a:ext cx="8229600" cy="2743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40"/>
              </a:spcBef>
              <a:spcAft>
                <a:spcPts val="0"/>
              </a:spcAft>
              <a:buClr>
                <a:schemeClr val="accent1"/>
              </a:buClr>
              <a:buSzPts val="1200"/>
              <a:buFont typeface="Arial"/>
              <a:buNone/>
              <a:defRPr b="1" i="0" sz="1200" u="none" cap="none" strike="noStrike">
                <a:solidFill>
                  <a:schemeClr val="accent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6" name="Google Shape;16;p26"/>
          <p:cNvSpPr txBox="1"/>
          <p:nvPr>
            <p:ph type="title"/>
          </p:nvPr>
        </p:nvSpPr>
        <p:spPr>
          <a:xfrm>
            <a:off x="640080" y="777240"/>
            <a:ext cx="10908792" cy="6400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_DARK">
  <p:cSld name="CONTENT_DARK">
    <p:bg>
      <p:bgPr>
        <a:solidFill>
          <a:schemeClr val="dk2"/>
        </a:solidFill>
      </p:bgPr>
    </p:bg>
    <p:spTree>
      <p:nvGrpSpPr>
        <p:cNvPr id="17" name="Shape 17"/>
        <p:cNvGrpSpPr/>
        <p:nvPr/>
      </p:nvGrpSpPr>
      <p:grpSpPr>
        <a:xfrm>
          <a:off x="0" y="0"/>
          <a:ext cx="0" cy="0"/>
          <a:chOff x="0" y="0"/>
          <a:chExt cx="0" cy="0"/>
        </a:xfrm>
      </p:grpSpPr>
      <p:sp>
        <p:nvSpPr>
          <p:cNvPr id="18" name="Google Shape;18;p27"/>
          <p:cNvSpPr txBox="1"/>
          <p:nvPr>
            <p:ph idx="1" type="body"/>
          </p:nvPr>
        </p:nvSpPr>
        <p:spPr>
          <a:xfrm>
            <a:off x="640080" y="457200"/>
            <a:ext cx="8229600" cy="2743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40"/>
              </a:spcBef>
              <a:spcAft>
                <a:spcPts val="0"/>
              </a:spcAft>
              <a:buClr>
                <a:schemeClr val="accent1"/>
              </a:buClr>
              <a:buSzPts val="1200"/>
              <a:buFont typeface="Arial"/>
              <a:buNone/>
              <a:defRPr b="1" i="0" sz="1200" u="none" cap="none" strike="noStrike">
                <a:solidFill>
                  <a:schemeClr val="accent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 name="Google Shape;19;p27"/>
          <p:cNvSpPr txBox="1"/>
          <p:nvPr>
            <p:ph type="title"/>
          </p:nvPr>
        </p:nvSpPr>
        <p:spPr>
          <a:xfrm>
            <a:off x="640080" y="777240"/>
            <a:ext cx="10908792" cy="6400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200"/>
              <a:buFont typeface="Arial"/>
              <a:buNone/>
              <a:defRPr b="1" i="0" sz="32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0" name="Shape 2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6F7FB"/>
        </a:solidFill>
      </p:bgPr>
    </p:bg>
    <p:spTree>
      <p:nvGrpSpPr>
        <p:cNvPr id="21" name="Shape 21"/>
        <p:cNvGrpSpPr/>
        <p:nvPr/>
      </p:nvGrpSpPr>
      <p:grpSpPr>
        <a:xfrm>
          <a:off x="0" y="0"/>
          <a:ext cx="0" cy="0"/>
          <a:chOff x="0" y="0"/>
          <a:chExt cx="0" cy="0"/>
        </a:xfrm>
      </p:grpSpPr>
      <p:sp>
        <p:nvSpPr>
          <p:cNvPr id="22" name="Google Shape;22;h423b657ec3993948_0_85"/>
          <p:cNvSpPr txBox="1"/>
          <p:nvPr>
            <p:ph type="title"/>
          </p:nvPr>
        </p:nvSpPr>
        <p:spPr>
          <a:xfrm>
            <a:off x="812800" y="406400"/>
            <a:ext cx="10566300" cy="530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2233"/>
              </a:buClr>
              <a:buSzPts val="3900"/>
              <a:buFont typeface="Arial"/>
              <a:buNone/>
              <a:defRPr sz="3900">
                <a:solidFill>
                  <a:srgbClr val="1F2233"/>
                </a:solidFill>
                <a:latin typeface="Arial"/>
                <a:ea typeface="Arial"/>
                <a:cs typeface="Arial"/>
                <a:sym typeface="Arial"/>
              </a:defRPr>
            </a:lvl1pPr>
            <a:lvl2pPr lvl="1">
              <a:spcBef>
                <a:spcPts val="0"/>
              </a:spcBef>
              <a:spcAft>
                <a:spcPts val="0"/>
              </a:spcAft>
              <a:buSzPts val="1900"/>
              <a:buNone/>
              <a:defRPr sz="1900"/>
            </a:lvl2pPr>
            <a:lvl3pPr lvl="2">
              <a:spcBef>
                <a:spcPts val="0"/>
              </a:spcBef>
              <a:spcAft>
                <a:spcPts val="0"/>
              </a:spcAft>
              <a:buSzPts val="1900"/>
              <a:buNone/>
              <a:defRPr sz="1900"/>
            </a:lvl3pPr>
            <a:lvl4pPr lvl="3">
              <a:spcBef>
                <a:spcPts val="0"/>
              </a:spcBef>
              <a:spcAft>
                <a:spcPts val="0"/>
              </a:spcAft>
              <a:buSzPts val="1900"/>
              <a:buNone/>
              <a:defRPr sz="1900"/>
            </a:lvl4pPr>
            <a:lvl5pPr lvl="4">
              <a:spcBef>
                <a:spcPts val="0"/>
              </a:spcBef>
              <a:spcAft>
                <a:spcPts val="0"/>
              </a:spcAft>
              <a:buSzPts val="1900"/>
              <a:buNone/>
              <a:defRPr sz="1900"/>
            </a:lvl5pPr>
            <a:lvl6pPr lvl="5">
              <a:spcBef>
                <a:spcPts val="0"/>
              </a:spcBef>
              <a:spcAft>
                <a:spcPts val="0"/>
              </a:spcAft>
              <a:buSzPts val="1900"/>
              <a:buNone/>
              <a:defRPr sz="1900"/>
            </a:lvl6pPr>
            <a:lvl7pPr lvl="6">
              <a:spcBef>
                <a:spcPts val="0"/>
              </a:spcBef>
              <a:spcAft>
                <a:spcPts val="0"/>
              </a:spcAft>
              <a:buSzPts val="1900"/>
              <a:buNone/>
              <a:defRPr sz="1900"/>
            </a:lvl7pPr>
            <a:lvl8pPr lvl="7">
              <a:spcBef>
                <a:spcPts val="0"/>
              </a:spcBef>
              <a:spcAft>
                <a:spcPts val="0"/>
              </a:spcAft>
              <a:buSzPts val="1900"/>
              <a:buNone/>
              <a:defRPr sz="1900"/>
            </a:lvl8pPr>
            <a:lvl9pPr lvl="8">
              <a:spcBef>
                <a:spcPts val="0"/>
              </a:spcBef>
              <a:spcAft>
                <a:spcPts val="0"/>
              </a:spcAft>
              <a:buSzPts val="1900"/>
              <a:buNone/>
              <a:defRPr sz="1900"/>
            </a:lvl9pPr>
          </a:lstStyle>
          <a:p/>
        </p:txBody>
      </p:sp>
      <p:sp>
        <p:nvSpPr>
          <p:cNvPr id="23" name="Google Shape;23;h423b657ec3993948_0_85"/>
          <p:cNvSpPr txBox="1"/>
          <p:nvPr>
            <p:ph idx="1" type="body"/>
          </p:nvPr>
        </p:nvSpPr>
        <p:spPr>
          <a:xfrm>
            <a:off x="812800" y="1242020"/>
            <a:ext cx="10566300" cy="4803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00"/>
              </a:spcBef>
              <a:spcAft>
                <a:spcPts val="0"/>
              </a:spcAft>
              <a:buClr>
                <a:srgbClr val="1F2233"/>
              </a:buClr>
              <a:buSzPts val="1600"/>
              <a:buNone/>
              <a:defRPr sz="1600">
                <a:solidFill>
                  <a:srgbClr val="1F2233"/>
                </a:solidFill>
                <a:latin typeface="Courier New"/>
                <a:ea typeface="Courier New"/>
                <a:cs typeface="Courier New"/>
                <a:sym typeface="Courier New"/>
              </a:defRPr>
            </a:lvl1pPr>
            <a:lvl2pPr indent="-349250" lvl="1" marL="914400" algn="l">
              <a:spcBef>
                <a:spcPts val="400"/>
              </a:spcBef>
              <a:spcAft>
                <a:spcPts val="0"/>
              </a:spcAft>
              <a:buClr>
                <a:schemeClr val="dk1"/>
              </a:buClr>
              <a:buSzPts val="1900"/>
              <a:buChar char="○"/>
              <a:defRPr sz="1900"/>
            </a:lvl2pPr>
            <a:lvl3pPr indent="-349250" lvl="2" marL="1371600" algn="l">
              <a:spcBef>
                <a:spcPts val="400"/>
              </a:spcBef>
              <a:spcAft>
                <a:spcPts val="0"/>
              </a:spcAft>
              <a:buClr>
                <a:schemeClr val="dk1"/>
              </a:buClr>
              <a:buSzPts val="1900"/>
              <a:buChar char="■"/>
              <a:defRPr sz="1900"/>
            </a:lvl3pPr>
            <a:lvl4pPr indent="-349250" lvl="3" marL="1828800" algn="l">
              <a:spcBef>
                <a:spcPts val="400"/>
              </a:spcBef>
              <a:spcAft>
                <a:spcPts val="0"/>
              </a:spcAft>
              <a:buClr>
                <a:schemeClr val="dk1"/>
              </a:buClr>
              <a:buSzPts val="1900"/>
              <a:buChar char="●"/>
              <a:defRPr sz="1900"/>
            </a:lvl4pPr>
            <a:lvl5pPr indent="-349250" lvl="4" marL="2286000" algn="l">
              <a:spcBef>
                <a:spcPts val="400"/>
              </a:spcBef>
              <a:spcAft>
                <a:spcPts val="0"/>
              </a:spcAft>
              <a:buClr>
                <a:schemeClr val="dk1"/>
              </a:buClr>
              <a:buSzPts val="1900"/>
              <a:buChar char="○"/>
              <a:defRPr sz="1900"/>
            </a:lvl5pPr>
            <a:lvl6pPr indent="-349250" lvl="5" marL="2743200" algn="l">
              <a:spcBef>
                <a:spcPts val="400"/>
              </a:spcBef>
              <a:spcAft>
                <a:spcPts val="0"/>
              </a:spcAft>
              <a:buClr>
                <a:schemeClr val="dk1"/>
              </a:buClr>
              <a:buSzPts val="1900"/>
              <a:buChar char="■"/>
              <a:defRPr sz="1900"/>
            </a:lvl6pPr>
            <a:lvl7pPr indent="-349250" lvl="6" marL="3200400" algn="l">
              <a:spcBef>
                <a:spcPts val="400"/>
              </a:spcBef>
              <a:spcAft>
                <a:spcPts val="0"/>
              </a:spcAft>
              <a:buClr>
                <a:schemeClr val="dk1"/>
              </a:buClr>
              <a:buSzPts val="1900"/>
              <a:buChar char="●"/>
              <a:defRPr sz="1900"/>
            </a:lvl7pPr>
            <a:lvl8pPr indent="-349250" lvl="7" marL="3657600" algn="l">
              <a:spcBef>
                <a:spcPts val="400"/>
              </a:spcBef>
              <a:spcAft>
                <a:spcPts val="0"/>
              </a:spcAft>
              <a:buClr>
                <a:schemeClr val="dk1"/>
              </a:buClr>
              <a:buSzPts val="1900"/>
              <a:buChar char="○"/>
              <a:defRPr sz="1900"/>
            </a:lvl8pPr>
            <a:lvl9pPr indent="-349250" lvl="8" marL="4114800" algn="l">
              <a:spcBef>
                <a:spcPts val="400"/>
              </a:spcBef>
              <a:spcAft>
                <a:spcPts val="0"/>
              </a:spcAft>
              <a:buClr>
                <a:schemeClr val="dk1"/>
              </a:buClr>
              <a:buSzPts val="1900"/>
              <a:buChar char="■"/>
              <a:defRPr sz="1900"/>
            </a:lvl9pPr>
          </a:lstStyle>
          <a:p/>
        </p:txBody>
      </p:sp>
    </p:spTree>
  </p:cSld>
  <p:clrMapOvr>
    <a:masterClrMapping/>
  </p:clrMapOvr>
</p:sldLayout>
</file>

<file path=ppt/slideMasters/_rels/slideMaster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slideLayout" Target="../slideLayouts/slideLayout2.xml" /><ns0:Relationship Id="rId3" Type="http://schemas.openxmlformats.org/officeDocument/2006/relationships/slideLayout" Target="../slideLayouts/slideLayout3.xml" /><ns0:Relationship Id="rId4" Type="http://schemas.openxmlformats.org/officeDocument/2006/relationships/slideLayout" Target="../slideLayouts/slideLayout4.xml" /><ns0:Relationship Id="rId5" Type="http://schemas.openxmlformats.org/officeDocument/2006/relationships/slideLayout" Target="../slideLayouts/slideLayout5.xml" /><ns0:Relationship Id="rId6" Type="http://schemas.openxmlformats.org/officeDocument/2006/relationships/theme" Target="../theme/theme1.xml" /></ns0: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1.xml" /><ns0:Relationship Id="rId3" Type="http://schemas.openxmlformats.org/officeDocument/2006/relationships/image" Target="../media/image1.png" /></ns0:Relationships>
</file>

<file path=ppt/slides/_rels/slide2.xml.rels><?xml version='1.0' encoding='utf-8'?>
<ns0:Relationships xmlns:ns0="http://schemas.openxmlformats.org/package/2006/relationships"><ns0:Relationship Id="rId1" Type="http://schemas.openxmlformats.org/officeDocument/2006/relationships/slideLayout" Target="../slideLayouts/slideLayout2.xml" /></ns0:Relationships>
</file>

<file path=ppt/slides/_rels/slide3.xml.rels><?xml version='1.0' encoding='utf-8'?>
<ns0:Relationships xmlns:ns0="http://schemas.openxmlformats.org/package/2006/relationships"><ns0:Relationship Id="rId1" Type="http://schemas.openxmlformats.org/officeDocument/2006/relationships/slideLayout" Target="../slideLayouts/slideLayout2.xml" /></ns0:Relationships>
</file>

<file path=ppt/slides/_rels/slide4.xml.rels><?xml version='1.0' encoding='utf-8'?>
<ns0:Relationships xmlns:ns0="http://schemas.openxmlformats.org/package/2006/relationships"><ns0:Relationship Id="rId1" Type="http://schemas.openxmlformats.org/officeDocument/2006/relationships/slideLayout" Target="../slideLayouts/slideLayout2.xml" /></ns0:Relationships>
</file>

<file path=ppt/slides/_rels/slide5.xml.rels><?xml version='1.0' encoding='utf-8'?>
<ns0:Relationships xmlns:ns0="http://schemas.openxmlformats.org/package/2006/relationships"><ns0:Relationship Id="rId1" Type="http://schemas.openxmlformats.org/officeDocument/2006/relationships/slideLayout" Target="../slideLayouts/slideLayout2.xml" /></ns0:Relationships>
</file>

<file path=ppt/slides/_rels/slide6.xml.rels><?xml version='1.0' encoding='utf-8'?>
<ns0:Relationships xmlns:ns0="http://schemas.openxmlformats.org/package/2006/relationships"><ns0:Relationship Id="rId1" Type="http://schemas.openxmlformats.org/officeDocument/2006/relationships/slideLayout" Target="../slideLayouts/slideLayout5.xml" /></ns0:Relationships>
</file>

<file path=ppt/slides/_rels/slide7.xml.rels><?xml version='1.0' encoding='utf-8'?>
<ns0:Relationships xmlns:ns0="http://schemas.openxmlformats.org/package/2006/relationships"><ns0:Relationship Id="rId1" Type="http://schemas.openxmlformats.org/officeDocument/2006/relationships/slideLayout" Target="../slideLayouts/slideLayout2.xml" /></ns0:Relationships>
</file>

<file path=ppt/slides/_rels/slide8.xml.rels><?xml version='1.0' encoding='utf-8'?>
<ns0:Relationships xmlns:ns0="http://schemas.openxmlformats.org/package/2006/relationships"><ns0:Relationship Id="rId1" Type="http://schemas.openxmlformats.org/officeDocument/2006/relationships/slideLayout" Target="../slideLayouts/slideLayout2.xml" /></ns0:Relationships>
</file>

<file path=ppt/slides/_rels/slide9.xml.rels><?xml version='1.0' encoding='utf-8'?>
<ns0:Relationships xmlns:ns0="http://schemas.openxmlformats.org/package/2006/relationships"><ns0:Relationship Id="rId1" Type="http://schemas.openxmlformats.org/officeDocument/2006/relationships/slideLayout" Target="../slideLayouts/slideLayout2.xml" /></ns0:Relationships>
</file>

<file path=ppt/slides/_rels/slide10.xml.rels><?xml version='1.0' encoding='utf-8'?>
<ns0:Relationships xmlns:ns0="http://schemas.openxmlformats.org/package/2006/relationships"><ns0:Relationship Id="rId1" Type="http://schemas.openxmlformats.org/officeDocument/2006/relationships/slideLayout" Target="../slideLayouts/slideLayout2.xml" /></ns0:Relationships>
</file>

<file path=ppt/slides/_rels/slide11.xml.rels><?xml version='1.0' encoding='utf-8'?>
<ns0:Relationships xmlns:ns0="http://schemas.openxmlformats.org/package/2006/relationships"><ns0:Relationship Id="rId1" Type="http://schemas.openxmlformats.org/officeDocument/2006/relationships/slideLayout" Target="../slideLayouts/slideLayout2.xml" /></ns0:Relationships>
</file>

<file path=ppt/slides/_rels/slide12.xml.rels><?xml version='1.0' encoding='utf-8'?>
<ns0:Relationships xmlns:ns0="http://schemas.openxmlformats.org/package/2006/relationships"><ns0:Relationship Id="rId1" Type="http://schemas.openxmlformats.org/officeDocument/2006/relationships/slideLayout" Target="../slideLayouts/slideLayout2.xml" /><ns0:Relationship Id="rId3" Type="http://schemas.openxmlformats.org/officeDocument/2006/relationships/hyperlink" Target="http://www.youtube.com/watch?v=qgnDbQ1aM54" TargetMode="External" /><ns0:Relationship Id="rId4" Type="http://schemas.openxmlformats.org/officeDocument/2006/relationships/image" Target="../media/image2.jpg" /></ns0:Relationships>
</file>

<file path=ppt/slides/_rels/slide13.xml.rels><?xml version='1.0' encoding='utf-8'?>
<ns0:Relationships xmlns:ns0="http://schemas.openxmlformats.org/package/2006/relationships"><ns0:Relationship Id="rId1" Type="http://schemas.openxmlformats.org/officeDocument/2006/relationships/slideLayout" Target="../slideLayouts/slideLayout2.xml" /></ns0:Relationships>
</file>

<file path=ppt/slides/_rels/slide14.xml.rels><?xml version='1.0' encoding='utf-8'?>
<ns0:Relationships xmlns:ns0="http://schemas.openxmlformats.org/package/2006/relationships"><ns0:Relationship Id="rId1" Type="http://schemas.openxmlformats.org/officeDocument/2006/relationships/slideLayout" Target="../slideLayouts/slideLayout2.xml" /></ns0:Relationships>
</file>

<file path=ppt/slides/_rels/slide15.xml.rels><?xml version='1.0' encoding='utf-8'?>
<ns0:Relationships xmlns:ns0="http://schemas.openxmlformats.org/package/2006/relationships"><ns0:Relationship Id="rId1" Type="http://schemas.openxmlformats.org/officeDocument/2006/relationships/slideLayout" Target="../slideLayouts/slideLayout2.xml" /><ns0:Relationship Id="rId3" Type="http://schemas.openxmlformats.org/officeDocument/2006/relationships/hyperlink" Target="http://www.youtube.com/watch?v=qgnDbQ1aM54" TargetMode="External" /><ns0:Relationship Id="rId4" Type="http://schemas.openxmlformats.org/officeDocument/2006/relationships/image" Target="../media/image2.jpg" /></ns0:Relationships>
</file>

<file path=ppt/slides/_rels/slide16.xml.rels><?xml version='1.0' encoding='utf-8'?>
<ns0:Relationships xmlns:ns0="http://schemas.openxmlformats.org/package/2006/relationships"><ns0:Relationship Id="rId1" Type="http://schemas.openxmlformats.org/officeDocument/2006/relationships/slideLayout" Target="../slideLayouts/slideLayout2.xml" /></ns0:Relationships>
</file>

<file path=ppt/slides/_rels/slide17.xml.rels><?xml version='1.0' encoding='utf-8'?>
<ns0:Relationships xmlns:ns0="http://schemas.openxmlformats.org/package/2006/relationships"><ns0:Relationship Id="rId1" Type="http://schemas.openxmlformats.org/officeDocument/2006/relationships/slideLayout" Target="../slideLayouts/slideLayout2.xml" /></ns0:Relationships>
</file>

<file path=ppt/slides/_rels/slide18.xml.rels><?xml version='1.0' encoding='utf-8'?>
<ns0:Relationships xmlns:ns0="http://schemas.openxmlformats.org/package/2006/relationships"><ns0:Relationship Id="rId1" Type="http://schemas.openxmlformats.org/officeDocument/2006/relationships/slideLayout" Target="../slideLayouts/slideLayout2.xml" /><ns0:Relationship Id="rId3" Type="http://schemas.openxmlformats.org/officeDocument/2006/relationships/hyperlink" Target="http://www.youtube.com/watch?v=qgnDbQ1aM54" TargetMode="External" /><ns0:Relationship Id="rId4" Type="http://schemas.openxmlformats.org/officeDocument/2006/relationships/image" Target="../media/image2.jpg" /></ns0:Relationships>
</file>

<file path=ppt/slides/_rels/slide19.xml.rels><?xml version='1.0' encoding='utf-8'?>
<ns0:Relationships xmlns:ns0="http://schemas.openxmlformats.org/package/2006/relationships"><ns0:Relationship Id="rId1" Type="http://schemas.openxmlformats.org/officeDocument/2006/relationships/slideLayout" Target="../slideLayouts/slideLayout2.xml" /></ns0:Relationships>
</file>

<file path=ppt/slides/_rels/slide20.xml.rels><?xml version='1.0' encoding='utf-8'?>
<ns0:Relationships xmlns:ns0="http://schemas.openxmlformats.org/package/2006/relationships"><ns0:Relationship Id="rId1" Type="http://schemas.openxmlformats.org/officeDocument/2006/relationships/slideLayout" Target="../slideLayouts/slideLayout2.xml" /></ns0:Relationships>
</file>

<file path=ppt/slides/_rels/slide21.xml.rels><?xml version='1.0' encoding='utf-8'?>
<ns0:Relationships xmlns:ns0="http://schemas.openxmlformats.org/package/2006/relationships"><ns0:Relationship Id="rId1" Type="http://schemas.openxmlformats.org/officeDocument/2006/relationships/slideLayout" Target="../slideLayouts/slideLayout3.xml" /></ns0:Relationships>
</file>

<file path=ppt/slides/_rels/slide22.xml.rels><?xml version='1.0' encoding='utf-8'?>
<ns0:Relationships xmlns:ns0="http://schemas.openxmlformats.org/package/2006/relationships"><ns0:Relationship Id="rId1" Type="http://schemas.openxmlformats.org/officeDocument/2006/relationships/slideLayout" Target="../slideLayouts/slideLayout3.xml" /></ns0:Relationships>
</file>

<file path=ppt/slides/_rels/slide23.xml.rels><?xml version='1.0' encoding='utf-8'?>
<ns0:Relationships xmlns:ns0="http://schemas.openxmlformats.org/package/2006/relationships"><ns0:Relationship Id="rId1" Type="http://schemas.openxmlformats.org/officeDocument/2006/relationships/slideLayout" Target="../slideLayouts/slideLayout3.xml" /></ns0: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 name="Shape 28"/>
        <p:cNvGrpSpPr/>
        <p:nvPr/>
      </p:nvGrpSpPr>
      <p:grpSpPr>
        <a:xfrm>
          <a:off x="0" y="0"/>
          <a:ext cx="0" cy="0"/>
          <a:chOff x="0" y="0"/>
          <a:chExt cx="0" cy="0"/>
        </a:xfrm>
      </p:grpSpPr>
      <p:sp>
        <p:nvSpPr>
          <p:cNvPr id="29" name="Google Shape;29;p1"/>
          <p:cNvSpPr txBox="1"/>
          <p:nvPr>
            <p:ph type="title"/>
          </p:nvPr>
        </p:nvSpPr>
        <p:spPr>
          <a:xfrm>
            <a:off x="822960" y="2489200"/>
            <a:ext cx="10058400" cy="10972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5400"/>
              <a:buFont typeface="Arial"/>
              <a:buNone/>
            </a:pPr>
            <a:r>
              <a:rPr b="1" lang="en-US" sz="5400">
                <a:solidFill>
                  <a:schemeClr val="lt1"/>
                </a:solidFill>
              </a:rPr>
              <a:t>Strings</a:t>
            </a:r>
            <a:endParaRPr sz="5400"/>
          </a:p>
        </p:txBody>
      </p:sp>
      <p:sp>
        <p:nvSpPr>
          <p:cNvPr id="30" name="Google Shape;30;p1"/>
          <p:cNvSpPr/>
          <p:nvPr/>
        </p:nvSpPr>
        <p:spPr>
          <a:xfrm>
            <a:off x="822960" y="4160520"/>
            <a:ext cx="658368" cy="658368"/>
          </a:xfrm>
          <a:prstGeom prst="roundRect">
            <a:avLst>
              <a:gd fmla="val 6944" name="adj"/>
            </a:avLst>
          </a:prstGeom>
          <a:solidFill>
            <a:schemeClr val="accent6"/>
          </a:solidFill>
          <a:ln cap="flat" cmpd="sng" w="9525">
            <a:solidFill>
              <a:schemeClr val="accent5">
                <a:alpha val="50196"/>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2200"/>
              <a:buFont typeface="Calibri"/>
              <a:buNone/>
            </a:pPr>
            <a:r>
              <a:rPr b="1" i="0" lang="en-US" sz="2200" u="none" cap="none" strike="noStrike">
                <a:solidFill>
                  <a:schemeClr val="lt1"/>
                </a:solidFill>
                <a:latin typeface="Calibri"/>
                <a:ea typeface="Calibri"/>
                <a:cs typeface="Calibri"/>
                <a:sym typeface="Calibri"/>
              </a:rPr>
              <a:t>s</a:t>
            </a:r>
            <a:endParaRPr b="0" i="0" sz="2200" u="none" cap="none" strike="noStrike">
              <a:solidFill>
                <a:schemeClr val="dk1"/>
              </a:solidFill>
              <a:latin typeface="Calibri"/>
              <a:ea typeface="Calibri"/>
              <a:cs typeface="Calibri"/>
              <a:sym typeface="Calibri"/>
            </a:endParaRPr>
          </a:p>
        </p:txBody>
      </p:sp>
      <p:sp>
        <p:nvSpPr>
          <p:cNvPr id="31" name="Google Shape;31;p1"/>
          <p:cNvSpPr txBox="1"/>
          <p:nvPr/>
        </p:nvSpPr>
        <p:spPr>
          <a:xfrm>
            <a:off x="822960" y="4910328"/>
            <a:ext cx="658368"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4"/>
              </a:buClr>
              <a:buSzPts val="1100"/>
              <a:buFont typeface="Courier New"/>
              <a:buNone/>
            </a:pPr>
            <a:r>
              <a:rPr b="0" i="0" lang="en-US" sz="1100" u="none" cap="none" strike="noStrike">
                <a:solidFill>
                  <a:schemeClr val="accent4"/>
                </a:solidFill>
                <a:latin typeface="Courier New"/>
                <a:ea typeface="Courier New"/>
                <a:cs typeface="Courier New"/>
                <a:sym typeface="Courier New"/>
              </a:rPr>
              <a:t>0</a:t>
            </a:r>
            <a:endParaRPr b="0" i="0" sz="1100" u="none" cap="none" strike="noStrike">
              <a:solidFill>
                <a:schemeClr val="dk1"/>
              </a:solidFill>
              <a:latin typeface="Calibri"/>
              <a:ea typeface="Calibri"/>
              <a:cs typeface="Calibri"/>
              <a:sym typeface="Calibri"/>
            </a:endParaRPr>
          </a:p>
        </p:txBody>
      </p:sp>
      <p:sp>
        <p:nvSpPr>
          <p:cNvPr id="32" name="Google Shape;32;p1"/>
          <p:cNvSpPr/>
          <p:nvPr/>
        </p:nvSpPr>
        <p:spPr>
          <a:xfrm>
            <a:off x="1591056" y="4160520"/>
            <a:ext cx="658368" cy="658368"/>
          </a:xfrm>
          <a:prstGeom prst="roundRect">
            <a:avLst>
              <a:gd fmla="val 6944" name="adj"/>
            </a:avLst>
          </a:prstGeom>
          <a:solidFill>
            <a:schemeClr val="accent6"/>
          </a:solidFill>
          <a:ln cap="flat" cmpd="sng" w="9525">
            <a:solidFill>
              <a:schemeClr val="accent5">
                <a:alpha val="50196"/>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2200"/>
              <a:buFont typeface="Calibri"/>
              <a:buNone/>
            </a:pPr>
            <a:r>
              <a:rPr b="1" i="0" lang="en-US" sz="2200" u="none" cap="none" strike="noStrike">
                <a:solidFill>
                  <a:schemeClr val="lt1"/>
                </a:solidFill>
                <a:latin typeface="Calibri"/>
                <a:ea typeface="Calibri"/>
                <a:cs typeface="Calibri"/>
                <a:sym typeface="Calibri"/>
              </a:rPr>
              <a:t>t</a:t>
            </a:r>
            <a:endParaRPr b="0" i="0" sz="2200" u="none" cap="none" strike="noStrike">
              <a:solidFill>
                <a:schemeClr val="dk1"/>
              </a:solidFill>
              <a:latin typeface="Calibri"/>
              <a:ea typeface="Calibri"/>
              <a:cs typeface="Calibri"/>
              <a:sym typeface="Calibri"/>
            </a:endParaRPr>
          </a:p>
        </p:txBody>
      </p:sp>
      <p:sp>
        <p:nvSpPr>
          <p:cNvPr id="33" name="Google Shape;33;p1"/>
          <p:cNvSpPr txBox="1"/>
          <p:nvPr/>
        </p:nvSpPr>
        <p:spPr>
          <a:xfrm>
            <a:off x="1591056" y="4910328"/>
            <a:ext cx="658368"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4"/>
              </a:buClr>
              <a:buSzPts val="1100"/>
              <a:buFont typeface="Courier New"/>
              <a:buNone/>
            </a:pPr>
            <a:r>
              <a:rPr b="0" i="0" lang="en-US" sz="1100" u="none" cap="none" strike="noStrike">
                <a:solidFill>
                  <a:schemeClr val="accent4"/>
                </a:solidFill>
                <a:latin typeface="Courier New"/>
                <a:ea typeface="Courier New"/>
                <a:cs typeface="Courier New"/>
                <a:sym typeface="Courier New"/>
              </a:rPr>
              <a:t>1</a:t>
            </a:r>
            <a:endParaRPr b="0" i="0" sz="1100" u="none" cap="none" strike="noStrike">
              <a:solidFill>
                <a:schemeClr val="dk1"/>
              </a:solidFill>
              <a:latin typeface="Calibri"/>
              <a:ea typeface="Calibri"/>
              <a:cs typeface="Calibri"/>
              <a:sym typeface="Calibri"/>
            </a:endParaRPr>
          </a:p>
        </p:txBody>
      </p:sp>
      <p:sp>
        <p:nvSpPr>
          <p:cNvPr id="34" name="Google Shape;34;p1"/>
          <p:cNvSpPr/>
          <p:nvPr/>
        </p:nvSpPr>
        <p:spPr>
          <a:xfrm>
            <a:off x="2359152" y="4160520"/>
            <a:ext cx="658368" cy="658368"/>
          </a:xfrm>
          <a:prstGeom prst="roundRect">
            <a:avLst>
              <a:gd fmla="val 6944" name="adj"/>
            </a:avLst>
          </a:prstGeom>
          <a:solidFill>
            <a:schemeClr val="accent6"/>
          </a:solidFill>
          <a:ln cap="flat" cmpd="sng" w="9525">
            <a:solidFill>
              <a:schemeClr val="accent5">
                <a:alpha val="50196"/>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2200"/>
              <a:buFont typeface="Calibri"/>
              <a:buNone/>
            </a:pPr>
            <a:r>
              <a:rPr b="1" i="0" lang="en-US" sz="2200" u="none" cap="none" strike="noStrike">
                <a:solidFill>
                  <a:schemeClr val="lt1"/>
                </a:solidFill>
                <a:latin typeface="Calibri"/>
                <a:ea typeface="Calibri"/>
                <a:cs typeface="Calibri"/>
                <a:sym typeface="Calibri"/>
              </a:rPr>
              <a:t>r</a:t>
            </a:r>
            <a:endParaRPr b="0" i="0" sz="2200" u="none" cap="none" strike="noStrike">
              <a:solidFill>
                <a:schemeClr val="dk1"/>
              </a:solidFill>
              <a:latin typeface="Calibri"/>
              <a:ea typeface="Calibri"/>
              <a:cs typeface="Calibri"/>
              <a:sym typeface="Calibri"/>
            </a:endParaRPr>
          </a:p>
        </p:txBody>
      </p:sp>
      <p:sp>
        <p:nvSpPr>
          <p:cNvPr id="35" name="Google Shape;35;p1"/>
          <p:cNvSpPr txBox="1"/>
          <p:nvPr/>
        </p:nvSpPr>
        <p:spPr>
          <a:xfrm>
            <a:off x="2359152" y="4910328"/>
            <a:ext cx="658368"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4"/>
              </a:buClr>
              <a:buSzPts val="1100"/>
              <a:buFont typeface="Courier New"/>
              <a:buNone/>
            </a:pPr>
            <a:r>
              <a:rPr b="0" i="0" lang="en-US" sz="1100" u="none" cap="none" strike="noStrike">
                <a:solidFill>
                  <a:schemeClr val="accent4"/>
                </a:solidFill>
                <a:latin typeface="Courier New"/>
                <a:ea typeface="Courier New"/>
                <a:cs typeface="Courier New"/>
                <a:sym typeface="Courier New"/>
              </a:rPr>
              <a:t>2</a:t>
            </a:r>
            <a:endParaRPr b="0" i="0" sz="1100" u="none" cap="none" strike="noStrike">
              <a:solidFill>
                <a:schemeClr val="dk1"/>
              </a:solidFill>
              <a:latin typeface="Calibri"/>
              <a:ea typeface="Calibri"/>
              <a:cs typeface="Calibri"/>
              <a:sym typeface="Calibri"/>
            </a:endParaRPr>
          </a:p>
        </p:txBody>
      </p:sp>
      <p:sp>
        <p:nvSpPr>
          <p:cNvPr id="36" name="Google Shape;36;p1"/>
          <p:cNvSpPr/>
          <p:nvPr/>
        </p:nvSpPr>
        <p:spPr>
          <a:xfrm>
            <a:off x="3127248" y="4160520"/>
            <a:ext cx="658368" cy="658368"/>
          </a:xfrm>
          <a:prstGeom prst="roundRect">
            <a:avLst>
              <a:gd fmla="val 6944" name="adj"/>
            </a:avLst>
          </a:prstGeom>
          <a:solidFill>
            <a:schemeClr val="accent6"/>
          </a:solidFill>
          <a:ln cap="flat" cmpd="sng" w="9525">
            <a:solidFill>
              <a:schemeClr val="accent5">
                <a:alpha val="50196"/>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2200"/>
              <a:buFont typeface="Calibri"/>
              <a:buNone/>
            </a:pPr>
            <a:r>
              <a:rPr b="1" i="0" lang="en-US" sz="2200" u="none" cap="none" strike="noStrike">
                <a:solidFill>
                  <a:schemeClr val="lt1"/>
                </a:solidFill>
                <a:latin typeface="Calibri"/>
                <a:ea typeface="Calibri"/>
                <a:cs typeface="Calibri"/>
                <a:sym typeface="Calibri"/>
              </a:rPr>
              <a:t>i</a:t>
            </a:r>
            <a:endParaRPr b="0" i="0" sz="2200" u="none" cap="none" strike="noStrike">
              <a:solidFill>
                <a:schemeClr val="dk1"/>
              </a:solidFill>
              <a:latin typeface="Calibri"/>
              <a:ea typeface="Calibri"/>
              <a:cs typeface="Calibri"/>
              <a:sym typeface="Calibri"/>
            </a:endParaRPr>
          </a:p>
        </p:txBody>
      </p:sp>
      <p:sp>
        <p:nvSpPr>
          <p:cNvPr id="37" name="Google Shape;37;p1"/>
          <p:cNvSpPr txBox="1"/>
          <p:nvPr/>
        </p:nvSpPr>
        <p:spPr>
          <a:xfrm>
            <a:off x="3127248" y="4910328"/>
            <a:ext cx="658368"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4"/>
              </a:buClr>
              <a:buSzPts val="1100"/>
              <a:buFont typeface="Courier New"/>
              <a:buNone/>
            </a:pPr>
            <a:r>
              <a:rPr b="0" i="0" lang="en-US" sz="1100" u="none" cap="none" strike="noStrike">
                <a:solidFill>
                  <a:schemeClr val="accent4"/>
                </a:solidFill>
                <a:latin typeface="Courier New"/>
                <a:ea typeface="Courier New"/>
                <a:cs typeface="Courier New"/>
                <a:sym typeface="Courier New"/>
              </a:rPr>
              <a:t>3</a:t>
            </a:r>
            <a:endParaRPr b="0" i="0" sz="1100" u="none" cap="none" strike="noStrike">
              <a:solidFill>
                <a:schemeClr val="dk1"/>
              </a:solidFill>
              <a:latin typeface="Calibri"/>
              <a:ea typeface="Calibri"/>
              <a:cs typeface="Calibri"/>
              <a:sym typeface="Calibri"/>
            </a:endParaRPr>
          </a:p>
        </p:txBody>
      </p:sp>
      <p:sp>
        <p:nvSpPr>
          <p:cNvPr id="38" name="Google Shape;38;p1"/>
          <p:cNvSpPr/>
          <p:nvPr/>
        </p:nvSpPr>
        <p:spPr>
          <a:xfrm>
            <a:off x="3895344" y="4160520"/>
            <a:ext cx="658368" cy="658368"/>
          </a:xfrm>
          <a:prstGeom prst="roundRect">
            <a:avLst>
              <a:gd fmla="val 6944"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2200"/>
              <a:buFont typeface="Calibri"/>
              <a:buNone/>
            </a:pPr>
            <a:r>
              <a:rPr b="1" i="0" lang="en-US" sz="2200" u="none" cap="none" strike="noStrike">
                <a:solidFill>
                  <a:schemeClr val="lt1"/>
                </a:solidFill>
                <a:latin typeface="Calibri"/>
                <a:ea typeface="Calibri"/>
                <a:cs typeface="Calibri"/>
                <a:sym typeface="Calibri"/>
              </a:rPr>
              <a:t>n</a:t>
            </a:r>
            <a:endParaRPr b="0" i="0" sz="2200" u="none" cap="none" strike="noStrike">
              <a:solidFill>
                <a:schemeClr val="dk1"/>
              </a:solidFill>
              <a:latin typeface="Calibri"/>
              <a:ea typeface="Calibri"/>
              <a:cs typeface="Calibri"/>
              <a:sym typeface="Calibri"/>
            </a:endParaRPr>
          </a:p>
        </p:txBody>
      </p:sp>
      <p:sp>
        <p:nvSpPr>
          <p:cNvPr id="39" name="Google Shape;39;p1"/>
          <p:cNvSpPr txBox="1"/>
          <p:nvPr/>
        </p:nvSpPr>
        <p:spPr>
          <a:xfrm>
            <a:off x="3895344" y="4910328"/>
            <a:ext cx="658368"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4"/>
              </a:buClr>
              <a:buSzPts val="1100"/>
              <a:buFont typeface="Courier New"/>
              <a:buNone/>
            </a:pPr>
            <a:r>
              <a:rPr b="0" i="0" lang="en-US" sz="1100" u="none" cap="none" strike="noStrike">
                <a:solidFill>
                  <a:schemeClr val="accent4"/>
                </a:solidFill>
                <a:latin typeface="Courier New"/>
                <a:ea typeface="Courier New"/>
                <a:cs typeface="Courier New"/>
                <a:sym typeface="Courier New"/>
              </a:rPr>
              <a:t>4</a:t>
            </a:r>
            <a:endParaRPr b="0" i="0" sz="1100" u="none" cap="none" strike="noStrike">
              <a:solidFill>
                <a:schemeClr val="dk1"/>
              </a:solidFill>
              <a:latin typeface="Calibri"/>
              <a:ea typeface="Calibri"/>
              <a:cs typeface="Calibri"/>
              <a:sym typeface="Calibri"/>
            </a:endParaRPr>
          </a:p>
        </p:txBody>
      </p:sp>
      <p:sp>
        <p:nvSpPr>
          <p:cNvPr id="40" name="Google Shape;40;p1"/>
          <p:cNvSpPr/>
          <p:nvPr/>
        </p:nvSpPr>
        <p:spPr>
          <a:xfrm>
            <a:off x="4663440" y="4160520"/>
            <a:ext cx="658368" cy="658368"/>
          </a:xfrm>
          <a:prstGeom prst="roundRect">
            <a:avLst>
              <a:gd fmla="val 6944" name="adj"/>
            </a:avLst>
          </a:prstGeom>
          <a:solidFill>
            <a:schemeClr val="accent6"/>
          </a:solidFill>
          <a:ln cap="flat" cmpd="sng" w="9525">
            <a:solidFill>
              <a:schemeClr val="accent5">
                <a:alpha val="50196"/>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2200"/>
              <a:buFont typeface="Calibri"/>
              <a:buNone/>
            </a:pPr>
            <a:r>
              <a:rPr b="1" i="0" lang="en-US" sz="2200" u="none" cap="none" strike="noStrike">
                <a:solidFill>
                  <a:schemeClr val="lt1"/>
                </a:solidFill>
                <a:latin typeface="Calibri"/>
                <a:ea typeface="Calibri"/>
                <a:cs typeface="Calibri"/>
                <a:sym typeface="Calibri"/>
              </a:rPr>
              <a:t>g</a:t>
            </a:r>
            <a:endParaRPr b="0" i="0" sz="2200" u="none" cap="none" strike="noStrike">
              <a:solidFill>
                <a:schemeClr val="dk1"/>
              </a:solidFill>
              <a:latin typeface="Calibri"/>
              <a:ea typeface="Calibri"/>
              <a:cs typeface="Calibri"/>
              <a:sym typeface="Calibri"/>
            </a:endParaRPr>
          </a:p>
        </p:txBody>
      </p:sp>
      <p:sp>
        <p:nvSpPr>
          <p:cNvPr id="41" name="Google Shape;41;p1"/>
          <p:cNvSpPr txBox="1"/>
          <p:nvPr/>
        </p:nvSpPr>
        <p:spPr>
          <a:xfrm>
            <a:off x="4663440" y="4910328"/>
            <a:ext cx="658368"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4"/>
              </a:buClr>
              <a:buSzPts val="1100"/>
              <a:buFont typeface="Courier New"/>
              <a:buNone/>
            </a:pPr>
            <a:r>
              <a:rPr b="0" i="0" lang="en-US" sz="1100" u="none" cap="none" strike="noStrike">
                <a:solidFill>
                  <a:schemeClr val="accent4"/>
                </a:solidFill>
                <a:latin typeface="Courier New"/>
                <a:ea typeface="Courier New"/>
                <a:cs typeface="Courier New"/>
                <a:sym typeface="Courier New"/>
              </a:rPr>
              <a:t>5</a:t>
            </a:r>
            <a:endParaRPr b="0" i="0" sz="1100" u="none" cap="none" strike="noStrike">
              <a:solidFill>
                <a:schemeClr val="dk1"/>
              </a:solidFill>
              <a:latin typeface="Calibri"/>
              <a:ea typeface="Calibri"/>
              <a:cs typeface="Calibri"/>
              <a:sym typeface="Calibri"/>
            </a:endParaRPr>
          </a:p>
        </p:txBody>
      </p:sp>
      <p:sp>
        <p:nvSpPr>
          <p:cNvPr id="42" name="Google Shape;42;p1"/>
          <p:cNvSpPr/>
          <p:nvPr/>
        </p:nvSpPr>
        <p:spPr>
          <a:xfrm>
            <a:off x="5431536" y="4160520"/>
            <a:ext cx="658368" cy="658368"/>
          </a:xfrm>
          <a:prstGeom prst="roundRect">
            <a:avLst>
              <a:gd fmla="val 6944" name="adj"/>
            </a:avLst>
          </a:prstGeom>
          <a:solidFill>
            <a:schemeClr val="accent6"/>
          </a:solidFill>
          <a:ln cap="flat" cmpd="sng" w="9525">
            <a:solidFill>
              <a:schemeClr val="accent5">
                <a:alpha val="50196"/>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2200"/>
              <a:buFont typeface="Calibri"/>
              <a:buNone/>
            </a:pPr>
            <a:r>
              <a:rPr b="1" i="0" lang="en-US" sz="2200" u="none" cap="none" strike="noStrike">
                <a:solidFill>
                  <a:schemeClr val="lt1"/>
                </a:solidFill>
                <a:latin typeface="Calibri"/>
                <a:ea typeface="Calibri"/>
                <a:cs typeface="Calibri"/>
                <a:sym typeface="Calibri"/>
              </a:rPr>
              <a:t>s</a:t>
            </a:r>
            <a:endParaRPr b="0" i="0" sz="2200" u="none" cap="none" strike="noStrike">
              <a:solidFill>
                <a:schemeClr val="dk1"/>
              </a:solidFill>
              <a:latin typeface="Calibri"/>
              <a:ea typeface="Calibri"/>
              <a:cs typeface="Calibri"/>
              <a:sym typeface="Calibri"/>
            </a:endParaRPr>
          </a:p>
        </p:txBody>
      </p:sp>
      <p:sp>
        <p:nvSpPr>
          <p:cNvPr id="43" name="Google Shape;43;p1"/>
          <p:cNvSpPr txBox="1"/>
          <p:nvPr/>
        </p:nvSpPr>
        <p:spPr>
          <a:xfrm>
            <a:off x="5431536" y="4910328"/>
            <a:ext cx="658368"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4"/>
              </a:buClr>
              <a:buSzPts val="1100"/>
              <a:buFont typeface="Courier New"/>
              <a:buNone/>
            </a:pPr>
            <a:r>
              <a:rPr b="0" i="0" lang="en-US" sz="1100" u="none" cap="none" strike="noStrike">
                <a:solidFill>
                  <a:schemeClr val="accent4"/>
                </a:solidFill>
                <a:latin typeface="Courier New"/>
                <a:ea typeface="Courier New"/>
                <a:cs typeface="Courier New"/>
                <a:sym typeface="Courier New"/>
              </a:rPr>
              <a:t>6</a:t>
            </a:r>
            <a:endParaRPr b="0" i="0" sz="1100" u="none" cap="none" strike="noStrike">
              <a:solidFill>
                <a:schemeClr val="dk1"/>
              </a:solidFill>
              <a:latin typeface="Calibri"/>
              <a:ea typeface="Calibri"/>
              <a:cs typeface="Calibri"/>
              <a:sym typeface="Calibri"/>
            </a:endParaRPr>
          </a:p>
        </p:txBody>
      </p:sp>
      <p:sp>
        <p:nvSpPr>
          <p:cNvPr id="44" name="Google Shape;44;p1"/>
          <p:cNvSpPr txBox="1"/>
          <p:nvPr/>
        </p:nvSpPr>
        <p:spPr>
          <a:xfrm>
            <a:off x="822960" y="1234440"/>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300"/>
              <a:buFont typeface="Calibri"/>
              <a:buNone/>
            </a:pPr>
            <a:r>
              <a:rPr b="1" i="0" lang="en-US" sz="1300" u="none" cap="none" strike="noStrike">
                <a:solidFill>
                  <a:srgbClr val="FF6B35"/>
                </a:solidFill>
                <a:latin typeface="Calibri"/>
                <a:ea typeface="Calibri"/>
                <a:cs typeface="Calibri"/>
                <a:sym typeface="Calibri"/>
              </a:rPr>
              <a:t>MODULE </a:t>
            </a:r>
            <a:r>
              <a:rPr b="1" lang="en-US" sz="1300">
                <a:solidFill>
                  <a:srgbClr val="FF6B35"/>
                </a:solidFill>
                <a:latin typeface="Calibri"/>
                <a:ea typeface="Calibri"/>
                <a:cs typeface="Calibri"/>
                <a:sym typeface="Calibri"/>
              </a:rPr>
              <a:t>2</a:t>
            </a:r>
            <a:r>
              <a:rPr b="1" i="0" lang="en-US" sz="1300" u="none" cap="none" strike="noStrike">
                <a:solidFill>
                  <a:srgbClr val="FF6B35"/>
                </a:solidFill>
                <a:latin typeface="Calibri"/>
                <a:ea typeface="Calibri"/>
                <a:cs typeface="Calibri"/>
                <a:sym typeface="Calibri"/>
              </a:rPr>
              <a:t>   //   </a:t>
            </a:r>
            <a:r>
              <a:rPr b="1" lang="en-US" sz="1300">
                <a:solidFill>
                  <a:srgbClr val="FF6B35"/>
                </a:solidFill>
                <a:latin typeface="Calibri"/>
                <a:ea typeface="Calibri"/>
                <a:cs typeface="Calibri"/>
                <a:sym typeface="Calibri"/>
              </a:rPr>
              <a:t>Strings</a:t>
            </a:r>
            <a:endParaRPr b="0" i="0" sz="1300" u="none" cap="none" strike="noStrike">
              <a:solidFill>
                <a:srgbClr val="1F2333"/>
              </a:solidFill>
              <a:latin typeface="Calibri"/>
              <a:ea typeface="Calibri"/>
              <a:cs typeface="Calibri"/>
              <a:sym typeface="Calibri"/>
            </a:endParaRPr>
          </a:p>
        </p:txBody>
      </p:sp>
      <p:pic>
        <p:nvPicPr>
          <p:cNvPr descr="A white and blue chat bubble with orange and white text&#10;&#10;Description automatically generated" id="45" name="Google Shape;45;p1"/>
          <p:cNvPicPr preferRelativeResize="0"/>
          <p:nvPr/>
        </p:nvPicPr>
        <p:blipFill rotWithShape="1">
          <a:blip r:embed="rId3">
            <a:alphaModFix/>
          </a:blip>
          <a:srcRect b="0" l="0" r="0" t="0"/>
          <a:stretch/>
        </p:blipFill>
        <p:spPr>
          <a:xfrm>
            <a:off x="10633652" y="257061"/>
            <a:ext cx="1459571" cy="977391"/>
          </a:xfrm>
          <a:prstGeom prst="rect">
            <a:avLst/>
          </a:prstGeom>
          <a:noFill/>
          <a:ln>
            <a:noFill/>
          </a:ln>
        </p:spPr>
      </p:pic>
      <p:sp>
        <p:nvSpPr>
          <p:cNvPr id="46" name="Google Shape;46;p1"/>
          <p:cNvSpPr txBox="1"/>
          <p:nvPr/>
        </p:nvSpPr>
        <p:spPr>
          <a:xfrm>
            <a:off x="822960" y="5797296"/>
            <a:ext cx="914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4AE"/>
              </a:buClr>
              <a:buSzPts val="1300"/>
              <a:buFont typeface="Calibri"/>
              <a:buNone/>
            </a:pPr>
            <a:r>
              <a:rPr lang="en-US" sz="2400">
                <a:solidFill>
                  <a:srgbClr val="FFFFFF"/>
                </a:solidFill>
                <a:latin typeface="Calibri"/>
                <a:ea typeface="Calibri"/>
                <a:cs typeface="Calibri"/>
                <a:sym typeface="Calibri"/>
              </a:rPr>
              <a:t>By: Isabelle Gomez</a:t>
            </a:r>
            <a:endParaRPr sz="2400">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2"/>
          <p:cNvSpPr txBox="1"/>
          <p:nvPr>
            <p:ph type="title"/>
          </p:nvPr>
        </p:nvSpPr>
        <p:spPr>
          <a:xfrm>
            <a:off x="640080" y="777240"/>
            <a:ext cx="10908792"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dk1"/>
                </a:solidFill>
              </a:rPr>
              <a:t>What we will cover</a:t>
            </a:r>
            <a:endParaRPr sz="3200"/>
          </a:p>
        </p:txBody>
      </p:sp>
      <p:sp>
        <p:nvSpPr>
          <p:cNvPr id="53" name="Google Shape;53;p2"/>
          <p:cNvSpPr/>
          <p:nvPr/>
        </p:nvSpPr>
        <p:spPr>
          <a:xfrm>
            <a:off x="640080" y="1645920"/>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54" name="Google Shape;54;p2"/>
          <p:cNvSpPr txBox="1"/>
          <p:nvPr/>
        </p:nvSpPr>
        <p:spPr>
          <a:xfrm>
            <a:off x="1371600" y="1729232"/>
            <a:ext cx="53035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00" u="none" cap="none" strike="noStrike">
                <a:solidFill>
                  <a:schemeClr val="dk1"/>
                </a:solidFill>
                <a:latin typeface="Calibri"/>
                <a:ea typeface="Calibri"/>
                <a:cs typeface="Calibri"/>
                <a:sym typeface="Calibri"/>
              </a:rPr>
              <a:t>Defining a string</a:t>
            </a:r>
            <a:endParaRPr sz="1800">
              <a:solidFill>
                <a:schemeClr val="dk1"/>
              </a:solidFill>
              <a:latin typeface="Calibri"/>
              <a:ea typeface="Calibri"/>
              <a:cs typeface="Calibri"/>
              <a:sym typeface="Calibri"/>
            </a:endParaRPr>
          </a:p>
        </p:txBody>
      </p:sp>
      <p:sp>
        <p:nvSpPr>
          <p:cNvPr id="55" name="Google Shape;55;p2"/>
          <p:cNvSpPr/>
          <p:nvPr/>
        </p:nvSpPr>
        <p:spPr>
          <a:xfrm>
            <a:off x="640080" y="2542032"/>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56" name="Google Shape;56;p2"/>
          <p:cNvSpPr txBox="1"/>
          <p:nvPr/>
        </p:nvSpPr>
        <p:spPr>
          <a:xfrm>
            <a:off x="1371600" y="2625344"/>
            <a:ext cx="53035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String operations</a:t>
            </a:r>
            <a:endParaRPr sz="1800">
              <a:solidFill>
                <a:schemeClr val="dk1"/>
              </a:solidFill>
              <a:latin typeface="Calibri"/>
              <a:ea typeface="Calibri"/>
              <a:cs typeface="Calibri"/>
              <a:sym typeface="Calibri"/>
            </a:endParaRPr>
          </a:p>
        </p:txBody>
      </p:sp>
      <p:sp>
        <p:nvSpPr>
          <p:cNvPr id="57" name="Google Shape;57;p2"/>
          <p:cNvSpPr/>
          <p:nvPr/>
        </p:nvSpPr>
        <p:spPr>
          <a:xfrm>
            <a:off x="640080" y="3438144"/>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58" name="Google Shape;58;p2"/>
          <p:cNvSpPr txBox="1"/>
          <p:nvPr/>
        </p:nvSpPr>
        <p:spPr>
          <a:xfrm>
            <a:off x="1371600" y="3419856"/>
            <a:ext cx="53035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Cost and complexity</a:t>
            </a:r>
            <a:endParaRPr sz="1800">
              <a:solidFill>
                <a:schemeClr val="dk1"/>
              </a:solidFill>
              <a:latin typeface="Calibri"/>
              <a:ea typeface="Calibri"/>
              <a:cs typeface="Calibri"/>
              <a:sym typeface="Calibri"/>
            </a:endParaRPr>
          </a:p>
        </p:txBody>
      </p:sp>
      <p:sp>
        <p:nvSpPr>
          <p:cNvPr id="59" name="Google Shape;59;p2"/>
          <p:cNvSpPr/>
          <p:nvPr/>
        </p:nvSpPr>
        <p:spPr>
          <a:xfrm>
            <a:off x="640080" y="4334256"/>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60" name="Google Shape;60;p2"/>
          <p:cNvSpPr txBox="1"/>
          <p:nvPr/>
        </p:nvSpPr>
        <p:spPr>
          <a:xfrm>
            <a:off x="1371600" y="4315968"/>
            <a:ext cx="53035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lang="en-US" sz="1800">
                <a:solidFill>
                  <a:schemeClr val="dk1"/>
                </a:solidFill>
                <a:latin typeface="Calibri"/>
                <a:ea typeface="Calibri"/>
                <a:cs typeface="Calibri"/>
                <a:sym typeface="Calibri"/>
              </a:rPr>
              <a:t>Patterns and worked examples</a:t>
            </a:r>
            <a:endParaRPr sz="1800">
              <a:solidFill>
                <a:schemeClr val="dk1"/>
              </a:solidFill>
              <a:latin typeface="Calibri"/>
              <a:ea typeface="Calibri"/>
              <a:cs typeface="Calibri"/>
              <a:sym typeface="Calibri"/>
            </a:endParaRPr>
          </a:p>
        </p:txBody>
      </p:sp>
      <p:sp>
        <p:nvSpPr>
          <p:cNvPr id="61" name="Google Shape;61;p2"/>
          <p:cNvSpPr/>
          <p:nvPr/>
        </p:nvSpPr>
        <p:spPr>
          <a:xfrm>
            <a:off x="640080" y="5230368"/>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62" name="Google Shape;62;p2"/>
          <p:cNvSpPr txBox="1"/>
          <p:nvPr/>
        </p:nvSpPr>
        <p:spPr>
          <a:xfrm>
            <a:off x="1371600" y="5212080"/>
            <a:ext cx="530352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lang="en-US" sz="1800">
                <a:solidFill>
                  <a:schemeClr val="dk1"/>
                </a:solidFill>
                <a:latin typeface="Calibri"/>
                <a:ea typeface="Calibri"/>
                <a:cs typeface="Calibri"/>
                <a:sym typeface="Calibri"/>
              </a:rPr>
              <a:t>Summary and next steps</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txBox="1"/>
          <p:nvPr>
            <p:ph type="title"/>
          </p:nvPr>
        </p:nvSpPr>
        <p:spPr>
          <a:xfrm>
            <a:off x="640080" y="777240"/>
            <a:ext cx="10908792"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dk1"/>
                </a:solidFill>
              </a:rPr>
              <a:t>What is a string?</a:t>
            </a:r>
            <a:endParaRPr sz="3200"/>
          </a:p>
        </p:txBody>
      </p:sp>
      <p:sp>
        <p:nvSpPr>
          <p:cNvPr id="69" name="Google Shape;69;p3"/>
          <p:cNvSpPr txBox="1"/>
          <p:nvPr/>
        </p:nvSpPr>
        <p:spPr>
          <a:xfrm>
            <a:off x="640080" y="1600200"/>
            <a:ext cx="56692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400">
                <a:solidFill>
                  <a:schemeClr val="accent5"/>
                </a:solidFill>
                <a:latin typeface="Calibri"/>
                <a:ea typeface="Calibri"/>
                <a:cs typeface="Calibri"/>
                <a:sym typeface="Calibri"/>
              </a:rPr>
              <a:t>A string is an *immutable sequence of characters, stored one after another like an array. Each character has a position number called an index.</a:t>
            </a:r>
            <a:endParaRPr sz="14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600"/>
              <a:buFont typeface="Calibri"/>
              <a:buNone/>
            </a:pPr>
            <a:r>
              <a:t/>
            </a:r>
            <a:endParaRPr sz="1600">
              <a:solidFill>
                <a:schemeClr val="accent5"/>
              </a:solidFill>
              <a:latin typeface="Calibri"/>
              <a:ea typeface="Calibri"/>
              <a:cs typeface="Calibri"/>
              <a:sym typeface="Calibri"/>
            </a:endParaRPr>
          </a:p>
        </p:txBody>
      </p:sp>
      <p:sp>
        <p:nvSpPr>
          <p:cNvPr id="70" name="Google Shape;70;p3"/>
          <p:cNvSpPr/>
          <p:nvPr/>
        </p:nvSpPr>
        <p:spPr>
          <a:xfrm>
            <a:off x="640080" y="3184144"/>
            <a:ext cx="201168" cy="20116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txBox="1"/>
          <p:nvPr/>
        </p:nvSpPr>
        <p:spPr>
          <a:xfrm>
            <a:off x="1051560" y="3129280"/>
            <a:ext cx="530352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lang="en-US" sz="1800">
                <a:solidFill>
                  <a:schemeClr val="dk1"/>
                </a:solidFill>
                <a:latin typeface="Calibri"/>
                <a:ea typeface="Calibri"/>
                <a:cs typeface="Calibri"/>
                <a:sym typeface="Calibri"/>
              </a:rPr>
              <a:t>Indexes start at 0</a:t>
            </a:r>
            <a:endParaRPr sz="1800">
              <a:solidFill>
                <a:schemeClr val="dk1"/>
              </a:solidFill>
              <a:latin typeface="Calibri"/>
              <a:ea typeface="Calibri"/>
              <a:cs typeface="Calibri"/>
              <a:sym typeface="Calibri"/>
            </a:endParaRPr>
          </a:p>
        </p:txBody>
      </p:sp>
      <p:sp>
        <p:nvSpPr>
          <p:cNvPr id="72" name="Google Shape;72;p3"/>
          <p:cNvSpPr txBox="1"/>
          <p:nvPr/>
        </p:nvSpPr>
        <p:spPr>
          <a:xfrm>
            <a:off x="1010920" y="3495040"/>
            <a:ext cx="53035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sz="1400">
                <a:solidFill>
                  <a:schemeClr val="accent5"/>
                </a:solidFill>
                <a:latin typeface="Calibri"/>
                <a:ea typeface="Calibri"/>
                <a:cs typeface="Calibri"/>
                <a:sym typeface="Calibri"/>
              </a:rPr>
              <a:t>The first character is s[0], not s[1].</a:t>
            </a:r>
            <a:endParaRPr sz="1400">
              <a:solidFill>
                <a:schemeClr val="dk1"/>
              </a:solidFill>
              <a:latin typeface="Calibri"/>
              <a:ea typeface="Calibri"/>
              <a:cs typeface="Calibri"/>
              <a:sym typeface="Calibri"/>
            </a:endParaRPr>
          </a:p>
        </p:txBody>
      </p:sp>
      <p:sp>
        <p:nvSpPr>
          <p:cNvPr id="73" name="Google Shape;73;p3"/>
          <p:cNvSpPr/>
          <p:nvPr/>
        </p:nvSpPr>
        <p:spPr>
          <a:xfrm>
            <a:off x="609600" y="4723384"/>
            <a:ext cx="201168" cy="20116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txBox="1"/>
          <p:nvPr/>
        </p:nvSpPr>
        <p:spPr>
          <a:xfrm>
            <a:off x="1021080" y="4668520"/>
            <a:ext cx="530352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lang="en-US" sz="1800">
                <a:solidFill>
                  <a:schemeClr val="dk1"/>
                </a:solidFill>
                <a:latin typeface="Calibri"/>
                <a:ea typeface="Calibri"/>
                <a:cs typeface="Calibri"/>
                <a:sym typeface="Calibri"/>
              </a:rPr>
              <a:t>Negative indexes count from the end</a:t>
            </a:r>
            <a:endParaRPr sz="1800">
              <a:solidFill>
                <a:schemeClr val="dk1"/>
              </a:solidFill>
              <a:latin typeface="Calibri"/>
              <a:ea typeface="Calibri"/>
              <a:cs typeface="Calibri"/>
              <a:sym typeface="Calibri"/>
            </a:endParaRPr>
          </a:p>
        </p:txBody>
      </p:sp>
      <p:sp>
        <p:nvSpPr>
          <p:cNvPr id="75" name="Google Shape;75;p3"/>
          <p:cNvSpPr txBox="1"/>
          <p:nvPr/>
        </p:nvSpPr>
        <p:spPr>
          <a:xfrm>
            <a:off x="1021080" y="5034280"/>
            <a:ext cx="53035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sz="1400">
                <a:solidFill>
                  <a:schemeClr val="accent5"/>
                </a:solidFill>
                <a:latin typeface="Calibri"/>
                <a:ea typeface="Calibri"/>
                <a:cs typeface="Calibri"/>
                <a:sym typeface="Calibri"/>
              </a:rPr>
              <a:t>s[-1] is the last character, s[-2] the one before.</a:t>
            </a:r>
            <a:endParaRPr sz="1400">
              <a:solidFill>
                <a:schemeClr val="dk1"/>
              </a:solidFill>
              <a:latin typeface="Calibri"/>
              <a:ea typeface="Calibri"/>
              <a:cs typeface="Calibri"/>
              <a:sym typeface="Calibri"/>
            </a:endParaRPr>
          </a:p>
        </p:txBody>
      </p:sp>
      <p:sp>
        <p:nvSpPr>
          <p:cNvPr id="76" name="Google Shape;76;p3"/>
          <p:cNvSpPr/>
          <p:nvPr/>
        </p:nvSpPr>
        <p:spPr>
          <a:xfrm>
            <a:off x="640080" y="5510784"/>
            <a:ext cx="201168" cy="20116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txBox="1"/>
          <p:nvPr/>
        </p:nvSpPr>
        <p:spPr>
          <a:xfrm>
            <a:off x="1051560" y="5455920"/>
            <a:ext cx="530352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lang="en-US" sz="1800">
                <a:solidFill>
                  <a:schemeClr val="dk1"/>
                </a:solidFill>
                <a:latin typeface="Calibri"/>
                <a:ea typeface="Calibri"/>
                <a:cs typeface="Calibri"/>
                <a:sym typeface="Calibri"/>
              </a:rPr>
              <a:t>len(s) gives the length</a:t>
            </a:r>
            <a:endParaRPr sz="1800">
              <a:solidFill>
                <a:schemeClr val="dk1"/>
              </a:solidFill>
              <a:latin typeface="Calibri"/>
              <a:ea typeface="Calibri"/>
              <a:cs typeface="Calibri"/>
              <a:sym typeface="Calibri"/>
            </a:endParaRPr>
          </a:p>
        </p:txBody>
      </p:sp>
      <p:sp>
        <p:nvSpPr>
          <p:cNvPr id="78" name="Google Shape;78;p3"/>
          <p:cNvSpPr txBox="1"/>
          <p:nvPr/>
        </p:nvSpPr>
        <p:spPr>
          <a:xfrm>
            <a:off x="1051560" y="5821680"/>
            <a:ext cx="53035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sz="1400">
                <a:solidFill>
                  <a:schemeClr val="accent5"/>
                </a:solidFill>
                <a:latin typeface="Calibri"/>
                <a:ea typeface="Calibri"/>
                <a:cs typeface="Calibri"/>
                <a:sym typeface="Calibri"/>
              </a:rPr>
              <a:t>Python stores it, so there is no counting involved.</a:t>
            </a:r>
            <a:endParaRPr sz="1400">
              <a:solidFill>
                <a:schemeClr val="dk1"/>
              </a:solidFill>
              <a:latin typeface="Calibri"/>
              <a:ea typeface="Calibri"/>
              <a:cs typeface="Calibri"/>
              <a:sym typeface="Calibri"/>
            </a:endParaRPr>
          </a:p>
        </p:txBody>
      </p:sp>
      <p:sp>
        <p:nvSpPr>
          <p:cNvPr id="79" name="Google Shape;79;p3"/>
          <p:cNvSpPr/>
          <p:nvPr/>
        </p:nvSpPr>
        <p:spPr>
          <a:xfrm>
            <a:off x="6583680" y="1600200"/>
            <a:ext cx="4967935" cy="4572000"/>
          </a:xfrm>
          <a:prstGeom prst="roundRect">
            <a:avLst>
              <a:gd fmla="val 12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txBox="1"/>
          <p:nvPr/>
        </p:nvSpPr>
        <p:spPr>
          <a:xfrm>
            <a:off x="6949440" y="1920240"/>
            <a:ext cx="41148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ourier New"/>
              <a:buNone/>
            </a:pPr>
            <a:r>
              <a:rPr b="1" lang="en-US" sz="1800">
                <a:solidFill>
                  <a:schemeClr val="dk1"/>
                </a:solidFill>
                <a:latin typeface="Courier New"/>
                <a:ea typeface="Courier New"/>
                <a:cs typeface="Courier New"/>
                <a:sym typeface="Courier New"/>
              </a:rPr>
              <a:t>s = "python"</a:t>
            </a:r>
            <a:endParaRPr sz="1800">
              <a:solidFill>
                <a:schemeClr val="dk1"/>
              </a:solidFill>
              <a:latin typeface="Calibri"/>
              <a:ea typeface="Calibri"/>
              <a:cs typeface="Calibri"/>
              <a:sym typeface="Calibri"/>
            </a:endParaRPr>
          </a:p>
        </p:txBody>
      </p:sp>
      <p:sp>
        <p:nvSpPr>
          <p:cNvPr id="81" name="Google Shape;81;p3"/>
          <p:cNvSpPr/>
          <p:nvPr/>
        </p:nvSpPr>
        <p:spPr>
          <a:xfrm>
            <a:off x="7028536" y="2560320"/>
            <a:ext cx="603504" cy="603504"/>
          </a:xfrm>
          <a:prstGeom prst="roundRect">
            <a:avLst>
              <a:gd fmla="val 7576"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2200"/>
              <a:buFont typeface="Calibri"/>
              <a:buNone/>
            </a:pPr>
            <a:r>
              <a:rPr b="1" lang="en-US" sz="2200">
                <a:solidFill>
                  <a:schemeClr val="lt1"/>
                </a:solidFill>
                <a:latin typeface="Calibri"/>
                <a:ea typeface="Calibri"/>
                <a:cs typeface="Calibri"/>
                <a:sym typeface="Calibri"/>
              </a:rPr>
              <a:t>p</a:t>
            </a:r>
            <a:endParaRPr sz="2200">
              <a:solidFill>
                <a:schemeClr val="dk1"/>
              </a:solidFill>
              <a:latin typeface="Calibri"/>
              <a:ea typeface="Calibri"/>
              <a:cs typeface="Calibri"/>
              <a:sym typeface="Calibri"/>
            </a:endParaRPr>
          </a:p>
        </p:txBody>
      </p:sp>
      <p:sp>
        <p:nvSpPr>
          <p:cNvPr id="82" name="Google Shape;82;p3"/>
          <p:cNvSpPr txBox="1"/>
          <p:nvPr/>
        </p:nvSpPr>
        <p:spPr>
          <a:xfrm>
            <a:off x="7028536" y="3255264"/>
            <a:ext cx="603504"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5"/>
              </a:buClr>
              <a:buSzPts val="1100"/>
              <a:buFont typeface="Courier New"/>
              <a:buNone/>
            </a:pPr>
            <a:r>
              <a:rPr lang="en-US" sz="1100">
                <a:solidFill>
                  <a:schemeClr val="accent5"/>
                </a:solidFill>
                <a:latin typeface="Courier New"/>
                <a:ea typeface="Courier New"/>
                <a:cs typeface="Courier New"/>
                <a:sym typeface="Courier New"/>
              </a:rPr>
              <a:t>0</a:t>
            </a:r>
            <a:endParaRPr sz="1100">
              <a:solidFill>
                <a:schemeClr val="dk1"/>
              </a:solidFill>
              <a:latin typeface="Calibri"/>
              <a:ea typeface="Calibri"/>
              <a:cs typeface="Calibri"/>
              <a:sym typeface="Calibri"/>
            </a:endParaRPr>
          </a:p>
        </p:txBody>
      </p:sp>
      <p:sp>
        <p:nvSpPr>
          <p:cNvPr id="83" name="Google Shape;83;p3"/>
          <p:cNvSpPr/>
          <p:nvPr/>
        </p:nvSpPr>
        <p:spPr>
          <a:xfrm>
            <a:off x="7723480" y="2560320"/>
            <a:ext cx="603504" cy="603504"/>
          </a:xfrm>
          <a:prstGeom prst="roundRect">
            <a:avLst>
              <a:gd fmla="val 7576" name="adj"/>
            </a:avLst>
          </a:prstGeom>
          <a:solidFill>
            <a:schemeClr val="lt1"/>
          </a:solidFill>
          <a:ln cap="flat" cmpd="sng" w="9525">
            <a:solidFill>
              <a:schemeClr val="accent4">
                <a:alpha val="60000"/>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libri"/>
              <a:buNone/>
            </a:pPr>
            <a:r>
              <a:rPr b="1" lang="en-US" sz="2200">
                <a:solidFill>
                  <a:schemeClr val="dk1"/>
                </a:solidFill>
                <a:latin typeface="Calibri"/>
                <a:ea typeface="Calibri"/>
                <a:cs typeface="Calibri"/>
                <a:sym typeface="Calibri"/>
              </a:rPr>
              <a:t>y</a:t>
            </a:r>
            <a:endParaRPr sz="2200">
              <a:solidFill>
                <a:schemeClr val="dk1"/>
              </a:solidFill>
              <a:latin typeface="Calibri"/>
              <a:ea typeface="Calibri"/>
              <a:cs typeface="Calibri"/>
              <a:sym typeface="Calibri"/>
            </a:endParaRPr>
          </a:p>
        </p:txBody>
      </p:sp>
      <p:sp>
        <p:nvSpPr>
          <p:cNvPr id="84" name="Google Shape;84;p3"/>
          <p:cNvSpPr txBox="1"/>
          <p:nvPr/>
        </p:nvSpPr>
        <p:spPr>
          <a:xfrm>
            <a:off x="7723480" y="3255264"/>
            <a:ext cx="603504"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5"/>
              </a:buClr>
              <a:buSzPts val="1100"/>
              <a:buFont typeface="Courier New"/>
              <a:buNone/>
            </a:pPr>
            <a:r>
              <a:rPr lang="en-US" sz="1100">
                <a:solidFill>
                  <a:schemeClr val="accent5"/>
                </a:solidFill>
                <a:latin typeface="Courier New"/>
                <a:ea typeface="Courier New"/>
                <a:cs typeface="Courier New"/>
                <a:sym typeface="Courier New"/>
              </a:rPr>
              <a:t>1</a:t>
            </a:r>
            <a:endParaRPr sz="1100">
              <a:solidFill>
                <a:schemeClr val="dk1"/>
              </a:solidFill>
              <a:latin typeface="Calibri"/>
              <a:ea typeface="Calibri"/>
              <a:cs typeface="Calibri"/>
              <a:sym typeface="Calibri"/>
            </a:endParaRPr>
          </a:p>
        </p:txBody>
      </p:sp>
      <p:sp>
        <p:nvSpPr>
          <p:cNvPr id="85" name="Google Shape;85;p3"/>
          <p:cNvSpPr/>
          <p:nvPr/>
        </p:nvSpPr>
        <p:spPr>
          <a:xfrm>
            <a:off x="8418424" y="2560320"/>
            <a:ext cx="603504" cy="603504"/>
          </a:xfrm>
          <a:prstGeom prst="roundRect">
            <a:avLst>
              <a:gd fmla="val 7576" name="adj"/>
            </a:avLst>
          </a:prstGeom>
          <a:solidFill>
            <a:schemeClr val="lt1"/>
          </a:solidFill>
          <a:ln cap="flat" cmpd="sng" w="9525">
            <a:solidFill>
              <a:schemeClr val="accent4">
                <a:alpha val="60000"/>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libri"/>
              <a:buNone/>
            </a:pPr>
            <a:r>
              <a:rPr b="1" lang="en-US" sz="2200">
                <a:solidFill>
                  <a:schemeClr val="dk1"/>
                </a:solidFill>
                <a:latin typeface="Calibri"/>
                <a:ea typeface="Calibri"/>
                <a:cs typeface="Calibri"/>
                <a:sym typeface="Calibri"/>
              </a:rPr>
              <a:t>t</a:t>
            </a:r>
            <a:endParaRPr sz="2200">
              <a:solidFill>
                <a:schemeClr val="dk1"/>
              </a:solidFill>
              <a:latin typeface="Calibri"/>
              <a:ea typeface="Calibri"/>
              <a:cs typeface="Calibri"/>
              <a:sym typeface="Calibri"/>
            </a:endParaRPr>
          </a:p>
        </p:txBody>
      </p:sp>
      <p:sp>
        <p:nvSpPr>
          <p:cNvPr id="86" name="Google Shape;86;p3"/>
          <p:cNvSpPr txBox="1"/>
          <p:nvPr/>
        </p:nvSpPr>
        <p:spPr>
          <a:xfrm>
            <a:off x="8418424" y="3255264"/>
            <a:ext cx="603504"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5"/>
              </a:buClr>
              <a:buSzPts val="1100"/>
              <a:buFont typeface="Courier New"/>
              <a:buNone/>
            </a:pPr>
            <a:r>
              <a:rPr lang="en-US" sz="1100">
                <a:solidFill>
                  <a:schemeClr val="accent5"/>
                </a:solidFill>
                <a:latin typeface="Courier New"/>
                <a:ea typeface="Courier New"/>
                <a:cs typeface="Courier New"/>
                <a:sym typeface="Courier New"/>
              </a:rPr>
              <a:t>2</a:t>
            </a:r>
            <a:endParaRPr sz="1100">
              <a:solidFill>
                <a:schemeClr val="dk1"/>
              </a:solidFill>
              <a:latin typeface="Calibri"/>
              <a:ea typeface="Calibri"/>
              <a:cs typeface="Calibri"/>
              <a:sym typeface="Calibri"/>
            </a:endParaRPr>
          </a:p>
        </p:txBody>
      </p:sp>
      <p:sp>
        <p:nvSpPr>
          <p:cNvPr id="87" name="Google Shape;87;p3"/>
          <p:cNvSpPr/>
          <p:nvPr/>
        </p:nvSpPr>
        <p:spPr>
          <a:xfrm>
            <a:off x="9113368" y="2560320"/>
            <a:ext cx="603504" cy="603504"/>
          </a:xfrm>
          <a:prstGeom prst="roundRect">
            <a:avLst>
              <a:gd fmla="val 7576" name="adj"/>
            </a:avLst>
          </a:prstGeom>
          <a:solidFill>
            <a:schemeClr val="lt1"/>
          </a:solidFill>
          <a:ln cap="flat" cmpd="sng" w="9525">
            <a:solidFill>
              <a:schemeClr val="accent4">
                <a:alpha val="60000"/>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libri"/>
              <a:buNone/>
            </a:pPr>
            <a:r>
              <a:rPr b="1" lang="en-US" sz="2200">
                <a:solidFill>
                  <a:schemeClr val="dk1"/>
                </a:solidFill>
                <a:latin typeface="Calibri"/>
                <a:ea typeface="Calibri"/>
                <a:cs typeface="Calibri"/>
                <a:sym typeface="Calibri"/>
              </a:rPr>
              <a:t>h</a:t>
            </a:r>
            <a:endParaRPr sz="2200">
              <a:solidFill>
                <a:schemeClr val="dk1"/>
              </a:solidFill>
              <a:latin typeface="Calibri"/>
              <a:ea typeface="Calibri"/>
              <a:cs typeface="Calibri"/>
              <a:sym typeface="Calibri"/>
            </a:endParaRPr>
          </a:p>
        </p:txBody>
      </p:sp>
      <p:sp>
        <p:nvSpPr>
          <p:cNvPr id="88" name="Google Shape;88;p3"/>
          <p:cNvSpPr txBox="1"/>
          <p:nvPr/>
        </p:nvSpPr>
        <p:spPr>
          <a:xfrm>
            <a:off x="9113368" y="3255264"/>
            <a:ext cx="603504"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5"/>
              </a:buClr>
              <a:buSzPts val="1100"/>
              <a:buFont typeface="Courier New"/>
              <a:buNone/>
            </a:pPr>
            <a:r>
              <a:rPr lang="en-US" sz="1100">
                <a:solidFill>
                  <a:schemeClr val="accent5"/>
                </a:solidFill>
                <a:latin typeface="Courier New"/>
                <a:ea typeface="Courier New"/>
                <a:cs typeface="Courier New"/>
                <a:sym typeface="Courier New"/>
              </a:rPr>
              <a:t>3</a:t>
            </a:r>
            <a:endParaRPr sz="1100">
              <a:solidFill>
                <a:schemeClr val="dk1"/>
              </a:solidFill>
              <a:latin typeface="Calibri"/>
              <a:ea typeface="Calibri"/>
              <a:cs typeface="Calibri"/>
              <a:sym typeface="Calibri"/>
            </a:endParaRPr>
          </a:p>
        </p:txBody>
      </p:sp>
      <p:sp>
        <p:nvSpPr>
          <p:cNvPr id="89" name="Google Shape;89;p3"/>
          <p:cNvSpPr/>
          <p:nvPr/>
        </p:nvSpPr>
        <p:spPr>
          <a:xfrm>
            <a:off x="9808312" y="2560320"/>
            <a:ext cx="603504" cy="603504"/>
          </a:xfrm>
          <a:prstGeom prst="roundRect">
            <a:avLst>
              <a:gd fmla="val 7576" name="adj"/>
            </a:avLst>
          </a:prstGeom>
          <a:solidFill>
            <a:schemeClr val="lt1"/>
          </a:solidFill>
          <a:ln cap="flat" cmpd="sng" w="9525">
            <a:solidFill>
              <a:schemeClr val="accent4">
                <a:alpha val="60000"/>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libri"/>
              <a:buNone/>
            </a:pPr>
            <a:r>
              <a:rPr b="1" lang="en-US" sz="2200">
                <a:solidFill>
                  <a:schemeClr val="dk1"/>
                </a:solidFill>
                <a:latin typeface="Calibri"/>
                <a:ea typeface="Calibri"/>
                <a:cs typeface="Calibri"/>
                <a:sym typeface="Calibri"/>
              </a:rPr>
              <a:t>o</a:t>
            </a:r>
            <a:endParaRPr sz="2200">
              <a:solidFill>
                <a:schemeClr val="dk1"/>
              </a:solidFill>
              <a:latin typeface="Calibri"/>
              <a:ea typeface="Calibri"/>
              <a:cs typeface="Calibri"/>
              <a:sym typeface="Calibri"/>
            </a:endParaRPr>
          </a:p>
        </p:txBody>
      </p:sp>
      <p:sp>
        <p:nvSpPr>
          <p:cNvPr id="90" name="Google Shape;90;p3"/>
          <p:cNvSpPr txBox="1"/>
          <p:nvPr/>
        </p:nvSpPr>
        <p:spPr>
          <a:xfrm>
            <a:off x="9808312" y="3255264"/>
            <a:ext cx="603504"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5"/>
              </a:buClr>
              <a:buSzPts val="1100"/>
              <a:buFont typeface="Courier New"/>
              <a:buNone/>
            </a:pPr>
            <a:r>
              <a:rPr lang="en-US" sz="1100">
                <a:solidFill>
                  <a:schemeClr val="accent5"/>
                </a:solidFill>
                <a:latin typeface="Courier New"/>
                <a:ea typeface="Courier New"/>
                <a:cs typeface="Courier New"/>
                <a:sym typeface="Courier New"/>
              </a:rPr>
              <a:t>4</a:t>
            </a:r>
            <a:endParaRPr sz="1100">
              <a:solidFill>
                <a:schemeClr val="dk1"/>
              </a:solidFill>
              <a:latin typeface="Calibri"/>
              <a:ea typeface="Calibri"/>
              <a:cs typeface="Calibri"/>
              <a:sym typeface="Calibri"/>
            </a:endParaRPr>
          </a:p>
        </p:txBody>
      </p:sp>
      <p:sp>
        <p:nvSpPr>
          <p:cNvPr id="91" name="Google Shape;91;p3"/>
          <p:cNvSpPr/>
          <p:nvPr/>
        </p:nvSpPr>
        <p:spPr>
          <a:xfrm>
            <a:off x="10503256" y="2560320"/>
            <a:ext cx="603504" cy="603504"/>
          </a:xfrm>
          <a:prstGeom prst="roundRect">
            <a:avLst>
              <a:gd fmla="val 7576"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2200"/>
              <a:buFont typeface="Calibri"/>
              <a:buNone/>
            </a:pPr>
            <a:r>
              <a:rPr b="1" lang="en-US" sz="2200">
                <a:solidFill>
                  <a:schemeClr val="lt1"/>
                </a:solidFill>
                <a:latin typeface="Calibri"/>
                <a:ea typeface="Calibri"/>
                <a:cs typeface="Calibri"/>
                <a:sym typeface="Calibri"/>
              </a:rPr>
              <a:t>n</a:t>
            </a:r>
            <a:endParaRPr sz="2200">
              <a:solidFill>
                <a:schemeClr val="dk1"/>
              </a:solidFill>
              <a:latin typeface="Calibri"/>
              <a:ea typeface="Calibri"/>
              <a:cs typeface="Calibri"/>
              <a:sym typeface="Calibri"/>
            </a:endParaRPr>
          </a:p>
        </p:txBody>
      </p:sp>
      <p:sp>
        <p:nvSpPr>
          <p:cNvPr id="92" name="Google Shape;92;p3"/>
          <p:cNvSpPr txBox="1"/>
          <p:nvPr/>
        </p:nvSpPr>
        <p:spPr>
          <a:xfrm>
            <a:off x="10503256" y="3255264"/>
            <a:ext cx="603504"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5"/>
              </a:buClr>
              <a:buSzPts val="1100"/>
              <a:buFont typeface="Courier New"/>
              <a:buNone/>
            </a:pPr>
            <a:r>
              <a:rPr lang="en-US" sz="1100">
                <a:solidFill>
                  <a:schemeClr val="accent5"/>
                </a:solidFill>
                <a:latin typeface="Courier New"/>
                <a:ea typeface="Courier New"/>
                <a:cs typeface="Courier New"/>
                <a:sym typeface="Courier New"/>
              </a:rPr>
              <a:t>5</a:t>
            </a:r>
            <a:endParaRPr sz="1100">
              <a:solidFill>
                <a:schemeClr val="dk1"/>
              </a:solidFill>
              <a:latin typeface="Calibri"/>
              <a:ea typeface="Calibri"/>
              <a:cs typeface="Calibri"/>
              <a:sym typeface="Calibri"/>
            </a:endParaRPr>
          </a:p>
        </p:txBody>
      </p:sp>
      <p:sp>
        <p:nvSpPr>
          <p:cNvPr id="93" name="Google Shape;93;p3"/>
          <p:cNvSpPr txBox="1"/>
          <p:nvPr/>
        </p:nvSpPr>
        <p:spPr>
          <a:xfrm>
            <a:off x="7028536" y="3474720"/>
            <a:ext cx="603504"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1100"/>
              <a:buFont typeface="Courier New"/>
              <a:buNone/>
            </a:pPr>
            <a:r>
              <a:rPr b="1" lang="en-US" sz="1100">
                <a:solidFill>
                  <a:schemeClr val="accent2"/>
                </a:solidFill>
                <a:latin typeface="Courier New"/>
                <a:ea typeface="Courier New"/>
                <a:cs typeface="Courier New"/>
                <a:sym typeface="Courier New"/>
              </a:rPr>
              <a:t>-6</a:t>
            </a:r>
            <a:endParaRPr sz="1100">
              <a:solidFill>
                <a:schemeClr val="dk1"/>
              </a:solidFill>
              <a:latin typeface="Calibri"/>
              <a:ea typeface="Calibri"/>
              <a:cs typeface="Calibri"/>
              <a:sym typeface="Calibri"/>
            </a:endParaRPr>
          </a:p>
        </p:txBody>
      </p:sp>
      <p:sp>
        <p:nvSpPr>
          <p:cNvPr id="94" name="Google Shape;94;p3"/>
          <p:cNvSpPr txBox="1"/>
          <p:nvPr/>
        </p:nvSpPr>
        <p:spPr>
          <a:xfrm>
            <a:off x="7723480" y="3474720"/>
            <a:ext cx="603504"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1100"/>
              <a:buFont typeface="Courier New"/>
              <a:buNone/>
            </a:pPr>
            <a:r>
              <a:rPr b="1" lang="en-US" sz="1100">
                <a:solidFill>
                  <a:schemeClr val="accent2"/>
                </a:solidFill>
                <a:latin typeface="Courier New"/>
                <a:ea typeface="Courier New"/>
                <a:cs typeface="Courier New"/>
                <a:sym typeface="Courier New"/>
              </a:rPr>
              <a:t>-5</a:t>
            </a:r>
            <a:endParaRPr sz="1100">
              <a:solidFill>
                <a:schemeClr val="dk1"/>
              </a:solidFill>
              <a:latin typeface="Calibri"/>
              <a:ea typeface="Calibri"/>
              <a:cs typeface="Calibri"/>
              <a:sym typeface="Calibri"/>
            </a:endParaRPr>
          </a:p>
        </p:txBody>
      </p:sp>
      <p:sp>
        <p:nvSpPr>
          <p:cNvPr id="95" name="Google Shape;95;p3"/>
          <p:cNvSpPr txBox="1"/>
          <p:nvPr/>
        </p:nvSpPr>
        <p:spPr>
          <a:xfrm>
            <a:off x="8418424" y="3474720"/>
            <a:ext cx="603504"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1100"/>
              <a:buFont typeface="Courier New"/>
              <a:buNone/>
            </a:pPr>
            <a:r>
              <a:rPr b="1" lang="en-US" sz="1100">
                <a:solidFill>
                  <a:schemeClr val="accent2"/>
                </a:solidFill>
                <a:latin typeface="Courier New"/>
                <a:ea typeface="Courier New"/>
                <a:cs typeface="Courier New"/>
                <a:sym typeface="Courier New"/>
              </a:rPr>
              <a:t>-4</a:t>
            </a:r>
            <a:endParaRPr sz="1100">
              <a:solidFill>
                <a:schemeClr val="dk1"/>
              </a:solidFill>
              <a:latin typeface="Calibri"/>
              <a:ea typeface="Calibri"/>
              <a:cs typeface="Calibri"/>
              <a:sym typeface="Calibri"/>
            </a:endParaRPr>
          </a:p>
        </p:txBody>
      </p:sp>
      <p:sp>
        <p:nvSpPr>
          <p:cNvPr id="96" name="Google Shape;96;p3"/>
          <p:cNvSpPr txBox="1"/>
          <p:nvPr/>
        </p:nvSpPr>
        <p:spPr>
          <a:xfrm>
            <a:off x="9113368" y="3474720"/>
            <a:ext cx="603504"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1100"/>
              <a:buFont typeface="Courier New"/>
              <a:buNone/>
            </a:pPr>
            <a:r>
              <a:rPr b="1" lang="en-US" sz="1100">
                <a:solidFill>
                  <a:schemeClr val="accent2"/>
                </a:solidFill>
                <a:latin typeface="Courier New"/>
                <a:ea typeface="Courier New"/>
                <a:cs typeface="Courier New"/>
                <a:sym typeface="Courier New"/>
              </a:rPr>
              <a:t>-3</a:t>
            </a:r>
            <a:endParaRPr sz="1100">
              <a:solidFill>
                <a:schemeClr val="dk1"/>
              </a:solidFill>
              <a:latin typeface="Calibri"/>
              <a:ea typeface="Calibri"/>
              <a:cs typeface="Calibri"/>
              <a:sym typeface="Calibri"/>
            </a:endParaRPr>
          </a:p>
        </p:txBody>
      </p:sp>
      <p:sp>
        <p:nvSpPr>
          <p:cNvPr id="97" name="Google Shape;97;p3"/>
          <p:cNvSpPr txBox="1"/>
          <p:nvPr/>
        </p:nvSpPr>
        <p:spPr>
          <a:xfrm>
            <a:off x="9808312" y="3474720"/>
            <a:ext cx="603504"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1100"/>
              <a:buFont typeface="Courier New"/>
              <a:buNone/>
            </a:pPr>
            <a:r>
              <a:rPr b="1" lang="en-US" sz="1100">
                <a:solidFill>
                  <a:schemeClr val="accent2"/>
                </a:solidFill>
                <a:latin typeface="Courier New"/>
                <a:ea typeface="Courier New"/>
                <a:cs typeface="Courier New"/>
                <a:sym typeface="Courier New"/>
              </a:rPr>
              <a:t>-2</a:t>
            </a:r>
            <a:endParaRPr sz="1100">
              <a:solidFill>
                <a:schemeClr val="dk1"/>
              </a:solidFill>
              <a:latin typeface="Calibri"/>
              <a:ea typeface="Calibri"/>
              <a:cs typeface="Calibri"/>
              <a:sym typeface="Calibri"/>
            </a:endParaRPr>
          </a:p>
        </p:txBody>
      </p:sp>
      <p:sp>
        <p:nvSpPr>
          <p:cNvPr id="98" name="Google Shape;98;p3"/>
          <p:cNvSpPr txBox="1"/>
          <p:nvPr/>
        </p:nvSpPr>
        <p:spPr>
          <a:xfrm>
            <a:off x="10503256" y="3474720"/>
            <a:ext cx="603504" cy="20116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1100"/>
              <a:buFont typeface="Courier New"/>
              <a:buNone/>
            </a:pPr>
            <a:r>
              <a:rPr b="1" lang="en-US" sz="1100">
                <a:solidFill>
                  <a:schemeClr val="accent2"/>
                </a:solidFill>
                <a:latin typeface="Courier New"/>
                <a:ea typeface="Courier New"/>
                <a:cs typeface="Courier New"/>
                <a:sym typeface="Courier New"/>
              </a:rPr>
              <a:t>-1</a:t>
            </a:r>
            <a:endParaRPr sz="1100">
              <a:solidFill>
                <a:schemeClr val="dk1"/>
              </a:solidFill>
              <a:latin typeface="Calibri"/>
              <a:ea typeface="Calibri"/>
              <a:cs typeface="Calibri"/>
              <a:sym typeface="Calibri"/>
            </a:endParaRPr>
          </a:p>
        </p:txBody>
      </p:sp>
      <p:sp>
        <p:nvSpPr>
          <p:cNvPr id="99" name="Google Shape;99;p3"/>
          <p:cNvSpPr txBox="1"/>
          <p:nvPr/>
        </p:nvSpPr>
        <p:spPr>
          <a:xfrm>
            <a:off x="6949440" y="3794760"/>
            <a:ext cx="42062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i="1" lang="en-US" sz="1200">
                <a:solidFill>
                  <a:schemeClr val="accent5"/>
                </a:solidFill>
                <a:latin typeface="Calibri"/>
                <a:ea typeface="Calibri"/>
                <a:cs typeface="Calibri"/>
                <a:sym typeface="Calibri"/>
              </a:rPr>
              <a:t>grey: from the front   teal: from the back</a:t>
            </a:r>
            <a:endParaRPr sz="1200">
              <a:solidFill>
                <a:schemeClr val="dk1"/>
              </a:solidFill>
              <a:latin typeface="Calibri"/>
              <a:ea typeface="Calibri"/>
              <a:cs typeface="Calibri"/>
              <a:sym typeface="Calibri"/>
            </a:endParaRPr>
          </a:p>
        </p:txBody>
      </p:sp>
      <p:sp>
        <p:nvSpPr>
          <p:cNvPr id="100" name="Google Shape;100;p3"/>
          <p:cNvSpPr txBox="1"/>
          <p:nvPr/>
        </p:nvSpPr>
        <p:spPr>
          <a:xfrm>
            <a:off x="6949440" y="4434840"/>
            <a:ext cx="42062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600"/>
              <a:buFont typeface="Courier New"/>
              <a:buNone/>
            </a:pPr>
            <a:r>
              <a:rPr b="1" lang="en-US" sz="1600">
                <a:solidFill>
                  <a:schemeClr val="accent3"/>
                </a:solidFill>
                <a:latin typeface="Courier New"/>
                <a:ea typeface="Courier New"/>
                <a:cs typeface="Courier New"/>
                <a:sym typeface="Courier New"/>
              </a:rPr>
              <a:t>s[0]   gives back  'p'</a:t>
            </a:r>
            <a:endParaRPr sz="1600">
              <a:solidFill>
                <a:schemeClr val="dk1"/>
              </a:solidFill>
              <a:latin typeface="Calibri"/>
              <a:ea typeface="Calibri"/>
              <a:cs typeface="Calibri"/>
              <a:sym typeface="Calibri"/>
            </a:endParaRPr>
          </a:p>
        </p:txBody>
      </p:sp>
      <p:sp>
        <p:nvSpPr>
          <p:cNvPr id="101" name="Google Shape;101;p3"/>
          <p:cNvSpPr txBox="1"/>
          <p:nvPr/>
        </p:nvSpPr>
        <p:spPr>
          <a:xfrm>
            <a:off x="6949440" y="4846320"/>
            <a:ext cx="42062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600"/>
              <a:buFont typeface="Courier New"/>
              <a:buNone/>
            </a:pPr>
            <a:r>
              <a:rPr b="1" lang="en-US" sz="1600">
                <a:solidFill>
                  <a:schemeClr val="accent3"/>
                </a:solidFill>
                <a:latin typeface="Courier New"/>
                <a:ea typeface="Courier New"/>
                <a:cs typeface="Courier New"/>
                <a:sym typeface="Courier New"/>
              </a:rPr>
              <a:t>s[-1]  gives back  'n'</a:t>
            </a:r>
            <a:endParaRPr sz="1600">
              <a:solidFill>
                <a:schemeClr val="dk1"/>
              </a:solidFill>
              <a:latin typeface="Calibri"/>
              <a:ea typeface="Calibri"/>
              <a:cs typeface="Calibri"/>
              <a:sym typeface="Calibri"/>
            </a:endParaRPr>
          </a:p>
        </p:txBody>
      </p:sp>
      <p:sp>
        <p:nvSpPr>
          <p:cNvPr id="102" name="Google Shape;102;p3"/>
          <p:cNvSpPr txBox="1"/>
          <p:nvPr/>
        </p:nvSpPr>
        <p:spPr>
          <a:xfrm>
            <a:off x="6949440" y="5440680"/>
            <a:ext cx="42062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sz="1400">
                <a:solidFill>
                  <a:schemeClr val="accent5"/>
                </a:solidFill>
                <a:latin typeface="Calibri"/>
                <a:ea typeface="Calibri"/>
                <a:cs typeface="Calibri"/>
                <a:sym typeface="Calibri"/>
              </a:rPr>
              <a:t>len(s) is 6, so the last valid index is 5.</a:t>
            </a:r>
            <a:endParaRPr sz="1400">
              <a:solidFill>
                <a:schemeClr val="dk1"/>
              </a:solidFill>
              <a:latin typeface="Calibri"/>
              <a:ea typeface="Calibri"/>
              <a:cs typeface="Calibri"/>
              <a:sym typeface="Calibri"/>
            </a:endParaRPr>
          </a:p>
        </p:txBody>
      </p:sp>
      <p:sp>
        <p:nvSpPr>
          <p:cNvPr id="103" name="Google Shape;103;p3"/>
          <p:cNvSpPr/>
          <p:nvPr/>
        </p:nvSpPr>
        <p:spPr>
          <a:xfrm>
            <a:off x="640080" y="2462784"/>
            <a:ext cx="201168" cy="20116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txBox="1"/>
          <p:nvPr/>
        </p:nvSpPr>
        <p:spPr>
          <a:xfrm>
            <a:off x="1000760" y="2407919"/>
            <a:ext cx="530352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Strings are immutable!</a:t>
            </a:r>
            <a:endParaRPr sz="1800">
              <a:solidFill>
                <a:schemeClr val="dk1"/>
              </a:solidFill>
              <a:latin typeface="Calibri"/>
              <a:ea typeface="Calibri"/>
              <a:cs typeface="Calibri"/>
              <a:sym typeface="Calibri"/>
            </a:endParaRPr>
          </a:p>
        </p:txBody>
      </p:sp>
      <p:sp>
        <p:nvSpPr>
          <p:cNvPr id="105" name="Google Shape;105;p3"/>
          <p:cNvSpPr txBox="1"/>
          <p:nvPr/>
        </p:nvSpPr>
        <p:spPr>
          <a:xfrm>
            <a:off x="1010920" y="2753359"/>
            <a:ext cx="53035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400">
                <a:solidFill>
                  <a:schemeClr val="accent5"/>
                </a:solidFill>
                <a:latin typeface="Calibri"/>
                <a:ea typeface="Calibri"/>
                <a:cs typeface="Calibri"/>
                <a:sym typeface="Calibri"/>
              </a:rPr>
              <a:t>CANNOT write s[2] = "x"</a:t>
            </a:r>
            <a:endParaRPr sz="1800">
              <a:solidFill>
                <a:schemeClr val="accent5"/>
              </a:solidFill>
              <a:latin typeface="Calibri"/>
              <a:ea typeface="Calibri"/>
              <a:cs typeface="Calibri"/>
              <a:sym typeface="Calibri"/>
            </a:endParaRPr>
          </a:p>
        </p:txBody>
      </p:sp>
      <p:sp>
        <p:nvSpPr>
          <p:cNvPr id="106" name="Google Shape;106;p3"/>
          <p:cNvSpPr txBox="1"/>
          <p:nvPr/>
        </p:nvSpPr>
        <p:spPr>
          <a:xfrm>
            <a:off x="1010919" y="4175759"/>
            <a:ext cx="53035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400">
                <a:solidFill>
                  <a:schemeClr val="accent5"/>
                </a:solidFill>
                <a:latin typeface="Calibri"/>
                <a:ea typeface="Calibri"/>
                <a:cs typeface="Calibri"/>
                <a:sym typeface="Calibri"/>
              </a:rPr>
              <a:t>s= "coding"</a:t>
            </a:r>
            <a:endParaRPr/>
          </a:p>
        </p:txBody>
      </p:sp>
      <p:sp>
        <p:nvSpPr>
          <p:cNvPr id="107" name="Google Shape;107;p3"/>
          <p:cNvSpPr/>
          <p:nvPr/>
        </p:nvSpPr>
        <p:spPr>
          <a:xfrm>
            <a:off x="640080" y="3885183"/>
            <a:ext cx="201168" cy="20116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txBox="1"/>
          <p:nvPr/>
        </p:nvSpPr>
        <p:spPr>
          <a:xfrm>
            <a:off x="1010920" y="3850639"/>
            <a:ext cx="530352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Creating strings:</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4"/>
          <p:cNvSpPr txBox="1"/>
          <p:nvPr>
            <p:ph type="title"/>
          </p:nvPr>
        </p:nvSpPr>
        <p:spPr>
          <a:xfrm>
            <a:off x="640080" y="777240"/>
            <a:ext cx="10908792"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dk1"/>
                </a:solidFill>
              </a:rPr>
              <a:t>Strings cannot be changed in place</a:t>
            </a:r>
            <a:endParaRPr sz="3200"/>
          </a:p>
        </p:txBody>
      </p:sp>
      <p:sp>
        <p:nvSpPr>
          <p:cNvPr id="115" name="Google Shape;115;p4"/>
          <p:cNvSpPr/>
          <p:nvPr/>
        </p:nvSpPr>
        <p:spPr>
          <a:xfrm>
            <a:off x="640080" y="1600200"/>
            <a:ext cx="5303520" cy="3429000"/>
          </a:xfrm>
          <a:prstGeom prst="roundRect">
            <a:avLst>
              <a:gd fmla="val 16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txBox="1"/>
          <p:nvPr/>
        </p:nvSpPr>
        <p:spPr>
          <a:xfrm>
            <a:off x="914400" y="1828800"/>
            <a:ext cx="47548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lang="en-US" sz="2000">
                <a:solidFill>
                  <a:schemeClr val="dk1"/>
                </a:solidFill>
                <a:latin typeface="Calibri"/>
                <a:ea typeface="Calibri"/>
                <a:cs typeface="Calibri"/>
                <a:sym typeface="Calibri"/>
              </a:rPr>
              <a:t>What you might try</a:t>
            </a:r>
            <a:endParaRPr sz="2000">
              <a:solidFill>
                <a:schemeClr val="dk1"/>
              </a:solidFill>
              <a:latin typeface="Calibri"/>
              <a:ea typeface="Calibri"/>
              <a:cs typeface="Calibri"/>
              <a:sym typeface="Calibri"/>
            </a:endParaRPr>
          </a:p>
        </p:txBody>
      </p:sp>
      <p:sp>
        <p:nvSpPr>
          <p:cNvPr id="117" name="Google Shape;117;p4"/>
          <p:cNvSpPr txBox="1"/>
          <p:nvPr/>
        </p:nvSpPr>
        <p:spPr>
          <a:xfrm>
            <a:off x="914400" y="2240280"/>
            <a:ext cx="47548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sz="1400">
                <a:solidFill>
                  <a:schemeClr val="accent5"/>
                </a:solidFill>
                <a:latin typeface="Calibri"/>
                <a:ea typeface="Calibri"/>
                <a:cs typeface="Calibri"/>
                <a:sym typeface="Calibri"/>
              </a:rPr>
              <a:t>Assign to a position, the way you would with a list.</a:t>
            </a:r>
            <a:endParaRPr sz="1400">
              <a:solidFill>
                <a:schemeClr val="dk1"/>
              </a:solidFill>
              <a:latin typeface="Calibri"/>
              <a:ea typeface="Calibri"/>
              <a:cs typeface="Calibri"/>
              <a:sym typeface="Calibri"/>
            </a:endParaRPr>
          </a:p>
        </p:txBody>
      </p:sp>
      <p:sp>
        <p:nvSpPr>
          <p:cNvPr id="118" name="Google Shape;118;p4"/>
          <p:cNvSpPr/>
          <p:nvPr/>
        </p:nvSpPr>
        <p:spPr>
          <a:xfrm>
            <a:off x="914400" y="2651760"/>
            <a:ext cx="4754880" cy="1097280"/>
          </a:xfrm>
          <a:prstGeom prst="roundRect">
            <a:avLst>
              <a:gd fmla="val 5000"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txBox="1"/>
          <p:nvPr/>
        </p:nvSpPr>
        <p:spPr>
          <a:xfrm>
            <a:off x="1188720" y="2926080"/>
            <a:ext cx="420624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 = "python"</a:t>
            </a:r>
            <a:endParaRPr sz="1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s[0] = "P"</a:t>
            </a:r>
            <a:endParaRPr sz="1400">
              <a:solidFill>
                <a:schemeClr val="dk1"/>
              </a:solidFill>
              <a:latin typeface="Calibri"/>
              <a:ea typeface="Calibri"/>
              <a:cs typeface="Calibri"/>
              <a:sym typeface="Calibri"/>
            </a:endParaRPr>
          </a:p>
        </p:txBody>
      </p:sp>
      <p:sp>
        <p:nvSpPr>
          <p:cNvPr id="120" name="Google Shape;120;p4"/>
          <p:cNvSpPr/>
          <p:nvPr/>
        </p:nvSpPr>
        <p:spPr>
          <a:xfrm>
            <a:off x="914400" y="3977640"/>
            <a:ext cx="4754880" cy="822960"/>
          </a:xfrm>
          <a:prstGeom prst="roundRect">
            <a:avLst>
              <a:gd fmla="val 5556" name="adj"/>
            </a:avLst>
          </a:prstGeom>
          <a:solidFill>
            <a:schemeClr val="accent1">
              <a:alpha val="12157"/>
            </a:schemeClr>
          </a:solidFill>
          <a:ln cap="flat" cmpd="sng" w="9525">
            <a:solidFill>
              <a:schemeClr val="accent1">
                <a:alpha val="45098"/>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txBox="1"/>
          <p:nvPr/>
        </p:nvSpPr>
        <p:spPr>
          <a:xfrm>
            <a:off x="1097280" y="3977640"/>
            <a:ext cx="43891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TypeError: 'str' object does not support item assignment</a:t>
            </a:r>
            <a:endParaRPr sz="1400">
              <a:solidFill>
                <a:schemeClr val="dk1"/>
              </a:solidFill>
              <a:latin typeface="Calibri"/>
              <a:ea typeface="Calibri"/>
              <a:cs typeface="Calibri"/>
              <a:sym typeface="Calibri"/>
            </a:endParaRPr>
          </a:p>
        </p:txBody>
      </p:sp>
      <p:sp>
        <p:nvSpPr>
          <p:cNvPr id="122" name="Google Shape;122;p4"/>
          <p:cNvSpPr/>
          <p:nvPr/>
        </p:nvSpPr>
        <p:spPr>
          <a:xfrm>
            <a:off x="6248095" y="1600200"/>
            <a:ext cx="5303520" cy="3429000"/>
          </a:xfrm>
          <a:prstGeom prst="roundRect">
            <a:avLst>
              <a:gd fmla="val 16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txBox="1"/>
          <p:nvPr/>
        </p:nvSpPr>
        <p:spPr>
          <a:xfrm>
            <a:off x="6522415" y="1828800"/>
            <a:ext cx="47548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lang="en-US" sz="2000">
                <a:solidFill>
                  <a:schemeClr val="dk1"/>
                </a:solidFill>
                <a:latin typeface="Calibri"/>
                <a:ea typeface="Calibri"/>
                <a:cs typeface="Calibri"/>
                <a:sym typeface="Calibri"/>
              </a:rPr>
              <a:t>What actually works</a:t>
            </a:r>
            <a:endParaRPr sz="2000">
              <a:solidFill>
                <a:schemeClr val="dk1"/>
              </a:solidFill>
              <a:latin typeface="Calibri"/>
              <a:ea typeface="Calibri"/>
              <a:cs typeface="Calibri"/>
              <a:sym typeface="Calibri"/>
            </a:endParaRPr>
          </a:p>
        </p:txBody>
      </p:sp>
      <p:sp>
        <p:nvSpPr>
          <p:cNvPr id="124" name="Google Shape;124;p4"/>
          <p:cNvSpPr txBox="1"/>
          <p:nvPr/>
        </p:nvSpPr>
        <p:spPr>
          <a:xfrm>
            <a:off x="6522415" y="2240280"/>
            <a:ext cx="47548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sz="1400">
                <a:solidFill>
                  <a:schemeClr val="accent5"/>
                </a:solidFill>
                <a:latin typeface="Calibri"/>
                <a:ea typeface="Calibri"/>
                <a:cs typeface="Calibri"/>
                <a:sym typeface="Calibri"/>
              </a:rPr>
              <a:t>Build a new string and point s at it.</a:t>
            </a:r>
            <a:endParaRPr sz="1400">
              <a:solidFill>
                <a:schemeClr val="dk1"/>
              </a:solidFill>
              <a:latin typeface="Calibri"/>
              <a:ea typeface="Calibri"/>
              <a:cs typeface="Calibri"/>
              <a:sym typeface="Calibri"/>
            </a:endParaRPr>
          </a:p>
        </p:txBody>
      </p:sp>
      <p:sp>
        <p:nvSpPr>
          <p:cNvPr id="125" name="Google Shape;125;p4"/>
          <p:cNvSpPr/>
          <p:nvPr/>
        </p:nvSpPr>
        <p:spPr>
          <a:xfrm>
            <a:off x="6522415" y="2651760"/>
            <a:ext cx="4754880" cy="1097280"/>
          </a:xfrm>
          <a:prstGeom prst="roundRect">
            <a:avLst>
              <a:gd fmla="val 5000"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txBox="1"/>
          <p:nvPr/>
        </p:nvSpPr>
        <p:spPr>
          <a:xfrm>
            <a:off x="6796735" y="2926080"/>
            <a:ext cx="420624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 = "python"</a:t>
            </a:r>
            <a:endParaRPr sz="1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 = "P" + s[1:]</a:t>
            </a:r>
            <a:endParaRPr sz="1400">
              <a:solidFill>
                <a:schemeClr val="dk1"/>
              </a:solidFill>
              <a:latin typeface="Calibri"/>
              <a:ea typeface="Calibri"/>
              <a:cs typeface="Calibri"/>
              <a:sym typeface="Calibri"/>
            </a:endParaRPr>
          </a:p>
        </p:txBody>
      </p:sp>
      <p:sp>
        <p:nvSpPr>
          <p:cNvPr id="127" name="Google Shape;127;p4"/>
          <p:cNvSpPr/>
          <p:nvPr/>
        </p:nvSpPr>
        <p:spPr>
          <a:xfrm>
            <a:off x="6522415" y="3977640"/>
            <a:ext cx="4754880" cy="822960"/>
          </a:xfrm>
          <a:prstGeom prst="roundRect">
            <a:avLst>
              <a:gd fmla="val 5556" name="adj"/>
            </a:avLst>
          </a:prstGeom>
          <a:solidFill>
            <a:schemeClr val="accent2">
              <a:alpha val="12157"/>
            </a:schemeClr>
          </a:solidFill>
          <a:ln cap="flat" cmpd="sng" w="9525">
            <a:solidFill>
              <a:schemeClr val="accent2">
                <a:alpha val="45098"/>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txBox="1"/>
          <p:nvPr/>
        </p:nvSpPr>
        <p:spPr>
          <a:xfrm>
            <a:off x="6705295" y="3977640"/>
            <a:ext cx="43891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 is now 'Python'. The original string was never modified.</a:t>
            </a:r>
            <a:endParaRPr sz="1400">
              <a:solidFill>
                <a:schemeClr val="dk1"/>
              </a:solidFill>
              <a:latin typeface="Calibri"/>
              <a:ea typeface="Calibri"/>
              <a:cs typeface="Calibri"/>
              <a:sym typeface="Calibri"/>
            </a:endParaRPr>
          </a:p>
        </p:txBody>
      </p:sp>
      <p:sp>
        <p:nvSpPr>
          <p:cNvPr id="129" name="Google Shape;129;p4"/>
          <p:cNvSpPr/>
          <p:nvPr/>
        </p:nvSpPr>
        <p:spPr>
          <a:xfrm>
            <a:off x="640080" y="5257800"/>
            <a:ext cx="10911535" cy="914400"/>
          </a:xfrm>
          <a:prstGeom prst="roundRect">
            <a:avLst>
              <a:gd fmla="val 60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txBox="1"/>
          <p:nvPr/>
        </p:nvSpPr>
        <p:spPr>
          <a:xfrm>
            <a:off x="914400" y="5257800"/>
            <a:ext cx="10362895"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lang="en-US" sz="1500">
                <a:solidFill>
                  <a:schemeClr val="dk1"/>
                </a:solidFill>
                <a:latin typeface="Calibri"/>
                <a:ea typeface="Calibri"/>
                <a:cs typeface="Calibri"/>
                <a:sym typeface="Calibri"/>
              </a:rPr>
              <a:t>When you need many edits  </a:t>
            </a:r>
            <a:r>
              <a:rPr lang="en-US" sz="1500">
                <a:solidFill>
                  <a:schemeClr val="accent5"/>
                </a:solidFill>
                <a:latin typeface="Calibri"/>
                <a:ea typeface="Calibri"/>
                <a:cs typeface="Calibri"/>
                <a:sym typeface="Calibri"/>
              </a:rPr>
              <a:t>Convert once with </a:t>
            </a:r>
            <a:r>
              <a:rPr b="1" lang="en-US" sz="1500">
                <a:solidFill>
                  <a:schemeClr val="dk1"/>
                </a:solidFill>
                <a:latin typeface="Courier New"/>
                <a:ea typeface="Courier New"/>
                <a:cs typeface="Courier New"/>
                <a:sym typeface="Courier New"/>
              </a:rPr>
              <a:t>chars = list(s)</a:t>
            </a:r>
            <a:r>
              <a:rPr lang="en-US" sz="1500">
                <a:solidFill>
                  <a:schemeClr val="accent5"/>
                </a:solidFill>
                <a:latin typeface="Calibri"/>
                <a:ea typeface="Calibri"/>
                <a:cs typeface="Calibri"/>
                <a:sym typeface="Calibri"/>
              </a:rPr>
              <a:t>, change positions freely, then rebuild with </a:t>
            </a:r>
            <a:r>
              <a:rPr b="1" lang="en-US" sz="1500">
                <a:solidFill>
                  <a:schemeClr val="dk1"/>
                </a:solidFill>
                <a:latin typeface="Courier New"/>
                <a:ea typeface="Courier New"/>
                <a:cs typeface="Courier New"/>
                <a:sym typeface="Courier New"/>
              </a:rPr>
              <a:t>"".join(chars)</a:t>
            </a:r>
            <a:r>
              <a:rPr lang="en-US" sz="1500">
                <a:solidFill>
                  <a:schemeClr val="accent5"/>
                </a:solidFill>
                <a:latin typeface="Calibri"/>
                <a:ea typeface="Calibri"/>
                <a:cs typeface="Calibri"/>
                <a:sym typeface="Calibri"/>
              </a:rPr>
              <a:t>.</a:t>
            </a:r>
            <a:endParaRPr sz="15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txBox="1"/>
          <p:nvPr>
            <p:ph type="title"/>
          </p:nvPr>
        </p:nvSpPr>
        <p:spPr>
          <a:xfrm>
            <a:off x="640080" y="777240"/>
            <a:ext cx="10908792"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dk1"/>
                </a:solidFill>
              </a:rPr>
              <a:t>Indexing and slicing</a:t>
            </a:r>
            <a:endParaRPr sz="3200"/>
          </a:p>
        </p:txBody>
      </p:sp>
      <p:sp>
        <p:nvSpPr>
          <p:cNvPr id="137" name="Google Shape;137;p5"/>
          <p:cNvSpPr/>
          <p:nvPr/>
        </p:nvSpPr>
        <p:spPr>
          <a:xfrm>
            <a:off x="640075" y="1600200"/>
            <a:ext cx="3456300" cy="3337500"/>
          </a:xfrm>
          <a:prstGeom prst="roundRect">
            <a:avLst>
              <a:gd fmla="val 1644"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txBox="1"/>
          <p:nvPr/>
        </p:nvSpPr>
        <p:spPr>
          <a:xfrm>
            <a:off x="896112" y="1801368"/>
            <a:ext cx="299923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lang="en-US" sz="2000">
                <a:solidFill>
                  <a:schemeClr val="dk1"/>
                </a:solidFill>
                <a:latin typeface="Calibri"/>
                <a:ea typeface="Calibri"/>
                <a:cs typeface="Calibri"/>
                <a:sym typeface="Calibri"/>
              </a:rPr>
              <a:t>Index</a:t>
            </a:r>
            <a:endParaRPr sz="2000">
              <a:solidFill>
                <a:schemeClr val="dk1"/>
              </a:solidFill>
              <a:latin typeface="Calibri"/>
              <a:ea typeface="Calibri"/>
              <a:cs typeface="Calibri"/>
              <a:sym typeface="Calibri"/>
            </a:endParaRPr>
          </a:p>
        </p:txBody>
      </p:sp>
      <p:sp>
        <p:nvSpPr>
          <p:cNvPr id="139" name="Google Shape;139;p5"/>
          <p:cNvSpPr txBox="1"/>
          <p:nvPr/>
        </p:nvSpPr>
        <p:spPr>
          <a:xfrm>
            <a:off x="896112" y="2240280"/>
            <a:ext cx="299923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400"/>
              <a:buFont typeface="Courier New"/>
              <a:buNone/>
            </a:pPr>
            <a:r>
              <a:rPr b="1" lang="en-US" sz="1400">
                <a:solidFill>
                  <a:schemeClr val="accent2"/>
                </a:solidFill>
                <a:latin typeface="Courier New"/>
                <a:ea typeface="Courier New"/>
                <a:cs typeface="Courier New"/>
                <a:sym typeface="Courier New"/>
              </a:rPr>
              <a:t>s[i]</a:t>
            </a:r>
            <a:endParaRPr sz="1400">
              <a:solidFill>
                <a:schemeClr val="dk1"/>
              </a:solidFill>
              <a:latin typeface="Calibri"/>
              <a:ea typeface="Calibri"/>
              <a:cs typeface="Calibri"/>
              <a:sym typeface="Calibri"/>
            </a:endParaRPr>
          </a:p>
        </p:txBody>
      </p:sp>
      <p:sp>
        <p:nvSpPr>
          <p:cNvPr id="140" name="Google Shape;140;p5"/>
          <p:cNvSpPr/>
          <p:nvPr/>
        </p:nvSpPr>
        <p:spPr>
          <a:xfrm>
            <a:off x="896112" y="2697480"/>
            <a:ext cx="2944368" cy="1188720"/>
          </a:xfrm>
          <a:prstGeom prst="roundRect">
            <a:avLst>
              <a:gd fmla="val 4615"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txBox="1"/>
          <p:nvPr/>
        </p:nvSpPr>
        <p:spPr>
          <a:xfrm>
            <a:off x="1170432" y="2971800"/>
            <a:ext cx="2395728"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s[1]    </a:t>
            </a:r>
            <a:r>
              <a:rPr lang="en-US" sz="1400">
                <a:solidFill>
                  <a:schemeClr val="accent4"/>
                </a:solidFill>
                <a:latin typeface="Courier New"/>
                <a:ea typeface="Courier New"/>
                <a:cs typeface="Courier New"/>
                <a:sym typeface="Courier New"/>
              </a:rPr>
              <a:t># 'y'</a:t>
            </a:r>
            <a:endParaRPr sz="1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s[-1]   </a:t>
            </a:r>
            <a:r>
              <a:rPr lang="en-US" sz="1400">
                <a:solidFill>
                  <a:schemeClr val="accent4"/>
                </a:solidFill>
                <a:latin typeface="Courier New"/>
                <a:ea typeface="Courier New"/>
                <a:cs typeface="Courier New"/>
                <a:sym typeface="Courier New"/>
              </a:rPr>
              <a:t># 'n'</a:t>
            </a:r>
            <a:endParaRPr sz="1400">
              <a:solidFill>
                <a:schemeClr val="dk1"/>
              </a:solidFill>
              <a:latin typeface="Calibri"/>
              <a:ea typeface="Calibri"/>
              <a:cs typeface="Calibri"/>
              <a:sym typeface="Calibri"/>
            </a:endParaRPr>
          </a:p>
        </p:txBody>
      </p:sp>
      <p:sp>
        <p:nvSpPr>
          <p:cNvPr id="142" name="Google Shape;142;p5"/>
          <p:cNvSpPr/>
          <p:nvPr/>
        </p:nvSpPr>
        <p:spPr>
          <a:xfrm>
            <a:off x="4367632" y="1600200"/>
            <a:ext cx="3456432" cy="3337560"/>
          </a:xfrm>
          <a:prstGeom prst="roundRect">
            <a:avLst>
              <a:gd fmla="val 1644"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txBox="1"/>
          <p:nvPr/>
        </p:nvSpPr>
        <p:spPr>
          <a:xfrm>
            <a:off x="4623664" y="1801368"/>
            <a:ext cx="29991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lang="en-US" sz="2000">
                <a:solidFill>
                  <a:schemeClr val="dk1"/>
                </a:solidFill>
                <a:latin typeface="Calibri"/>
                <a:ea typeface="Calibri"/>
                <a:cs typeface="Calibri"/>
                <a:sym typeface="Calibri"/>
              </a:rPr>
              <a:t>Slice</a:t>
            </a:r>
            <a:endParaRPr sz="2000">
              <a:solidFill>
                <a:schemeClr val="dk1"/>
              </a:solidFill>
              <a:latin typeface="Calibri"/>
              <a:ea typeface="Calibri"/>
              <a:cs typeface="Calibri"/>
              <a:sym typeface="Calibri"/>
            </a:endParaRPr>
          </a:p>
        </p:txBody>
      </p:sp>
      <p:sp>
        <p:nvSpPr>
          <p:cNvPr id="144" name="Google Shape;144;p5"/>
          <p:cNvSpPr txBox="1"/>
          <p:nvPr/>
        </p:nvSpPr>
        <p:spPr>
          <a:xfrm>
            <a:off x="4623664" y="2240280"/>
            <a:ext cx="299923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400"/>
              <a:buFont typeface="Courier New"/>
              <a:buNone/>
            </a:pPr>
            <a:r>
              <a:rPr b="1" lang="en-US" sz="1400">
                <a:solidFill>
                  <a:schemeClr val="accent2"/>
                </a:solidFill>
                <a:latin typeface="Courier New"/>
                <a:ea typeface="Courier New"/>
                <a:cs typeface="Courier New"/>
                <a:sym typeface="Courier New"/>
              </a:rPr>
              <a:t>s[start:stop]</a:t>
            </a:r>
            <a:endParaRPr sz="1400">
              <a:solidFill>
                <a:schemeClr val="dk1"/>
              </a:solidFill>
              <a:latin typeface="Calibri"/>
              <a:ea typeface="Calibri"/>
              <a:cs typeface="Calibri"/>
              <a:sym typeface="Calibri"/>
            </a:endParaRPr>
          </a:p>
        </p:txBody>
      </p:sp>
      <p:sp>
        <p:nvSpPr>
          <p:cNvPr id="145" name="Google Shape;145;p5"/>
          <p:cNvSpPr/>
          <p:nvPr/>
        </p:nvSpPr>
        <p:spPr>
          <a:xfrm>
            <a:off x="4623664" y="2697480"/>
            <a:ext cx="2944368" cy="1188720"/>
          </a:xfrm>
          <a:prstGeom prst="roundRect">
            <a:avLst>
              <a:gd fmla="val 4615"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txBox="1"/>
          <p:nvPr/>
        </p:nvSpPr>
        <p:spPr>
          <a:xfrm>
            <a:off x="4897984" y="2971800"/>
            <a:ext cx="2395728"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s[1:4]   </a:t>
            </a:r>
            <a:r>
              <a:rPr lang="en-US" sz="1400">
                <a:solidFill>
                  <a:schemeClr val="accent4"/>
                </a:solidFill>
                <a:latin typeface="Courier New"/>
                <a:ea typeface="Courier New"/>
                <a:cs typeface="Courier New"/>
                <a:sym typeface="Courier New"/>
              </a:rPr>
              <a:t># 'yth'</a:t>
            </a:r>
            <a:endParaRPr sz="1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s[:2]    </a:t>
            </a:r>
            <a:r>
              <a:rPr lang="en-US" sz="1400">
                <a:solidFill>
                  <a:schemeClr val="accent4"/>
                </a:solidFill>
                <a:latin typeface="Courier New"/>
                <a:ea typeface="Courier New"/>
                <a:cs typeface="Courier New"/>
                <a:sym typeface="Courier New"/>
              </a:rPr>
              <a:t># 'py'</a:t>
            </a:r>
            <a:endParaRPr sz="1400">
              <a:solidFill>
                <a:schemeClr val="dk1"/>
              </a:solidFill>
              <a:latin typeface="Calibri"/>
              <a:ea typeface="Calibri"/>
              <a:cs typeface="Calibri"/>
              <a:sym typeface="Calibri"/>
            </a:endParaRPr>
          </a:p>
        </p:txBody>
      </p:sp>
      <p:sp>
        <p:nvSpPr>
          <p:cNvPr id="147" name="Google Shape;147;p5"/>
          <p:cNvSpPr txBox="1"/>
          <p:nvPr/>
        </p:nvSpPr>
        <p:spPr>
          <a:xfrm>
            <a:off x="4623664" y="4087368"/>
            <a:ext cx="2944368"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k = # characters in generated slice</a:t>
            </a:r>
            <a:endParaRPr>
              <a:solidFill>
                <a:schemeClr val="accent5"/>
              </a:solidFill>
              <a:latin typeface="Calibri"/>
              <a:ea typeface="Calibri"/>
              <a:cs typeface="Calibri"/>
              <a:sym typeface="Calibri"/>
            </a:endParaRPr>
          </a:p>
        </p:txBody>
      </p:sp>
      <p:sp>
        <p:nvSpPr>
          <p:cNvPr id="148" name="Google Shape;148;p5"/>
          <p:cNvSpPr/>
          <p:nvPr/>
        </p:nvSpPr>
        <p:spPr>
          <a:xfrm>
            <a:off x="8095183" y="1600200"/>
            <a:ext cx="3456432" cy="3337560"/>
          </a:xfrm>
          <a:prstGeom prst="roundRect">
            <a:avLst>
              <a:gd fmla="val 1644"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txBox="1"/>
          <p:nvPr/>
        </p:nvSpPr>
        <p:spPr>
          <a:xfrm>
            <a:off x="8351215" y="1801368"/>
            <a:ext cx="299923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lang="en-US" sz="2000">
                <a:solidFill>
                  <a:schemeClr val="dk1"/>
                </a:solidFill>
                <a:latin typeface="Calibri"/>
                <a:ea typeface="Calibri"/>
                <a:cs typeface="Calibri"/>
                <a:sym typeface="Calibri"/>
              </a:rPr>
              <a:t>Step</a:t>
            </a:r>
            <a:endParaRPr sz="2000">
              <a:solidFill>
                <a:schemeClr val="dk1"/>
              </a:solidFill>
              <a:latin typeface="Calibri"/>
              <a:ea typeface="Calibri"/>
              <a:cs typeface="Calibri"/>
              <a:sym typeface="Calibri"/>
            </a:endParaRPr>
          </a:p>
        </p:txBody>
      </p:sp>
      <p:sp>
        <p:nvSpPr>
          <p:cNvPr id="150" name="Google Shape;150;p5"/>
          <p:cNvSpPr txBox="1"/>
          <p:nvPr/>
        </p:nvSpPr>
        <p:spPr>
          <a:xfrm>
            <a:off x="8351215" y="2240280"/>
            <a:ext cx="299923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400"/>
              <a:buFont typeface="Courier New"/>
              <a:buNone/>
            </a:pPr>
            <a:r>
              <a:rPr b="1" lang="en-US" sz="1400">
                <a:solidFill>
                  <a:schemeClr val="accent2"/>
                </a:solidFill>
                <a:latin typeface="Courier New"/>
                <a:ea typeface="Courier New"/>
                <a:cs typeface="Courier New"/>
                <a:sym typeface="Courier New"/>
              </a:rPr>
              <a:t>s[start:stop:step]</a:t>
            </a:r>
            <a:endParaRPr sz="1400">
              <a:solidFill>
                <a:schemeClr val="dk1"/>
              </a:solidFill>
              <a:latin typeface="Calibri"/>
              <a:ea typeface="Calibri"/>
              <a:cs typeface="Calibri"/>
              <a:sym typeface="Calibri"/>
            </a:endParaRPr>
          </a:p>
        </p:txBody>
      </p:sp>
      <p:sp>
        <p:nvSpPr>
          <p:cNvPr id="151" name="Google Shape;151;p5"/>
          <p:cNvSpPr/>
          <p:nvPr/>
        </p:nvSpPr>
        <p:spPr>
          <a:xfrm>
            <a:off x="8351215" y="2697480"/>
            <a:ext cx="2944368" cy="1188720"/>
          </a:xfrm>
          <a:prstGeom prst="roundRect">
            <a:avLst>
              <a:gd fmla="val 4615"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txBox="1"/>
          <p:nvPr/>
        </p:nvSpPr>
        <p:spPr>
          <a:xfrm>
            <a:off x="8625535" y="2971800"/>
            <a:ext cx="2395728"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s[::2]   </a:t>
            </a:r>
            <a:r>
              <a:rPr lang="en-US" sz="1400">
                <a:solidFill>
                  <a:schemeClr val="accent4"/>
                </a:solidFill>
                <a:latin typeface="Courier New"/>
                <a:ea typeface="Courier New"/>
                <a:cs typeface="Courier New"/>
                <a:sym typeface="Courier New"/>
              </a:rPr>
              <a:t># 'pto'</a:t>
            </a:r>
            <a:endParaRPr sz="1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s[::-1]  </a:t>
            </a:r>
            <a:r>
              <a:rPr lang="en-US" sz="1400">
                <a:solidFill>
                  <a:schemeClr val="accent4"/>
                </a:solidFill>
                <a:latin typeface="Courier New"/>
                <a:ea typeface="Courier New"/>
                <a:cs typeface="Courier New"/>
                <a:sym typeface="Courier New"/>
              </a:rPr>
              <a:t># 'nohtyp'</a:t>
            </a:r>
            <a:endParaRPr sz="1400">
              <a:solidFill>
                <a:schemeClr val="dk1"/>
              </a:solidFill>
              <a:latin typeface="Calibri"/>
              <a:ea typeface="Calibri"/>
              <a:cs typeface="Calibri"/>
              <a:sym typeface="Calibri"/>
            </a:endParaRPr>
          </a:p>
        </p:txBody>
      </p:sp>
      <p:sp>
        <p:nvSpPr>
          <p:cNvPr id="153" name="Google Shape;153;p5"/>
          <p:cNvSpPr txBox="1"/>
          <p:nvPr/>
        </p:nvSpPr>
        <p:spPr>
          <a:xfrm>
            <a:off x="3436285" y="1783200"/>
            <a:ext cx="5172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400"/>
              <a:buFont typeface="Courier New"/>
              <a:buNone/>
            </a:pPr>
            <a:r>
              <a:rPr b="1" lang="en-US">
                <a:solidFill>
                  <a:schemeClr val="accent2"/>
                </a:solidFill>
                <a:latin typeface="Courier New"/>
                <a:ea typeface="Courier New"/>
                <a:cs typeface="Courier New"/>
                <a:sym typeface="Courier New"/>
              </a:rPr>
              <a:t>O(1)</a:t>
            </a:r>
            <a:endParaRPr sz="1400">
              <a:solidFill>
                <a:schemeClr val="dk1"/>
              </a:solidFill>
              <a:latin typeface="Calibri"/>
              <a:ea typeface="Calibri"/>
              <a:cs typeface="Calibri"/>
              <a:sym typeface="Calibri"/>
            </a:endParaRPr>
          </a:p>
        </p:txBody>
      </p:sp>
      <p:sp>
        <p:nvSpPr>
          <p:cNvPr id="154" name="Google Shape;154;p5"/>
          <p:cNvSpPr txBox="1"/>
          <p:nvPr/>
        </p:nvSpPr>
        <p:spPr>
          <a:xfrm>
            <a:off x="7162377" y="1801400"/>
            <a:ext cx="5172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400"/>
              <a:buFont typeface="Courier New"/>
              <a:buNone/>
            </a:pPr>
            <a:r>
              <a:rPr b="1" lang="en-US">
                <a:solidFill>
                  <a:schemeClr val="accent2"/>
                </a:solidFill>
                <a:latin typeface="Courier New"/>
                <a:ea typeface="Courier New"/>
                <a:cs typeface="Courier New"/>
                <a:sym typeface="Courier New"/>
              </a:rPr>
              <a:t>O(k)</a:t>
            </a:r>
            <a:endParaRPr sz="1400">
              <a:solidFill>
                <a:schemeClr val="dk1"/>
              </a:solidFill>
              <a:latin typeface="Calibri"/>
              <a:ea typeface="Calibri"/>
              <a:cs typeface="Calibri"/>
              <a:sym typeface="Calibri"/>
            </a:endParaRPr>
          </a:p>
        </p:txBody>
      </p:sp>
      <p:sp>
        <p:nvSpPr>
          <p:cNvPr id="155" name="Google Shape;155;p5"/>
          <p:cNvSpPr txBox="1"/>
          <p:nvPr/>
        </p:nvSpPr>
        <p:spPr>
          <a:xfrm>
            <a:off x="896039" y="4069068"/>
            <a:ext cx="29445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Extracts character at a given index of a string.</a:t>
            </a:r>
            <a:endParaRPr>
              <a:solidFill>
                <a:schemeClr val="accent5"/>
              </a:solidFill>
              <a:latin typeface="Calibri"/>
              <a:ea typeface="Calibri"/>
              <a:cs typeface="Calibri"/>
              <a:sym typeface="Calibri"/>
            </a:endParaRPr>
          </a:p>
          <a:p>
            <a:pPr indent="0" lvl="0" marL="0" marR="0" rtl="0" algn="l">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Negatives extract from the back</a:t>
            </a:r>
            <a:endParaRPr>
              <a:solidFill>
                <a:schemeClr val="accent5"/>
              </a:solidFill>
              <a:latin typeface="Calibri"/>
              <a:ea typeface="Calibri"/>
              <a:cs typeface="Calibri"/>
              <a:sym typeface="Calibri"/>
            </a:endParaRPr>
          </a:p>
        </p:txBody>
      </p:sp>
      <p:sp>
        <p:nvSpPr>
          <p:cNvPr id="156" name="Google Shape;156;p5"/>
          <p:cNvSpPr txBox="1"/>
          <p:nvPr/>
        </p:nvSpPr>
        <p:spPr>
          <a:xfrm>
            <a:off x="10833250" y="1801375"/>
            <a:ext cx="5172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400"/>
              <a:buFont typeface="Courier New"/>
              <a:buNone/>
            </a:pPr>
            <a:r>
              <a:rPr b="1" lang="en-US">
                <a:solidFill>
                  <a:schemeClr val="accent2"/>
                </a:solidFill>
                <a:latin typeface="Courier New"/>
                <a:ea typeface="Courier New"/>
                <a:cs typeface="Courier New"/>
                <a:sym typeface="Courier New"/>
              </a:rPr>
              <a:t>O(k)</a:t>
            </a:r>
            <a:endParaRPr sz="1400">
              <a:solidFill>
                <a:schemeClr val="dk1"/>
              </a:solidFill>
              <a:latin typeface="Calibri"/>
              <a:ea typeface="Calibri"/>
              <a:cs typeface="Calibri"/>
              <a:sym typeface="Calibri"/>
            </a:endParaRPr>
          </a:p>
        </p:txBody>
      </p:sp>
      <p:sp>
        <p:nvSpPr>
          <p:cNvPr id="157" name="Google Shape;157;p5"/>
          <p:cNvSpPr txBox="1"/>
          <p:nvPr/>
        </p:nvSpPr>
        <p:spPr>
          <a:xfrm>
            <a:off x="8351152" y="4069068"/>
            <a:ext cx="29445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k = # length of resulting substring</a:t>
            </a:r>
            <a:endParaRPr>
              <a:solidFill>
                <a:schemeClr val="accent5"/>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B"/>
        </a:solidFill>
      </p:bgPr>
    </p:bg>
    <p:spTree>
      <p:nvGrpSpPr>
        <p:cNvPr id="162" name="Shape 162"/>
        <p:cNvGrpSpPr/>
        <p:nvPr/>
      </p:nvGrpSpPr>
      <p:grpSpPr>
        <a:xfrm>
          <a:off x="0" y="0"/>
          <a:ext cx="0" cy="0"/>
          <a:chOff x="0" y="0"/>
          <a:chExt cx="0" cy="0"/>
        </a:xfrm>
      </p:grpSpPr>
      <p:sp>
        <p:nvSpPr>
          <p:cNvPr id="163" name="Google Shape;163;h423b657ec3993948_0_33"/>
          <p:cNvSpPr txBox="1"/>
          <p:nvPr>
            <p:ph type="title"/>
          </p:nvPr>
        </p:nvSpPr>
        <p:spPr>
          <a:xfrm>
            <a:off x="812800" y="406400"/>
            <a:ext cx="10883100" cy="556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2233"/>
              </a:buClr>
              <a:buSzPct val="100000"/>
              <a:buFont typeface="Arial"/>
              <a:buNone/>
            </a:pPr>
            <a:r>
              <a:rPr b="1" i="0" lang="en-US" sz="3900">
                <a:solidFill>
                  <a:srgbClr val="1F2233"/>
                </a:solidFill>
                <a:latin typeface="Arial"/>
                <a:ea typeface="Arial"/>
                <a:cs typeface="Arial"/>
                <a:sym typeface="Arial"/>
              </a:rPr>
              <a:t>String operations and time complexity</a:t>
            </a:r>
            <a:endParaRPr sz="3900"/>
          </a:p>
        </p:txBody>
      </p:sp>
      <p:sp>
        <p:nvSpPr>
          <p:cNvPr id="164" name="Google Shape;164;h423b657ec3993948_0_33"/>
          <p:cNvSpPr/>
          <p:nvPr/>
        </p:nvSpPr>
        <p:spPr>
          <a:xfrm>
            <a:off x="819150" y="1121370"/>
            <a:ext cx="3374100" cy="2370900"/>
          </a:xfrm>
          <a:prstGeom prst="roundRect">
            <a:avLst>
              <a:gd fmla="val 3482" name="adj"/>
            </a:avLst>
          </a:prstGeom>
          <a:solidFill>
            <a:srgbClr val="FFFFFF"/>
          </a:solidFill>
          <a:ln cap="flat" cmpd="sng" w="16925">
            <a:solidFill>
              <a:srgbClr val="D8DB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h423b657ec3993948_0_33"/>
          <p:cNvSpPr/>
          <p:nvPr/>
        </p:nvSpPr>
        <p:spPr>
          <a:xfrm>
            <a:off x="1028700" y="1318220"/>
            <a:ext cx="6264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3"/>
              </a:buClr>
              <a:buSzPts val="2000"/>
              <a:buFont typeface="Arial"/>
              <a:buNone/>
            </a:pPr>
            <a:r>
              <a:rPr b="1" i="0" lang="en-US" sz="2000" u="none" cap="none" strike="noStrike">
                <a:solidFill>
                  <a:srgbClr val="1F2233"/>
                </a:solidFill>
                <a:latin typeface="Arial"/>
                <a:ea typeface="Arial"/>
                <a:cs typeface="Arial"/>
                <a:sym typeface="Arial"/>
              </a:rPr>
              <a:t>Join</a:t>
            </a:r>
            <a:endParaRPr b="0" i="0" sz="2000" u="none" cap="none" strike="noStrike">
              <a:solidFill>
                <a:schemeClr val="dk1"/>
              </a:solidFill>
              <a:latin typeface="Courier New"/>
              <a:ea typeface="Courier New"/>
              <a:cs typeface="Courier New"/>
              <a:sym typeface="Courier New"/>
            </a:endParaRPr>
          </a:p>
        </p:txBody>
      </p:sp>
      <p:sp>
        <p:nvSpPr>
          <p:cNvPr id="166" name="Google Shape;166;h423b657ec3993948_0_33"/>
          <p:cNvSpPr/>
          <p:nvPr/>
        </p:nvSpPr>
        <p:spPr>
          <a:xfrm>
            <a:off x="3471386" y="1346150"/>
            <a:ext cx="512100" cy="2745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F9B8A"/>
              </a:buClr>
              <a:buSzPts val="1500"/>
              <a:buFont typeface="Courier New"/>
              <a:buNone/>
            </a:pPr>
            <a:r>
              <a:rPr b="1" i="0" lang="en-US" sz="1500" u="none" cap="none" strike="noStrike">
                <a:solidFill>
                  <a:srgbClr val="3F9B8A"/>
                </a:solidFill>
                <a:latin typeface="Courier New"/>
                <a:ea typeface="Courier New"/>
                <a:cs typeface="Courier New"/>
                <a:sym typeface="Courier New"/>
              </a:rPr>
              <a:t>O(k)</a:t>
            </a:r>
            <a:endParaRPr b="0" i="0" sz="1500" u="none" cap="none" strike="noStrike">
              <a:solidFill>
                <a:schemeClr val="dk1"/>
              </a:solidFill>
              <a:latin typeface="Courier New"/>
              <a:ea typeface="Courier New"/>
              <a:cs typeface="Courier New"/>
              <a:sym typeface="Courier New"/>
            </a:endParaRPr>
          </a:p>
        </p:txBody>
      </p:sp>
      <p:sp>
        <p:nvSpPr>
          <p:cNvPr id="167" name="Google Shape;167;h423b657ec3993948_0_33"/>
          <p:cNvSpPr/>
          <p:nvPr/>
        </p:nvSpPr>
        <p:spPr>
          <a:xfrm>
            <a:off x="1028700" y="1711920"/>
            <a:ext cx="3043500" cy="274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F9B8A"/>
              </a:buClr>
              <a:buSzPts val="1500"/>
              <a:buFont typeface="Courier New"/>
              <a:buNone/>
            </a:pPr>
            <a:r>
              <a:rPr b="1" i="0" lang="en-US" sz="1500" u="none" cap="none" strike="noStrike">
                <a:solidFill>
                  <a:srgbClr val="3F9B8A"/>
                </a:solidFill>
                <a:latin typeface="Courier New"/>
                <a:ea typeface="Courier New"/>
                <a:cs typeface="Courier New"/>
                <a:sym typeface="Courier New"/>
              </a:rPr>
              <a:t>sep.join(parts)</a:t>
            </a:r>
            <a:endParaRPr b="0" i="0" sz="1500" u="none" cap="none" strike="noStrike">
              <a:solidFill>
                <a:schemeClr val="dk1"/>
              </a:solidFill>
              <a:latin typeface="Courier New"/>
              <a:ea typeface="Courier New"/>
              <a:cs typeface="Courier New"/>
              <a:sym typeface="Courier New"/>
            </a:endParaRPr>
          </a:p>
        </p:txBody>
      </p:sp>
      <p:sp>
        <p:nvSpPr>
          <p:cNvPr id="168" name="Google Shape;168;h423b657ec3993948_0_33"/>
          <p:cNvSpPr/>
          <p:nvPr/>
        </p:nvSpPr>
        <p:spPr>
          <a:xfrm>
            <a:off x="1028700" y="2049711"/>
            <a:ext cx="2954700" cy="711300"/>
          </a:xfrm>
          <a:prstGeom prst="roundRect">
            <a:avLst>
              <a:gd fmla="val 8929" name="adj"/>
            </a:avLst>
          </a:prstGeom>
          <a:solidFill>
            <a:srgbClr val="1B1E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h423b657ec3993948_0_33"/>
          <p:cNvSpPr/>
          <p:nvPr/>
        </p:nvSpPr>
        <p:spPr>
          <a:xfrm>
            <a:off x="1181100" y="2176711"/>
            <a:ext cx="2729700" cy="254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6E8F0"/>
              </a:buClr>
              <a:buSzPts val="1200"/>
              <a:buFont typeface="Courier New"/>
              <a:buNone/>
            </a:pPr>
            <a:r>
              <a:rPr b="0" i="0" lang="en-US" sz="1200" u="none" cap="none" strike="noStrike">
                <a:solidFill>
                  <a:srgbClr val="E6E8F0"/>
                </a:solidFill>
                <a:latin typeface="Courier New"/>
                <a:ea typeface="Courier New"/>
                <a:cs typeface="Courier New"/>
                <a:sym typeface="Courier New"/>
              </a:rPr>
              <a:t>"-".join(["a","b"]) </a:t>
            </a:r>
            <a:r>
              <a:rPr b="0" i="0" lang="en-US" sz="1200" u="none" cap="none" strike="noStrike">
                <a:solidFill>
                  <a:srgbClr val="8A8FA3"/>
                </a:solidFill>
                <a:latin typeface="Courier New"/>
                <a:ea typeface="Courier New"/>
                <a:cs typeface="Courier New"/>
                <a:sym typeface="Courier New"/>
              </a:rPr>
              <a:t># 'a-b'</a:t>
            </a:r>
            <a:endParaRPr b="0" i="0" sz="1200" u="none" cap="none" strike="noStrike">
              <a:solidFill>
                <a:schemeClr val="dk1"/>
              </a:solidFill>
              <a:latin typeface="Courier New"/>
              <a:ea typeface="Courier New"/>
              <a:cs typeface="Courier New"/>
              <a:sym typeface="Courier New"/>
            </a:endParaRPr>
          </a:p>
        </p:txBody>
      </p:sp>
      <p:sp>
        <p:nvSpPr>
          <p:cNvPr id="170" name="Google Shape;170;h423b657ec3993948_0_33"/>
          <p:cNvSpPr/>
          <p:nvPr/>
        </p:nvSpPr>
        <p:spPr>
          <a:xfrm>
            <a:off x="1181100" y="2405311"/>
            <a:ext cx="2729700" cy="254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6E8F0"/>
              </a:buClr>
              <a:buSzPts val="1200"/>
              <a:buFont typeface="Courier New"/>
              <a:buNone/>
            </a:pPr>
            <a:r>
              <a:rPr b="0" i="0" lang="en-US" sz="1200" u="none" cap="none" strike="noStrike">
                <a:solidFill>
                  <a:srgbClr val="E6E8F0"/>
                </a:solidFill>
                <a:latin typeface="Courier New"/>
                <a:ea typeface="Courier New"/>
                <a:cs typeface="Courier New"/>
                <a:sym typeface="Courier New"/>
              </a:rPr>
              <a:t>"".join(["a","b"]) </a:t>
            </a:r>
            <a:r>
              <a:rPr b="0" i="0" lang="en-US" sz="1200" u="none" cap="none" strike="noStrike">
                <a:solidFill>
                  <a:srgbClr val="8A8FA3"/>
                </a:solidFill>
                <a:latin typeface="Courier New"/>
                <a:ea typeface="Courier New"/>
                <a:cs typeface="Courier New"/>
                <a:sym typeface="Courier New"/>
              </a:rPr>
              <a:t># 'ab'</a:t>
            </a:r>
            <a:endParaRPr b="0" i="0" sz="1200" u="none" cap="none" strike="noStrike">
              <a:solidFill>
                <a:schemeClr val="dk1"/>
              </a:solidFill>
              <a:latin typeface="Courier New"/>
              <a:ea typeface="Courier New"/>
              <a:cs typeface="Courier New"/>
              <a:sym typeface="Courier New"/>
            </a:endParaRPr>
          </a:p>
        </p:txBody>
      </p:sp>
      <p:sp>
        <p:nvSpPr>
          <p:cNvPr id="171" name="Google Shape;171;h423b657ec3993948_0_33"/>
          <p:cNvSpPr/>
          <p:nvPr/>
        </p:nvSpPr>
        <p:spPr>
          <a:xfrm>
            <a:off x="1028700" y="2849811"/>
            <a:ext cx="3043500" cy="2484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A6070"/>
              </a:buClr>
              <a:buSzPts val="1300"/>
              <a:buFont typeface="Arial"/>
              <a:buNone/>
            </a:pPr>
            <a:r>
              <a:rPr b="0" i="0" lang="en-US" sz="1300" u="none" cap="none" strike="noStrike">
                <a:solidFill>
                  <a:srgbClr val="5A6070"/>
                </a:solidFill>
                <a:latin typeface="Arial"/>
                <a:ea typeface="Arial"/>
                <a:cs typeface="Arial"/>
                <a:sym typeface="Arial"/>
              </a:rPr>
              <a:t>k = # characters in the resulting string</a:t>
            </a:r>
            <a:endParaRPr b="0" i="0" sz="1300" u="none" cap="none" strike="noStrike">
              <a:solidFill>
                <a:schemeClr val="dk1"/>
              </a:solidFill>
              <a:latin typeface="Courier New"/>
              <a:ea typeface="Courier New"/>
              <a:cs typeface="Courier New"/>
              <a:sym typeface="Courier New"/>
            </a:endParaRPr>
          </a:p>
        </p:txBody>
      </p:sp>
      <p:sp>
        <p:nvSpPr>
          <p:cNvPr id="172" name="Google Shape;172;h423b657ec3993948_0_33"/>
          <p:cNvSpPr/>
          <p:nvPr/>
        </p:nvSpPr>
        <p:spPr>
          <a:xfrm>
            <a:off x="4408984" y="1121370"/>
            <a:ext cx="3374100" cy="2370900"/>
          </a:xfrm>
          <a:prstGeom prst="roundRect">
            <a:avLst>
              <a:gd fmla="val 3482" name="adj"/>
            </a:avLst>
          </a:prstGeom>
          <a:solidFill>
            <a:srgbClr val="FFFFFF"/>
          </a:solidFill>
          <a:ln cap="flat" cmpd="sng" w="16925">
            <a:solidFill>
              <a:srgbClr val="D8DB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h423b657ec3993948_0_33"/>
          <p:cNvSpPr/>
          <p:nvPr/>
        </p:nvSpPr>
        <p:spPr>
          <a:xfrm>
            <a:off x="4618534" y="1318220"/>
            <a:ext cx="10155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3"/>
              </a:buClr>
              <a:buSzPts val="2000"/>
              <a:buFont typeface="Arial"/>
              <a:buNone/>
            </a:pPr>
            <a:r>
              <a:rPr b="1" i="0" lang="en-US" sz="2000" u="none" cap="none" strike="noStrike">
                <a:solidFill>
                  <a:srgbClr val="1F2233"/>
                </a:solidFill>
                <a:latin typeface="Arial"/>
                <a:ea typeface="Arial"/>
                <a:cs typeface="Arial"/>
                <a:sym typeface="Arial"/>
              </a:rPr>
              <a:t>Length</a:t>
            </a:r>
            <a:endParaRPr b="0" i="0" sz="2000" u="none" cap="none" strike="noStrike">
              <a:solidFill>
                <a:schemeClr val="dk1"/>
              </a:solidFill>
              <a:latin typeface="Courier New"/>
              <a:ea typeface="Courier New"/>
              <a:cs typeface="Courier New"/>
              <a:sym typeface="Courier New"/>
            </a:endParaRPr>
          </a:p>
        </p:txBody>
      </p:sp>
      <p:sp>
        <p:nvSpPr>
          <p:cNvPr id="174" name="Google Shape;174;h423b657ec3993948_0_33"/>
          <p:cNvSpPr/>
          <p:nvPr/>
        </p:nvSpPr>
        <p:spPr>
          <a:xfrm>
            <a:off x="7061269" y="1346150"/>
            <a:ext cx="512100" cy="2745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F9B8A"/>
              </a:buClr>
              <a:buSzPts val="1500"/>
              <a:buFont typeface="Courier New"/>
              <a:buNone/>
            </a:pPr>
            <a:r>
              <a:rPr b="1" i="0" lang="en-US" sz="1500" u="none" cap="none" strike="noStrike">
                <a:solidFill>
                  <a:srgbClr val="3F9B8A"/>
                </a:solidFill>
                <a:latin typeface="Courier New"/>
                <a:ea typeface="Courier New"/>
                <a:cs typeface="Courier New"/>
                <a:sym typeface="Courier New"/>
              </a:rPr>
              <a:t>O(1)</a:t>
            </a:r>
            <a:endParaRPr b="0" i="0" sz="1500" u="none" cap="none" strike="noStrike">
              <a:solidFill>
                <a:schemeClr val="dk1"/>
              </a:solidFill>
              <a:latin typeface="Courier New"/>
              <a:ea typeface="Courier New"/>
              <a:cs typeface="Courier New"/>
              <a:sym typeface="Courier New"/>
            </a:endParaRPr>
          </a:p>
        </p:txBody>
      </p:sp>
      <p:sp>
        <p:nvSpPr>
          <p:cNvPr id="175" name="Google Shape;175;h423b657ec3993948_0_33"/>
          <p:cNvSpPr/>
          <p:nvPr/>
        </p:nvSpPr>
        <p:spPr>
          <a:xfrm>
            <a:off x="4618534" y="1711920"/>
            <a:ext cx="3043500" cy="274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F9B8A"/>
              </a:buClr>
              <a:buSzPts val="1500"/>
              <a:buFont typeface="Courier New"/>
              <a:buNone/>
            </a:pPr>
            <a:r>
              <a:rPr b="1" i="0" lang="en-US" sz="1500" u="none" cap="none" strike="noStrike">
                <a:solidFill>
                  <a:srgbClr val="3F9B8A"/>
                </a:solidFill>
                <a:latin typeface="Courier New"/>
                <a:ea typeface="Courier New"/>
                <a:cs typeface="Courier New"/>
                <a:sym typeface="Courier New"/>
              </a:rPr>
              <a:t>len(s)</a:t>
            </a:r>
            <a:endParaRPr b="0" i="0" sz="1500" u="none" cap="none" strike="noStrike">
              <a:solidFill>
                <a:schemeClr val="dk1"/>
              </a:solidFill>
              <a:latin typeface="Courier New"/>
              <a:ea typeface="Courier New"/>
              <a:cs typeface="Courier New"/>
              <a:sym typeface="Courier New"/>
            </a:endParaRPr>
          </a:p>
        </p:txBody>
      </p:sp>
      <p:sp>
        <p:nvSpPr>
          <p:cNvPr id="176" name="Google Shape;176;h423b657ec3993948_0_33"/>
          <p:cNvSpPr/>
          <p:nvPr/>
        </p:nvSpPr>
        <p:spPr>
          <a:xfrm>
            <a:off x="4618534" y="2049711"/>
            <a:ext cx="2954700" cy="711300"/>
          </a:xfrm>
          <a:prstGeom prst="roundRect">
            <a:avLst>
              <a:gd fmla="val 8929" name="adj"/>
            </a:avLst>
          </a:prstGeom>
          <a:solidFill>
            <a:srgbClr val="1B1E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h423b657ec3993948_0_33"/>
          <p:cNvSpPr/>
          <p:nvPr/>
        </p:nvSpPr>
        <p:spPr>
          <a:xfrm>
            <a:off x="4770934" y="2176711"/>
            <a:ext cx="2729700" cy="254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6E8F0"/>
              </a:buClr>
              <a:buSzPts val="1200"/>
              <a:buFont typeface="Courier New"/>
              <a:buNone/>
            </a:pPr>
            <a:r>
              <a:rPr b="0" i="0" lang="en-US" sz="1200" u="none" cap="none" strike="noStrike">
                <a:solidFill>
                  <a:srgbClr val="E6E8F0"/>
                </a:solidFill>
                <a:latin typeface="Courier New"/>
                <a:ea typeface="Courier New"/>
                <a:cs typeface="Courier New"/>
                <a:sym typeface="Courier New"/>
              </a:rPr>
              <a:t>len("python") </a:t>
            </a:r>
            <a:r>
              <a:rPr b="0" i="0" lang="en-US" sz="1200" u="none" cap="none" strike="noStrike">
                <a:solidFill>
                  <a:srgbClr val="8A8FA3"/>
                </a:solidFill>
                <a:latin typeface="Courier New"/>
                <a:ea typeface="Courier New"/>
                <a:cs typeface="Courier New"/>
                <a:sym typeface="Courier New"/>
              </a:rPr>
              <a:t># 6</a:t>
            </a:r>
            <a:endParaRPr b="0" i="0" sz="1200" u="none" cap="none" strike="noStrike">
              <a:solidFill>
                <a:schemeClr val="dk1"/>
              </a:solidFill>
              <a:latin typeface="Courier New"/>
              <a:ea typeface="Courier New"/>
              <a:cs typeface="Courier New"/>
              <a:sym typeface="Courier New"/>
            </a:endParaRPr>
          </a:p>
        </p:txBody>
      </p:sp>
      <p:sp>
        <p:nvSpPr>
          <p:cNvPr id="178" name="Google Shape;178;h423b657ec3993948_0_33"/>
          <p:cNvSpPr/>
          <p:nvPr/>
        </p:nvSpPr>
        <p:spPr>
          <a:xfrm>
            <a:off x="4770934" y="2405311"/>
            <a:ext cx="2729700" cy="254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6E8F0"/>
              </a:buClr>
              <a:buSzPts val="1200"/>
              <a:buFont typeface="Courier New"/>
              <a:buNone/>
            </a:pPr>
            <a:r>
              <a:rPr b="0" i="0" lang="en-US" sz="1200" u="none" cap="none" strike="noStrike">
                <a:solidFill>
                  <a:srgbClr val="E6E8F0"/>
                </a:solidFill>
                <a:latin typeface="Courier New"/>
                <a:ea typeface="Courier New"/>
                <a:cs typeface="Courier New"/>
                <a:sym typeface="Courier New"/>
              </a:rPr>
              <a:t>len("") </a:t>
            </a:r>
            <a:r>
              <a:rPr b="0" i="0" lang="en-US" sz="1200" u="none" cap="none" strike="noStrike">
                <a:solidFill>
                  <a:srgbClr val="8A8FA3"/>
                </a:solidFill>
                <a:latin typeface="Courier New"/>
                <a:ea typeface="Courier New"/>
                <a:cs typeface="Courier New"/>
                <a:sym typeface="Courier New"/>
              </a:rPr>
              <a:t># 0</a:t>
            </a:r>
            <a:endParaRPr b="0" i="0" sz="1200" u="none" cap="none" strike="noStrike">
              <a:solidFill>
                <a:schemeClr val="dk1"/>
              </a:solidFill>
              <a:latin typeface="Courier New"/>
              <a:ea typeface="Courier New"/>
              <a:cs typeface="Courier New"/>
              <a:sym typeface="Courier New"/>
            </a:endParaRPr>
          </a:p>
        </p:txBody>
      </p:sp>
      <p:sp>
        <p:nvSpPr>
          <p:cNvPr id="179" name="Google Shape;179;h423b657ec3993948_0_33"/>
          <p:cNvSpPr/>
          <p:nvPr/>
        </p:nvSpPr>
        <p:spPr>
          <a:xfrm>
            <a:off x="4618534" y="2849811"/>
            <a:ext cx="3043500" cy="4713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A6070"/>
              </a:buClr>
              <a:buSzPts val="1300"/>
              <a:buFont typeface="Arial"/>
              <a:buNone/>
            </a:pPr>
            <a:r>
              <a:rPr b="0" i="0" lang="en-US" sz="1300" u="none" cap="none" strike="noStrike">
                <a:solidFill>
                  <a:srgbClr val="5A6070"/>
                </a:solidFill>
                <a:latin typeface="Arial"/>
                <a:ea typeface="Arial"/>
                <a:cs typeface="Arial"/>
                <a:sym typeface="Arial"/>
              </a:rPr>
              <a:t>Python stores the length, so it is never counted</a:t>
            </a:r>
            <a:endParaRPr b="0" i="0" sz="1300" u="none" cap="none" strike="noStrike">
              <a:solidFill>
                <a:schemeClr val="dk1"/>
              </a:solidFill>
              <a:latin typeface="Courier New"/>
              <a:ea typeface="Courier New"/>
              <a:cs typeface="Courier New"/>
              <a:sym typeface="Courier New"/>
            </a:endParaRPr>
          </a:p>
        </p:txBody>
      </p:sp>
      <p:sp>
        <p:nvSpPr>
          <p:cNvPr id="180" name="Google Shape;180;h423b657ec3993948_0_33"/>
          <p:cNvSpPr/>
          <p:nvPr/>
        </p:nvSpPr>
        <p:spPr>
          <a:xfrm>
            <a:off x="7998867" y="1121370"/>
            <a:ext cx="3374100" cy="2370900"/>
          </a:xfrm>
          <a:prstGeom prst="roundRect">
            <a:avLst>
              <a:gd fmla="val 3482" name="adj"/>
            </a:avLst>
          </a:prstGeom>
          <a:solidFill>
            <a:srgbClr val="FFFFFF"/>
          </a:solidFill>
          <a:ln cap="flat" cmpd="sng" w="16925">
            <a:solidFill>
              <a:srgbClr val="D8DB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h423b657ec3993948_0_33"/>
          <p:cNvSpPr/>
          <p:nvPr/>
        </p:nvSpPr>
        <p:spPr>
          <a:xfrm>
            <a:off x="8208417" y="1318220"/>
            <a:ext cx="13212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3"/>
              </a:buClr>
              <a:buSzPts val="2000"/>
              <a:buFont typeface="Arial"/>
              <a:buNone/>
            </a:pPr>
            <a:r>
              <a:rPr b="1" i="0" lang="en-US" sz="2000" u="none" cap="none" strike="noStrike">
                <a:solidFill>
                  <a:srgbClr val="1F2233"/>
                </a:solidFill>
                <a:latin typeface="Arial"/>
                <a:ea typeface="Arial"/>
                <a:cs typeface="Arial"/>
                <a:sym typeface="Arial"/>
              </a:rPr>
              <a:t>Compare</a:t>
            </a:r>
            <a:endParaRPr b="0" i="0" sz="2000" u="none" cap="none" strike="noStrike">
              <a:solidFill>
                <a:schemeClr val="dk1"/>
              </a:solidFill>
              <a:latin typeface="Courier New"/>
              <a:ea typeface="Courier New"/>
              <a:cs typeface="Courier New"/>
              <a:sym typeface="Courier New"/>
            </a:endParaRPr>
          </a:p>
        </p:txBody>
      </p:sp>
      <p:sp>
        <p:nvSpPr>
          <p:cNvPr id="182" name="Google Shape;182;h423b657ec3993948_0_33"/>
          <p:cNvSpPr/>
          <p:nvPr/>
        </p:nvSpPr>
        <p:spPr>
          <a:xfrm>
            <a:off x="10651153" y="1346150"/>
            <a:ext cx="512100" cy="2745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F9B8A"/>
              </a:buClr>
              <a:buSzPts val="1500"/>
              <a:buFont typeface="Courier New"/>
              <a:buNone/>
            </a:pPr>
            <a:r>
              <a:rPr b="1" i="0" lang="en-US" sz="1500" u="none" cap="none" strike="noStrike">
                <a:solidFill>
                  <a:srgbClr val="3F9B8A"/>
                </a:solidFill>
                <a:latin typeface="Courier New"/>
                <a:ea typeface="Courier New"/>
                <a:cs typeface="Courier New"/>
                <a:sym typeface="Courier New"/>
              </a:rPr>
              <a:t>O(k)</a:t>
            </a:r>
            <a:endParaRPr b="0" i="0" sz="1500" u="none" cap="none" strike="noStrike">
              <a:solidFill>
                <a:schemeClr val="dk1"/>
              </a:solidFill>
              <a:latin typeface="Courier New"/>
              <a:ea typeface="Courier New"/>
              <a:cs typeface="Courier New"/>
              <a:sym typeface="Courier New"/>
            </a:endParaRPr>
          </a:p>
        </p:txBody>
      </p:sp>
      <p:sp>
        <p:nvSpPr>
          <p:cNvPr id="183" name="Google Shape;183;h423b657ec3993948_0_33"/>
          <p:cNvSpPr/>
          <p:nvPr/>
        </p:nvSpPr>
        <p:spPr>
          <a:xfrm>
            <a:off x="8208417" y="1711920"/>
            <a:ext cx="3043500" cy="274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F9B8A"/>
              </a:buClr>
              <a:buSzPts val="1500"/>
              <a:buFont typeface="Courier New"/>
              <a:buNone/>
            </a:pPr>
            <a:r>
              <a:rPr b="1" i="0" lang="en-US" sz="1500" u="none" cap="none" strike="noStrike">
                <a:solidFill>
                  <a:srgbClr val="3F9B8A"/>
                </a:solidFill>
                <a:latin typeface="Courier New"/>
                <a:ea typeface="Courier New"/>
                <a:cs typeface="Courier New"/>
                <a:sym typeface="Courier New"/>
              </a:rPr>
              <a:t>s == t, s &lt; t</a:t>
            </a:r>
            <a:endParaRPr b="0" i="0" sz="1500" u="none" cap="none" strike="noStrike">
              <a:solidFill>
                <a:schemeClr val="dk1"/>
              </a:solidFill>
              <a:latin typeface="Courier New"/>
              <a:ea typeface="Courier New"/>
              <a:cs typeface="Courier New"/>
              <a:sym typeface="Courier New"/>
            </a:endParaRPr>
          </a:p>
        </p:txBody>
      </p:sp>
      <p:sp>
        <p:nvSpPr>
          <p:cNvPr id="184" name="Google Shape;184;h423b657ec3993948_0_33"/>
          <p:cNvSpPr/>
          <p:nvPr/>
        </p:nvSpPr>
        <p:spPr>
          <a:xfrm>
            <a:off x="8208417" y="2049711"/>
            <a:ext cx="2954700" cy="711300"/>
          </a:xfrm>
          <a:prstGeom prst="roundRect">
            <a:avLst>
              <a:gd fmla="val 8929" name="adj"/>
            </a:avLst>
          </a:prstGeom>
          <a:solidFill>
            <a:srgbClr val="1B1E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h423b657ec3993948_0_33"/>
          <p:cNvSpPr/>
          <p:nvPr/>
        </p:nvSpPr>
        <p:spPr>
          <a:xfrm>
            <a:off x="8360817" y="2176711"/>
            <a:ext cx="2729700" cy="254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6E8F0"/>
              </a:buClr>
              <a:buSzPts val="1200"/>
              <a:buFont typeface="Courier New"/>
              <a:buNone/>
            </a:pPr>
            <a:r>
              <a:rPr b="0" i="0" lang="en-US" sz="1200" u="none" cap="none" strike="noStrike">
                <a:solidFill>
                  <a:srgbClr val="E6E8F0"/>
                </a:solidFill>
                <a:latin typeface="Courier New"/>
                <a:ea typeface="Courier New"/>
                <a:cs typeface="Courier New"/>
                <a:sym typeface="Courier New"/>
              </a:rPr>
              <a:t>"abc" == "abd" </a:t>
            </a:r>
            <a:r>
              <a:rPr b="0" i="0" lang="en-US" sz="1200" u="none" cap="none" strike="noStrike">
                <a:solidFill>
                  <a:srgbClr val="8A8FA3"/>
                </a:solidFill>
                <a:latin typeface="Courier New"/>
                <a:ea typeface="Courier New"/>
                <a:cs typeface="Courier New"/>
                <a:sym typeface="Courier New"/>
              </a:rPr>
              <a:t># False</a:t>
            </a:r>
            <a:endParaRPr b="0" i="0" sz="1200" u="none" cap="none" strike="noStrike">
              <a:solidFill>
                <a:schemeClr val="dk1"/>
              </a:solidFill>
              <a:latin typeface="Courier New"/>
              <a:ea typeface="Courier New"/>
              <a:cs typeface="Courier New"/>
              <a:sym typeface="Courier New"/>
            </a:endParaRPr>
          </a:p>
        </p:txBody>
      </p:sp>
      <p:sp>
        <p:nvSpPr>
          <p:cNvPr id="186" name="Google Shape;186;h423b657ec3993948_0_33"/>
          <p:cNvSpPr/>
          <p:nvPr/>
        </p:nvSpPr>
        <p:spPr>
          <a:xfrm>
            <a:off x="8360817" y="2405311"/>
            <a:ext cx="2729700" cy="254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6E8F0"/>
              </a:buClr>
              <a:buSzPts val="1200"/>
              <a:buFont typeface="Courier New"/>
              <a:buNone/>
            </a:pPr>
            <a:r>
              <a:rPr b="0" i="0" lang="en-US" sz="1200" u="none" cap="none" strike="noStrike">
                <a:solidFill>
                  <a:srgbClr val="E6E8F0"/>
                </a:solidFill>
                <a:latin typeface="Courier New"/>
                <a:ea typeface="Courier New"/>
                <a:cs typeface="Courier New"/>
                <a:sym typeface="Courier New"/>
              </a:rPr>
              <a:t>"abc" &lt; "abd" </a:t>
            </a:r>
            <a:r>
              <a:rPr b="0" i="0" lang="en-US" sz="1200" u="none" cap="none" strike="noStrike">
                <a:solidFill>
                  <a:srgbClr val="8A8FA3"/>
                </a:solidFill>
                <a:latin typeface="Courier New"/>
                <a:ea typeface="Courier New"/>
                <a:cs typeface="Courier New"/>
                <a:sym typeface="Courier New"/>
              </a:rPr>
              <a:t># True</a:t>
            </a:r>
            <a:endParaRPr b="0" i="0" sz="1200" u="none" cap="none" strike="noStrike">
              <a:solidFill>
                <a:schemeClr val="dk1"/>
              </a:solidFill>
              <a:latin typeface="Courier New"/>
              <a:ea typeface="Courier New"/>
              <a:cs typeface="Courier New"/>
              <a:sym typeface="Courier New"/>
            </a:endParaRPr>
          </a:p>
        </p:txBody>
      </p:sp>
      <p:sp>
        <p:nvSpPr>
          <p:cNvPr id="187" name="Google Shape;187;h423b657ec3993948_0_33"/>
          <p:cNvSpPr/>
          <p:nvPr/>
        </p:nvSpPr>
        <p:spPr>
          <a:xfrm>
            <a:off x="8208417" y="2849811"/>
            <a:ext cx="3043500" cy="4713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A6070"/>
              </a:buClr>
              <a:buSzPts val="1300"/>
              <a:buFont typeface="Arial"/>
              <a:buNone/>
            </a:pPr>
            <a:r>
              <a:rPr b="0" i="0" lang="en-US" sz="1300" u="none" cap="none" strike="noStrike">
                <a:solidFill>
                  <a:srgbClr val="5A6070"/>
                </a:solidFill>
                <a:latin typeface="Arial"/>
                <a:ea typeface="Arial"/>
                <a:cs typeface="Arial"/>
                <a:sym typeface="Arial"/>
              </a:rPr>
              <a:t>k = # characters checked, up to the first difference</a:t>
            </a:r>
            <a:endParaRPr b="0" i="0" sz="1300" u="none" cap="none" strike="noStrike">
              <a:solidFill>
                <a:schemeClr val="dk1"/>
              </a:solidFill>
              <a:latin typeface="Courier New"/>
              <a:ea typeface="Courier New"/>
              <a:cs typeface="Courier New"/>
              <a:sym typeface="Courier New"/>
            </a:endParaRPr>
          </a:p>
        </p:txBody>
      </p:sp>
      <p:sp>
        <p:nvSpPr>
          <p:cNvPr id="188" name="Google Shape;188;h423b657ec3993948_0_33"/>
          <p:cNvSpPr/>
          <p:nvPr/>
        </p:nvSpPr>
        <p:spPr>
          <a:xfrm>
            <a:off x="819150" y="3682851"/>
            <a:ext cx="3390900" cy="2370900"/>
          </a:xfrm>
          <a:prstGeom prst="roundRect">
            <a:avLst>
              <a:gd fmla="val 3482" name="adj"/>
            </a:avLst>
          </a:prstGeom>
          <a:solidFill>
            <a:srgbClr val="FFFFFF"/>
          </a:solidFill>
          <a:ln cap="flat" cmpd="sng" w="16925">
            <a:solidFill>
              <a:srgbClr val="D8DB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h423b657ec3993948_0_33"/>
          <p:cNvSpPr/>
          <p:nvPr/>
        </p:nvSpPr>
        <p:spPr>
          <a:xfrm>
            <a:off x="1028700" y="3879701"/>
            <a:ext cx="19413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3"/>
              </a:buClr>
              <a:buSzPts val="2000"/>
              <a:buFont typeface="Arial"/>
              <a:buNone/>
            </a:pPr>
            <a:r>
              <a:rPr b="1" i="0" lang="en-US" sz="2000" u="none" cap="none" strike="noStrike">
                <a:solidFill>
                  <a:srgbClr val="1F2233"/>
                </a:solidFill>
                <a:latin typeface="Arial"/>
                <a:ea typeface="Arial"/>
                <a:cs typeface="Arial"/>
                <a:sym typeface="Arial"/>
              </a:rPr>
              <a:t>Concatenation</a:t>
            </a:r>
            <a:endParaRPr b="0" i="0" sz="2000" u="none" cap="none" strike="noStrike">
              <a:solidFill>
                <a:schemeClr val="dk1"/>
              </a:solidFill>
              <a:latin typeface="Courier New"/>
              <a:ea typeface="Courier New"/>
              <a:cs typeface="Courier New"/>
              <a:sym typeface="Courier New"/>
            </a:endParaRPr>
          </a:p>
        </p:txBody>
      </p:sp>
      <p:sp>
        <p:nvSpPr>
          <p:cNvPr id="190" name="Google Shape;190;h423b657ec3993948_0_33"/>
          <p:cNvSpPr/>
          <p:nvPr/>
        </p:nvSpPr>
        <p:spPr>
          <a:xfrm>
            <a:off x="2976205" y="3907631"/>
            <a:ext cx="1024500" cy="2745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F9B8A"/>
              </a:buClr>
              <a:buSzPts val="1500"/>
              <a:buFont typeface="Courier New"/>
              <a:buNone/>
            </a:pPr>
            <a:r>
              <a:rPr b="1" i="0" lang="en-US" sz="1500" u="none" cap="none" strike="noStrike">
                <a:solidFill>
                  <a:srgbClr val="3F9B8A"/>
                </a:solidFill>
                <a:latin typeface="Courier New"/>
                <a:ea typeface="Courier New"/>
                <a:cs typeface="Courier New"/>
                <a:sym typeface="Courier New"/>
              </a:rPr>
              <a:t>O(n + m)</a:t>
            </a:r>
            <a:endParaRPr b="0" i="0" sz="1500" u="none" cap="none" strike="noStrike">
              <a:solidFill>
                <a:schemeClr val="dk1"/>
              </a:solidFill>
              <a:latin typeface="Courier New"/>
              <a:ea typeface="Courier New"/>
              <a:cs typeface="Courier New"/>
              <a:sym typeface="Courier New"/>
            </a:endParaRPr>
          </a:p>
        </p:txBody>
      </p:sp>
      <p:sp>
        <p:nvSpPr>
          <p:cNvPr id="191" name="Google Shape;191;h423b657ec3993948_0_33"/>
          <p:cNvSpPr/>
          <p:nvPr/>
        </p:nvSpPr>
        <p:spPr>
          <a:xfrm>
            <a:off x="1028700" y="4273401"/>
            <a:ext cx="3060900" cy="274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F9B8A"/>
              </a:buClr>
              <a:buSzPts val="1500"/>
              <a:buFont typeface="Courier New"/>
              <a:buNone/>
            </a:pPr>
            <a:r>
              <a:rPr b="1" i="0" lang="en-US" sz="1500" u="none" cap="none" strike="noStrike">
                <a:solidFill>
                  <a:srgbClr val="3F9B8A"/>
                </a:solidFill>
                <a:latin typeface="Courier New"/>
                <a:ea typeface="Courier New"/>
                <a:cs typeface="Courier New"/>
                <a:sym typeface="Courier New"/>
              </a:rPr>
              <a:t>s + t</a:t>
            </a:r>
            <a:endParaRPr b="0" i="0" sz="1500" u="none" cap="none" strike="noStrike">
              <a:solidFill>
                <a:schemeClr val="dk1"/>
              </a:solidFill>
              <a:latin typeface="Courier New"/>
              <a:ea typeface="Courier New"/>
              <a:cs typeface="Courier New"/>
              <a:sym typeface="Courier New"/>
            </a:endParaRPr>
          </a:p>
        </p:txBody>
      </p:sp>
      <p:sp>
        <p:nvSpPr>
          <p:cNvPr id="192" name="Google Shape;192;h423b657ec3993948_0_33"/>
          <p:cNvSpPr/>
          <p:nvPr/>
        </p:nvSpPr>
        <p:spPr>
          <a:xfrm>
            <a:off x="1028700" y="4611191"/>
            <a:ext cx="2972100" cy="711300"/>
          </a:xfrm>
          <a:prstGeom prst="roundRect">
            <a:avLst>
              <a:gd fmla="val 8929" name="adj"/>
            </a:avLst>
          </a:prstGeom>
          <a:solidFill>
            <a:srgbClr val="1B1E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h423b657ec3993948_0_33"/>
          <p:cNvSpPr/>
          <p:nvPr/>
        </p:nvSpPr>
        <p:spPr>
          <a:xfrm>
            <a:off x="1181100" y="4738191"/>
            <a:ext cx="2747100" cy="254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6E8F0"/>
              </a:buClr>
              <a:buSzPts val="1200"/>
              <a:buFont typeface="Courier New"/>
              <a:buNone/>
            </a:pPr>
            <a:r>
              <a:rPr b="0" i="0" lang="en-US" sz="1200" u="none" cap="none" strike="noStrike">
                <a:solidFill>
                  <a:srgbClr val="E6E8F0"/>
                </a:solidFill>
                <a:latin typeface="Courier New"/>
                <a:ea typeface="Courier New"/>
                <a:cs typeface="Courier New"/>
                <a:sym typeface="Courier New"/>
              </a:rPr>
              <a:t>"py" + "thon" </a:t>
            </a:r>
            <a:r>
              <a:rPr b="0" i="0" lang="en-US" sz="1200" u="none" cap="none" strike="noStrike">
                <a:solidFill>
                  <a:srgbClr val="8A8FA3"/>
                </a:solidFill>
                <a:latin typeface="Courier New"/>
                <a:ea typeface="Courier New"/>
                <a:cs typeface="Courier New"/>
                <a:sym typeface="Courier New"/>
              </a:rPr>
              <a:t># 'python'</a:t>
            </a:r>
            <a:endParaRPr b="0" i="0" sz="1200" u="none" cap="none" strike="noStrike">
              <a:solidFill>
                <a:schemeClr val="dk1"/>
              </a:solidFill>
              <a:latin typeface="Courier New"/>
              <a:ea typeface="Courier New"/>
              <a:cs typeface="Courier New"/>
              <a:sym typeface="Courier New"/>
            </a:endParaRPr>
          </a:p>
        </p:txBody>
      </p:sp>
      <p:sp>
        <p:nvSpPr>
          <p:cNvPr id="194" name="Google Shape;194;h423b657ec3993948_0_33"/>
          <p:cNvSpPr/>
          <p:nvPr/>
        </p:nvSpPr>
        <p:spPr>
          <a:xfrm>
            <a:off x="1181100" y="4966791"/>
            <a:ext cx="2747100" cy="254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6E8F0"/>
              </a:buClr>
              <a:buSzPts val="1200"/>
              <a:buFont typeface="Courier New"/>
              <a:buNone/>
            </a:pPr>
            <a:r>
              <a:rPr b="0" i="0" lang="en-US" sz="1200" u="none" cap="none" strike="noStrike">
                <a:solidFill>
                  <a:srgbClr val="E6E8F0"/>
                </a:solidFill>
                <a:latin typeface="Courier New"/>
                <a:ea typeface="Courier New"/>
                <a:cs typeface="Courier New"/>
                <a:sym typeface="Courier New"/>
              </a:rPr>
              <a:t>s += "!" </a:t>
            </a:r>
            <a:r>
              <a:rPr b="0" i="0" lang="en-US" sz="1200" u="none" cap="none" strike="noStrike">
                <a:solidFill>
                  <a:srgbClr val="8A8FA3"/>
                </a:solidFill>
                <a:latin typeface="Courier New"/>
                <a:ea typeface="Courier New"/>
                <a:cs typeface="Courier New"/>
                <a:sym typeface="Courier New"/>
              </a:rPr>
              <a:t># new string</a:t>
            </a:r>
            <a:endParaRPr b="0" i="0" sz="1200" u="none" cap="none" strike="noStrike">
              <a:solidFill>
                <a:schemeClr val="dk1"/>
              </a:solidFill>
              <a:latin typeface="Courier New"/>
              <a:ea typeface="Courier New"/>
              <a:cs typeface="Courier New"/>
              <a:sym typeface="Courier New"/>
            </a:endParaRPr>
          </a:p>
        </p:txBody>
      </p:sp>
      <p:sp>
        <p:nvSpPr>
          <p:cNvPr id="195" name="Google Shape;195;h423b657ec3993948_0_33"/>
          <p:cNvSpPr/>
          <p:nvPr/>
        </p:nvSpPr>
        <p:spPr>
          <a:xfrm>
            <a:off x="1028700" y="5411291"/>
            <a:ext cx="3060900" cy="4713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A6070"/>
              </a:buClr>
              <a:buSzPts val="1300"/>
              <a:buFont typeface="Arial"/>
              <a:buNone/>
            </a:pPr>
            <a:r>
              <a:rPr b="0" i="0" lang="en-US" sz="1300" u="none" cap="none" strike="noStrike">
                <a:solidFill>
                  <a:srgbClr val="5A6070"/>
                </a:solidFill>
                <a:latin typeface="Arial"/>
                <a:ea typeface="Arial"/>
                <a:cs typeface="Arial"/>
                <a:sym typeface="Arial"/>
              </a:rPr>
              <a:t>n, m = lengths of both. Strings are immutable, so a copy is made</a:t>
            </a:r>
            <a:endParaRPr b="0" i="0" sz="1300" u="none" cap="none" strike="noStrike">
              <a:solidFill>
                <a:schemeClr val="dk1"/>
              </a:solidFill>
              <a:latin typeface="Courier New"/>
              <a:ea typeface="Courier New"/>
              <a:cs typeface="Courier New"/>
              <a:sym typeface="Courier New"/>
            </a:endParaRPr>
          </a:p>
        </p:txBody>
      </p:sp>
      <p:sp>
        <p:nvSpPr>
          <p:cNvPr id="196" name="Google Shape;196;h423b657ec3993948_0_33"/>
          <p:cNvSpPr/>
          <p:nvPr/>
        </p:nvSpPr>
        <p:spPr>
          <a:xfrm>
            <a:off x="4425950" y="3682851"/>
            <a:ext cx="3390900" cy="2370900"/>
          </a:xfrm>
          <a:prstGeom prst="roundRect">
            <a:avLst>
              <a:gd fmla="val 3482" name="adj"/>
            </a:avLst>
          </a:prstGeom>
          <a:solidFill>
            <a:srgbClr val="FFFFFF"/>
          </a:solidFill>
          <a:ln cap="flat" cmpd="sng" w="16925">
            <a:solidFill>
              <a:srgbClr val="D8DB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h423b657ec3993948_0_33"/>
          <p:cNvSpPr/>
          <p:nvPr/>
        </p:nvSpPr>
        <p:spPr>
          <a:xfrm>
            <a:off x="4635500" y="3879701"/>
            <a:ext cx="10167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2233"/>
              </a:buClr>
              <a:buSzPts val="2000"/>
              <a:buFont typeface="Arial"/>
              <a:buNone/>
            </a:pPr>
            <a:r>
              <a:rPr b="1" i="0" lang="en-US" sz="2000" u="none" cap="none" strike="noStrike">
                <a:solidFill>
                  <a:srgbClr val="1F2233"/>
                </a:solidFill>
                <a:latin typeface="Arial"/>
                <a:ea typeface="Arial"/>
                <a:cs typeface="Arial"/>
                <a:sym typeface="Arial"/>
              </a:rPr>
              <a:t>Search</a:t>
            </a:r>
            <a:endParaRPr b="0" i="0" sz="2000" u="none" cap="none" strike="noStrike">
              <a:solidFill>
                <a:schemeClr val="dk1"/>
              </a:solidFill>
              <a:latin typeface="Courier New"/>
              <a:ea typeface="Courier New"/>
              <a:cs typeface="Courier New"/>
              <a:sym typeface="Courier New"/>
            </a:endParaRPr>
          </a:p>
        </p:txBody>
      </p:sp>
      <p:sp>
        <p:nvSpPr>
          <p:cNvPr id="198" name="Google Shape;198;h423b657ec3993948_0_33"/>
          <p:cNvSpPr/>
          <p:nvPr/>
        </p:nvSpPr>
        <p:spPr>
          <a:xfrm>
            <a:off x="6583005" y="3907631"/>
            <a:ext cx="1024500" cy="2745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3F9B8A"/>
              </a:buClr>
              <a:buSzPts val="1500"/>
              <a:buFont typeface="Courier New"/>
              <a:buNone/>
            </a:pPr>
            <a:r>
              <a:rPr b="1" i="0" lang="en-US" sz="1500" u="none" cap="none" strike="noStrike">
                <a:solidFill>
                  <a:srgbClr val="3F9B8A"/>
                </a:solidFill>
                <a:latin typeface="Courier New"/>
                <a:ea typeface="Courier New"/>
                <a:cs typeface="Courier New"/>
                <a:sym typeface="Courier New"/>
              </a:rPr>
              <a:t>O(n + m)</a:t>
            </a:r>
            <a:endParaRPr b="0" i="0" sz="1500" u="none" cap="none" strike="noStrike">
              <a:solidFill>
                <a:schemeClr val="dk1"/>
              </a:solidFill>
              <a:latin typeface="Courier New"/>
              <a:ea typeface="Courier New"/>
              <a:cs typeface="Courier New"/>
              <a:sym typeface="Courier New"/>
            </a:endParaRPr>
          </a:p>
        </p:txBody>
      </p:sp>
      <p:sp>
        <p:nvSpPr>
          <p:cNvPr id="199" name="Google Shape;199;h423b657ec3993948_0_33"/>
          <p:cNvSpPr/>
          <p:nvPr/>
        </p:nvSpPr>
        <p:spPr>
          <a:xfrm>
            <a:off x="4635500" y="4273401"/>
            <a:ext cx="3060900" cy="274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F9B8A"/>
              </a:buClr>
              <a:buSzPts val="1500"/>
              <a:buFont typeface="Courier New"/>
              <a:buNone/>
            </a:pPr>
            <a:r>
              <a:rPr b="1" i="0" lang="en-US" sz="1500" u="none" cap="none" strike="noStrike">
                <a:solidFill>
                  <a:srgbClr val="3F9B8A"/>
                </a:solidFill>
                <a:latin typeface="Courier New"/>
                <a:ea typeface="Courier New"/>
                <a:cs typeface="Courier New"/>
                <a:sym typeface="Courier New"/>
              </a:rPr>
              <a:t>t in s, s.find(t)</a:t>
            </a:r>
            <a:endParaRPr b="0" i="0" sz="1500" u="none" cap="none" strike="noStrike">
              <a:solidFill>
                <a:schemeClr val="dk1"/>
              </a:solidFill>
              <a:latin typeface="Courier New"/>
              <a:ea typeface="Courier New"/>
              <a:cs typeface="Courier New"/>
              <a:sym typeface="Courier New"/>
            </a:endParaRPr>
          </a:p>
        </p:txBody>
      </p:sp>
      <p:sp>
        <p:nvSpPr>
          <p:cNvPr id="200" name="Google Shape;200;h423b657ec3993948_0_33"/>
          <p:cNvSpPr/>
          <p:nvPr/>
        </p:nvSpPr>
        <p:spPr>
          <a:xfrm>
            <a:off x="4635500" y="4611191"/>
            <a:ext cx="2972100" cy="711300"/>
          </a:xfrm>
          <a:prstGeom prst="roundRect">
            <a:avLst>
              <a:gd fmla="val 8929" name="adj"/>
            </a:avLst>
          </a:prstGeom>
          <a:solidFill>
            <a:srgbClr val="1B1E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h423b657ec3993948_0_33"/>
          <p:cNvSpPr/>
          <p:nvPr/>
        </p:nvSpPr>
        <p:spPr>
          <a:xfrm>
            <a:off x="4787900" y="4738191"/>
            <a:ext cx="2747100" cy="254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6E8F0"/>
              </a:buClr>
              <a:buSzPts val="1200"/>
              <a:buFont typeface="Courier New"/>
              <a:buNone/>
            </a:pPr>
            <a:r>
              <a:rPr b="0" i="0" lang="en-US" sz="1200" u="none" cap="none" strike="noStrike">
                <a:solidFill>
                  <a:srgbClr val="E6E8F0"/>
                </a:solidFill>
                <a:latin typeface="Courier New"/>
                <a:ea typeface="Courier New"/>
                <a:cs typeface="Courier New"/>
                <a:sym typeface="Courier New"/>
              </a:rPr>
              <a:t>"yth" in "python" </a:t>
            </a:r>
            <a:r>
              <a:rPr b="0" i="0" lang="en-US" sz="1200" u="none" cap="none" strike="noStrike">
                <a:solidFill>
                  <a:srgbClr val="8A8FA3"/>
                </a:solidFill>
                <a:latin typeface="Courier New"/>
                <a:ea typeface="Courier New"/>
                <a:cs typeface="Courier New"/>
                <a:sym typeface="Courier New"/>
              </a:rPr>
              <a:t># True</a:t>
            </a:r>
            <a:endParaRPr b="0" i="0" sz="1200" u="none" cap="none" strike="noStrike">
              <a:solidFill>
                <a:schemeClr val="dk1"/>
              </a:solidFill>
              <a:latin typeface="Courier New"/>
              <a:ea typeface="Courier New"/>
              <a:cs typeface="Courier New"/>
              <a:sym typeface="Courier New"/>
            </a:endParaRPr>
          </a:p>
        </p:txBody>
      </p:sp>
      <p:sp>
        <p:nvSpPr>
          <p:cNvPr id="202" name="Google Shape;202;h423b657ec3993948_0_33"/>
          <p:cNvSpPr/>
          <p:nvPr/>
        </p:nvSpPr>
        <p:spPr>
          <a:xfrm>
            <a:off x="4787900" y="4966791"/>
            <a:ext cx="2747100" cy="254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6E8F0"/>
              </a:buClr>
              <a:buSzPts val="1200"/>
              <a:buFont typeface="Courier New"/>
              <a:buNone/>
            </a:pPr>
            <a:r>
              <a:rPr b="0" i="0" lang="en-US" sz="1200" u="none" cap="none" strike="noStrike">
                <a:solidFill>
                  <a:srgbClr val="E6E8F0"/>
                </a:solidFill>
                <a:latin typeface="Courier New"/>
                <a:ea typeface="Courier New"/>
                <a:cs typeface="Courier New"/>
                <a:sym typeface="Courier New"/>
              </a:rPr>
              <a:t>"python".find("h") </a:t>
            </a:r>
            <a:r>
              <a:rPr b="0" i="0" lang="en-US" sz="1200" u="none" cap="none" strike="noStrike">
                <a:solidFill>
                  <a:srgbClr val="8A8FA3"/>
                </a:solidFill>
                <a:latin typeface="Courier New"/>
                <a:ea typeface="Courier New"/>
                <a:cs typeface="Courier New"/>
                <a:sym typeface="Courier New"/>
              </a:rPr>
              <a:t># 3</a:t>
            </a:r>
            <a:endParaRPr b="0" i="0" sz="1200" u="none" cap="none" strike="noStrike">
              <a:solidFill>
                <a:schemeClr val="dk1"/>
              </a:solidFill>
              <a:latin typeface="Courier New"/>
              <a:ea typeface="Courier New"/>
              <a:cs typeface="Courier New"/>
              <a:sym typeface="Courier New"/>
            </a:endParaRPr>
          </a:p>
        </p:txBody>
      </p:sp>
      <p:sp>
        <p:nvSpPr>
          <p:cNvPr id="203" name="Google Shape;203;h423b657ec3993948_0_33"/>
          <p:cNvSpPr/>
          <p:nvPr/>
        </p:nvSpPr>
        <p:spPr>
          <a:xfrm>
            <a:off x="4635500" y="5411291"/>
            <a:ext cx="3060900" cy="4713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A6070"/>
              </a:buClr>
              <a:buSzPts val="1300"/>
              <a:buFont typeface="Arial"/>
              <a:buNone/>
            </a:pPr>
            <a:r>
              <a:rPr b="0" i="0" lang="en-US" sz="1300" u="none" cap="none" strike="noStrike">
                <a:solidFill>
                  <a:srgbClr val="5A6070"/>
                </a:solidFill>
                <a:latin typeface="Arial"/>
                <a:ea typeface="Arial"/>
                <a:cs typeface="Arial"/>
                <a:sym typeface="Arial"/>
              </a:rPr>
              <a:t>n = len(s), m = len(t). find returns the first index, or -1</a:t>
            </a:r>
            <a:endParaRPr b="0" i="0" sz="13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6"/>
          <p:cNvSpPr txBox="1"/>
          <p:nvPr/>
        </p:nvSpPr>
        <p:spPr>
          <a:xfrm>
            <a:off x="548640" y="685800"/>
            <a:ext cx="5486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F63"/>
              </a:buClr>
              <a:buSzPts val="3000"/>
              <a:buFont typeface="Arial"/>
              <a:buNone/>
            </a:pPr>
            <a:r>
              <a:rPr b="1" lang="en-US" sz="3000">
                <a:solidFill>
                  <a:srgbClr val="3A3F63"/>
                </a:solidFill>
                <a:latin typeface="Arial"/>
                <a:ea typeface="Arial"/>
                <a:cs typeface="Arial"/>
                <a:sym typeface="Arial"/>
              </a:rPr>
              <a:t>Defining a string</a:t>
            </a:r>
            <a:endParaRPr sz="3000">
              <a:solidFill>
                <a:schemeClr val="dk1"/>
              </a:solidFill>
              <a:latin typeface="Calibri"/>
              <a:ea typeface="Calibri"/>
              <a:cs typeface="Calibri"/>
              <a:sym typeface="Calibri"/>
            </a:endParaRPr>
          </a:p>
        </p:txBody>
      </p:sp>
      <p:sp>
        <p:nvSpPr>
          <p:cNvPr id="210" name="Google Shape;210;p6"/>
          <p:cNvSpPr txBox="1"/>
          <p:nvPr/>
        </p:nvSpPr>
        <p:spPr>
          <a:xfrm>
            <a:off x="548641" y="1497330"/>
            <a:ext cx="44805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400"/>
              <a:buFont typeface="Calibri"/>
              <a:buNone/>
            </a:pPr>
            <a:r>
              <a:rPr lang="en-US" sz="1400">
                <a:solidFill>
                  <a:srgbClr val="5A6072"/>
                </a:solidFill>
                <a:latin typeface="Calibri"/>
                <a:ea typeface="Calibri"/>
                <a:cs typeface="Calibri"/>
                <a:sym typeface="Calibri"/>
              </a:rPr>
              <a:t>Formatted string literals (f-strings) allow you to interpolate values into your strings and format them as needed.</a:t>
            </a:r>
            <a:endParaRPr sz="1400">
              <a:solidFill>
                <a:schemeClr val="dk1"/>
              </a:solidFill>
              <a:latin typeface="Calibri"/>
              <a:ea typeface="Calibri"/>
              <a:cs typeface="Calibri"/>
              <a:sym typeface="Calibri"/>
            </a:endParaRPr>
          </a:p>
        </p:txBody>
      </p:sp>
      <p:sp>
        <p:nvSpPr>
          <p:cNvPr id="211" name="Google Shape;211;p6"/>
          <p:cNvSpPr txBox="1"/>
          <p:nvPr/>
        </p:nvSpPr>
        <p:spPr>
          <a:xfrm>
            <a:off x="548641" y="1414780"/>
            <a:ext cx="5120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F63"/>
              </a:buClr>
              <a:buSzPts val="1450"/>
              <a:buFont typeface="Arial"/>
              <a:buNone/>
            </a:pPr>
            <a:r>
              <a:rPr b="1" lang="en-US" sz="1450">
                <a:solidFill>
                  <a:srgbClr val="3A3F63"/>
                </a:solidFill>
                <a:latin typeface="Arial"/>
                <a:ea typeface="Arial"/>
                <a:cs typeface="Arial"/>
                <a:sym typeface="Arial"/>
              </a:rPr>
              <a:t>Formatted String Literals:</a:t>
            </a:r>
            <a:endParaRPr sz="1450">
              <a:solidFill>
                <a:schemeClr val="dk1"/>
              </a:solidFill>
              <a:latin typeface="Calibri"/>
              <a:ea typeface="Calibri"/>
              <a:cs typeface="Calibri"/>
              <a:sym typeface="Calibri"/>
            </a:endParaRPr>
          </a:p>
        </p:txBody>
      </p:sp>
      <p:sp>
        <p:nvSpPr>
          <p:cNvPr id="212" name="Google Shape;212;p6"/>
          <p:cNvSpPr/>
          <p:nvPr/>
        </p:nvSpPr>
        <p:spPr>
          <a:xfrm>
            <a:off x="548641" y="2240280"/>
            <a:ext cx="4480560" cy="1188720"/>
          </a:xfrm>
          <a:prstGeom prst="roundRect">
            <a:avLst>
              <a:gd fmla="val 6154" name="adj"/>
            </a:avLst>
          </a:prstGeom>
          <a:solidFill>
            <a:srgbClr val="1F2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6"/>
          <p:cNvSpPr txBox="1"/>
          <p:nvPr/>
        </p:nvSpPr>
        <p:spPr>
          <a:xfrm>
            <a:off x="731521" y="2240280"/>
            <a:ext cx="4114800" cy="11887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8EAF6"/>
              </a:buClr>
              <a:buSzPts val="1250"/>
              <a:buFont typeface="Courier New"/>
              <a:buNone/>
            </a:pPr>
            <a:r>
              <a:rPr lang="en-US" sz="1250">
                <a:solidFill>
                  <a:srgbClr val="E8EAF6"/>
                </a:solidFill>
                <a:latin typeface="Courier New"/>
                <a:ea typeface="Courier New"/>
                <a:cs typeface="Courier New"/>
                <a:sym typeface="Courier New"/>
              </a:rPr>
              <a:t>&gt;&gt;&gt; name = ”Isabelle”</a:t>
            </a:r>
            <a:endParaRPr/>
          </a:p>
          <a:p>
            <a:pPr indent="0" lvl="0" marL="0" marR="0" rtl="0" algn="l">
              <a:lnSpc>
                <a:spcPct val="115000"/>
              </a:lnSpc>
              <a:spcBef>
                <a:spcPts val="0"/>
              </a:spcBef>
              <a:spcAft>
                <a:spcPts val="0"/>
              </a:spcAft>
              <a:buClr>
                <a:schemeClr val="dk1"/>
              </a:buClr>
              <a:buSzPts val="1250"/>
              <a:buFont typeface="Calibri"/>
              <a:buNone/>
            </a:pPr>
            <a:r>
              <a:t/>
            </a:r>
            <a:endParaRPr sz="1250">
              <a:solidFill>
                <a:srgbClr val="E8EAF6"/>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E8EAF6"/>
              </a:buClr>
              <a:buSzPts val="1250"/>
              <a:buFont typeface="Courier New"/>
              <a:buNone/>
            </a:pPr>
            <a:r>
              <a:rPr lang="en-US" sz="1250">
                <a:solidFill>
                  <a:srgbClr val="E8EAF6"/>
                </a:solidFill>
                <a:latin typeface="Courier New"/>
                <a:ea typeface="Courier New"/>
                <a:cs typeface="Courier New"/>
                <a:sym typeface="Courier New"/>
              </a:rPr>
              <a:t>&gt;&gt;&gt; f”Hello, {name}!”</a:t>
            </a:r>
            <a:endParaRPr/>
          </a:p>
          <a:p>
            <a:pPr indent="0" lvl="0" marL="0" marR="0" rtl="0" algn="l">
              <a:lnSpc>
                <a:spcPct val="115000"/>
              </a:lnSpc>
              <a:spcBef>
                <a:spcPts val="0"/>
              </a:spcBef>
              <a:spcAft>
                <a:spcPts val="0"/>
              </a:spcAft>
              <a:buClr>
                <a:srgbClr val="E8EAF6"/>
              </a:buClr>
              <a:buSzPts val="1250"/>
              <a:buFont typeface="Courier New"/>
              <a:buNone/>
            </a:pPr>
            <a:r>
              <a:rPr lang="en-US" sz="1250">
                <a:solidFill>
                  <a:srgbClr val="E8EAF6"/>
                </a:solidFill>
                <a:latin typeface="Courier New"/>
                <a:ea typeface="Courier New"/>
                <a:cs typeface="Courier New"/>
                <a:sym typeface="Courier New"/>
              </a:rPr>
              <a:t># ‘Hello, Isabelle!’</a:t>
            </a:r>
            <a:endParaRPr sz="1250">
              <a:solidFill>
                <a:schemeClr val="dk1"/>
              </a:solidFill>
              <a:latin typeface="Calibri"/>
              <a:ea typeface="Calibri"/>
              <a:cs typeface="Calibri"/>
              <a:sym typeface="Calibri"/>
            </a:endParaRPr>
          </a:p>
        </p:txBody>
      </p:sp>
      <p:sp>
        <p:nvSpPr>
          <p:cNvPr id="214" name="Google Shape;214;p6"/>
          <p:cNvSpPr txBox="1"/>
          <p:nvPr/>
        </p:nvSpPr>
        <p:spPr>
          <a:xfrm>
            <a:off x="548640" y="3713480"/>
            <a:ext cx="44805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400"/>
              <a:buFont typeface="Calibri"/>
              <a:buNone/>
            </a:pPr>
            <a:r>
              <a:rPr lang="en-US" sz="1400">
                <a:solidFill>
                  <a:srgbClr val="5A6072"/>
                </a:solidFill>
                <a:latin typeface="Calibri"/>
                <a:ea typeface="Calibri"/>
                <a:cs typeface="Calibri"/>
                <a:sym typeface="Calibri"/>
              </a:rPr>
              <a:t>You can convert other data types into strings:</a:t>
            </a:r>
            <a:endParaRPr sz="1400">
              <a:solidFill>
                <a:schemeClr val="dk1"/>
              </a:solidFill>
              <a:latin typeface="Calibri"/>
              <a:ea typeface="Calibri"/>
              <a:cs typeface="Calibri"/>
              <a:sym typeface="Calibri"/>
            </a:endParaRPr>
          </a:p>
        </p:txBody>
      </p:sp>
      <p:sp>
        <p:nvSpPr>
          <p:cNvPr id="215" name="Google Shape;215;p6"/>
          <p:cNvSpPr txBox="1"/>
          <p:nvPr/>
        </p:nvSpPr>
        <p:spPr>
          <a:xfrm>
            <a:off x="548640" y="3713480"/>
            <a:ext cx="5120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F63"/>
              </a:buClr>
              <a:buSzPts val="1450"/>
              <a:buFont typeface="Arial"/>
              <a:buNone/>
            </a:pPr>
            <a:r>
              <a:rPr b="1" lang="en-US" sz="1450">
                <a:solidFill>
                  <a:srgbClr val="3A3F63"/>
                </a:solidFill>
                <a:latin typeface="Arial"/>
                <a:ea typeface="Arial"/>
                <a:cs typeface="Arial"/>
                <a:sym typeface="Arial"/>
              </a:rPr>
              <a:t>Built-in str() Function:</a:t>
            </a:r>
            <a:endParaRPr sz="1450">
              <a:solidFill>
                <a:schemeClr val="dk1"/>
              </a:solidFill>
              <a:latin typeface="Calibri"/>
              <a:ea typeface="Calibri"/>
              <a:cs typeface="Calibri"/>
              <a:sym typeface="Calibri"/>
            </a:endParaRPr>
          </a:p>
        </p:txBody>
      </p:sp>
      <p:sp>
        <p:nvSpPr>
          <p:cNvPr id="216" name="Google Shape;216;p6"/>
          <p:cNvSpPr/>
          <p:nvPr/>
        </p:nvSpPr>
        <p:spPr>
          <a:xfrm>
            <a:off x="548640" y="4347210"/>
            <a:ext cx="4480560" cy="2053590"/>
          </a:xfrm>
          <a:prstGeom prst="roundRect">
            <a:avLst>
              <a:gd fmla="val 6154" name="adj"/>
            </a:avLst>
          </a:prstGeom>
          <a:solidFill>
            <a:srgbClr val="1F2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6"/>
          <p:cNvSpPr txBox="1"/>
          <p:nvPr/>
        </p:nvSpPr>
        <p:spPr>
          <a:xfrm>
            <a:off x="731520" y="4206557"/>
            <a:ext cx="4114800" cy="2326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chemeClr val="lt1"/>
              </a:buClr>
              <a:buSzPts val="1250"/>
              <a:buFont typeface="Courier New"/>
              <a:buNone/>
            </a:pPr>
            <a:r>
              <a:rPr i="0" lang="en-US" sz="1250">
                <a:solidFill>
                  <a:schemeClr val="lt1"/>
                </a:solidFill>
                <a:latin typeface="Courier New"/>
                <a:ea typeface="Courier New"/>
                <a:cs typeface="Courier New"/>
                <a:sym typeface="Courier New"/>
              </a:rPr>
              <a:t>&gt;&gt;&gt; </a:t>
            </a:r>
            <a:r>
              <a:rPr lang="en-US" sz="1250">
                <a:solidFill>
                  <a:schemeClr val="lt1"/>
                </a:solidFill>
                <a:latin typeface="Courier New"/>
                <a:ea typeface="Courier New"/>
                <a:cs typeface="Courier New"/>
                <a:sym typeface="Courier New"/>
              </a:rPr>
              <a:t>str() # ’’ </a:t>
            </a:r>
            <a:endParaRPr/>
          </a:p>
          <a:p>
            <a:pPr indent="0" lvl="0" marL="0" marR="0" rtl="0" algn="l">
              <a:lnSpc>
                <a:spcPct val="115000"/>
              </a:lnSpc>
              <a:spcBef>
                <a:spcPts val="0"/>
              </a:spcBef>
              <a:spcAft>
                <a:spcPts val="0"/>
              </a:spcAft>
              <a:buClr>
                <a:schemeClr val="lt1"/>
              </a:buClr>
              <a:buSzPts val="1250"/>
              <a:buFont typeface="Courier New"/>
              <a:buNone/>
            </a:pPr>
            <a:r>
              <a:rPr i="0" lang="en-US" sz="1250">
                <a:solidFill>
                  <a:schemeClr val="lt1"/>
                </a:solidFill>
                <a:latin typeface="Courier New"/>
                <a:ea typeface="Courier New"/>
                <a:cs typeface="Courier New"/>
                <a:sym typeface="Courier New"/>
              </a:rPr>
              <a:t>&gt;&gt;&gt; </a:t>
            </a:r>
            <a:r>
              <a:rPr lang="en-US" sz="1250">
                <a:solidFill>
                  <a:schemeClr val="lt1"/>
                </a:solidFill>
                <a:latin typeface="Courier New"/>
                <a:ea typeface="Courier New"/>
                <a:cs typeface="Courier New"/>
                <a:sym typeface="Courier New"/>
              </a:rPr>
              <a:t>str(42) # '42’ </a:t>
            </a:r>
            <a:endParaRPr/>
          </a:p>
          <a:p>
            <a:pPr indent="0" lvl="0" marL="0" marR="0" rtl="0" algn="l">
              <a:lnSpc>
                <a:spcPct val="115000"/>
              </a:lnSpc>
              <a:spcBef>
                <a:spcPts val="0"/>
              </a:spcBef>
              <a:spcAft>
                <a:spcPts val="0"/>
              </a:spcAft>
              <a:buClr>
                <a:schemeClr val="lt1"/>
              </a:buClr>
              <a:buSzPts val="1250"/>
              <a:buFont typeface="Courier New"/>
              <a:buNone/>
            </a:pPr>
            <a:r>
              <a:rPr i="0" lang="en-US" sz="1250">
                <a:solidFill>
                  <a:schemeClr val="lt1"/>
                </a:solidFill>
                <a:latin typeface="Courier New"/>
                <a:ea typeface="Courier New"/>
                <a:cs typeface="Courier New"/>
                <a:sym typeface="Courier New"/>
              </a:rPr>
              <a:t>&gt;&gt;&gt; </a:t>
            </a:r>
            <a:r>
              <a:rPr lang="en-US" sz="1250">
                <a:solidFill>
                  <a:schemeClr val="lt1"/>
                </a:solidFill>
                <a:latin typeface="Courier New"/>
                <a:ea typeface="Courier New"/>
                <a:cs typeface="Courier New"/>
                <a:sym typeface="Courier New"/>
              </a:rPr>
              <a:t>str(3.14) # '3.14’ </a:t>
            </a:r>
            <a:endParaRPr/>
          </a:p>
          <a:p>
            <a:pPr indent="0" lvl="0" marL="0" marR="0" rtl="0" algn="l">
              <a:lnSpc>
                <a:spcPct val="115000"/>
              </a:lnSpc>
              <a:spcBef>
                <a:spcPts val="0"/>
              </a:spcBef>
              <a:spcAft>
                <a:spcPts val="0"/>
              </a:spcAft>
              <a:buClr>
                <a:schemeClr val="lt1"/>
              </a:buClr>
              <a:buSzPts val="1250"/>
              <a:buFont typeface="Courier New"/>
              <a:buNone/>
            </a:pPr>
            <a:r>
              <a:rPr i="0" lang="en-US" sz="1250">
                <a:solidFill>
                  <a:schemeClr val="lt1"/>
                </a:solidFill>
                <a:latin typeface="Courier New"/>
                <a:ea typeface="Courier New"/>
                <a:cs typeface="Courier New"/>
                <a:sym typeface="Courier New"/>
              </a:rPr>
              <a:t>&gt;&gt;&gt; </a:t>
            </a:r>
            <a:r>
              <a:rPr lang="en-US" sz="1250">
                <a:solidFill>
                  <a:schemeClr val="lt1"/>
                </a:solidFill>
                <a:latin typeface="Courier New"/>
                <a:ea typeface="Courier New"/>
                <a:cs typeface="Courier New"/>
                <a:sym typeface="Courier New"/>
              </a:rPr>
              <a:t>str([1, 2, 3]) # '[1, 2, 3]’ </a:t>
            </a:r>
            <a:endParaRPr/>
          </a:p>
          <a:p>
            <a:pPr indent="0" lvl="0" marL="0" marR="0" rtl="0" algn="l">
              <a:lnSpc>
                <a:spcPct val="115000"/>
              </a:lnSpc>
              <a:spcBef>
                <a:spcPts val="0"/>
              </a:spcBef>
              <a:spcAft>
                <a:spcPts val="0"/>
              </a:spcAft>
              <a:buClr>
                <a:schemeClr val="lt1"/>
              </a:buClr>
              <a:buSzPts val="1250"/>
              <a:buFont typeface="Courier New"/>
              <a:buNone/>
            </a:pPr>
            <a:r>
              <a:rPr i="0" lang="en-US" sz="1250">
                <a:solidFill>
                  <a:schemeClr val="lt1"/>
                </a:solidFill>
                <a:latin typeface="Courier New"/>
                <a:ea typeface="Courier New"/>
                <a:cs typeface="Courier New"/>
                <a:sym typeface="Courier New"/>
              </a:rPr>
              <a:t>&gt;&gt;&gt; </a:t>
            </a:r>
            <a:r>
              <a:rPr lang="en-US" sz="1250">
                <a:solidFill>
                  <a:schemeClr val="lt1"/>
                </a:solidFill>
                <a:latin typeface="Courier New"/>
                <a:ea typeface="Courier New"/>
                <a:cs typeface="Courier New"/>
                <a:sym typeface="Courier New"/>
              </a:rPr>
              <a:t>str({"one": 1, "two": 2, "three": 3}) </a:t>
            </a:r>
            <a:endParaRPr/>
          </a:p>
          <a:p>
            <a:pPr indent="0" lvl="0" marL="0" marR="0" rtl="0" algn="l">
              <a:lnSpc>
                <a:spcPct val="115000"/>
              </a:lnSpc>
              <a:spcBef>
                <a:spcPts val="0"/>
              </a:spcBef>
              <a:spcAft>
                <a:spcPts val="0"/>
              </a:spcAft>
              <a:buClr>
                <a:schemeClr val="lt1"/>
              </a:buClr>
              <a:buSzPts val="1250"/>
              <a:buFont typeface="Courier New"/>
              <a:buNone/>
            </a:pPr>
            <a:r>
              <a:rPr lang="en-US" sz="1250">
                <a:solidFill>
                  <a:schemeClr val="lt1"/>
                </a:solidFill>
                <a:latin typeface="Courier New"/>
                <a:ea typeface="Courier New"/>
                <a:cs typeface="Courier New"/>
                <a:sym typeface="Courier New"/>
              </a:rPr>
              <a:t># "{'one': 1, 'two': 2, 'three': 3}" </a:t>
            </a:r>
            <a:r>
              <a:rPr i="0" lang="en-US" sz="1250">
                <a:solidFill>
                  <a:schemeClr val="lt1"/>
                </a:solidFill>
                <a:latin typeface="Courier New"/>
                <a:ea typeface="Courier New"/>
                <a:cs typeface="Courier New"/>
                <a:sym typeface="Courier New"/>
              </a:rPr>
              <a:t>&gt;&gt;&gt; </a:t>
            </a:r>
            <a:r>
              <a:rPr lang="en-US" sz="1250">
                <a:solidFill>
                  <a:schemeClr val="lt1"/>
                </a:solidFill>
                <a:latin typeface="Courier New"/>
                <a:ea typeface="Courier New"/>
                <a:cs typeface="Courier New"/>
                <a:sym typeface="Courier New"/>
              </a:rPr>
              <a:t>str({"A", "B", "C"}) </a:t>
            </a:r>
            <a:endParaRPr/>
          </a:p>
          <a:p>
            <a:pPr indent="0" lvl="0" marL="0" marR="0" rtl="0" algn="l">
              <a:lnSpc>
                <a:spcPct val="115000"/>
              </a:lnSpc>
              <a:spcBef>
                <a:spcPts val="0"/>
              </a:spcBef>
              <a:spcAft>
                <a:spcPts val="0"/>
              </a:spcAft>
              <a:buClr>
                <a:schemeClr val="lt1"/>
              </a:buClr>
              <a:buSzPts val="1250"/>
              <a:buFont typeface="Courier New"/>
              <a:buNone/>
            </a:pPr>
            <a:r>
              <a:rPr lang="en-US" sz="1250">
                <a:solidFill>
                  <a:schemeClr val="lt1"/>
                </a:solidFill>
                <a:latin typeface="Courier New"/>
                <a:ea typeface="Courier New"/>
                <a:cs typeface="Courier New"/>
                <a:sym typeface="Courier New"/>
              </a:rPr>
              <a:t># "{'B', 'C', 'A'}"</a:t>
            </a:r>
            <a:endParaRPr sz="1250">
              <a:solidFill>
                <a:schemeClr val="lt1"/>
              </a:solidFill>
              <a:latin typeface="Courier New"/>
              <a:ea typeface="Courier New"/>
              <a:cs typeface="Courier New"/>
              <a:sym typeface="Courier New"/>
            </a:endParaRPr>
          </a:p>
        </p:txBody>
      </p:sp>
      <p:sp>
        <p:nvSpPr>
          <p:cNvPr id="218" name="Google Shape;218;p6"/>
          <p:cNvSpPr txBox="1"/>
          <p:nvPr/>
        </p:nvSpPr>
        <p:spPr>
          <a:xfrm>
            <a:off x="6796735" y="1411605"/>
            <a:ext cx="5120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F63"/>
              </a:buClr>
              <a:buSzPts val="1450"/>
              <a:buFont typeface="Arial"/>
              <a:buNone/>
            </a:pPr>
            <a:r>
              <a:rPr b="1" lang="en-US" sz="1450">
                <a:solidFill>
                  <a:srgbClr val="3A3F63"/>
                </a:solidFill>
                <a:latin typeface="Arial"/>
                <a:ea typeface="Arial"/>
                <a:cs typeface="Arial"/>
                <a:sym typeface="Arial"/>
              </a:rPr>
              <a:t>Tab: \t</a:t>
            </a:r>
            <a:endParaRPr sz="1450">
              <a:solidFill>
                <a:schemeClr val="dk1"/>
              </a:solidFill>
              <a:latin typeface="Calibri"/>
              <a:ea typeface="Calibri"/>
              <a:cs typeface="Calibri"/>
              <a:sym typeface="Calibri"/>
            </a:endParaRPr>
          </a:p>
        </p:txBody>
      </p:sp>
      <p:sp>
        <p:nvSpPr>
          <p:cNvPr id="219" name="Google Shape;219;p6"/>
          <p:cNvSpPr/>
          <p:nvPr/>
        </p:nvSpPr>
        <p:spPr>
          <a:xfrm>
            <a:off x="6796735" y="2240280"/>
            <a:ext cx="4480560" cy="841123"/>
          </a:xfrm>
          <a:prstGeom prst="roundRect">
            <a:avLst>
              <a:gd fmla="val 6154" name="adj"/>
            </a:avLst>
          </a:prstGeom>
          <a:solidFill>
            <a:srgbClr val="1F2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6"/>
          <p:cNvSpPr txBox="1"/>
          <p:nvPr/>
        </p:nvSpPr>
        <p:spPr>
          <a:xfrm>
            <a:off x="6979615" y="2066481"/>
            <a:ext cx="4114800" cy="11887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8EAF6"/>
              </a:buClr>
              <a:buSzPts val="1250"/>
              <a:buFont typeface="Courier New"/>
              <a:buNone/>
            </a:pPr>
            <a:r>
              <a:rPr lang="en-US" sz="1250">
                <a:solidFill>
                  <a:srgbClr val="E8EAF6"/>
                </a:solidFill>
                <a:latin typeface="Courier New"/>
                <a:ea typeface="Courier New"/>
                <a:cs typeface="Courier New"/>
                <a:sym typeface="Courier New"/>
              </a:rPr>
              <a:t>&gt;&gt;&gt; print(“Before\tAfter”)</a:t>
            </a:r>
            <a:endParaRPr/>
          </a:p>
          <a:p>
            <a:pPr indent="0" lvl="0" marL="0" marR="0" rtl="0" algn="l">
              <a:lnSpc>
                <a:spcPct val="115000"/>
              </a:lnSpc>
              <a:spcBef>
                <a:spcPts val="0"/>
              </a:spcBef>
              <a:spcAft>
                <a:spcPts val="0"/>
              </a:spcAft>
              <a:buClr>
                <a:srgbClr val="E8EAF6"/>
              </a:buClr>
              <a:buSzPts val="1250"/>
              <a:buFont typeface="Courier New"/>
              <a:buNone/>
            </a:pPr>
            <a:r>
              <a:rPr lang="en-US" sz="1250">
                <a:solidFill>
                  <a:srgbClr val="E8EAF6"/>
                </a:solidFill>
                <a:latin typeface="Courier New"/>
                <a:ea typeface="Courier New"/>
                <a:cs typeface="Courier New"/>
                <a:sym typeface="Courier New"/>
              </a:rPr>
              <a:t># Before 	After</a:t>
            </a:r>
            <a:endParaRPr sz="1250">
              <a:solidFill>
                <a:schemeClr val="dk1"/>
              </a:solidFill>
              <a:latin typeface="Calibri"/>
              <a:ea typeface="Calibri"/>
              <a:cs typeface="Calibri"/>
              <a:sym typeface="Calibri"/>
            </a:endParaRPr>
          </a:p>
        </p:txBody>
      </p:sp>
      <p:sp>
        <p:nvSpPr>
          <p:cNvPr id="221" name="Google Shape;221;p6"/>
          <p:cNvSpPr txBox="1"/>
          <p:nvPr/>
        </p:nvSpPr>
        <p:spPr>
          <a:xfrm>
            <a:off x="6796735" y="1497330"/>
            <a:ext cx="44805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400"/>
              <a:buFont typeface="Calibri"/>
              <a:buNone/>
            </a:pPr>
            <a:r>
              <a:rPr lang="en-US" sz="1400">
                <a:solidFill>
                  <a:srgbClr val="5A6072"/>
                </a:solidFill>
                <a:latin typeface="Calibri"/>
                <a:ea typeface="Calibri"/>
                <a:cs typeface="Calibri"/>
                <a:sym typeface="Calibri"/>
              </a:rPr>
              <a:t>Formatted string literals (f-strings) allow you to interpolate values into your strings and format them as needed.</a:t>
            </a:r>
            <a:endParaRPr sz="14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7"/>
          <p:cNvSpPr txBox="1"/>
          <p:nvPr/>
        </p:nvSpPr>
        <p:spPr>
          <a:xfrm>
            <a:off x="548640" y="68580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F63"/>
              </a:buClr>
              <a:buSzPts val="3000"/>
              <a:buFont typeface="Arial"/>
              <a:buNone/>
            </a:pPr>
            <a:r>
              <a:rPr b="1" lang="en-US" sz="3000">
                <a:solidFill>
                  <a:srgbClr val="3A3F63"/>
                </a:solidFill>
                <a:latin typeface="Arial"/>
                <a:ea typeface="Arial"/>
                <a:cs typeface="Arial"/>
                <a:sym typeface="Arial"/>
              </a:rPr>
              <a:t>String operations</a:t>
            </a:r>
            <a:endParaRPr sz="3000">
              <a:solidFill>
                <a:schemeClr val="dk1"/>
              </a:solidFill>
              <a:latin typeface="Calibri"/>
              <a:ea typeface="Calibri"/>
              <a:cs typeface="Calibri"/>
              <a:sym typeface="Calibri"/>
            </a:endParaRPr>
          </a:p>
        </p:txBody>
      </p:sp>
      <p:sp>
        <p:nvSpPr>
          <p:cNvPr id="228" name="Google Shape;228;p7"/>
          <p:cNvSpPr/>
          <p:nvPr/>
        </p:nvSpPr>
        <p:spPr>
          <a:xfrm>
            <a:off x="548640" y="2209800"/>
            <a:ext cx="4480560" cy="1188720"/>
          </a:xfrm>
          <a:prstGeom prst="roundRect">
            <a:avLst>
              <a:gd fmla="val 6154" name="adj"/>
            </a:avLst>
          </a:prstGeom>
          <a:solidFill>
            <a:srgbClr val="1F2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7"/>
          <p:cNvSpPr txBox="1"/>
          <p:nvPr/>
        </p:nvSpPr>
        <p:spPr>
          <a:xfrm>
            <a:off x="731520" y="2209800"/>
            <a:ext cx="4114800" cy="11887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8EAF6"/>
              </a:buClr>
              <a:buSzPts val="1250"/>
              <a:buFont typeface="Courier New"/>
              <a:buNone/>
            </a:pPr>
            <a:r>
              <a:rPr lang="en-US" sz="1250">
                <a:solidFill>
                  <a:srgbClr val="E8EAF6"/>
                </a:solidFill>
                <a:latin typeface="Courier New"/>
                <a:ea typeface="Courier New"/>
                <a:cs typeface="Courier New"/>
                <a:sym typeface="Courier New"/>
              </a:rPr>
              <a:t>s = "cat"</a:t>
            </a:r>
            <a:endParaRPr sz="125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8EAF6"/>
              </a:buClr>
              <a:buSzPts val="1250"/>
              <a:buFont typeface="Courier New"/>
              <a:buNone/>
            </a:pPr>
            <a:r>
              <a:rPr lang="en-US" sz="1250">
                <a:solidFill>
                  <a:srgbClr val="E8EAF6"/>
                </a:solidFill>
                <a:latin typeface="Courier New"/>
                <a:ea typeface="Courier New"/>
                <a:cs typeface="Courier New"/>
                <a:sym typeface="Courier New"/>
              </a:rPr>
              <a:t>s = s + "s"</a:t>
            </a:r>
            <a:endParaRPr sz="125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8EAF6"/>
              </a:buClr>
              <a:buSzPts val="1250"/>
              <a:buFont typeface="Courier New"/>
              <a:buNone/>
            </a:pPr>
            <a:r>
              <a:rPr lang="en-US" sz="1250">
                <a:solidFill>
                  <a:srgbClr val="E8EAF6"/>
                </a:solidFill>
                <a:latin typeface="Courier New"/>
                <a:ea typeface="Courier New"/>
                <a:cs typeface="Courier New"/>
                <a:sym typeface="Courier New"/>
              </a:rPr>
              <a:t># "cat" is discarded,</a:t>
            </a:r>
            <a:endParaRPr sz="125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8EAF6"/>
              </a:buClr>
              <a:buSzPts val="1250"/>
              <a:buFont typeface="Courier New"/>
              <a:buNone/>
            </a:pPr>
            <a:r>
              <a:rPr lang="en-US" sz="1250">
                <a:solidFill>
                  <a:srgbClr val="E8EAF6"/>
                </a:solidFill>
                <a:latin typeface="Courier New"/>
                <a:ea typeface="Courier New"/>
                <a:cs typeface="Courier New"/>
                <a:sym typeface="Courier New"/>
              </a:rPr>
              <a:t># "cats" is a new object</a:t>
            </a:r>
            <a:endParaRPr sz="1250">
              <a:solidFill>
                <a:schemeClr val="dk1"/>
              </a:solidFill>
              <a:latin typeface="Calibri"/>
              <a:ea typeface="Calibri"/>
              <a:cs typeface="Calibri"/>
              <a:sym typeface="Calibri"/>
            </a:endParaRPr>
          </a:p>
        </p:txBody>
      </p:sp>
      <p:sp>
        <p:nvSpPr>
          <p:cNvPr id="230" name="Google Shape;230;p7"/>
          <p:cNvSpPr txBox="1"/>
          <p:nvPr/>
        </p:nvSpPr>
        <p:spPr>
          <a:xfrm>
            <a:off x="548640" y="1546860"/>
            <a:ext cx="4480560" cy="6629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400"/>
              <a:buFont typeface="Calibri"/>
              <a:buNone/>
            </a:pPr>
            <a:r>
              <a:rPr lang="en-US" sz="1400">
                <a:solidFill>
                  <a:srgbClr val="5A6072"/>
                </a:solidFill>
                <a:latin typeface="Calibri"/>
                <a:ea typeface="Calibri"/>
                <a:cs typeface="Calibri"/>
                <a:sym typeface="Calibri"/>
              </a:rPr>
              <a:t>Using the “+” operand  allows you to add characters or strings to another string.</a:t>
            </a:r>
            <a:endParaRPr sz="1400">
              <a:solidFill>
                <a:schemeClr val="dk1"/>
              </a:solidFill>
              <a:latin typeface="Calibri"/>
              <a:ea typeface="Calibri"/>
              <a:cs typeface="Calibri"/>
              <a:sym typeface="Calibri"/>
            </a:endParaRPr>
          </a:p>
        </p:txBody>
      </p:sp>
      <p:sp>
        <p:nvSpPr>
          <p:cNvPr id="231" name="Google Shape;231;p7"/>
          <p:cNvSpPr txBox="1"/>
          <p:nvPr/>
        </p:nvSpPr>
        <p:spPr>
          <a:xfrm>
            <a:off x="6522722" y="438945"/>
            <a:ext cx="44805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400"/>
              <a:buFont typeface="Calibri"/>
              <a:buNone/>
            </a:pPr>
            <a:r>
              <a:rPr lang="en-US" sz="1400">
                <a:solidFill>
                  <a:srgbClr val="5A6072"/>
                </a:solidFill>
                <a:latin typeface="Calibri"/>
                <a:ea typeface="Calibri"/>
                <a:cs typeface="Calibri"/>
                <a:sym typeface="Calibri"/>
              </a:rPr>
              <a:t>Allows you to repeat a given string a certain </a:t>
            </a:r>
            <a:r>
              <a:rPr i="1" lang="en-US" sz="1400">
                <a:solidFill>
                  <a:srgbClr val="5A6072"/>
                </a:solidFill>
                <a:latin typeface="Calibri"/>
                <a:ea typeface="Calibri"/>
                <a:cs typeface="Calibri"/>
                <a:sym typeface="Calibri"/>
              </a:rPr>
              <a:t>n</a:t>
            </a:r>
            <a:r>
              <a:rPr lang="en-US" sz="1400">
                <a:solidFill>
                  <a:srgbClr val="5A6072"/>
                </a:solidFill>
                <a:latin typeface="Calibri"/>
                <a:ea typeface="Calibri"/>
                <a:cs typeface="Calibri"/>
                <a:sym typeface="Calibri"/>
              </a:rPr>
              <a:t> number of times.</a:t>
            </a:r>
            <a:endParaRPr sz="1400">
              <a:solidFill>
                <a:schemeClr val="dk1"/>
              </a:solidFill>
              <a:latin typeface="Calibri"/>
              <a:ea typeface="Calibri"/>
              <a:cs typeface="Calibri"/>
              <a:sym typeface="Calibri"/>
            </a:endParaRPr>
          </a:p>
        </p:txBody>
      </p:sp>
      <p:sp>
        <p:nvSpPr>
          <p:cNvPr id="232" name="Google Shape;232;p7"/>
          <p:cNvSpPr txBox="1"/>
          <p:nvPr/>
        </p:nvSpPr>
        <p:spPr>
          <a:xfrm>
            <a:off x="548640" y="1384300"/>
            <a:ext cx="5120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F63"/>
              </a:buClr>
              <a:buSzPts val="1450"/>
              <a:buFont typeface="Arial"/>
              <a:buNone/>
            </a:pPr>
            <a:r>
              <a:rPr b="1" lang="en-US" sz="1450">
                <a:solidFill>
                  <a:srgbClr val="3A3F63"/>
                </a:solidFill>
                <a:latin typeface="Arial"/>
                <a:ea typeface="Arial"/>
                <a:cs typeface="Arial"/>
                <a:sym typeface="Arial"/>
              </a:rPr>
              <a:t>Addition: +</a:t>
            </a:r>
            <a:endParaRPr sz="1450">
              <a:solidFill>
                <a:schemeClr val="dk1"/>
              </a:solidFill>
              <a:latin typeface="Calibri"/>
              <a:ea typeface="Calibri"/>
              <a:cs typeface="Calibri"/>
              <a:sym typeface="Calibri"/>
            </a:endParaRPr>
          </a:p>
        </p:txBody>
      </p:sp>
      <p:sp>
        <p:nvSpPr>
          <p:cNvPr id="233" name="Google Shape;233;p7"/>
          <p:cNvSpPr txBox="1"/>
          <p:nvPr/>
        </p:nvSpPr>
        <p:spPr>
          <a:xfrm>
            <a:off x="6522722" y="356395"/>
            <a:ext cx="5120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F63"/>
              </a:buClr>
              <a:buSzPts val="1450"/>
              <a:buFont typeface="Arial"/>
              <a:buNone/>
            </a:pPr>
            <a:r>
              <a:rPr b="1" lang="en-US" sz="1450">
                <a:solidFill>
                  <a:srgbClr val="3A3F63"/>
                </a:solidFill>
                <a:latin typeface="Arial"/>
                <a:ea typeface="Arial"/>
                <a:cs typeface="Arial"/>
                <a:sym typeface="Arial"/>
              </a:rPr>
              <a:t>Repetition: *</a:t>
            </a:r>
            <a:endParaRPr sz="1450">
              <a:solidFill>
                <a:schemeClr val="dk1"/>
              </a:solidFill>
              <a:latin typeface="Calibri"/>
              <a:ea typeface="Calibri"/>
              <a:cs typeface="Calibri"/>
              <a:sym typeface="Calibri"/>
            </a:endParaRPr>
          </a:p>
        </p:txBody>
      </p:sp>
      <p:sp>
        <p:nvSpPr>
          <p:cNvPr id="234" name="Google Shape;234;p7"/>
          <p:cNvSpPr/>
          <p:nvPr/>
        </p:nvSpPr>
        <p:spPr>
          <a:xfrm>
            <a:off x="6522722" y="2721929"/>
            <a:ext cx="4480560" cy="1188720"/>
          </a:xfrm>
          <a:prstGeom prst="roundRect">
            <a:avLst>
              <a:gd fmla="val 6154" name="adj"/>
            </a:avLst>
          </a:prstGeom>
          <a:solidFill>
            <a:srgbClr val="1F2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7"/>
          <p:cNvSpPr txBox="1"/>
          <p:nvPr/>
        </p:nvSpPr>
        <p:spPr>
          <a:xfrm>
            <a:off x="6705602" y="2721929"/>
            <a:ext cx="4114800" cy="11887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chemeClr val="lt1"/>
              </a:buClr>
              <a:buSzPts val="1250"/>
              <a:buFont typeface="Courier New"/>
              <a:buNone/>
            </a:pPr>
            <a:r>
              <a:rPr i="0" lang="en-US" sz="1250">
                <a:solidFill>
                  <a:schemeClr val="lt1"/>
                </a:solidFill>
                <a:latin typeface="Courier New"/>
                <a:ea typeface="Courier New"/>
                <a:cs typeface="Courier New"/>
                <a:sym typeface="Courier New"/>
              </a:rPr>
              <a:t>&gt;&gt;&gt; </a:t>
            </a:r>
            <a:r>
              <a:rPr lang="en-US" sz="1250">
                <a:solidFill>
                  <a:schemeClr val="lt1"/>
                </a:solidFill>
                <a:latin typeface="Courier New"/>
                <a:ea typeface="Courier New"/>
                <a:cs typeface="Courier New"/>
                <a:sym typeface="Courier New"/>
              </a:rPr>
              <a:t>”a" * 10 </a:t>
            </a:r>
            <a:endParaRPr/>
          </a:p>
          <a:p>
            <a:pPr indent="0" lvl="0" marL="0" marR="0" rtl="0" algn="l">
              <a:lnSpc>
                <a:spcPct val="115000"/>
              </a:lnSpc>
              <a:spcBef>
                <a:spcPts val="0"/>
              </a:spcBef>
              <a:spcAft>
                <a:spcPts val="0"/>
              </a:spcAft>
              <a:buClr>
                <a:schemeClr val="lt1"/>
              </a:buClr>
              <a:buSzPts val="1250"/>
              <a:buFont typeface="Courier New"/>
              <a:buNone/>
            </a:pPr>
            <a:r>
              <a:rPr lang="en-US" sz="1250">
                <a:solidFill>
                  <a:schemeClr val="lt1"/>
                </a:solidFill>
                <a:latin typeface="Courier New"/>
                <a:ea typeface="Courier New"/>
                <a:cs typeface="Courier New"/>
                <a:sym typeface="Courier New"/>
              </a:rPr>
              <a:t># aaaaaaaaaa </a:t>
            </a:r>
            <a:endParaRPr/>
          </a:p>
          <a:p>
            <a:pPr indent="0" lvl="0" marL="0" marR="0" rtl="0" algn="l">
              <a:lnSpc>
                <a:spcPct val="115000"/>
              </a:lnSpc>
              <a:spcBef>
                <a:spcPts val="0"/>
              </a:spcBef>
              <a:spcAft>
                <a:spcPts val="0"/>
              </a:spcAft>
              <a:buClr>
                <a:schemeClr val="lt1"/>
              </a:buClr>
              <a:buSzPts val="1250"/>
              <a:buFont typeface="Courier New"/>
              <a:buNone/>
            </a:pPr>
            <a:r>
              <a:rPr i="0" lang="en-US" sz="1250">
                <a:solidFill>
                  <a:schemeClr val="lt1"/>
                </a:solidFill>
                <a:latin typeface="Courier New"/>
                <a:ea typeface="Courier New"/>
                <a:cs typeface="Courier New"/>
                <a:sym typeface="Courier New"/>
              </a:rPr>
              <a:t>&gt;&gt;&gt; </a:t>
            </a:r>
            <a:r>
              <a:rPr lang="en-US" sz="1250">
                <a:solidFill>
                  <a:schemeClr val="lt1"/>
                </a:solidFill>
                <a:latin typeface="Courier New"/>
                <a:ea typeface="Courier New"/>
                <a:cs typeface="Courier New"/>
                <a:sym typeface="Courier New"/>
              </a:rPr>
              <a:t>10 * "Hi!" </a:t>
            </a:r>
            <a:endParaRPr/>
          </a:p>
          <a:p>
            <a:pPr indent="0" lvl="0" marL="0" marR="0" rtl="0" algn="l">
              <a:lnSpc>
                <a:spcPct val="115000"/>
              </a:lnSpc>
              <a:spcBef>
                <a:spcPts val="0"/>
              </a:spcBef>
              <a:spcAft>
                <a:spcPts val="0"/>
              </a:spcAft>
              <a:buClr>
                <a:schemeClr val="lt1"/>
              </a:buClr>
              <a:buSzPts val="1250"/>
              <a:buFont typeface="Courier New"/>
              <a:buNone/>
            </a:pPr>
            <a:r>
              <a:rPr lang="en-US" sz="1250">
                <a:solidFill>
                  <a:schemeClr val="lt1"/>
                </a:solidFill>
                <a:latin typeface="Courier New"/>
                <a:ea typeface="Courier New"/>
                <a:cs typeface="Courier New"/>
                <a:sym typeface="Courier New"/>
              </a:rPr>
              <a:t># 'Hi!Hi!Hi!Hi!Hi!Hi!Hi!Hi!Hi!Hi!'</a:t>
            </a:r>
            <a:endParaRPr sz="1250">
              <a:solidFill>
                <a:schemeClr val="lt1"/>
              </a:solidFill>
              <a:latin typeface="Courier New"/>
              <a:ea typeface="Courier New"/>
              <a:cs typeface="Courier New"/>
              <a:sym typeface="Courier New"/>
            </a:endParaRPr>
          </a:p>
        </p:txBody>
      </p:sp>
      <p:sp>
        <p:nvSpPr>
          <p:cNvPr id="236" name="Google Shape;236;p7"/>
          <p:cNvSpPr/>
          <p:nvPr/>
        </p:nvSpPr>
        <p:spPr>
          <a:xfrm>
            <a:off x="6522722" y="1162846"/>
            <a:ext cx="4480560" cy="803275"/>
          </a:xfrm>
          <a:prstGeom prst="roundRect">
            <a:avLst>
              <a:gd fmla="val 6154" name="adj"/>
            </a:avLst>
          </a:prstGeom>
          <a:solidFill>
            <a:srgbClr val="1F2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7"/>
          <p:cNvSpPr txBox="1"/>
          <p:nvPr/>
        </p:nvSpPr>
        <p:spPr>
          <a:xfrm>
            <a:off x="6705602" y="970123"/>
            <a:ext cx="4114800" cy="11887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chemeClr val="lt1"/>
              </a:buClr>
              <a:buSzPts val="1250"/>
              <a:buFont typeface="Courier New"/>
              <a:buNone/>
            </a:pPr>
            <a:r>
              <a:rPr lang="en-US" sz="1250">
                <a:solidFill>
                  <a:schemeClr val="lt1"/>
                </a:solidFill>
                <a:latin typeface="Courier New"/>
                <a:ea typeface="Courier New"/>
                <a:cs typeface="Courier New"/>
                <a:sym typeface="Courier New"/>
              </a:rPr>
              <a:t>new_string = string * n</a:t>
            </a:r>
            <a:endParaRPr/>
          </a:p>
          <a:p>
            <a:pPr indent="0" lvl="0" marL="0" marR="0" rtl="0" algn="l">
              <a:lnSpc>
                <a:spcPct val="115000"/>
              </a:lnSpc>
              <a:spcBef>
                <a:spcPts val="0"/>
              </a:spcBef>
              <a:spcAft>
                <a:spcPts val="0"/>
              </a:spcAft>
              <a:buClr>
                <a:schemeClr val="lt1"/>
              </a:buClr>
              <a:buSzPts val="1250"/>
              <a:buFont typeface="Courier New"/>
              <a:buNone/>
            </a:pPr>
            <a:r>
              <a:rPr lang="en-US" sz="1250">
                <a:solidFill>
                  <a:schemeClr val="lt1"/>
                </a:solidFill>
                <a:latin typeface="Courier New"/>
                <a:ea typeface="Courier New"/>
                <a:cs typeface="Courier New"/>
                <a:sym typeface="Courier New"/>
              </a:rPr>
              <a:t>new_string = n * string</a:t>
            </a:r>
            <a:endParaRPr/>
          </a:p>
        </p:txBody>
      </p:sp>
      <p:sp>
        <p:nvSpPr>
          <p:cNvPr id="238" name="Google Shape;238;p7"/>
          <p:cNvSpPr txBox="1"/>
          <p:nvPr/>
        </p:nvSpPr>
        <p:spPr>
          <a:xfrm>
            <a:off x="6522722" y="1898969"/>
            <a:ext cx="44805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400"/>
              <a:buFont typeface="Calibri"/>
              <a:buNone/>
            </a:pPr>
            <a:r>
              <a:rPr lang="en-US" sz="1400">
                <a:solidFill>
                  <a:srgbClr val="5A6072"/>
                </a:solidFill>
                <a:latin typeface="Calibri"/>
                <a:ea typeface="Calibri"/>
                <a:cs typeface="Calibri"/>
                <a:sym typeface="Calibri"/>
              </a:rPr>
              <a:t>Node that </a:t>
            </a:r>
            <a:r>
              <a:rPr i="1" lang="en-US" sz="1400">
                <a:solidFill>
                  <a:srgbClr val="5A6072"/>
                </a:solidFill>
                <a:latin typeface="Calibri"/>
                <a:ea typeface="Calibri"/>
                <a:cs typeface="Calibri"/>
                <a:sym typeface="Calibri"/>
              </a:rPr>
              <a:t>n</a:t>
            </a:r>
            <a:r>
              <a:rPr lang="en-US" sz="1400">
                <a:solidFill>
                  <a:srgbClr val="5A6072"/>
                </a:solidFill>
                <a:latin typeface="Calibri"/>
                <a:ea typeface="Calibri"/>
                <a:cs typeface="Calibri"/>
                <a:sym typeface="Calibri"/>
              </a:rPr>
              <a:t> is usually a positive integer as 0 or a negative integer will result in returning an empty string. </a:t>
            </a:r>
            <a:endParaRPr sz="1400">
              <a:solidFill>
                <a:schemeClr val="dk1"/>
              </a:solidFill>
              <a:latin typeface="Calibri"/>
              <a:ea typeface="Calibri"/>
              <a:cs typeface="Calibri"/>
              <a:sym typeface="Calibri"/>
            </a:endParaRPr>
          </a:p>
        </p:txBody>
      </p:sp>
      <p:sp>
        <p:nvSpPr>
          <p:cNvPr id="239" name="Google Shape;239;p7"/>
          <p:cNvSpPr txBox="1"/>
          <p:nvPr/>
        </p:nvSpPr>
        <p:spPr>
          <a:xfrm>
            <a:off x="548640" y="3590609"/>
            <a:ext cx="5120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F63"/>
              </a:buClr>
              <a:buSzPts val="1450"/>
              <a:buFont typeface="Arial"/>
              <a:buNone/>
            </a:pPr>
            <a:r>
              <a:rPr b="1" lang="en-US" sz="1450">
                <a:solidFill>
                  <a:srgbClr val="3A3F63"/>
                </a:solidFill>
                <a:latin typeface="Arial"/>
                <a:ea typeface="Arial"/>
                <a:cs typeface="Arial"/>
                <a:sym typeface="Arial"/>
              </a:rPr>
              <a:t>Membership Test:</a:t>
            </a:r>
            <a:endParaRPr/>
          </a:p>
        </p:txBody>
      </p:sp>
      <p:sp>
        <p:nvSpPr>
          <p:cNvPr id="240" name="Google Shape;240;p7"/>
          <p:cNvSpPr/>
          <p:nvPr/>
        </p:nvSpPr>
        <p:spPr>
          <a:xfrm>
            <a:off x="548640" y="4530409"/>
            <a:ext cx="4480560" cy="1508760"/>
          </a:xfrm>
          <a:prstGeom prst="roundRect">
            <a:avLst>
              <a:gd fmla="val 6154" name="adj"/>
            </a:avLst>
          </a:prstGeom>
          <a:solidFill>
            <a:srgbClr val="1F2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7"/>
          <p:cNvSpPr txBox="1"/>
          <p:nvPr/>
        </p:nvSpPr>
        <p:spPr>
          <a:xfrm>
            <a:off x="731520" y="4690429"/>
            <a:ext cx="4114800" cy="11887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8EAF6"/>
              </a:buClr>
              <a:buSzPts val="1250"/>
              <a:buFont typeface="Courier New"/>
              <a:buNone/>
            </a:pPr>
            <a:r>
              <a:rPr lang="en-US" sz="1250">
                <a:solidFill>
                  <a:srgbClr val="E8EAF6"/>
                </a:solidFill>
                <a:latin typeface="Courier New"/>
                <a:ea typeface="Courier New"/>
                <a:cs typeface="Courier New"/>
                <a:sym typeface="Courier New"/>
              </a:rPr>
              <a:t>&gt;&gt;&gt; “fun” in “Coding is fun”</a:t>
            </a:r>
            <a:endParaRPr/>
          </a:p>
          <a:p>
            <a:pPr indent="0" lvl="0" marL="0" marR="0" rtl="0" algn="l">
              <a:lnSpc>
                <a:spcPct val="115000"/>
              </a:lnSpc>
              <a:spcBef>
                <a:spcPts val="0"/>
              </a:spcBef>
              <a:spcAft>
                <a:spcPts val="0"/>
              </a:spcAft>
              <a:buClr>
                <a:srgbClr val="E8EAF6"/>
              </a:buClr>
              <a:buSzPts val="1250"/>
              <a:buFont typeface="Courier New"/>
              <a:buNone/>
            </a:pPr>
            <a:r>
              <a:rPr lang="en-US" sz="1250">
                <a:solidFill>
                  <a:srgbClr val="E8EAF6"/>
                </a:solidFill>
                <a:latin typeface="Courier New"/>
                <a:ea typeface="Courier New"/>
                <a:cs typeface="Courier New"/>
                <a:sym typeface="Courier New"/>
              </a:rPr>
              <a:t># True</a:t>
            </a:r>
            <a:endParaRPr/>
          </a:p>
          <a:p>
            <a:pPr indent="0" lvl="0" marL="0" marR="0" rtl="0" algn="l">
              <a:lnSpc>
                <a:spcPct val="115000"/>
              </a:lnSpc>
              <a:spcBef>
                <a:spcPts val="0"/>
              </a:spcBef>
              <a:spcAft>
                <a:spcPts val="0"/>
              </a:spcAft>
              <a:buClr>
                <a:schemeClr val="dk1"/>
              </a:buClr>
              <a:buSzPts val="1250"/>
              <a:buFont typeface="Calibri"/>
              <a:buNone/>
            </a:pPr>
            <a:r>
              <a:t/>
            </a:r>
            <a:endParaRPr sz="1250">
              <a:solidFill>
                <a:srgbClr val="E8EAF6"/>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E8EAF6"/>
              </a:buClr>
              <a:buSzPts val="1250"/>
              <a:buFont typeface="Courier New"/>
              <a:buNone/>
            </a:pPr>
            <a:r>
              <a:rPr lang="en-US" sz="1250">
                <a:solidFill>
                  <a:srgbClr val="E8EAF6"/>
                </a:solidFill>
                <a:latin typeface="Courier New"/>
                <a:ea typeface="Courier New"/>
                <a:cs typeface="Courier New"/>
                <a:sym typeface="Courier New"/>
              </a:rPr>
              <a:t>&gt;&gt;&gt; “fun” in “Exams are boring”</a:t>
            </a:r>
            <a:endParaRPr/>
          </a:p>
          <a:p>
            <a:pPr indent="0" lvl="0" marL="0" marR="0" rtl="0" algn="l">
              <a:lnSpc>
                <a:spcPct val="115000"/>
              </a:lnSpc>
              <a:spcBef>
                <a:spcPts val="0"/>
              </a:spcBef>
              <a:spcAft>
                <a:spcPts val="0"/>
              </a:spcAft>
              <a:buClr>
                <a:srgbClr val="E8EAF6"/>
              </a:buClr>
              <a:buSzPts val="1250"/>
              <a:buFont typeface="Courier New"/>
              <a:buNone/>
            </a:pPr>
            <a:r>
              <a:rPr lang="en-US" sz="1250">
                <a:solidFill>
                  <a:srgbClr val="E8EAF6"/>
                </a:solidFill>
                <a:latin typeface="Courier New"/>
                <a:ea typeface="Courier New"/>
                <a:cs typeface="Courier New"/>
                <a:sym typeface="Courier New"/>
              </a:rPr>
              <a:t># False</a:t>
            </a:r>
            <a:endParaRPr sz="1250">
              <a:solidFill>
                <a:schemeClr val="dk1"/>
              </a:solidFill>
              <a:latin typeface="Calibri"/>
              <a:ea typeface="Calibri"/>
              <a:cs typeface="Calibri"/>
              <a:sym typeface="Calibri"/>
            </a:endParaRPr>
          </a:p>
        </p:txBody>
      </p:sp>
      <p:sp>
        <p:nvSpPr>
          <p:cNvPr id="242" name="Google Shape;242;p7"/>
          <p:cNvSpPr txBox="1"/>
          <p:nvPr/>
        </p:nvSpPr>
        <p:spPr>
          <a:xfrm>
            <a:off x="548640" y="3787459"/>
            <a:ext cx="4480560" cy="6629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400"/>
              <a:buFont typeface="Calibri"/>
              <a:buNone/>
            </a:pPr>
            <a:r>
              <a:rPr i="1" lang="en-US" sz="1400">
                <a:solidFill>
                  <a:srgbClr val="5A6072"/>
                </a:solidFill>
                <a:latin typeface="Calibri"/>
                <a:ea typeface="Calibri"/>
                <a:cs typeface="Calibri"/>
                <a:sym typeface="Calibri"/>
              </a:rPr>
              <a:t>in </a:t>
            </a:r>
            <a:r>
              <a:rPr lang="en-US" sz="1400">
                <a:solidFill>
                  <a:srgbClr val="5A6072"/>
                </a:solidFill>
                <a:latin typeface="Calibri"/>
                <a:ea typeface="Calibri"/>
                <a:cs typeface="Calibri"/>
                <a:sym typeface="Calibri"/>
              </a:rPr>
              <a:t>and </a:t>
            </a:r>
            <a:r>
              <a:rPr i="1" lang="en-US" sz="1400">
                <a:solidFill>
                  <a:srgbClr val="5A6072"/>
                </a:solidFill>
                <a:latin typeface="Calibri"/>
                <a:ea typeface="Calibri"/>
                <a:cs typeface="Calibri"/>
                <a:sym typeface="Calibri"/>
              </a:rPr>
              <a:t>not in</a:t>
            </a:r>
            <a:r>
              <a:rPr lang="en-US" sz="1400">
                <a:solidFill>
                  <a:srgbClr val="5A6072"/>
                </a:solidFill>
                <a:latin typeface="Calibri"/>
                <a:ea typeface="Calibri"/>
                <a:cs typeface="Calibri"/>
                <a:sym typeface="Calibri"/>
              </a:rPr>
              <a:t> can be used on strings the check the membership of a string in another string.</a:t>
            </a:r>
            <a:endParaRPr i="1" sz="1400">
              <a:solidFill>
                <a:schemeClr val="dk1"/>
              </a:solidFill>
              <a:latin typeface="Calibri"/>
              <a:ea typeface="Calibri"/>
              <a:cs typeface="Calibri"/>
              <a:sym typeface="Calibri"/>
            </a:endParaRPr>
          </a:p>
        </p:txBody>
      </p:sp>
      <p:sp>
        <p:nvSpPr>
          <p:cNvPr id="243" name="Google Shape;243;p7"/>
          <p:cNvSpPr txBox="1"/>
          <p:nvPr/>
        </p:nvSpPr>
        <p:spPr>
          <a:xfrm>
            <a:off x="6522722" y="4210369"/>
            <a:ext cx="5120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F63"/>
              </a:buClr>
              <a:buSzPts val="1450"/>
              <a:buFont typeface="Arial"/>
              <a:buNone/>
            </a:pPr>
            <a:r>
              <a:rPr b="1" lang="en-US" sz="1450">
                <a:solidFill>
                  <a:srgbClr val="3A3F63"/>
                </a:solidFill>
                <a:latin typeface="Arial"/>
                <a:ea typeface="Arial"/>
                <a:cs typeface="Arial"/>
                <a:sym typeface="Arial"/>
              </a:rPr>
              <a:t>More Built-in Functions:</a:t>
            </a:r>
            <a:endParaRPr sz="1450">
              <a:solidFill>
                <a:schemeClr val="dk1"/>
              </a:solidFill>
              <a:latin typeface="Calibri"/>
              <a:ea typeface="Calibri"/>
              <a:cs typeface="Calibri"/>
              <a:sym typeface="Calibri"/>
            </a:endParaRPr>
          </a:p>
        </p:txBody>
      </p:sp>
      <p:sp>
        <p:nvSpPr>
          <p:cNvPr id="244" name="Google Shape;244;p7"/>
          <p:cNvSpPr txBox="1"/>
          <p:nvPr/>
        </p:nvSpPr>
        <p:spPr>
          <a:xfrm>
            <a:off x="6522722" y="4470574"/>
            <a:ext cx="4480560" cy="170162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072"/>
              </a:buClr>
              <a:buSzPts val="1400"/>
              <a:buFont typeface="Calibri"/>
              <a:buNone/>
            </a:pPr>
            <a:r>
              <a:rPr b="1" lang="en-US" sz="1400">
                <a:solidFill>
                  <a:srgbClr val="5A6072"/>
                </a:solidFill>
                <a:latin typeface="Calibri"/>
                <a:ea typeface="Calibri"/>
                <a:cs typeface="Calibri"/>
                <a:sym typeface="Calibri"/>
              </a:rPr>
              <a:t>len(): </a:t>
            </a:r>
            <a:r>
              <a:rPr lang="en-US" sz="1400">
                <a:solidFill>
                  <a:srgbClr val="5A6072"/>
                </a:solidFill>
                <a:latin typeface="Calibri"/>
                <a:ea typeface="Calibri"/>
                <a:cs typeface="Calibri"/>
                <a:sym typeface="Calibri"/>
              </a:rPr>
              <a:t>returns length of string</a:t>
            </a:r>
            <a:endParaRPr/>
          </a:p>
          <a:p>
            <a:pPr indent="0" lvl="0" marL="0" marR="0" rtl="0" algn="l">
              <a:spcBef>
                <a:spcPts val="0"/>
              </a:spcBef>
              <a:spcAft>
                <a:spcPts val="0"/>
              </a:spcAft>
              <a:buClr>
                <a:srgbClr val="5A6072"/>
              </a:buClr>
              <a:buSzPts val="1400"/>
              <a:buFont typeface="Calibri"/>
              <a:buNone/>
            </a:pPr>
            <a:r>
              <a:rPr b="1" lang="en-US" sz="1400">
                <a:solidFill>
                  <a:srgbClr val="5A6072"/>
                </a:solidFill>
                <a:latin typeface="Calibri"/>
                <a:ea typeface="Calibri"/>
                <a:cs typeface="Calibri"/>
                <a:sym typeface="Calibri"/>
              </a:rPr>
              <a:t>str(): </a:t>
            </a:r>
            <a:r>
              <a:rPr lang="en-US" sz="1400">
                <a:solidFill>
                  <a:srgbClr val="5A6072"/>
                </a:solidFill>
                <a:latin typeface="Calibri"/>
                <a:ea typeface="Calibri"/>
                <a:cs typeface="Calibri"/>
                <a:sym typeface="Calibri"/>
              </a:rPr>
              <a:t>returns user-friendly representation of object</a:t>
            </a:r>
            <a:endParaRPr/>
          </a:p>
          <a:p>
            <a:pPr indent="0" lvl="0" marL="0" marR="0" rtl="0" algn="l">
              <a:spcBef>
                <a:spcPts val="0"/>
              </a:spcBef>
              <a:spcAft>
                <a:spcPts val="0"/>
              </a:spcAft>
              <a:buClr>
                <a:srgbClr val="5A6072"/>
              </a:buClr>
              <a:buSzPts val="1400"/>
              <a:buFont typeface="Calibri"/>
              <a:buNone/>
            </a:pPr>
            <a:r>
              <a:rPr b="1" lang="en-US" sz="1400">
                <a:solidFill>
                  <a:srgbClr val="5A6072"/>
                </a:solidFill>
                <a:latin typeface="Calibri"/>
                <a:ea typeface="Calibri"/>
                <a:cs typeface="Calibri"/>
                <a:sym typeface="Calibri"/>
              </a:rPr>
              <a:t>repr(): </a:t>
            </a:r>
            <a:r>
              <a:rPr lang="en-US" sz="1400">
                <a:solidFill>
                  <a:srgbClr val="5A6072"/>
                </a:solidFill>
                <a:latin typeface="Calibri"/>
                <a:ea typeface="Calibri"/>
                <a:cs typeface="Calibri"/>
                <a:sym typeface="Calibri"/>
              </a:rPr>
              <a:t>returns a develop-friendly string representation of an object</a:t>
            </a:r>
            <a:endParaRPr/>
          </a:p>
          <a:p>
            <a:pPr indent="0" lvl="0" marL="0" marR="0" rtl="0" algn="l">
              <a:spcBef>
                <a:spcPts val="0"/>
              </a:spcBef>
              <a:spcAft>
                <a:spcPts val="0"/>
              </a:spcAft>
              <a:buClr>
                <a:srgbClr val="5A6072"/>
              </a:buClr>
              <a:buSzPts val="1400"/>
              <a:buFont typeface="Calibri"/>
              <a:buNone/>
            </a:pPr>
            <a:r>
              <a:rPr b="1" lang="en-US" sz="1400">
                <a:solidFill>
                  <a:srgbClr val="5A6072"/>
                </a:solidFill>
                <a:latin typeface="Calibri"/>
                <a:ea typeface="Calibri"/>
                <a:cs typeface="Calibri"/>
                <a:sym typeface="Calibri"/>
              </a:rPr>
              <a:t>format(): </a:t>
            </a:r>
            <a:r>
              <a:rPr lang="en-US" sz="1400">
                <a:solidFill>
                  <a:srgbClr val="5A6072"/>
                </a:solidFill>
                <a:latin typeface="Calibri"/>
                <a:ea typeface="Calibri"/>
                <a:cs typeface="Calibri"/>
                <a:sym typeface="Calibri"/>
              </a:rPr>
              <a:t>allows for string formatting</a:t>
            </a:r>
            <a:endParaRPr/>
          </a:p>
          <a:p>
            <a:pPr indent="0" lvl="0" marL="0" marR="0" rtl="0" algn="l">
              <a:spcBef>
                <a:spcPts val="0"/>
              </a:spcBef>
              <a:spcAft>
                <a:spcPts val="0"/>
              </a:spcAft>
              <a:buClr>
                <a:srgbClr val="5A6072"/>
              </a:buClr>
              <a:buSzPts val="1400"/>
              <a:buFont typeface="Calibri"/>
              <a:buNone/>
            </a:pPr>
            <a:r>
              <a:rPr b="1" lang="en-US" sz="1400">
                <a:solidFill>
                  <a:srgbClr val="5A6072"/>
                </a:solidFill>
                <a:latin typeface="Calibri"/>
                <a:ea typeface="Calibri"/>
                <a:cs typeface="Calibri"/>
                <a:sym typeface="Calibri"/>
              </a:rPr>
              <a:t>ord(): </a:t>
            </a:r>
            <a:r>
              <a:rPr lang="en-US" sz="1400">
                <a:solidFill>
                  <a:srgbClr val="5A6072"/>
                </a:solidFill>
                <a:latin typeface="Calibri"/>
                <a:ea typeface="Calibri"/>
                <a:cs typeface="Calibri"/>
                <a:sym typeface="Calibri"/>
              </a:rPr>
              <a:t>convert a character to an integer</a:t>
            </a:r>
            <a:endParaRPr/>
          </a:p>
          <a:p>
            <a:pPr indent="0" lvl="0" marL="0" marR="0" rtl="0" algn="l">
              <a:spcBef>
                <a:spcPts val="0"/>
              </a:spcBef>
              <a:spcAft>
                <a:spcPts val="0"/>
              </a:spcAft>
              <a:buClr>
                <a:srgbClr val="5A6072"/>
              </a:buClr>
              <a:buSzPts val="1400"/>
              <a:buFont typeface="Calibri"/>
              <a:buNone/>
            </a:pPr>
            <a:r>
              <a:rPr b="1" lang="en-US" sz="1400">
                <a:solidFill>
                  <a:srgbClr val="5A6072"/>
                </a:solidFill>
                <a:latin typeface="Calibri"/>
                <a:ea typeface="Calibri"/>
                <a:cs typeface="Calibri"/>
                <a:sym typeface="Calibri"/>
              </a:rPr>
              <a:t>chr(): </a:t>
            </a:r>
            <a:r>
              <a:rPr lang="en-US" sz="1400">
                <a:solidFill>
                  <a:srgbClr val="5A6072"/>
                </a:solidFill>
                <a:latin typeface="Calibri"/>
                <a:ea typeface="Calibri"/>
                <a:cs typeface="Calibri"/>
                <a:sym typeface="Calibri"/>
              </a:rPr>
              <a:t>converts an integer to a character</a:t>
            </a:r>
            <a:endParaRPr sz="14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8"/>
          <p:cNvSpPr txBox="1"/>
          <p:nvPr>
            <p:ph type="title"/>
          </p:nvPr>
        </p:nvSpPr>
        <p:spPr>
          <a:xfrm>
            <a:off x="640080" y="777240"/>
            <a:ext cx="10908792"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200"/>
              <a:buFont typeface="Arial"/>
              <a:buNone/>
            </a:pPr>
            <a:r>
              <a:rPr lang="en-US"/>
              <a:t>Important functions</a:t>
            </a:r>
            <a:endParaRPr/>
          </a:p>
        </p:txBody>
      </p:sp>
      <p:sp>
        <p:nvSpPr>
          <p:cNvPr id="251" name="Google Shape;251;p8"/>
          <p:cNvSpPr/>
          <p:nvPr/>
        </p:nvSpPr>
        <p:spPr>
          <a:xfrm>
            <a:off x="640080" y="1600200"/>
            <a:ext cx="10911535" cy="4572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txBox="1"/>
          <p:nvPr/>
        </p:nvSpPr>
        <p:spPr>
          <a:xfrm>
            <a:off x="868680" y="1600200"/>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lang="en-US" sz="1400">
                <a:solidFill>
                  <a:schemeClr val="lt1"/>
                </a:solidFill>
                <a:latin typeface="Calibri"/>
                <a:ea typeface="Calibri"/>
                <a:cs typeface="Calibri"/>
                <a:sym typeface="Calibri"/>
              </a:rPr>
              <a:t>Method</a:t>
            </a:r>
            <a:endParaRPr sz="1400">
              <a:solidFill>
                <a:schemeClr val="dk1"/>
              </a:solidFill>
              <a:latin typeface="Calibri"/>
              <a:ea typeface="Calibri"/>
              <a:cs typeface="Calibri"/>
              <a:sym typeface="Calibri"/>
            </a:endParaRPr>
          </a:p>
        </p:txBody>
      </p:sp>
      <p:sp>
        <p:nvSpPr>
          <p:cNvPr id="253" name="Google Shape;253;p8"/>
          <p:cNvSpPr txBox="1"/>
          <p:nvPr/>
        </p:nvSpPr>
        <p:spPr>
          <a:xfrm>
            <a:off x="3794760" y="160020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lang="en-US" sz="1400">
                <a:solidFill>
                  <a:schemeClr val="lt1"/>
                </a:solidFill>
                <a:latin typeface="Calibri"/>
                <a:ea typeface="Calibri"/>
                <a:cs typeface="Calibri"/>
                <a:sym typeface="Calibri"/>
              </a:rPr>
              <a:t>What it does</a:t>
            </a:r>
            <a:endParaRPr sz="1400">
              <a:solidFill>
                <a:schemeClr val="dk1"/>
              </a:solidFill>
              <a:latin typeface="Calibri"/>
              <a:ea typeface="Calibri"/>
              <a:cs typeface="Calibri"/>
              <a:sym typeface="Calibri"/>
            </a:endParaRPr>
          </a:p>
        </p:txBody>
      </p:sp>
      <p:sp>
        <p:nvSpPr>
          <p:cNvPr id="254" name="Google Shape;254;p8"/>
          <p:cNvSpPr txBox="1"/>
          <p:nvPr/>
        </p:nvSpPr>
        <p:spPr>
          <a:xfrm>
            <a:off x="7635240" y="1600200"/>
            <a:ext cx="3779215"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lang="en-US" sz="1400">
                <a:solidFill>
                  <a:schemeClr val="lt1"/>
                </a:solidFill>
                <a:latin typeface="Calibri"/>
                <a:ea typeface="Calibri"/>
                <a:cs typeface="Calibri"/>
                <a:sym typeface="Calibri"/>
              </a:rPr>
              <a:t>Example</a:t>
            </a:r>
            <a:endParaRPr sz="1400">
              <a:solidFill>
                <a:schemeClr val="dk1"/>
              </a:solidFill>
              <a:latin typeface="Calibri"/>
              <a:ea typeface="Calibri"/>
              <a:cs typeface="Calibri"/>
              <a:sym typeface="Calibri"/>
            </a:endParaRPr>
          </a:p>
        </p:txBody>
      </p:sp>
      <p:sp>
        <p:nvSpPr>
          <p:cNvPr id="255" name="Google Shape;255;p8"/>
          <p:cNvSpPr/>
          <p:nvPr/>
        </p:nvSpPr>
        <p:spPr>
          <a:xfrm>
            <a:off x="640080" y="2057400"/>
            <a:ext cx="10911535" cy="603504"/>
          </a:xfrm>
          <a:prstGeom prst="rect">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txBox="1"/>
          <p:nvPr/>
        </p:nvSpPr>
        <p:spPr>
          <a:xfrm>
            <a:off x="868680" y="2057400"/>
            <a:ext cx="256032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400"/>
              <a:buFont typeface="Courier New"/>
              <a:buNone/>
            </a:pPr>
            <a:r>
              <a:rPr b="1" lang="en-US" sz="1400">
                <a:solidFill>
                  <a:schemeClr val="accent2"/>
                </a:solidFill>
                <a:latin typeface="Courier New"/>
                <a:ea typeface="Courier New"/>
                <a:cs typeface="Courier New"/>
                <a:sym typeface="Courier New"/>
              </a:rPr>
              <a:t>s.strip()</a:t>
            </a:r>
            <a:endParaRPr sz="1400">
              <a:solidFill>
                <a:schemeClr val="dk1"/>
              </a:solidFill>
              <a:latin typeface="Calibri"/>
              <a:ea typeface="Calibri"/>
              <a:cs typeface="Calibri"/>
              <a:sym typeface="Calibri"/>
            </a:endParaRPr>
          </a:p>
        </p:txBody>
      </p:sp>
      <p:sp>
        <p:nvSpPr>
          <p:cNvPr id="257" name="Google Shape;257;p8"/>
          <p:cNvSpPr txBox="1"/>
          <p:nvPr/>
        </p:nvSpPr>
        <p:spPr>
          <a:xfrm>
            <a:off x="3794760" y="2057400"/>
            <a:ext cx="347472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Trims whitespace from both ends</a:t>
            </a:r>
            <a:endParaRPr sz="1500">
              <a:solidFill>
                <a:schemeClr val="dk1"/>
              </a:solidFill>
              <a:latin typeface="Calibri"/>
              <a:ea typeface="Calibri"/>
              <a:cs typeface="Calibri"/>
              <a:sym typeface="Calibri"/>
            </a:endParaRPr>
          </a:p>
        </p:txBody>
      </p:sp>
      <p:sp>
        <p:nvSpPr>
          <p:cNvPr id="258" name="Google Shape;258;p8"/>
          <p:cNvSpPr txBox="1"/>
          <p:nvPr/>
        </p:nvSpPr>
        <p:spPr>
          <a:xfrm>
            <a:off x="7635240" y="2057400"/>
            <a:ext cx="3779215"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ourier New"/>
              <a:buNone/>
            </a:pPr>
            <a:r>
              <a:rPr lang="en-US" sz="1300">
                <a:solidFill>
                  <a:schemeClr val="dk1"/>
                </a:solidFill>
                <a:latin typeface="Courier New"/>
                <a:ea typeface="Courier New"/>
                <a:cs typeface="Courier New"/>
                <a:sym typeface="Courier New"/>
              </a:rPr>
              <a:t>"  hi ".strip()  →  'hi'</a:t>
            </a:r>
            <a:endParaRPr sz="1300">
              <a:solidFill>
                <a:schemeClr val="dk1"/>
              </a:solidFill>
              <a:latin typeface="Calibri"/>
              <a:ea typeface="Calibri"/>
              <a:cs typeface="Calibri"/>
              <a:sym typeface="Calibri"/>
            </a:endParaRPr>
          </a:p>
        </p:txBody>
      </p:sp>
      <p:sp>
        <p:nvSpPr>
          <p:cNvPr id="259" name="Google Shape;259;p8"/>
          <p:cNvSpPr/>
          <p:nvPr/>
        </p:nvSpPr>
        <p:spPr>
          <a:xfrm>
            <a:off x="640080" y="2660904"/>
            <a:ext cx="10911535" cy="603504"/>
          </a:xfrm>
          <a:prstGeom prst="rect">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txBox="1"/>
          <p:nvPr/>
        </p:nvSpPr>
        <p:spPr>
          <a:xfrm>
            <a:off x="868680" y="2660904"/>
            <a:ext cx="256032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400"/>
              <a:buFont typeface="Courier New"/>
              <a:buNone/>
            </a:pPr>
            <a:r>
              <a:rPr b="1" lang="en-US" sz="1400">
                <a:solidFill>
                  <a:schemeClr val="accent2"/>
                </a:solidFill>
                <a:latin typeface="Courier New"/>
                <a:ea typeface="Courier New"/>
                <a:cs typeface="Courier New"/>
                <a:sym typeface="Courier New"/>
              </a:rPr>
              <a:t>s.lower()</a:t>
            </a:r>
            <a:endParaRPr sz="1400">
              <a:solidFill>
                <a:schemeClr val="dk1"/>
              </a:solidFill>
              <a:latin typeface="Calibri"/>
              <a:ea typeface="Calibri"/>
              <a:cs typeface="Calibri"/>
              <a:sym typeface="Calibri"/>
            </a:endParaRPr>
          </a:p>
        </p:txBody>
      </p:sp>
      <p:sp>
        <p:nvSpPr>
          <p:cNvPr id="261" name="Google Shape;261;p8"/>
          <p:cNvSpPr txBox="1"/>
          <p:nvPr/>
        </p:nvSpPr>
        <p:spPr>
          <a:xfrm>
            <a:off x="3794760" y="2660904"/>
            <a:ext cx="347472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Changes case (upper() does the reverse)</a:t>
            </a:r>
            <a:endParaRPr sz="1500">
              <a:solidFill>
                <a:schemeClr val="dk1"/>
              </a:solidFill>
              <a:latin typeface="Calibri"/>
              <a:ea typeface="Calibri"/>
              <a:cs typeface="Calibri"/>
              <a:sym typeface="Calibri"/>
            </a:endParaRPr>
          </a:p>
        </p:txBody>
      </p:sp>
      <p:sp>
        <p:nvSpPr>
          <p:cNvPr id="262" name="Google Shape;262;p8"/>
          <p:cNvSpPr txBox="1"/>
          <p:nvPr/>
        </p:nvSpPr>
        <p:spPr>
          <a:xfrm>
            <a:off x="7635240" y="2660904"/>
            <a:ext cx="3779215"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ourier New"/>
              <a:buNone/>
            </a:pPr>
            <a:r>
              <a:rPr lang="en-US" sz="1300">
                <a:solidFill>
                  <a:schemeClr val="dk1"/>
                </a:solidFill>
                <a:latin typeface="Courier New"/>
                <a:ea typeface="Courier New"/>
                <a:cs typeface="Courier New"/>
                <a:sym typeface="Courier New"/>
              </a:rPr>
              <a:t>"Hey".lower()  →  'hey'</a:t>
            </a:r>
            <a:endParaRPr sz="1300">
              <a:solidFill>
                <a:schemeClr val="dk1"/>
              </a:solidFill>
              <a:latin typeface="Calibri"/>
              <a:ea typeface="Calibri"/>
              <a:cs typeface="Calibri"/>
              <a:sym typeface="Calibri"/>
            </a:endParaRPr>
          </a:p>
        </p:txBody>
      </p:sp>
      <p:sp>
        <p:nvSpPr>
          <p:cNvPr id="263" name="Google Shape;263;p8"/>
          <p:cNvSpPr/>
          <p:nvPr/>
        </p:nvSpPr>
        <p:spPr>
          <a:xfrm>
            <a:off x="640080" y="3264408"/>
            <a:ext cx="10911535" cy="603504"/>
          </a:xfrm>
          <a:prstGeom prst="rect">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
          <p:cNvSpPr txBox="1"/>
          <p:nvPr/>
        </p:nvSpPr>
        <p:spPr>
          <a:xfrm>
            <a:off x="868680" y="3264408"/>
            <a:ext cx="256032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400"/>
              <a:buFont typeface="Courier New"/>
              <a:buNone/>
            </a:pPr>
            <a:r>
              <a:rPr b="1" lang="en-US" sz="1400">
                <a:solidFill>
                  <a:schemeClr val="accent2"/>
                </a:solidFill>
                <a:latin typeface="Courier New"/>
                <a:ea typeface="Courier New"/>
                <a:cs typeface="Courier New"/>
                <a:sym typeface="Courier New"/>
              </a:rPr>
              <a:t>s.split()</a:t>
            </a:r>
            <a:endParaRPr sz="1400">
              <a:solidFill>
                <a:schemeClr val="dk1"/>
              </a:solidFill>
              <a:latin typeface="Calibri"/>
              <a:ea typeface="Calibri"/>
              <a:cs typeface="Calibri"/>
              <a:sym typeface="Calibri"/>
            </a:endParaRPr>
          </a:p>
        </p:txBody>
      </p:sp>
      <p:sp>
        <p:nvSpPr>
          <p:cNvPr id="265" name="Google Shape;265;p8"/>
          <p:cNvSpPr txBox="1"/>
          <p:nvPr/>
        </p:nvSpPr>
        <p:spPr>
          <a:xfrm>
            <a:off x="3794760" y="3264408"/>
            <a:ext cx="347472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Breaks text into a list of words</a:t>
            </a:r>
            <a:endParaRPr sz="1500">
              <a:solidFill>
                <a:schemeClr val="dk1"/>
              </a:solidFill>
              <a:latin typeface="Calibri"/>
              <a:ea typeface="Calibri"/>
              <a:cs typeface="Calibri"/>
              <a:sym typeface="Calibri"/>
            </a:endParaRPr>
          </a:p>
        </p:txBody>
      </p:sp>
      <p:sp>
        <p:nvSpPr>
          <p:cNvPr id="266" name="Google Shape;266;p8"/>
          <p:cNvSpPr txBox="1"/>
          <p:nvPr/>
        </p:nvSpPr>
        <p:spPr>
          <a:xfrm>
            <a:off x="7635240" y="3264408"/>
            <a:ext cx="3779215"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ourier New"/>
              <a:buNone/>
            </a:pPr>
            <a:r>
              <a:rPr lang="en-US" sz="1300">
                <a:solidFill>
                  <a:schemeClr val="dk1"/>
                </a:solidFill>
                <a:latin typeface="Courier New"/>
                <a:ea typeface="Courier New"/>
                <a:cs typeface="Courier New"/>
                <a:sym typeface="Courier New"/>
              </a:rPr>
              <a:t>"a b c".split()  →  ['a', 'b', 'c']</a:t>
            </a:r>
            <a:endParaRPr sz="1300">
              <a:solidFill>
                <a:schemeClr val="dk1"/>
              </a:solidFill>
              <a:latin typeface="Calibri"/>
              <a:ea typeface="Calibri"/>
              <a:cs typeface="Calibri"/>
              <a:sym typeface="Calibri"/>
            </a:endParaRPr>
          </a:p>
        </p:txBody>
      </p:sp>
      <p:sp>
        <p:nvSpPr>
          <p:cNvPr id="267" name="Google Shape;267;p8"/>
          <p:cNvSpPr/>
          <p:nvPr/>
        </p:nvSpPr>
        <p:spPr>
          <a:xfrm>
            <a:off x="640080" y="3867912"/>
            <a:ext cx="10911535" cy="603504"/>
          </a:xfrm>
          <a:prstGeom prst="rect">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txBox="1"/>
          <p:nvPr/>
        </p:nvSpPr>
        <p:spPr>
          <a:xfrm>
            <a:off x="868680" y="3867912"/>
            <a:ext cx="256032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400"/>
              <a:buFont typeface="Courier New"/>
              <a:buNone/>
            </a:pPr>
            <a:r>
              <a:rPr b="1" lang="en-US" sz="1400">
                <a:solidFill>
                  <a:schemeClr val="accent2"/>
                </a:solidFill>
                <a:latin typeface="Courier New"/>
                <a:ea typeface="Courier New"/>
                <a:cs typeface="Courier New"/>
                <a:sym typeface="Courier New"/>
              </a:rPr>
              <a:t>"-".join(parts)</a:t>
            </a:r>
            <a:endParaRPr sz="1400">
              <a:solidFill>
                <a:schemeClr val="dk1"/>
              </a:solidFill>
              <a:latin typeface="Calibri"/>
              <a:ea typeface="Calibri"/>
              <a:cs typeface="Calibri"/>
              <a:sym typeface="Calibri"/>
            </a:endParaRPr>
          </a:p>
        </p:txBody>
      </p:sp>
      <p:sp>
        <p:nvSpPr>
          <p:cNvPr id="269" name="Google Shape;269;p8"/>
          <p:cNvSpPr txBox="1"/>
          <p:nvPr/>
        </p:nvSpPr>
        <p:spPr>
          <a:xfrm>
            <a:off x="3794760" y="3867912"/>
            <a:ext cx="347472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Glues a list of strings into one</a:t>
            </a:r>
            <a:endParaRPr sz="1500">
              <a:solidFill>
                <a:schemeClr val="dk1"/>
              </a:solidFill>
              <a:latin typeface="Calibri"/>
              <a:ea typeface="Calibri"/>
              <a:cs typeface="Calibri"/>
              <a:sym typeface="Calibri"/>
            </a:endParaRPr>
          </a:p>
        </p:txBody>
      </p:sp>
      <p:sp>
        <p:nvSpPr>
          <p:cNvPr id="270" name="Google Shape;270;p8"/>
          <p:cNvSpPr txBox="1"/>
          <p:nvPr/>
        </p:nvSpPr>
        <p:spPr>
          <a:xfrm>
            <a:off x="7635240" y="3867912"/>
            <a:ext cx="3779215"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ourier New"/>
              <a:buNone/>
            </a:pPr>
            <a:r>
              <a:rPr lang="en-US" sz="1300">
                <a:solidFill>
                  <a:schemeClr val="dk1"/>
                </a:solidFill>
                <a:latin typeface="Courier New"/>
                <a:ea typeface="Courier New"/>
                <a:cs typeface="Courier New"/>
                <a:sym typeface="Courier New"/>
              </a:rPr>
              <a:t>"-".join(["a", "b"])  →  'a-b'</a:t>
            </a:r>
            <a:endParaRPr sz="1300">
              <a:solidFill>
                <a:schemeClr val="dk1"/>
              </a:solidFill>
              <a:latin typeface="Calibri"/>
              <a:ea typeface="Calibri"/>
              <a:cs typeface="Calibri"/>
              <a:sym typeface="Calibri"/>
            </a:endParaRPr>
          </a:p>
        </p:txBody>
      </p:sp>
      <p:sp>
        <p:nvSpPr>
          <p:cNvPr id="271" name="Google Shape;271;p8"/>
          <p:cNvSpPr/>
          <p:nvPr/>
        </p:nvSpPr>
        <p:spPr>
          <a:xfrm>
            <a:off x="640080" y="4471416"/>
            <a:ext cx="10911535" cy="603504"/>
          </a:xfrm>
          <a:prstGeom prst="rect">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8"/>
          <p:cNvSpPr txBox="1"/>
          <p:nvPr/>
        </p:nvSpPr>
        <p:spPr>
          <a:xfrm>
            <a:off x="868680" y="4471416"/>
            <a:ext cx="256032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400"/>
              <a:buFont typeface="Courier New"/>
              <a:buNone/>
            </a:pPr>
            <a:r>
              <a:rPr b="1" lang="en-US" sz="1400">
                <a:solidFill>
                  <a:schemeClr val="accent2"/>
                </a:solidFill>
                <a:latin typeface="Courier New"/>
                <a:ea typeface="Courier New"/>
                <a:cs typeface="Courier New"/>
                <a:sym typeface="Courier New"/>
              </a:rPr>
              <a:t>s.find(t)</a:t>
            </a:r>
            <a:endParaRPr sz="1400">
              <a:solidFill>
                <a:schemeClr val="dk1"/>
              </a:solidFill>
              <a:latin typeface="Calibri"/>
              <a:ea typeface="Calibri"/>
              <a:cs typeface="Calibri"/>
              <a:sym typeface="Calibri"/>
            </a:endParaRPr>
          </a:p>
        </p:txBody>
      </p:sp>
      <p:sp>
        <p:nvSpPr>
          <p:cNvPr id="273" name="Google Shape;273;p8"/>
          <p:cNvSpPr txBox="1"/>
          <p:nvPr/>
        </p:nvSpPr>
        <p:spPr>
          <a:xfrm>
            <a:off x="3794760" y="4471416"/>
            <a:ext cx="347472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Index of the first match, or -1</a:t>
            </a:r>
            <a:endParaRPr sz="1500">
              <a:solidFill>
                <a:schemeClr val="dk1"/>
              </a:solidFill>
              <a:latin typeface="Calibri"/>
              <a:ea typeface="Calibri"/>
              <a:cs typeface="Calibri"/>
              <a:sym typeface="Calibri"/>
            </a:endParaRPr>
          </a:p>
        </p:txBody>
      </p:sp>
      <p:sp>
        <p:nvSpPr>
          <p:cNvPr id="274" name="Google Shape;274;p8"/>
          <p:cNvSpPr txBox="1"/>
          <p:nvPr/>
        </p:nvSpPr>
        <p:spPr>
          <a:xfrm>
            <a:off x="7635240" y="4471416"/>
            <a:ext cx="3779215"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ourier New"/>
              <a:buNone/>
            </a:pPr>
            <a:r>
              <a:rPr lang="en-US" sz="1300">
                <a:solidFill>
                  <a:schemeClr val="dk1"/>
                </a:solidFill>
                <a:latin typeface="Courier New"/>
                <a:ea typeface="Courier New"/>
                <a:cs typeface="Courier New"/>
                <a:sym typeface="Courier New"/>
              </a:rPr>
              <a:t>"hello".find("l")  →  2</a:t>
            </a:r>
            <a:endParaRPr sz="1300">
              <a:solidFill>
                <a:schemeClr val="dk1"/>
              </a:solidFill>
              <a:latin typeface="Calibri"/>
              <a:ea typeface="Calibri"/>
              <a:cs typeface="Calibri"/>
              <a:sym typeface="Calibri"/>
            </a:endParaRPr>
          </a:p>
        </p:txBody>
      </p:sp>
      <p:sp>
        <p:nvSpPr>
          <p:cNvPr id="275" name="Google Shape;275;p8"/>
          <p:cNvSpPr/>
          <p:nvPr/>
        </p:nvSpPr>
        <p:spPr>
          <a:xfrm>
            <a:off x="640080" y="5074920"/>
            <a:ext cx="10911535" cy="603504"/>
          </a:xfrm>
          <a:prstGeom prst="rect">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
          <p:cNvSpPr txBox="1"/>
          <p:nvPr/>
        </p:nvSpPr>
        <p:spPr>
          <a:xfrm>
            <a:off x="868680" y="5074920"/>
            <a:ext cx="256032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400"/>
              <a:buFont typeface="Courier New"/>
              <a:buNone/>
            </a:pPr>
            <a:r>
              <a:rPr b="1" lang="en-US" sz="1400">
                <a:solidFill>
                  <a:schemeClr val="accent2"/>
                </a:solidFill>
                <a:latin typeface="Courier New"/>
                <a:ea typeface="Courier New"/>
                <a:cs typeface="Courier New"/>
                <a:sym typeface="Courier New"/>
              </a:rPr>
              <a:t>s.isalnum()</a:t>
            </a:r>
            <a:endParaRPr sz="1400">
              <a:solidFill>
                <a:schemeClr val="dk1"/>
              </a:solidFill>
              <a:latin typeface="Calibri"/>
              <a:ea typeface="Calibri"/>
              <a:cs typeface="Calibri"/>
              <a:sym typeface="Calibri"/>
            </a:endParaRPr>
          </a:p>
        </p:txBody>
      </p:sp>
      <p:sp>
        <p:nvSpPr>
          <p:cNvPr id="277" name="Google Shape;277;p8"/>
          <p:cNvSpPr txBox="1"/>
          <p:nvPr/>
        </p:nvSpPr>
        <p:spPr>
          <a:xfrm>
            <a:off x="3794760" y="5074920"/>
            <a:ext cx="347472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lang="en-US" sz="1500">
                <a:solidFill>
                  <a:schemeClr val="dk1"/>
                </a:solidFill>
                <a:latin typeface="Calibri"/>
                <a:ea typeface="Calibri"/>
                <a:cs typeface="Calibri"/>
                <a:sym typeface="Calibri"/>
              </a:rPr>
              <a:t>True if letters and digits only</a:t>
            </a:r>
            <a:endParaRPr sz="1500">
              <a:solidFill>
                <a:schemeClr val="dk1"/>
              </a:solidFill>
              <a:latin typeface="Calibri"/>
              <a:ea typeface="Calibri"/>
              <a:cs typeface="Calibri"/>
              <a:sym typeface="Calibri"/>
            </a:endParaRPr>
          </a:p>
        </p:txBody>
      </p:sp>
      <p:sp>
        <p:nvSpPr>
          <p:cNvPr id="278" name="Google Shape;278;p8"/>
          <p:cNvSpPr txBox="1"/>
          <p:nvPr/>
        </p:nvSpPr>
        <p:spPr>
          <a:xfrm>
            <a:off x="7635240" y="5074920"/>
            <a:ext cx="3779215"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ourier New"/>
              <a:buNone/>
            </a:pPr>
            <a:r>
              <a:rPr lang="en-US" sz="1300">
                <a:solidFill>
                  <a:schemeClr val="dk1"/>
                </a:solidFill>
                <a:latin typeface="Courier New"/>
                <a:ea typeface="Courier New"/>
                <a:cs typeface="Courier New"/>
                <a:sym typeface="Courier New"/>
              </a:rPr>
              <a:t>"a1".isalnum()  →  True</a:t>
            </a:r>
            <a:endParaRPr sz="1300">
              <a:solidFill>
                <a:schemeClr val="dk1"/>
              </a:solidFill>
              <a:latin typeface="Calibri"/>
              <a:ea typeface="Calibri"/>
              <a:cs typeface="Calibri"/>
              <a:sym typeface="Calibri"/>
            </a:endParaRPr>
          </a:p>
        </p:txBody>
      </p:sp>
      <p:sp>
        <p:nvSpPr>
          <p:cNvPr id="279" name="Google Shape;279;p8"/>
          <p:cNvSpPr txBox="1"/>
          <p:nvPr/>
        </p:nvSpPr>
        <p:spPr>
          <a:xfrm>
            <a:off x="640080" y="5852160"/>
            <a:ext cx="10911535"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i="1" lang="en-US" sz="1400">
                <a:solidFill>
                  <a:schemeClr val="accent5"/>
                </a:solidFill>
                <a:latin typeface="Calibri"/>
                <a:ea typeface="Calibri"/>
                <a:cs typeface="Calibri"/>
                <a:sym typeface="Calibri"/>
              </a:rPr>
              <a:t>Every method returns a new value. The original string is never touched.</a:t>
            </a:r>
            <a:endParaRPr sz="14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9"/>
          <p:cNvSpPr txBox="1"/>
          <p:nvPr>
            <p:ph type="title"/>
          </p:nvPr>
        </p:nvSpPr>
        <p:spPr>
          <a:xfrm>
            <a:off x="640080" y="777240"/>
            <a:ext cx="10908792"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dk1"/>
                </a:solidFill>
              </a:rPr>
              <a:t>Looping over a string</a:t>
            </a:r>
            <a:endParaRPr sz="3200"/>
          </a:p>
        </p:txBody>
      </p:sp>
      <p:sp>
        <p:nvSpPr>
          <p:cNvPr id="286" name="Google Shape;286;p9"/>
          <p:cNvSpPr/>
          <p:nvPr/>
        </p:nvSpPr>
        <p:spPr>
          <a:xfrm>
            <a:off x="640080" y="1600200"/>
            <a:ext cx="5760720" cy="4572000"/>
          </a:xfrm>
          <a:prstGeom prst="roundRect">
            <a:avLst>
              <a:gd fmla="val 12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9"/>
          <p:cNvSpPr txBox="1"/>
          <p:nvPr/>
        </p:nvSpPr>
        <p:spPr>
          <a:xfrm>
            <a:off x="1005840" y="1874520"/>
            <a:ext cx="5029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lang="en-US" sz="2000">
                <a:solidFill>
                  <a:schemeClr val="dk1"/>
                </a:solidFill>
                <a:latin typeface="Calibri"/>
                <a:ea typeface="Calibri"/>
                <a:cs typeface="Calibri"/>
                <a:sym typeface="Calibri"/>
              </a:rPr>
              <a:t>Two pointers walk inward</a:t>
            </a:r>
            <a:endParaRPr sz="2000">
              <a:solidFill>
                <a:schemeClr val="dk1"/>
              </a:solidFill>
              <a:latin typeface="Calibri"/>
              <a:ea typeface="Calibri"/>
              <a:cs typeface="Calibri"/>
              <a:sym typeface="Calibri"/>
            </a:endParaRPr>
          </a:p>
        </p:txBody>
      </p:sp>
      <p:sp>
        <p:nvSpPr>
          <p:cNvPr id="288" name="Google Shape;288;p9"/>
          <p:cNvSpPr txBox="1"/>
          <p:nvPr/>
        </p:nvSpPr>
        <p:spPr>
          <a:xfrm>
            <a:off x="1005840" y="2313432"/>
            <a:ext cx="5029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sz="1400">
                <a:solidFill>
                  <a:schemeClr val="accent5"/>
                </a:solidFill>
                <a:latin typeface="Calibri"/>
                <a:ea typeface="Calibri"/>
                <a:cs typeface="Calibri"/>
                <a:sym typeface="Calibri"/>
              </a:rPr>
              <a:t>Checking whether racecar is a palindrome:</a:t>
            </a:r>
            <a:endParaRPr sz="1400">
              <a:solidFill>
                <a:schemeClr val="dk1"/>
              </a:solidFill>
              <a:latin typeface="Calibri"/>
              <a:ea typeface="Calibri"/>
              <a:cs typeface="Calibri"/>
              <a:sym typeface="Calibri"/>
            </a:endParaRPr>
          </a:p>
        </p:txBody>
      </p:sp>
      <p:sp>
        <p:nvSpPr>
          <p:cNvPr id="289" name="Google Shape;289;p9"/>
          <p:cNvSpPr/>
          <p:nvPr/>
        </p:nvSpPr>
        <p:spPr>
          <a:xfrm>
            <a:off x="1197864" y="2880360"/>
            <a:ext cx="585216" cy="585216"/>
          </a:xfrm>
          <a:prstGeom prst="roundRect">
            <a:avLst>
              <a:gd fmla="val 7813"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2200"/>
              <a:buFont typeface="Calibri"/>
              <a:buNone/>
            </a:pPr>
            <a:r>
              <a:rPr b="1" lang="en-US" sz="2200">
                <a:solidFill>
                  <a:schemeClr val="lt1"/>
                </a:solidFill>
                <a:latin typeface="Calibri"/>
                <a:ea typeface="Calibri"/>
                <a:cs typeface="Calibri"/>
                <a:sym typeface="Calibri"/>
              </a:rPr>
              <a:t>r</a:t>
            </a:r>
            <a:endParaRPr sz="2200">
              <a:solidFill>
                <a:schemeClr val="dk1"/>
              </a:solidFill>
              <a:latin typeface="Calibri"/>
              <a:ea typeface="Calibri"/>
              <a:cs typeface="Calibri"/>
              <a:sym typeface="Calibri"/>
            </a:endParaRPr>
          </a:p>
        </p:txBody>
      </p:sp>
      <p:sp>
        <p:nvSpPr>
          <p:cNvPr id="290" name="Google Shape;290;p9"/>
          <p:cNvSpPr/>
          <p:nvPr/>
        </p:nvSpPr>
        <p:spPr>
          <a:xfrm>
            <a:off x="1874520" y="2880360"/>
            <a:ext cx="585216" cy="585216"/>
          </a:xfrm>
          <a:prstGeom prst="roundRect">
            <a:avLst>
              <a:gd fmla="val 7813" name="adj"/>
            </a:avLst>
          </a:prstGeom>
          <a:solidFill>
            <a:schemeClr val="lt1"/>
          </a:solidFill>
          <a:ln cap="flat" cmpd="sng" w="9525">
            <a:solidFill>
              <a:schemeClr val="accent4">
                <a:alpha val="60000"/>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libri"/>
              <a:buNone/>
            </a:pPr>
            <a:r>
              <a:rPr b="1" lang="en-US" sz="2200">
                <a:solidFill>
                  <a:schemeClr val="dk1"/>
                </a:solidFill>
                <a:latin typeface="Calibri"/>
                <a:ea typeface="Calibri"/>
                <a:cs typeface="Calibri"/>
                <a:sym typeface="Calibri"/>
              </a:rPr>
              <a:t>a</a:t>
            </a:r>
            <a:endParaRPr sz="2200">
              <a:solidFill>
                <a:schemeClr val="dk1"/>
              </a:solidFill>
              <a:latin typeface="Calibri"/>
              <a:ea typeface="Calibri"/>
              <a:cs typeface="Calibri"/>
              <a:sym typeface="Calibri"/>
            </a:endParaRPr>
          </a:p>
        </p:txBody>
      </p:sp>
      <p:sp>
        <p:nvSpPr>
          <p:cNvPr id="291" name="Google Shape;291;p9"/>
          <p:cNvSpPr/>
          <p:nvPr/>
        </p:nvSpPr>
        <p:spPr>
          <a:xfrm>
            <a:off x="2551176" y="2880360"/>
            <a:ext cx="585216" cy="585216"/>
          </a:xfrm>
          <a:prstGeom prst="roundRect">
            <a:avLst>
              <a:gd fmla="val 7813" name="adj"/>
            </a:avLst>
          </a:prstGeom>
          <a:solidFill>
            <a:schemeClr val="lt1"/>
          </a:solidFill>
          <a:ln cap="flat" cmpd="sng" w="9525">
            <a:solidFill>
              <a:schemeClr val="accent4">
                <a:alpha val="60000"/>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libri"/>
              <a:buNone/>
            </a:pPr>
            <a:r>
              <a:rPr b="1" lang="en-US" sz="2200">
                <a:solidFill>
                  <a:schemeClr val="dk1"/>
                </a:solidFill>
                <a:latin typeface="Calibri"/>
                <a:ea typeface="Calibri"/>
                <a:cs typeface="Calibri"/>
                <a:sym typeface="Calibri"/>
              </a:rPr>
              <a:t>c</a:t>
            </a:r>
            <a:endParaRPr sz="2200">
              <a:solidFill>
                <a:schemeClr val="dk1"/>
              </a:solidFill>
              <a:latin typeface="Calibri"/>
              <a:ea typeface="Calibri"/>
              <a:cs typeface="Calibri"/>
              <a:sym typeface="Calibri"/>
            </a:endParaRPr>
          </a:p>
        </p:txBody>
      </p:sp>
      <p:sp>
        <p:nvSpPr>
          <p:cNvPr id="292" name="Google Shape;292;p9"/>
          <p:cNvSpPr/>
          <p:nvPr/>
        </p:nvSpPr>
        <p:spPr>
          <a:xfrm>
            <a:off x="3227832" y="2880360"/>
            <a:ext cx="585216" cy="585216"/>
          </a:xfrm>
          <a:prstGeom prst="roundRect">
            <a:avLst>
              <a:gd fmla="val 7813" name="adj"/>
            </a:avLst>
          </a:prstGeom>
          <a:solidFill>
            <a:schemeClr val="lt1"/>
          </a:solidFill>
          <a:ln cap="flat" cmpd="sng" w="9525">
            <a:solidFill>
              <a:schemeClr val="accent4">
                <a:alpha val="60000"/>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libri"/>
              <a:buNone/>
            </a:pPr>
            <a:r>
              <a:rPr b="1" lang="en-US" sz="2200">
                <a:solidFill>
                  <a:schemeClr val="dk1"/>
                </a:solidFill>
                <a:latin typeface="Calibri"/>
                <a:ea typeface="Calibri"/>
                <a:cs typeface="Calibri"/>
                <a:sym typeface="Calibri"/>
              </a:rPr>
              <a:t>e</a:t>
            </a:r>
            <a:endParaRPr sz="2200">
              <a:solidFill>
                <a:schemeClr val="dk1"/>
              </a:solidFill>
              <a:latin typeface="Calibri"/>
              <a:ea typeface="Calibri"/>
              <a:cs typeface="Calibri"/>
              <a:sym typeface="Calibri"/>
            </a:endParaRPr>
          </a:p>
        </p:txBody>
      </p:sp>
      <p:sp>
        <p:nvSpPr>
          <p:cNvPr id="293" name="Google Shape;293;p9"/>
          <p:cNvSpPr/>
          <p:nvPr/>
        </p:nvSpPr>
        <p:spPr>
          <a:xfrm>
            <a:off x="3904488" y="2880360"/>
            <a:ext cx="585216" cy="585216"/>
          </a:xfrm>
          <a:prstGeom prst="roundRect">
            <a:avLst>
              <a:gd fmla="val 7813" name="adj"/>
            </a:avLst>
          </a:prstGeom>
          <a:solidFill>
            <a:schemeClr val="lt1"/>
          </a:solidFill>
          <a:ln cap="flat" cmpd="sng" w="9525">
            <a:solidFill>
              <a:schemeClr val="accent4">
                <a:alpha val="60000"/>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libri"/>
              <a:buNone/>
            </a:pPr>
            <a:r>
              <a:rPr b="1" lang="en-US" sz="2200">
                <a:solidFill>
                  <a:schemeClr val="dk1"/>
                </a:solidFill>
                <a:latin typeface="Calibri"/>
                <a:ea typeface="Calibri"/>
                <a:cs typeface="Calibri"/>
                <a:sym typeface="Calibri"/>
              </a:rPr>
              <a:t>c</a:t>
            </a:r>
            <a:endParaRPr sz="2200">
              <a:solidFill>
                <a:schemeClr val="dk1"/>
              </a:solidFill>
              <a:latin typeface="Calibri"/>
              <a:ea typeface="Calibri"/>
              <a:cs typeface="Calibri"/>
              <a:sym typeface="Calibri"/>
            </a:endParaRPr>
          </a:p>
        </p:txBody>
      </p:sp>
      <p:sp>
        <p:nvSpPr>
          <p:cNvPr id="294" name="Google Shape;294;p9"/>
          <p:cNvSpPr/>
          <p:nvPr/>
        </p:nvSpPr>
        <p:spPr>
          <a:xfrm>
            <a:off x="4581144" y="2880360"/>
            <a:ext cx="585216" cy="585216"/>
          </a:xfrm>
          <a:prstGeom prst="roundRect">
            <a:avLst>
              <a:gd fmla="val 7813" name="adj"/>
            </a:avLst>
          </a:prstGeom>
          <a:solidFill>
            <a:schemeClr val="lt1"/>
          </a:solidFill>
          <a:ln cap="flat" cmpd="sng" w="9525">
            <a:solidFill>
              <a:schemeClr val="accent4">
                <a:alpha val="60000"/>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libri"/>
              <a:buNone/>
            </a:pPr>
            <a:r>
              <a:rPr b="1" lang="en-US" sz="2200">
                <a:solidFill>
                  <a:schemeClr val="dk1"/>
                </a:solidFill>
                <a:latin typeface="Calibri"/>
                <a:ea typeface="Calibri"/>
                <a:cs typeface="Calibri"/>
                <a:sym typeface="Calibri"/>
              </a:rPr>
              <a:t>a</a:t>
            </a:r>
            <a:endParaRPr sz="2200">
              <a:solidFill>
                <a:schemeClr val="dk1"/>
              </a:solidFill>
              <a:latin typeface="Calibri"/>
              <a:ea typeface="Calibri"/>
              <a:cs typeface="Calibri"/>
              <a:sym typeface="Calibri"/>
            </a:endParaRPr>
          </a:p>
        </p:txBody>
      </p:sp>
      <p:sp>
        <p:nvSpPr>
          <p:cNvPr id="295" name="Google Shape;295;p9"/>
          <p:cNvSpPr/>
          <p:nvPr/>
        </p:nvSpPr>
        <p:spPr>
          <a:xfrm>
            <a:off x="5257800" y="2880360"/>
            <a:ext cx="585216" cy="585216"/>
          </a:xfrm>
          <a:prstGeom prst="roundRect">
            <a:avLst>
              <a:gd fmla="val 7813"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2200"/>
              <a:buFont typeface="Calibri"/>
              <a:buNone/>
            </a:pPr>
            <a:r>
              <a:rPr b="1" lang="en-US" sz="2200">
                <a:solidFill>
                  <a:schemeClr val="lt1"/>
                </a:solidFill>
                <a:latin typeface="Calibri"/>
                <a:ea typeface="Calibri"/>
                <a:cs typeface="Calibri"/>
                <a:sym typeface="Calibri"/>
              </a:rPr>
              <a:t>r</a:t>
            </a:r>
            <a:endParaRPr sz="2200">
              <a:solidFill>
                <a:schemeClr val="dk1"/>
              </a:solidFill>
              <a:latin typeface="Calibri"/>
              <a:ea typeface="Calibri"/>
              <a:cs typeface="Calibri"/>
              <a:sym typeface="Calibri"/>
            </a:endParaRPr>
          </a:p>
        </p:txBody>
      </p:sp>
      <p:sp>
        <p:nvSpPr>
          <p:cNvPr id="296" name="Google Shape;296;p9"/>
          <p:cNvSpPr/>
          <p:nvPr/>
        </p:nvSpPr>
        <p:spPr>
          <a:xfrm>
            <a:off x="1380744" y="3575304"/>
            <a:ext cx="219456" cy="164592"/>
          </a:xfrm>
          <a:prstGeom prst="triangle">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9"/>
          <p:cNvSpPr txBox="1"/>
          <p:nvPr/>
        </p:nvSpPr>
        <p:spPr>
          <a:xfrm>
            <a:off x="1106424" y="3794760"/>
            <a:ext cx="768096" cy="25603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3"/>
              </a:buClr>
              <a:buSzPts val="1400"/>
              <a:buFont typeface="Courier New"/>
              <a:buNone/>
            </a:pPr>
            <a:r>
              <a:rPr b="1" lang="en-US" sz="1400">
                <a:solidFill>
                  <a:schemeClr val="accent3"/>
                </a:solidFill>
                <a:latin typeface="Courier New"/>
                <a:ea typeface="Courier New"/>
                <a:cs typeface="Courier New"/>
                <a:sym typeface="Courier New"/>
              </a:rPr>
              <a:t>left</a:t>
            </a:r>
            <a:endParaRPr sz="1400">
              <a:solidFill>
                <a:schemeClr val="dk1"/>
              </a:solidFill>
              <a:latin typeface="Calibri"/>
              <a:ea typeface="Calibri"/>
              <a:cs typeface="Calibri"/>
              <a:sym typeface="Calibri"/>
            </a:endParaRPr>
          </a:p>
        </p:txBody>
      </p:sp>
      <p:sp>
        <p:nvSpPr>
          <p:cNvPr id="298" name="Google Shape;298;p9"/>
          <p:cNvSpPr/>
          <p:nvPr/>
        </p:nvSpPr>
        <p:spPr>
          <a:xfrm>
            <a:off x="5440680" y="3575304"/>
            <a:ext cx="219456" cy="164592"/>
          </a:xfrm>
          <a:prstGeom prst="triangle">
            <a:avLst>
              <a:gd fmla="val 50000" name="adj"/>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9"/>
          <p:cNvSpPr txBox="1"/>
          <p:nvPr/>
        </p:nvSpPr>
        <p:spPr>
          <a:xfrm>
            <a:off x="5166360" y="3794760"/>
            <a:ext cx="768096" cy="25603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1400"/>
              <a:buFont typeface="Courier New"/>
              <a:buNone/>
            </a:pPr>
            <a:r>
              <a:rPr b="1" lang="en-US" sz="1400">
                <a:solidFill>
                  <a:schemeClr val="accent2"/>
                </a:solidFill>
                <a:latin typeface="Courier New"/>
                <a:ea typeface="Courier New"/>
                <a:cs typeface="Courier New"/>
                <a:sym typeface="Courier New"/>
              </a:rPr>
              <a:t>right</a:t>
            </a:r>
            <a:endParaRPr sz="1400">
              <a:solidFill>
                <a:schemeClr val="dk1"/>
              </a:solidFill>
              <a:latin typeface="Calibri"/>
              <a:ea typeface="Calibri"/>
              <a:cs typeface="Calibri"/>
              <a:sym typeface="Calibri"/>
            </a:endParaRPr>
          </a:p>
        </p:txBody>
      </p:sp>
      <p:sp>
        <p:nvSpPr>
          <p:cNvPr id="300" name="Google Shape;300;p9"/>
          <p:cNvSpPr txBox="1"/>
          <p:nvPr/>
        </p:nvSpPr>
        <p:spPr>
          <a:xfrm>
            <a:off x="1005840" y="4617720"/>
            <a:ext cx="5029200" cy="13716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700"/>
              <a:buFont typeface="Arial"/>
              <a:buAutoNum type="arabicPeriod"/>
            </a:pPr>
            <a:r>
              <a:rPr lang="en-US" sz="1700">
                <a:solidFill>
                  <a:schemeClr val="dk1"/>
                </a:solidFill>
                <a:latin typeface="Calibri"/>
                <a:ea typeface="Calibri"/>
                <a:cs typeface="Calibri"/>
                <a:sym typeface="Calibri"/>
              </a:rPr>
              <a:t>Compare s[left] and s[right]</a:t>
            </a:r>
            <a:endParaRPr sz="1700">
              <a:solidFill>
                <a:schemeClr val="dk1"/>
              </a:solidFill>
              <a:latin typeface="Calibri"/>
              <a:ea typeface="Calibri"/>
              <a:cs typeface="Calibri"/>
              <a:sym typeface="Calibri"/>
            </a:endParaRPr>
          </a:p>
          <a:p>
            <a:pPr indent="-342900" lvl="0" marL="342900" marR="0" rtl="0" algn="l">
              <a:spcBef>
                <a:spcPts val="1000"/>
              </a:spcBef>
              <a:spcAft>
                <a:spcPts val="0"/>
              </a:spcAft>
              <a:buClr>
                <a:schemeClr val="dk1"/>
              </a:buClr>
              <a:buSzPts val="1700"/>
              <a:buFont typeface="Arial"/>
              <a:buAutoNum type="arabicPeriod"/>
            </a:pPr>
            <a:r>
              <a:rPr lang="en-US" sz="1700">
                <a:solidFill>
                  <a:schemeClr val="dk1"/>
                </a:solidFill>
                <a:latin typeface="Calibri"/>
                <a:ea typeface="Calibri"/>
                <a:cs typeface="Calibri"/>
                <a:sym typeface="Calibri"/>
              </a:rPr>
              <a:t>If equal, move both pointers inward</a:t>
            </a:r>
            <a:endParaRPr sz="1700">
              <a:solidFill>
                <a:schemeClr val="dk1"/>
              </a:solidFill>
              <a:latin typeface="Calibri"/>
              <a:ea typeface="Calibri"/>
              <a:cs typeface="Calibri"/>
              <a:sym typeface="Calibri"/>
            </a:endParaRPr>
          </a:p>
          <a:p>
            <a:pPr indent="-342900" lvl="0" marL="342900" marR="0" rtl="0" algn="l">
              <a:spcBef>
                <a:spcPts val="1000"/>
              </a:spcBef>
              <a:spcAft>
                <a:spcPts val="0"/>
              </a:spcAft>
              <a:buClr>
                <a:schemeClr val="dk1"/>
              </a:buClr>
              <a:buSzPts val="1700"/>
              <a:buFont typeface="Arial"/>
              <a:buAutoNum type="arabicPeriod"/>
            </a:pPr>
            <a:r>
              <a:rPr lang="en-US" sz="1700">
                <a:solidFill>
                  <a:schemeClr val="dk1"/>
                </a:solidFill>
                <a:latin typeface="Calibri"/>
                <a:ea typeface="Calibri"/>
                <a:cs typeface="Calibri"/>
                <a:sym typeface="Calibri"/>
              </a:rPr>
              <a:t>Stop when they meet in the middle</a:t>
            </a:r>
            <a:endParaRPr sz="1700">
              <a:solidFill>
                <a:schemeClr val="dk1"/>
              </a:solidFill>
              <a:latin typeface="Calibri"/>
              <a:ea typeface="Calibri"/>
              <a:cs typeface="Calibri"/>
              <a:sym typeface="Calibri"/>
            </a:endParaRPr>
          </a:p>
        </p:txBody>
      </p:sp>
      <p:sp>
        <p:nvSpPr>
          <p:cNvPr id="301" name="Google Shape;301;p9"/>
          <p:cNvSpPr/>
          <p:nvPr/>
        </p:nvSpPr>
        <p:spPr>
          <a:xfrm>
            <a:off x="6675120" y="1600200"/>
            <a:ext cx="4876495" cy="3063240"/>
          </a:xfrm>
          <a:prstGeom prst="roundRect">
            <a:avLst>
              <a:gd fmla="val 1791"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9"/>
          <p:cNvSpPr txBox="1"/>
          <p:nvPr/>
        </p:nvSpPr>
        <p:spPr>
          <a:xfrm>
            <a:off x="6949440" y="1801368"/>
            <a:ext cx="432785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lang="en-US" sz="1100">
                <a:solidFill>
                  <a:schemeClr val="accent1"/>
                </a:solidFill>
                <a:latin typeface="Calibri"/>
                <a:ea typeface="Calibri"/>
                <a:cs typeface="Calibri"/>
                <a:sym typeface="Calibri"/>
              </a:rPr>
              <a:t>PYTHON</a:t>
            </a:r>
            <a:endParaRPr sz="1100">
              <a:solidFill>
                <a:schemeClr val="dk1"/>
              </a:solidFill>
              <a:latin typeface="Calibri"/>
              <a:ea typeface="Calibri"/>
              <a:cs typeface="Calibri"/>
              <a:sym typeface="Calibri"/>
            </a:endParaRPr>
          </a:p>
        </p:txBody>
      </p:sp>
      <p:sp>
        <p:nvSpPr>
          <p:cNvPr id="303" name="Google Shape;303;p9"/>
          <p:cNvSpPr txBox="1"/>
          <p:nvPr/>
        </p:nvSpPr>
        <p:spPr>
          <a:xfrm>
            <a:off x="6949440" y="2194560"/>
            <a:ext cx="4327855" cy="228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400"/>
              <a:buFont typeface="Courier New"/>
              <a:buNone/>
            </a:pPr>
            <a:r>
              <a:rPr lang="en-US" sz="1400">
                <a:solidFill>
                  <a:schemeClr val="accent4"/>
                </a:solidFill>
                <a:latin typeface="Courier New"/>
                <a:ea typeface="Courier New"/>
                <a:cs typeface="Courier New"/>
                <a:sym typeface="Courier New"/>
              </a:rPr>
              <a:t># every character</a:t>
            </a:r>
            <a:endParaRPr sz="1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for ch in s:</a:t>
            </a:r>
            <a:endParaRPr sz="1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    ...</a:t>
            </a:r>
            <a:endParaRPr sz="1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 </a:t>
            </a:r>
            <a:endParaRPr sz="1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accent4"/>
              </a:buClr>
              <a:buSzPts val="1400"/>
              <a:buFont typeface="Courier New"/>
              <a:buNone/>
            </a:pPr>
            <a:r>
              <a:rPr lang="en-US" sz="1400">
                <a:solidFill>
                  <a:schemeClr val="accent4"/>
                </a:solidFill>
                <a:latin typeface="Courier New"/>
                <a:ea typeface="Courier New"/>
                <a:cs typeface="Courier New"/>
                <a:sym typeface="Courier New"/>
              </a:rPr>
              <a:t># index and character</a:t>
            </a:r>
            <a:endParaRPr sz="1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for i, ch in enumerate(s):</a:t>
            </a:r>
            <a:endParaRPr sz="1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    ...</a:t>
            </a:r>
            <a:endParaRPr sz="1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 </a:t>
            </a:r>
            <a:endParaRPr sz="1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accent4"/>
              </a:buClr>
              <a:buSzPts val="1400"/>
              <a:buFont typeface="Courier New"/>
              <a:buNone/>
            </a:pPr>
            <a:r>
              <a:rPr lang="en-US" sz="1400">
                <a:solidFill>
                  <a:schemeClr val="accent4"/>
                </a:solidFill>
                <a:latin typeface="Courier New"/>
                <a:ea typeface="Courier New"/>
                <a:cs typeface="Courier New"/>
                <a:sym typeface="Courier New"/>
              </a:rPr>
              <a:t># two pointers</a:t>
            </a:r>
            <a:endParaRPr sz="1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lt2"/>
              </a:buClr>
              <a:buSzPts val="1400"/>
              <a:buFont typeface="Courier New"/>
              <a:buNone/>
            </a:pPr>
            <a:r>
              <a:rPr lang="en-US" sz="1400">
                <a:solidFill>
                  <a:schemeClr val="lt2"/>
                </a:solidFill>
                <a:latin typeface="Courier New"/>
                <a:ea typeface="Courier New"/>
                <a:cs typeface="Courier New"/>
                <a:sym typeface="Courier New"/>
              </a:rPr>
              <a:t>left, right = 0, len(s) - 1</a:t>
            </a:r>
            <a:endParaRPr sz="1400">
              <a:solidFill>
                <a:schemeClr val="dk1"/>
              </a:solidFill>
              <a:latin typeface="Calibri"/>
              <a:ea typeface="Calibri"/>
              <a:cs typeface="Calibri"/>
              <a:sym typeface="Calibri"/>
            </a:endParaRPr>
          </a:p>
        </p:txBody>
      </p:sp>
      <p:sp>
        <p:nvSpPr>
          <p:cNvPr id="304" name="Google Shape;304;p9"/>
          <p:cNvSpPr/>
          <p:nvPr/>
        </p:nvSpPr>
        <p:spPr>
          <a:xfrm>
            <a:off x="6675120" y="4846320"/>
            <a:ext cx="4876495" cy="1325880"/>
          </a:xfrm>
          <a:prstGeom prst="roundRect">
            <a:avLst>
              <a:gd fmla="val 4138"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9"/>
          <p:cNvSpPr txBox="1"/>
          <p:nvPr/>
        </p:nvSpPr>
        <p:spPr>
          <a:xfrm>
            <a:off x="6949440" y="4846320"/>
            <a:ext cx="4327855" cy="1325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lang="en-US" sz="1500">
                <a:solidFill>
                  <a:schemeClr val="dk1"/>
                </a:solidFill>
                <a:latin typeface="Calibri"/>
                <a:ea typeface="Calibri"/>
                <a:cs typeface="Calibri"/>
                <a:sym typeface="Calibri"/>
              </a:rPr>
              <a:t>Pick by need.  </a:t>
            </a:r>
            <a:r>
              <a:rPr lang="en-US" sz="1500">
                <a:solidFill>
                  <a:schemeClr val="accent5"/>
                </a:solidFill>
                <a:latin typeface="Calibri"/>
                <a:ea typeface="Calibri"/>
                <a:cs typeface="Calibri"/>
                <a:sym typeface="Calibri"/>
              </a:rPr>
              <a:t>Only the character? Use for ch in s. Need positions too? Use enumerate. Need both ends? Use two pointers.</a:t>
            </a:r>
            <a:endParaRPr sz="15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h63c0e6991457cadf_0_41"/>
          <p:cNvSpPr txBox="1"/>
          <p:nvPr>
            <p:ph idx="1" type="body"/>
          </p:nvPr>
        </p:nvSpPr>
        <p:spPr>
          <a:xfrm>
            <a:off x="640080" y="457200"/>
            <a:ext cx="8229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1200"/>
              <a:buNone/>
            </a:pPr>
            <a:r>
              <a:rPr b="1" lang="en-US" sz="1200">
                <a:solidFill>
                  <a:schemeClr val="accent1"/>
                </a:solidFill>
              </a:rPr>
              <a:t>WORKED EXAMPLE 1   //   EASY</a:t>
            </a:r>
            <a:endParaRPr sz="1200"/>
          </a:p>
        </p:txBody>
      </p:sp>
      <p:sp>
        <p:nvSpPr>
          <p:cNvPr id="312" name="Google Shape;312;h63c0e6991457cadf_0_41"/>
          <p:cNvSpPr txBox="1"/>
          <p:nvPr>
            <p:ph type="title"/>
          </p:nvPr>
        </p:nvSpPr>
        <p:spPr>
          <a:xfrm>
            <a:off x="640080" y="777240"/>
            <a:ext cx="109089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dk1"/>
                </a:solidFill>
              </a:rPr>
              <a:t>Worked example: Valid Palindrome</a:t>
            </a:r>
            <a:endParaRPr sz="3200"/>
          </a:p>
        </p:txBody>
      </p:sp>
      <p:sp>
        <p:nvSpPr>
          <p:cNvPr id="313" name="Google Shape;313;h63c0e6991457cadf_0_41"/>
          <p:cNvSpPr/>
          <p:nvPr/>
        </p:nvSpPr>
        <p:spPr>
          <a:xfrm>
            <a:off x="640080" y="1600200"/>
            <a:ext cx="4846200" cy="4572000"/>
          </a:xfrm>
          <a:prstGeom prst="roundRect">
            <a:avLst>
              <a:gd fmla="val 12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h63c0e6991457cadf_0_41"/>
          <p:cNvSpPr txBox="1"/>
          <p:nvPr/>
        </p:nvSpPr>
        <p:spPr>
          <a:xfrm>
            <a:off x="914400" y="1874520"/>
            <a:ext cx="301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Problem statement</a:t>
            </a:r>
            <a:endParaRPr b="0" i="0" sz="2000" u="none" cap="none" strike="noStrike">
              <a:solidFill>
                <a:schemeClr val="dk1"/>
              </a:solidFill>
              <a:latin typeface="Calibri"/>
              <a:ea typeface="Calibri"/>
              <a:cs typeface="Calibri"/>
              <a:sym typeface="Calibri"/>
            </a:endParaRPr>
          </a:p>
        </p:txBody>
      </p:sp>
      <p:sp>
        <p:nvSpPr>
          <p:cNvPr id="315" name="Google Shape;315;h63c0e6991457cadf_0_41"/>
          <p:cNvSpPr/>
          <p:nvPr/>
        </p:nvSpPr>
        <p:spPr>
          <a:xfrm>
            <a:off x="4297680" y="1901952"/>
            <a:ext cx="914400" cy="310800"/>
          </a:xfrm>
          <a:prstGeom prst="roundRect">
            <a:avLst>
              <a:gd fmla="val 44118" name="adj"/>
            </a:avLst>
          </a:prstGeom>
          <a:solidFill>
            <a:schemeClr val="accent2">
              <a:alpha val="20000"/>
            </a:schemeClr>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EASY</a:t>
            </a:r>
            <a:endParaRPr b="0" i="0" sz="1100" u="none" cap="none" strike="noStrike">
              <a:solidFill>
                <a:schemeClr val="dk1"/>
              </a:solidFill>
              <a:latin typeface="Calibri"/>
              <a:ea typeface="Calibri"/>
              <a:cs typeface="Calibri"/>
              <a:sym typeface="Calibri"/>
            </a:endParaRPr>
          </a:p>
        </p:txBody>
      </p:sp>
      <p:sp>
        <p:nvSpPr>
          <p:cNvPr id="316" name="Google Shape;316;h63c0e6991457cadf_0_41"/>
          <p:cNvSpPr txBox="1"/>
          <p:nvPr/>
        </p:nvSpPr>
        <p:spPr>
          <a:xfrm>
            <a:off x="914400" y="2313432"/>
            <a:ext cx="42978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US" sz="1200" u="none" cap="none" strike="noStrike">
                <a:solidFill>
                  <a:schemeClr val="accent5"/>
                </a:solidFill>
                <a:latin typeface="Calibri"/>
                <a:ea typeface="Calibri"/>
                <a:cs typeface="Calibri"/>
                <a:sym typeface="Calibri"/>
              </a:rPr>
              <a:t>Author: Anthony Perez</a:t>
            </a:r>
            <a:endParaRPr b="0" i="0" sz="1200" u="none" cap="none" strike="noStrike">
              <a:solidFill>
                <a:schemeClr val="dk1"/>
              </a:solidFill>
              <a:latin typeface="Calibri"/>
              <a:ea typeface="Calibri"/>
              <a:cs typeface="Calibri"/>
              <a:sym typeface="Calibri"/>
            </a:endParaRPr>
          </a:p>
        </p:txBody>
      </p:sp>
      <p:sp>
        <p:nvSpPr>
          <p:cNvPr id="317" name="Google Shape;317;h63c0e6991457cadf_0_41"/>
          <p:cNvSpPr txBox="1"/>
          <p:nvPr/>
        </p:nvSpPr>
        <p:spPr>
          <a:xfrm>
            <a:off x="914400" y="2624328"/>
            <a:ext cx="4297800" cy="1828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You are tasked with writing a function that determines if a given string s is a valid palindrome. Your function should return a boolean value as the indicator for whether or not s is a palindrome. For reference, a palindrome is a string that reads the same backward as forward, ignoring spaces, punctuation, and capitalization.</a:t>
            </a:r>
            <a:endParaRPr b="0" i="0" sz="1400" u="none" cap="none" strike="noStrike">
              <a:solidFill>
                <a:schemeClr val="dk1"/>
              </a:solidFill>
              <a:latin typeface="Calibri"/>
              <a:ea typeface="Calibri"/>
              <a:cs typeface="Calibri"/>
              <a:sym typeface="Calibri"/>
            </a:endParaRPr>
          </a:p>
        </p:txBody>
      </p:sp>
      <p:sp>
        <p:nvSpPr>
          <p:cNvPr id="318" name="Google Shape;318;h63c0e6991457cadf_0_41"/>
          <p:cNvSpPr txBox="1"/>
          <p:nvPr/>
        </p:nvSpPr>
        <p:spPr>
          <a:xfrm>
            <a:off x="914400" y="4526280"/>
            <a:ext cx="2743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CONSTRAINTS</a:t>
            </a:r>
            <a:endParaRPr b="0" i="0" sz="1100" u="none" cap="none" strike="noStrike">
              <a:solidFill>
                <a:schemeClr val="dk1"/>
              </a:solidFill>
              <a:latin typeface="Calibri"/>
              <a:ea typeface="Calibri"/>
              <a:cs typeface="Calibri"/>
              <a:sym typeface="Calibri"/>
            </a:endParaRPr>
          </a:p>
        </p:txBody>
      </p:sp>
      <p:sp>
        <p:nvSpPr>
          <p:cNvPr id="319" name="Google Shape;319;h63c0e6991457cadf_0_41"/>
          <p:cNvSpPr txBox="1"/>
          <p:nvPr/>
        </p:nvSpPr>
        <p:spPr>
          <a:xfrm>
            <a:off x="914400" y="4800600"/>
            <a:ext cx="4297800" cy="132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The input string s will have a length between 0 and 10,000 characters.</a:t>
            </a:r>
            <a:endParaRPr b="0" i="0" sz="13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The string s will consist of English letters, digits, symbols, and spaces.</a:t>
            </a:r>
            <a:endParaRPr b="0" i="0" sz="1300" u="none" cap="none" strike="noStrike">
              <a:solidFill>
                <a:schemeClr val="dk1"/>
              </a:solidFill>
              <a:latin typeface="Calibri"/>
              <a:ea typeface="Calibri"/>
              <a:cs typeface="Calibri"/>
              <a:sym typeface="Calibri"/>
            </a:endParaRPr>
          </a:p>
        </p:txBody>
      </p:sp>
      <p:sp>
        <p:nvSpPr>
          <p:cNvPr id="320" name="Google Shape;320;h63c0e6991457cadf_0_41"/>
          <p:cNvSpPr/>
          <p:nvPr/>
        </p:nvSpPr>
        <p:spPr>
          <a:xfrm>
            <a:off x="5760725" y="1600200"/>
            <a:ext cx="5790900" cy="1326000"/>
          </a:xfrm>
          <a:prstGeom prst="roundRect">
            <a:avLst>
              <a:gd fmla="val 25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h63c0e6991457cadf_0_41"/>
          <p:cNvSpPr txBox="1"/>
          <p:nvPr/>
        </p:nvSpPr>
        <p:spPr>
          <a:xfrm>
            <a:off x="6080760" y="1783080"/>
            <a:ext cx="51507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u="none" cap="none" strike="noStrike">
                <a:solidFill>
                  <a:schemeClr val="dk1"/>
                </a:solidFill>
                <a:latin typeface="Calibri"/>
                <a:ea typeface="Calibri"/>
                <a:cs typeface="Calibri"/>
                <a:sym typeface="Calibri"/>
              </a:rPr>
              <a:t>Example 1</a:t>
            </a:r>
            <a:endParaRPr b="0" i="0" u="none" cap="none" strike="noStrike">
              <a:solidFill>
                <a:schemeClr val="dk1"/>
              </a:solidFill>
              <a:latin typeface="Calibri"/>
              <a:ea typeface="Calibri"/>
              <a:cs typeface="Calibri"/>
              <a:sym typeface="Calibri"/>
            </a:endParaRPr>
          </a:p>
        </p:txBody>
      </p:sp>
      <p:sp>
        <p:nvSpPr>
          <p:cNvPr id="322" name="Google Shape;322;h63c0e6991457cadf_0_41"/>
          <p:cNvSpPr txBox="1"/>
          <p:nvPr/>
        </p:nvSpPr>
        <p:spPr>
          <a:xfrm>
            <a:off x="6080760" y="2034485"/>
            <a:ext cx="5150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300" u="none" cap="none" strike="noStrike">
                <a:solidFill>
                  <a:schemeClr val="dk1"/>
                </a:solidFill>
                <a:latin typeface="Courier New"/>
                <a:ea typeface="Courier New"/>
                <a:cs typeface="Courier New"/>
                <a:sym typeface="Courier New"/>
              </a:rPr>
              <a:t>Input:   s = "A man, a plan, a canal, Panama"</a:t>
            </a:r>
            <a:endParaRPr b="0" i="0" sz="1300" u="none" cap="none" strike="noStrike">
              <a:solidFill>
                <a:schemeClr val="dk1"/>
              </a:solidFill>
              <a:latin typeface="Calibri"/>
              <a:ea typeface="Calibri"/>
              <a:cs typeface="Calibri"/>
              <a:sym typeface="Calibri"/>
            </a:endParaRPr>
          </a:p>
        </p:txBody>
      </p:sp>
      <p:sp>
        <p:nvSpPr>
          <p:cNvPr id="323" name="Google Shape;323;h63c0e6991457cadf_0_41"/>
          <p:cNvSpPr txBox="1"/>
          <p:nvPr/>
        </p:nvSpPr>
        <p:spPr>
          <a:xfrm>
            <a:off x="6172760" y="1783074"/>
            <a:ext cx="5150700" cy="274200"/>
          </a:xfrm>
          <a:prstGeom prst="rect">
            <a:avLst/>
          </a:prstGeom>
          <a:noFill/>
          <a:ln>
            <a:noFill/>
          </a:ln>
        </p:spPr>
        <p:txBody>
          <a:bodyPr anchorCtr="0" anchor="t" bIns="0" lIns="0" spcFirstLastPara="1" rIns="0" wrap="square" tIns="0">
            <a:noAutofit/>
          </a:bodyPr>
          <a:lstStyle/>
          <a:p>
            <a:pPr indent="0" lvl="0" marL="3657600" marR="0" rtl="0" algn="l">
              <a:spcBef>
                <a:spcPts val="0"/>
              </a:spcBef>
              <a:spcAft>
                <a:spcPts val="0"/>
              </a:spcAft>
              <a:buClr>
                <a:schemeClr val="dk1"/>
              </a:buClr>
              <a:buSzPts val="1400"/>
              <a:buFont typeface="Courier New"/>
              <a:buNone/>
            </a:pPr>
            <a:r>
              <a:rPr b="1" i="0" lang="en-US" sz="1300" u="none" cap="none" strike="noStrike">
                <a:solidFill>
                  <a:schemeClr val="dk1"/>
                </a:solidFill>
                <a:latin typeface="Courier New"/>
                <a:ea typeface="Courier New"/>
                <a:cs typeface="Courier New"/>
                <a:sym typeface="Courier New"/>
              </a:rPr>
              <a:t>Output:  True</a:t>
            </a:r>
            <a:endParaRPr b="0" i="0" sz="1300" u="none" cap="none" strike="noStrike">
              <a:solidFill>
                <a:schemeClr val="dk1"/>
              </a:solidFill>
              <a:latin typeface="Calibri"/>
              <a:ea typeface="Calibri"/>
              <a:cs typeface="Calibri"/>
              <a:sym typeface="Calibri"/>
            </a:endParaRPr>
          </a:p>
        </p:txBody>
      </p:sp>
      <p:sp>
        <p:nvSpPr>
          <p:cNvPr id="324" name="Google Shape;324;h63c0e6991457cadf_0_41"/>
          <p:cNvSpPr txBox="1"/>
          <p:nvPr/>
        </p:nvSpPr>
        <p:spPr>
          <a:xfrm>
            <a:off x="6080750" y="2285911"/>
            <a:ext cx="51507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1" lang="en-US" sz="1400" u="none" cap="none" strike="noStrike">
                <a:solidFill>
                  <a:schemeClr val="accent5"/>
                </a:solidFill>
                <a:latin typeface="Calibri"/>
                <a:ea typeface="Calibri"/>
                <a:cs typeface="Calibri"/>
                <a:sym typeface="Calibri"/>
              </a:rPr>
              <a:t>Explanation: Ignoring spaces, punctuation, and capitalization, the string reads "amanaplanacanalpanama", which is a palindrome.</a:t>
            </a:r>
            <a:endParaRPr b="0" i="0" sz="1400" u="none" cap="none" strike="noStrike">
              <a:solidFill>
                <a:schemeClr val="dk1"/>
              </a:solidFill>
              <a:latin typeface="Calibri"/>
              <a:ea typeface="Calibri"/>
              <a:cs typeface="Calibri"/>
              <a:sym typeface="Calibri"/>
            </a:endParaRPr>
          </a:p>
        </p:txBody>
      </p:sp>
      <p:sp>
        <p:nvSpPr>
          <p:cNvPr id="325" name="Google Shape;325;h63c0e6991457cadf_0_41"/>
          <p:cNvSpPr/>
          <p:nvPr/>
        </p:nvSpPr>
        <p:spPr>
          <a:xfrm>
            <a:off x="5760725" y="3291899"/>
            <a:ext cx="5790900" cy="1326000"/>
          </a:xfrm>
          <a:prstGeom prst="roundRect">
            <a:avLst>
              <a:gd fmla="val 25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h63c0e6991457cadf_0_41"/>
          <p:cNvSpPr txBox="1"/>
          <p:nvPr/>
        </p:nvSpPr>
        <p:spPr>
          <a:xfrm>
            <a:off x="6080760" y="3474770"/>
            <a:ext cx="51507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u="none" cap="none" strike="noStrike">
                <a:solidFill>
                  <a:schemeClr val="dk1"/>
                </a:solidFill>
                <a:latin typeface="Calibri"/>
                <a:ea typeface="Calibri"/>
                <a:cs typeface="Calibri"/>
                <a:sym typeface="Calibri"/>
              </a:rPr>
              <a:t>Example 2</a:t>
            </a:r>
            <a:endParaRPr b="0" i="0" u="none" cap="none" strike="noStrike">
              <a:solidFill>
                <a:schemeClr val="dk1"/>
              </a:solidFill>
              <a:latin typeface="Calibri"/>
              <a:ea typeface="Calibri"/>
              <a:cs typeface="Calibri"/>
              <a:sym typeface="Calibri"/>
            </a:endParaRPr>
          </a:p>
        </p:txBody>
      </p:sp>
      <p:sp>
        <p:nvSpPr>
          <p:cNvPr id="327" name="Google Shape;327;h63c0e6991457cadf_0_41"/>
          <p:cNvSpPr txBox="1"/>
          <p:nvPr/>
        </p:nvSpPr>
        <p:spPr>
          <a:xfrm>
            <a:off x="6080760" y="3762800"/>
            <a:ext cx="5150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300" u="none" cap="none" strike="noStrike">
                <a:solidFill>
                  <a:schemeClr val="dk1"/>
                </a:solidFill>
                <a:latin typeface="Courier New"/>
                <a:ea typeface="Courier New"/>
                <a:cs typeface="Courier New"/>
                <a:sym typeface="Courier New"/>
              </a:rPr>
              <a:t>Input:   s = "race a car"</a:t>
            </a:r>
            <a:endParaRPr b="0" i="0" sz="1300" u="none" cap="none" strike="noStrike">
              <a:solidFill>
                <a:schemeClr val="dk1"/>
              </a:solidFill>
              <a:latin typeface="Calibri"/>
              <a:ea typeface="Calibri"/>
              <a:cs typeface="Calibri"/>
              <a:sym typeface="Calibri"/>
            </a:endParaRPr>
          </a:p>
        </p:txBody>
      </p:sp>
      <p:sp>
        <p:nvSpPr>
          <p:cNvPr id="328" name="Google Shape;328;h63c0e6991457cadf_0_41"/>
          <p:cNvSpPr txBox="1"/>
          <p:nvPr/>
        </p:nvSpPr>
        <p:spPr>
          <a:xfrm>
            <a:off x="9790835" y="3465639"/>
            <a:ext cx="5150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1" i="0" lang="en-US" sz="1300" u="none" cap="none" strike="noStrike">
                <a:solidFill>
                  <a:schemeClr val="dk1"/>
                </a:solidFill>
                <a:latin typeface="Courier New"/>
                <a:ea typeface="Courier New"/>
                <a:cs typeface="Courier New"/>
                <a:sym typeface="Courier New"/>
              </a:rPr>
              <a:t>Output:  False</a:t>
            </a:r>
            <a:endParaRPr b="0" i="0" sz="1300" u="none" cap="none" strike="noStrike">
              <a:solidFill>
                <a:schemeClr val="dk1"/>
              </a:solidFill>
              <a:latin typeface="Calibri"/>
              <a:ea typeface="Calibri"/>
              <a:cs typeface="Calibri"/>
              <a:sym typeface="Calibri"/>
            </a:endParaRPr>
          </a:p>
        </p:txBody>
      </p:sp>
      <p:sp>
        <p:nvSpPr>
          <p:cNvPr id="329" name="Google Shape;329;h63c0e6991457cadf_0_41"/>
          <p:cNvSpPr txBox="1"/>
          <p:nvPr/>
        </p:nvSpPr>
        <p:spPr>
          <a:xfrm>
            <a:off x="6080825" y="3987654"/>
            <a:ext cx="5150700" cy="54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1" lang="en-US" sz="1300" u="none" cap="none" strike="noStrike">
                <a:solidFill>
                  <a:schemeClr val="accent5"/>
                </a:solidFill>
                <a:latin typeface="Calibri"/>
                <a:ea typeface="Calibri"/>
                <a:cs typeface="Calibri"/>
                <a:sym typeface="Calibri"/>
              </a:rPr>
              <a:t>Explanation: Ignoring spaces and punctuation, the string reads "raceacar", which is not a palindrome.</a:t>
            </a:r>
            <a:endParaRPr b="0" i="0" sz="1300" u="none" cap="none" strike="noStrike">
              <a:solidFill>
                <a:schemeClr val="dk1"/>
              </a:solidFill>
              <a:latin typeface="Calibri"/>
              <a:ea typeface="Calibri"/>
              <a:cs typeface="Calibri"/>
              <a:sym typeface="Calibri"/>
            </a:endParaRPr>
          </a:p>
        </p:txBody>
      </p:sp>
      <p:sp>
        <p:nvSpPr>
          <p:cNvPr id="330" name="Google Shape;330;h63c0e6991457cadf_0_41"/>
          <p:cNvSpPr/>
          <p:nvPr/>
        </p:nvSpPr>
        <p:spPr>
          <a:xfrm>
            <a:off x="5760725" y="4983600"/>
            <a:ext cx="5790900" cy="1188600"/>
          </a:xfrm>
          <a:prstGeom prst="roundRect">
            <a:avLst>
              <a:gd fmla="val 2667"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h63c0e6991457cadf_0_41"/>
          <p:cNvSpPr txBox="1"/>
          <p:nvPr/>
        </p:nvSpPr>
        <p:spPr>
          <a:xfrm>
            <a:off x="6080760" y="5148192"/>
            <a:ext cx="22860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Example 3</a:t>
            </a:r>
            <a:endParaRPr b="0" i="0" sz="1400" u="none" cap="none" strike="noStrike">
              <a:solidFill>
                <a:schemeClr val="dk1"/>
              </a:solidFill>
              <a:latin typeface="Calibri"/>
              <a:ea typeface="Calibri"/>
              <a:cs typeface="Calibri"/>
              <a:sym typeface="Calibri"/>
            </a:endParaRPr>
          </a:p>
        </p:txBody>
      </p:sp>
      <p:sp>
        <p:nvSpPr>
          <p:cNvPr id="332" name="Google Shape;332;h63c0e6991457cadf_0_41"/>
          <p:cNvSpPr txBox="1"/>
          <p:nvPr/>
        </p:nvSpPr>
        <p:spPr>
          <a:xfrm>
            <a:off x="8366760" y="5148192"/>
            <a:ext cx="2864700" cy="255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1"/>
              </a:buClr>
              <a:buSzPts val="1300"/>
              <a:buFont typeface="Courier New"/>
              <a:buNone/>
            </a:pPr>
            <a:r>
              <a:rPr b="1" i="0" lang="en-US" sz="1300" u="none" cap="none" strike="noStrike">
                <a:solidFill>
                  <a:schemeClr val="dk1"/>
                </a:solidFill>
                <a:latin typeface="Courier New"/>
                <a:ea typeface="Courier New"/>
                <a:cs typeface="Courier New"/>
                <a:sym typeface="Courier New"/>
              </a:rPr>
              <a:t>Output: True</a:t>
            </a:r>
            <a:endParaRPr b="0" i="0" sz="1300" u="none" cap="none" strike="noStrike">
              <a:solidFill>
                <a:schemeClr val="dk1"/>
              </a:solidFill>
              <a:latin typeface="Calibri"/>
              <a:ea typeface="Calibri"/>
              <a:cs typeface="Calibri"/>
              <a:sym typeface="Calibri"/>
            </a:endParaRPr>
          </a:p>
        </p:txBody>
      </p:sp>
      <p:sp>
        <p:nvSpPr>
          <p:cNvPr id="333" name="Google Shape;333;h63c0e6991457cadf_0_41"/>
          <p:cNvSpPr txBox="1"/>
          <p:nvPr/>
        </p:nvSpPr>
        <p:spPr>
          <a:xfrm>
            <a:off x="6080760" y="5422512"/>
            <a:ext cx="5150700" cy="237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ourier New"/>
              <a:buNone/>
            </a:pPr>
            <a:r>
              <a:rPr b="0" i="0" lang="en-US" sz="1300" u="none" cap="none" strike="noStrike">
                <a:solidFill>
                  <a:schemeClr val="dk1"/>
                </a:solidFill>
                <a:latin typeface="Courier New"/>
                <a:ea typeface="Courier New"/>
                <a:cs typeface="Courier New"/>
                <a:sym typeface="Courier New"/>
              </a:rPr>
              <a:t>s = ""</a:t>
            </a:r>
            <a:endParaRPr b="0" i="0" sz="1300" u="none" cap="none" strike="noStrike">
              <a:solidFill>
                <a:schemeClr val="dk1"/>
              </a:solidFill>
              <a:latin typeface="Calibri"/>
              <a:ea typeface="Calibri"/>
              <a:cs typeface="Calibri"/>
              <a:sym typeface="Calibri"/>
            </a:endParaRPr>
          </a:p>
        </p:txBody>
      </p:sp>
      <p:sp>
        <p:nvSpPr>
          <p:cNvPr id="334" name="Google Shape;334;h63c0e6991457cadf_0_41"/>
          <p:cNvSpPr txBox="1"/>
          <p:nvPr/>
        </p:nvSpPr>
        <p:spPr>
          <a:xfrm>
            <a:off x="6080760" y="5678544"/>
            <a:ext cx="5150700" cy="237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b="0" i="1" lang="en-US" sz="1300" u="none" cap="none" strike="noStrike">
                <a:solidFill>
                  <a:schemeClr val="accent5"/>
                </a:solidFill>
                <a:latin typeface="Calibri"/>
                <a:ea typeface="Calibri"/>
                <a:cs typeface="Calibri"/>
                <a:sym typeface="Calibri"/>
              </a:rPr>
              <a:t>An empty string is considered a valid palindrome.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h63c0e6991457cadf_0_233"/>
          <p:cNvSpPr txBox="1"/>
          <p:nvPr>
            <p:ph idx="1" type="body"/>
          </p:nvPr>
        </p:nvSpPr>
        <p:spPr>
          <a:xfrm>
            <a:off x="640080" y="457200"/>
            <a:ext cx="8229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1200"/>
              <a:buNone/>
            </a:pPr>
            <a:r>
              <a:rPr b="1" lang="en-US" sz="1200">
                <a:solidFill>
                  <a:schemeClr val="accent1"/>
                </a:solidFill>
              </a:rPr>
              <a:t>WORKED EXAMPLE 1   //   EASY</a:t>
            </a:r>
            <a:endParaRPr sz="1200"/>
          </a:p>
        </p:txBody>
      </p:sp>
      <p:sp>
        <p:nvSpPr>
          <p:cNvPr id="341" name="Google Shape;341;h63c0e6991457cadf_0_233"/>
          <p:cNvSpPr txBox="1"/>
          <p:nvPr>
            <p:ph type="title"/>
          </p:nvPr>
        </p:nvSpPr>
        <p:spPr>
          <a:xfrm>
            <a:off x="640080" y="777240"/>
            <a:ext cx="109089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dk1"/>
                </a:solidFill>
              </a:rPr>
              <a:t>Worked example: Valid Palindrome</a:t>
            </a:r>
            <a:endParaRPr sz="3200"/>
          </a:p>
        </p:txBody>
      </p:sp>
      <p:sp>
        <p:nvSpPr>
          <p:cNvPr id="342" name="Google Shape;342;h63c0e6991457cadf_0_233"/>
          <p:cNvSpPr/>
          <p:nvPr/>
        </p:nvSpPr>
        <p:spPr>
          <a:xfrm>
            <a:off x="640080" y="1600200"/>
            <a:ext cx="4846200" cy="4572000"/>
          </a:xfrm>
          <a:prstGeom prst="roundRect">
            <a:avLst>
              <a:gd fmla="val 12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h63c0e6991457cadf_0_233"/>
          <p:cNvSpPr txBox="1"/>
          <p:nvPr/>
        </p:nvSpPr>
        <p:spPr>
          <a:xfrm>
            <a:off x="914400" y="1874520"/>
            <a:ext cx="301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Problem statement</a:t>
            </a:r>
            <a:endParaRPr b="0" i="0" sz="2000" u="none" cap="none" strike="noStrike">
              <a:solidFill>
                <a:schemeClr val="dk1"/>
              </a:solidFill>
              <a:latin typeface="Calibri"/>
              <a:ea typeface="Calibri"/>
              <a:cs typeface="Calibri"/>
              <a:sym typeface="Calibri"/>
            </a:endParaRPr>
          </a:p>
        </p:txBody>
      </p:sp>
      <p:sp>
        <p:nvSpPr>
          <p:cNvPr id="344" name="Google Shape;344;h63c0e6991457cadf_0_233"/>
          <p:cNvSpPr/>
          <p:nvPr/>
        </p:nvSpPr>
        <p:spPr>
          <a:xfrm>
            <a:off x="4297680" y="1901952"/>
            <a:ext cx="914400" cy="310800"/>
          </a:xfrm>
          <a:prstGeom prst="roundRect">
            <a:avLst>
              <a:gd fmla="val 44118" name="adj"/>
            </a:avLst>
          </a:prstGeom>
          <a:solidFill>
            <a:schemeClr val="accent2">
              <a:alpha val="20000"/>
            </a:schemeClr>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EASY</a:t>
            </a:r>
            <a:endParaRPr b="0" i="0" sz="1100" u="none" cap="none" strike="noStrike">
              <a:solidFill>
                <a:schemeClr val="dk1"/>
              </a:solidFill>
              <a:latin typeface="Calibri"/>
              <a:ea typeface="Calibri"/>
              <a:cs typeface="Calibri"/>
              <a:sym typeface="Calibri"/>
            </a:endParaRPr>
          </a:p>
        </p:txBody>
      </p:sp>
      <p:sp>
        <p:nvSpPr>
          <p:cNvPr id="345" name="Google Shape;345;h63c0e6991457cadf_0_233"/>
          <p:cNvSpPr txBox="1"/>
          <p:nvPr/>
        </p:nvSpPr>
        <p:spPr>
          <a:xfrm>
            <a:off x="914400" y="2313432"/>
            <a:ext cx="42978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US" sz="1200" u="none" cap="none" strike="noStrike">
                <a:solidFill>
                  <a:schemeClr val="accent5"/>
                </a:solidFill>
                <a:latin typeface="Calibri"/>
                <a:ea typeface="Calibri"/>
                <a:cs typeface="Calibri"/>
                <a:sym typeface="Calibri"/>
              </a:rPr>
              <a:t>Author: Anthony Perez</a:t>
            </a:r>
            <a:endParaRPr b="0" i="0" sz="1200" u="none" cap="none" strike="noStrike">
              <a:solidFill>
                <a:schemeClr val="dk1"/>
              </a:solidFill>
              <a:latin typeface="Calibri"/>
              <a:ea typeface="Calibri"/>
              <a:cs typeface="Calibri"/>
              <a:sym typeface="Calibri"/>
            </a:endParaRPr>
          </a:p>
        </p:txBody>
      </p:sp>
      <p:sp>
        <p:nvSpPr>
          <p:cNvPr id="346" name="Google Shape;346;h63c0e6991457cadf_0_233"/>
          <p:cNvSpPr txBox="1"/>
          <p:nvPr/>
        </p:nvSpPr>
        <p:spPr>
          <a:xfrm>
            <a:off x="914400" y="2624328"/>
            <a:ext cx="4297800" cy="1828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You are tasked with writing a function that determines if a given string s is a valid palindrome. Your function should return a boolean value as the indicator for whether or not s is a palindrome. For reference, a palindrome is a string that reads the same backward as forward, ignoring spaces, punctuation, and capitalization.</a:t>
            </a:r>
            <a:endParaRPr b="0" i="0" sz="1400" u="none" cap="none" strike="noStrike">
              <a:solidFill>
                <a:schemeClr val="dk1"/>
              </a:solidFill>
              <a:latin typeface="Calibri"/>
              <a:ea typeface="Calibri"/>
              <a:cs typeface="Calibri"/>
              <a:sym typeface="Calibri"/>
            </a:endParaRPr>
          </a:p>
        </p:txBody>
      </p:sp>
      <p:sp>
        <p:nvSpPr>
          <p:cNvPr id="347" name="Google Shape;347;h63c0e6991457cadf_0_233"/>
          <p:cNvSpPr txBox="1"/>
          <p:nvPr/>
        </p:nvSpPr>
        <p:spPr>
          <a:xfrm>
            <a:off x="914400" y="4526280"/>
            <a:ext cx="2743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CONSTRAINTS</a:t>
            </a:r>
            <a:endParaRPr b="0" i="0" sz="1100" u="none" cap="none" strike="noStrike">
              <a:solidFill>
                <a:schemeClr val="dk1"/>
              </a:solidFill>
              <a:latin typeface="Calibri"/>
              <a:ea typeface="Calibri"/>
              <a:cs typeface="Calibri"/>
              <a:sym typeface="Calibri"/>
            </a:endParaRPr>
          </a:p>
        </p:txBody>
      </p:sp>
      <p:sp>
        <p:nvSpPr>
          <p:cNvPr id="348" name="Google Shape;348;h63c0e6991457cadf_0_233"/>
          <p:cNvSpPr txBox="1"/>
          <p:nvPr/>
        </p:nvSpPr>
        <p:spPr>
          <a:xfrm>
            <a:off x="914400" y="4800600"/>
            <a:ext cx="4297800" cy="132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The input string s will have a length between 0 and 10,000 characters.</a:t>
            </a:r>
            <a:endParaRPr b="0" i="0" sz="13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The string s will consist of English letters, digits, symbols, and spaces.</a:t>
            </a:r>
            <a:endParaRPr b="0" i="0" sz="1300" u="none" cap="none" strike="noStrike">
              <a:solidFill>
                <a:schemeClr val="dk1"/>
              </a:solidFill>
              <a:latin typeface="Calibri"/>
              <a:ea typeface="Calibri"/>
              <a:cs typeface="Calibri"/>
              <a:sym typeface="Calibri"/>
            </a:endParaRPr>
          </a:p>
        </p:txBody>
      </p:sp>
      <p:sp>
        <p:nvSpPr>
          <p:cNvPr id="349" name="Google Shape;349;h63c0e6991457cadf_0_233"/>
          <p:cNvSpPr/>
          <p:nvPr/>
        </p:nvSpPr>
        <p:spPr>
          <a:xfrm>
            <a:off x="5760725" y="1600200"/>
            <a:ext cx="5790900" cy="713100"/>
          </a:xfrm>
          <a:prstGeom prst="roundRect">
            <a:avLst>
              <a:gd fmla="val 4615" name="adj"/>
            </a:avLst>
          </a:prstGeom>
          <a:solidFill>
            <a:schemeClr val="accent6"/>
          </a:solidFill>
          <a:ln cap="flat" cmpd="sng" w="9525">
            <a:solidFill>
              <a:schemeClr val="accent5">
                <a:alpha val="502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h63c0e6991457cadf_0_233"/>
          <p:cNvSpPr txBox="1"/>
          <p:nvPr/>
        </p:nvSpPr>
        <p:spPr>
          <a:xfrm>
            <a:off x="6126430" y="1686030"/>
            <a:ext cx="50595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200"/>
              <a:buFont typeface="Calibri"/>
              <a:buNone/>
            </a:pPr>
            <a:r>
              <a:rPr b="1" i="0" lang="en-US" sz="2000" u="none" cap="none" strike="noStrike">
                <a:solidFill>
                  <a:schemeClr val="lt1"/>
                </a:solidFill>
                <a:latin typeface="Calibri"/>
                <a:ea typeface="Calibri"/>
                <a:cs typeface="Calibri"/>
                <a:sym typeface="Calibri"/>
              </a:rPr>
              <a:t>You have 5 minutes to complete this.</a:t>
            </a:r>
            <a:endParaRPr b="0" i="0" sz="2000" u="none" cap="none" strike="noStrike">
              <a:solidFill>
                <a:schemeClr val="dk1"/>
              </a:solidFill>
              <a:latin typeface="Calibri"/>
              <a:ea typeface="Calibri"/>
              <a:cs typeface="Calibri"/>
              <a:sym typeface="Calibri"/>
            </a:endParaRPr>
          </a:p>
        </p:txBody>
      </p:sp>
      <p:sp>
        <p:nvSpPr>
          <p:cNvPr id="351" name="Google Shape;351;h63c0e6991457cadf_0_233"/>
          <p:cNvSpPr txBox="1"/>
          <p:nvPr/>
        </p:nvSpPr>
        <p:spPr>
          <a:xfrm>
            <a:off x="6126355" y="1990956"/>
            <a:ext cx="50595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500"/>
              <a:buFont typeface="Calibri"/>
              <a:buNone/>
            </a:pPr>
            <a:r>
              <a:rPr b="0" i="0" lang="en-US" sz="1300" u="none" cap="none" strike="noStrike">
                <a:solidFill>
                  <a:schemeClr val="lt2"/>
                </a:solidFill>
                <a:latin typeface="Calibri"/>
                <a:ea typeface="Calibri"/>
                <a:cs typeface="Calibri"/>
                <a:sym typeface="Calibri"/>
              </a:rPr>
              <a:t>Please feel free to work in pairs or small groups (3 to 4).</a:t>
            </a:r>
            <a:endParaRPr b="0" i="0" sz="1300" u="none" cap="none" strike="noStrike">
              <a:solidFill>
                <a:schemeClr val="dk1"/>
              </a:solidFill>
              <a:latin typeface="Calibri"/>
              <a:ea typeface="Calibri"/>
              <a:cs typeface="Calibri"/>
              <a:sym typeface="Calibri"/>
            </a:endParaRPr>
          </a:p>
        </p:txBody>
      </p:sp>
      <p:sp>
        <p:nvSpPr>
          <p:cNvPr id="352" name="Google Shape;352;h63c0e6991457cadf_0_233"/>
          <p:cNvSpPr/>
          <p:nvPr/>
        </p:nvSpPr>
        <p:spPr>
          <a:xfrm>
            <a:off x="5760725" y="2460775"/>
            <a:ext cx="5790900" cy="818400"/>
          </a:xfrm>
          <a:prstGeom prst="roundRect">
            <a:avLst>
              <a:gd fmla="val 5714"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h63c0e6991457cadf_0_233"/>
          <p:cNvSpPr txBox="1"/>
          <p:nvPr/>
        </p:nvSpPr>
        <p:spPr>
          <a:xfrm>
            <a:off x="6080760" y="2597935"/>
            <a:ext cx="18288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HINT</a:t>
            </a:r>
            <a:endParaRPr b="0" i="0" sz="1100" u="none" cap="none" strike="noStrike">
              <a:solidFill>
                <a:schemeClr val="dk1"/>
              </a:solidFill>
              <a:latin typeface="Calibri"/>
              <a:ea typeface="Calibri"/>
              <a:cs typeface="Calibri"/>
              <a:sym typeface="Calibri"/>
            </a:endParaRPr>
          </a:p>
        </p:txBody>
      </p:sp>
      <p:sp>
        <p:nvSpPr>
          <p:cNvPr id="354" name="Google Shape;354;h63c0e6991457cadf_0_233"/>
          <p:cNvSpPr txBox="1"/>
          <p:nvPr/>
        </p:nvSpPr>
        <p:spPr>
          <a:xfrm>
            <a:off x="6080760" y="2776305"/>
            <a:ext cx="5150700" cy="502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Skip characters that are not letters or digits, and compare the rest in lowercase from both ends.</a:t>
            </a:r>
            <a:endParaRPr b="0" i="0" sz="1300" u="none" cap="none" strike="noStrike">
              <a:solidFill>
                <a:schemeClr val="dk1"/>
              </a:solidFill>
              <a:latin typeface="Calibri"/>
              <a:ea typeface="Calibri"/>
              <a:cs typeface="Calibri"/>
              <a:sym typeface="Calibri"/>
            </a:endParaRPr>
          </a:p>
        </p:txBody>
      </p:sp>
      <p:pic>
        <p:nvPicPr>
          <p:cNvPr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id="355" name="Google Shape;355;h63c0e6991457cadf_0_233" title="5 Minute Timer">
            <a:hlinkClick r:id="rId3"/>
          </p:cNvPr>
          <p:cNvPicPr preferRelativeResize="0"/>
          <p:nvPr/>
        </p:nvPicPr>
        <p:blipFill>
          <a:blip r:embed="rId4">
            <a:alphaModFix/>
          </a:blip>
          <a:stretch>
            <a:fillRect/>
          </a:stretch>
        </p:blipFill>
        <p:spPr>
          <a:xfrm>
            <a:off x="5760726" y="3448000"/>
            <a:ext cx="5790900" cy="272419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h63c0e6991457cadf_0_76"/>
          <p:cNvSpPr txBox="1"/>
          <p:nvPr>
            <p:ph idx="1" type="body"/>
          </p:nvPr>
        </p:nvSpPr>
        <p:spPr>
          <a:xfrm>
            <a:off x="640080" y="457200"/>
            <a:ext cx="8229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1200"/>
              <a:buNone/>
            </a:pPr>
            <a:r>
              <a:rPr b="1" lang="en-US" sz="1200">
                <a:solidFill>
                  <a:schemeClr val="accent1"/>
                </a:solidFill>
              </a:rPr>
              <a:t>WORKED EXAMPLE 1   //   EASY</a:t>
            </a:r>
            <a:endParaRPr sz="1200"/>
          </a:p>
        </p:txBody>
      </p:sp>
      <p:sp>
        <p:nvSpPr>
          <p:cNvPr id="362" name="Google Shape;362;h63c0e6991457cadf_0_76"/>
          <p:cNvSpPr txBox="1"/>
          <p:nvPr>
            <p:ph type="title"/>
          </p:nvPr>
        </p:nvSpPr>
        <p:spPr>
          <a:xfrm>
            <a:off x="640080" y="777240"/>
            <a:ext cx="109089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dk1"/>
                </a:solidFill>
              </a:rPr>
              <a:t>Worked example: Valid Palindrome</a:t>
            </a:r>
            <a:endParaRPr sz="3200"/>
          </a:p>
        </p:txBody>
      </p:sp>
      <p:sp>
        <p:nvSpPr>
          <p:cNvPr id="363" name="Google Shape;363;h63c0e6991457cadf_0_76"/>
          <p:cNvSpPr/>
          <p:nvPr/>
        </p:nvSpPr>
        <p:spPr>
          <a:xfrm>
            <a:off x="640080" y="1600200"/>
            <a:ext cx="4846200" cy="3291900"/>
          </a:xfrm>
          <a:prstGeom prst="roundRect">
            <a:avLst>
              <a:gd fmla="val 1667"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h63c0e6991457cadf_0_76"/>
          <p:cNvSpPr txBox="1"/>
          <p:nvPr/>
        </p:nvSpPr>
        <p:spPr>
          <a:xfrm>
            <a:off x="914400" y="1801368"/>
            <a:ext cx="42978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Pattern and approach</a:t>
            </a:r>
            <a:endParaRPr b="0" i="0" sz="1800" u="none" cap="none" strike="noStrike">
              <a:solidFill>
                <a:schemeClr val="dk1"/>
              </a:solidFill>
              <a:latin typeface="Calibri"/>
              <a:ea typeface="Calibri"/>
              <a:cs typeface="Calibri"/>
              <a:sym typeface="Calibri"/>
            </a:endParaRPr>
          </a:p>
        </p:txBody>
      </p:sp>
      <p:sp>
        <p:nvSpPr>
          <p:cNvPr id="365" name="Google Shape;365;h63c0e6991457cadf_0_76"/>
          <p:cNvSpPr/>
          <p:nvPr/>
        </p:nvSpPr>
        <p:spPr>
          <a:xfrm>
            <a:off x="914400" y="2313432"/>
            <a:ext cx="1219800" cy="292500"/>
          </a:xfrm>
          <a:prstGeom prst="roundRect">
            <a:avLst>
              <a:gd fmla="val 50000" name="adj"/>
            </a:avLst>
          </a:prstGeom>
          <a:solidFill>
            <a:schemeClr val="accent2">
              <a:alpha val="25100"/>
            </a:schemeClr>
          </a:solidFill>
          <a:ln cap="flat" cmpd="sng" w="9525">
            <a:solidFill>
              <a:schemeClr val="accent2">
                <a:alpha val="70200"/>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Two pointers</a:t>
            </a:r>
            <a:endParaRPr b="0" i="0" sz="1100" u="none" cap="none" strike="noStrike">
              <a:solidFill>
                <a:schemeClr val="dk1"/>
              </a:solidFill>
              <a:latin typeface="Calibri"/>
              <a:ea typeface="Calibri"/>
              <a:cs typeface="Calibri"/>
              <a:sym typeface="Calibri"/>
            </a:endParaRPr>
          </a:p>
        </p:txBody>
      </p:sp>
      <p:sp>
        <p:nvSpPr>
          <p:cNvPr id="366" name="Google Shape;366;h63c0e6991457cadf_0_76"/>
          <p:cNvSpPr/>
          <p:nvPr/>
        </p:nvSpPr>
        <p:spPr>
          <a:xfrm>
            <a:off x="914400" y="2880360"/>
            <a:ext cx="347400" cy="3474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367" name="Google Shape;367;h63c0e6991457cadf_0_76"/>
          <p:cNvSpPr txBox="1"/>
          <p:nvPr/>
        </p:nvSpPr>
        <p:spPr>
          <a:xfrm>
            <a:off x="1463040" y="2862072"/>
            <a:ext cx="3749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Point at both ends</a:t>
            </a:r>
            <a:endParaRPr b="0" i="0" sz="1500" u="none" cap="none" strike="noStrike">
              <a:solidFill>
                <a:schemeClr val="dk1"/>
              </a:solidFill>
              <a:latin typeface="Calibri"/>
              <a:ea typeface="Calibri"/>
              <a:cs typeface="Calibri"/>
              <a:sym typeface="Calibri"/>
            </a:endParaRPr>
          </a:p>
        </p:txBody>
      </p:sp>
      <p:sp>
        <p:nvSpPr>
          <p:cNvPr id="368" name="Google Shape;368;h63c0e6991457cadf_0_76"/>
          <p:cNvSpPr txBox="1"/>
          <p:nvPr/>
        </p:nvSpPr>
        <p:spPr>
          <a:xfrm>
            <a:off x="1463040" y="3136392"/>
            <a:ext cx="37491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left starts at 0, right at len(s) - 1.</a:t>
            </a:r>
            <a:endParaRPr b="0" i="0" sz="1400" u="none" cap="none" strike="noStrike">
              <a:solidFill>
                <a:schemeClr val="dk1"/>
              </a:solidFill>
              <a:latin typeface="Calibri"/>
              <a:ea typeface="Calibri"/>
              <a:cs typeface="Calibri"/>
              <a:sym typeface="Calibri"/>
            </a:endParaRPr>
          </a:p>
        </p:txBody>
      </p:sp>
      <p:sp>
        <p:nvSpPr>
          <p:cNvPr id="369" name="Google Shape;369;h63c0e6991457cadf_0_76"/>
          <p:cNvSpPr/>
          <p:nvPr/>
        </p:nvSpPr>
        <p:spPr>
          <a:xfrm>
            <a:off x="914400" y="3538728"/>
            <a:ext cx="347400" cy="3474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370" name="Google Shape;370;h63c0e6991457cadf_0_76"/>
          <p:cNvSpPr txBox="1"/>
          <p:nvPr/>
        </p:nvSpPr>
        <p:spPr>
          <a:xfrm>
            <a:off x="1463040" y="3520440"/>
            <a:ext cx="3749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Skip anything that is not alphanumeric</a:t>
            </a:r>
            <a:endParaRPr b="0" i="0" sz="1500" u="none" cap="none" strike="noStrike">
              <a:solidFill>
                <a:schemeClr val="dk1"/>
              </a:solidFill>
              <a:latin typeface="Calibri"/>
              <a:ea typeface="Calibri"/>
              <a:cs typeface="Calibri"/>
              <a:sym typeface="Calibri"/>
            </a:endParaRPr>
          </a:p>
        </p:txBody>
      </p:sp>
      <p:sp>
        <p:nvSpPr>
          <p:cNvPr id="371" name="Google Shape;371;h63c0e6991457cadf_0_76"/>
          <p:cNvSpPr txBox="1"/>
          <p:nvPr/>
        </p:nvSpPr>
        <p:spPr>
          <a:xfrm>
            <a:off x="1463040" y="3794760"/>
            <a:ext cx="37491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isalnum() filters out spaces and punctuation.</a:t>
            </a:r>
            <a:endParaRPr b="0" i="0" sz="1400" u="none" cap="none" strike="noStrike">
              <a:solidFill>
                <a:schemeClr val="dk1"/>
              </a:solidFill>
              <a:latin typeface="Calibri"/>
              <a:ea typeface="Calibri"/>
              <a:cs typeface="Calibri"/>
              <a:sym typeface="Calibri"/>
            </a:endParaRPr>
          </a:p>
        </p:txBody>
      </p:sp>
      <p:sp>
        <p:nvSpPr>
          <p:cNvPr id="372" name="Google Shape;372;h63c0e6991457cadf_0_76"/>
          <p:cNvSpPr/>
          <p:nvPr/>
        </p:nvSpPr>
        <p:spPr>
          <a:xfrm>
            <a:off x="914400" y="4197096"/>
            <a:ext cx="347400" cy="3474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373" name="Google Shape;373;h63c0e6991457cadf_0_76"/>
          <p:cNvSpPr txBox="1"/>
          <p:nvPr/>
        </p:nvSpPr>
        <p:spPr>
          <a:xfrm>
            <a:off x="1463040" y="4178808"/>
            <a:ext cx="3749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Compare, then step inward</a:t>
            </a:r>
            <a:endParaRPr b="0" i="0" sz="1500" u="none" cap="none" strike="noStrike">
              <a:solidFill>
                <a:schemeClr val="dk1"/>
              </a:solidFill>
              <a:latin typeface="Calibri"/>
              <a:ea typeface="Calibri"/>
              <a:cs typeface="Calibri"/>
              <a:sym typeface="Calibri"/>
            </a:endParaRPr>
          </a:p>
        </p:txBody>
      </p:sp>
      <p:sp>
        <p:nvSpPr>
          <p:cNvPr id="374" name="Google Shape;374;h63c0e6991457cadf_0_76"/>
          <p:cNvSpPr txBox="1"/>
          <p:nvPr/>
        </p:nvSpPr>
        <p:spPr>
          <a:xfrm>
            <a:off x="1463040" y="4453128"/>
            <a:ext cx="37491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Lowercase both characters. A mismatch returns False.</a:t>
            </a:r>
            <a:endParaRPr b="0" i="0" sz="1400" u="none" cap="none" strike="noStrike">
              <a:solidFill>
                <a:schemeClr val="dk1"/>
              </a:solidFill>
              <a:latin typeface="Calibri"/>
              <a:ea typeface="Calibri"/>
              <a:cs typeface="Calibri"/>
              <a:sym typeface="Calibri"/>
            </a:endParaRPr>
          </a:p>
        </p:txBody>
      </p:sp>
      <p:sp>
        <p:nvSpPr>
          <p:cNvPr id="375" name="Google Shape;375;h63c0e6991457cadf_0_76"/>
          <p:cNvSpPr/>
          <p:nvPr/>
        </p:nvSpPr>
        <p:spPr>
          <a:xfrm>
            <a:off x="640080" y="5029200"/>
            <a:ext cx="4846200" cy="1143000"/>
          </a:xfrm>
          <a:prstGeom prst="roundRect">
            <a:avLst>
              <a:gd fmla="val 4000" name="adj"/>
            </a:avLst>
          </a:prstGeom>
          <a:solidFill>
            <a:schemeClr val="accent1">
              <a:alpha val="12160"/>
            </a:schemeClr>
          </a:solidFill>
          <a:ln cap="flat" cmpd="sng" w="9525">
            <a:solidFill>
              <a:schemeClr val="accent1">
                <a:alpha val="451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h63c0e6991457cadf_0_76"/>
          <p:cNvSpPr txBox="1"/>
          <p:nvPr/>
        </p:nvSpPr>
        <p:spPr>
          <a:xfrm>
            <a:off x="914400" y="5029200"/>
            <a:ext cx="42978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400"/>
              <a:buFont typeface="Calibri"/>
              <a:buNone/>
            </a:pPr>
            <a:r>
              <a:rPr b="1" i="0" lang="en-US" sz="1400" u="none" cap="none" strike="noStrike">
                <a:solidFill>
                  <a:schemeClr val="accent3"/>
                </a:solidFill>
                <a:latin typeface="Calibri"/>
                <a:ea typeface="Calibri"/>
                <a:cs typeface="Calibri"/>
                <a:sym typeface="Calibri"/>
              </a:rPr>
              <a:t>Common bug  </a:t>
            </a:r>
            <a:endParaRPr b="0" i="0" sz="14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Comparing without lower() makes "A man, a plan..." fail, because "A" and "a" are different characters.</a:t>
            </a:r>
            <a:endParaRPr b="0" i="0" sz="1400" u="none" cap="none" strike="noStrike">
              <a:solidFill>
                <a:schemeClr val="dk1"/>
              </a:solidFill>
              <a:latin typeface="Calibri"/>
              <a:ea typeface="Calibri"/>
              <a:cs typeface="Calibri"/>
              <a:sym typeface="Calibri"/>
            </a:endParaRPr>
          </a:p>
        </p:txBody>
      </p:sp>
      <p:sp>
        <p:nvSpPr>
          <p:cNvPr id="377" name="Google Shape;377;h63c0e6991457cadf_0_76"/>
          <p:cNvSpPr/>
          <p:nvPr/>
        </p:nvSpPr>
        <p:spPr>
          <a:xfrm>
            <a:off x="5760720" y="1600200"/>
            <a:ext cx="5790900" cy="3448200"/>
          </a:xfrm>
          <a:prstGeom prst="roundRect">
            <a:avLst>
              <a:gd fmla="val 1591"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h63c0e6991457cadf_0_76"/>
          <p:cNvSpPr txBox="1"/>
          <p:nvPr/>
        </p:nvSpPr>
        <p:spPr>
          <a:xfrm>
            <a:off x="6035040" y="1801368"/>
            <a:ext cx="5242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PYTHON</a:t>
            </a:r>
            <a:endParaRPr b="0" i="0" sz="1100" u="none" cap="none" strike="noStrike">
              <a:solidFill>
                <a:schemeClr val="dk1"/>
              </a:solidFill>
              <a:latin typeface="Calibri"/>
              <a:ea typeface="Calibri"/>
              <a:cs typeface="Calibri"/>
              <a:sym typeface="Calibri"/>
            </a:endParaRPr>
          </a:p>
        </p:txBody>
      </p:sp>
      <p:sp>
        <p:nvSpPr>
          <p:cNvPr id="379" name="Google Shape;379;h63c0e6991457cadf_0_76"/>
          <p:cNvSpPr txBox="1"/>
          <p:nvPr/>
        </p:nvSpPr>
        <p:spPr>
          <a:xfrm>
            <a:off x="6035040" y="2194560"/>
            <a:ext cx="5242200" cy="267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300">
                <a:solidFill>
                  <a:schemeClr val="lt2"/>
                </a:solidFill>
                <a:latin typeface="Courier New"/>
                <a:ea typeface="Courier New"/>
                <a:cs typeface="Courier New"/>
                <a:sym typeface="Courier New"/>
              </a:rPr>
              <a:t>def is_palindrome(s: str) -&gt; bool:</a:t>
            </a:r>
            <a:endParaRPr sz="13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300">
                <a:solidFill>
                  <a:schemeClr val="lt2"/>
                </a:solidFill>
                <a:latin typeface="Courier New"/>
                <a:ea typeface="Courier New"/>
                <a:cs typeface="Courier New"/>
                <a:sym typeface="Courier New"/>
              </a:rPr>
              <a:t>    lower_s = ''</a:t>
            </a:r>
            <a:endParaRPr sz="13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300">
                <a:solidFill>
                  <a:schemeClr val="lt2"/>
                </a:solidFill>
                <a:latin typeface="Courier New"/>
                <a:ea typeface="Courier New"/>
                <a:cs typeface="Courier New"/>
                <a:sym typeface="Courier New"/>
              </a:rPr>
              <a:t>    for i in range(len(s)):</a:t>
            </a:r>
            <a:endParaRPr sz="13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300">
                <a:solidFill>
                  <a:schemeClr val="lt2"/>
                </a:solidFill>
                <a:latin typeface="Courier New"/>
                <a:ea typeface="Courier New"/>
                <a:cs typeface="Courier New"/>
                <a:sym typeface="Courier New"/>
              </a:rPr>
              <a:t>        if s[i].isalnum():</a:t>
            </a:r>
            <a:endParaRPr sz="13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300">
                <a:solidFill>
                  <a:schemeClr val="lt2"/>
                </a:solidFill>
                <a:latin typeface="Courier New"/>
                <a:ea typeface="Courier New"/>
                <a:cs typeface="Courier New"/>
                <a:sym typeface="Courier New"/>
              </a:rPr>
              <a:t>            lower_s += s[i].lower()</a:t>
            </a:r>
            <a:endParaRPr sz="13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300">
                <a:solidFill>
                  <a:schemeClr val="lt2"/>
                </a:solidFill>
                <a:latin typeface="Courier New"/>
                <a:ea typeface="Courier New"/>
                <a:cs typeface="Courier New"/>
                <a:sym typeface="Courier New"/>
              </a:rPr>
              <a:t>    left = 0</a:t>
            </a:r>
            <a:endParaRPr sz="13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300">
                <a:solidFill>
                  <a:schemeClr val="lt2"/>
                </a:solidFill>
                <a:latin typeface="Courier New"/>
                <a:ea typeface="Courier New"/>
                <a:cs typeface="Courier New"/>
                <a:sym typeface="Courier New"/>
              </a:rPr>
              <a:t>    right = len(lower_s) - 1</a:t>
            </a:r>
            <a:endParaRPr sz="13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300">
                <a:solidFill>
                  <a:schemeClr val="lt2"/>
                </a:solidFill>
                <a:latin typeface="Courier New"/>
                <a:ea typeface="Courier New"/>
                <a:cs typeface="Courier New"/>
                <a:sym typeface="Courier New"/>
              </a:rPr>
              <a:t>    while left &lt; right:</a:t>
            </a:r>
            <a:endParaRPr sz="13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300">
                <a:solidFill>
                  <a:schemeClr val="lt2"/>
                </a:solidFill>
                <a:latin typeface="Courier New"/>
                <a:ea typeface="Courier New"/>
                <a:cs typeface="Courier New"/>
                <a:sym typeface="Courier New"/>
              </a:rPr>
              <a:t>        if lower_s[left] != lower_s[right]:</a:t>
            </a:r>
            <a:endParaRPr sz="13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300">
                <a:solidFill>
                  <a:schemeClr val="lt2"/>
                </a:solidFill>
                <a:latin typeface="Courier New"/>
                <a:ea typeface="Courier New"/>
                <a:cs typeface="Courier New"/>
                <a:sym typeface="Courier New"/>
              </a:rPr>
              <a:t>            return False</a:t>
            </a:r>
            <a:endParaRPr sz="13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300">
                <a:solidFill>
                  <a:schemeClr val="lt2"/>
                </a:solidFill>
                <a:latin typeface="Courier New"/>
                <a:ea typeface="Courier New"/>
                <a:cs typeface="Courier New"/>
                <a:sym typeface="Courier New"/>
              </a:rPr>
              <a:t>        left += 1</a:t>
            </a:r>
            <a:endParaRPr sz="13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300">
                <a:solidFill>
                  <a:schemeClr val="lt2"/>
                </a:solidFill>
                <a:latin typeface="Courier New"/>
                <a:ea typeface="Courier New"/>
                <a:cs typeface="Courier New"/>
                <a:sym typeface="Courier New"/>
              </a:rPr>
              <a:t>        right -= 1</a:t>
            </a:r>
            <a:endParaRPr sz="13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300">
                <a:solidFill>
                  <a:schemeClr val="lt2"/>
                </a:solidFill>
                <a:latin typeface="Courier New"/>
                <a:ea typeface="Courier New"/>
                <a:cs typeface="Courier New"/>
                <a:sym typeface="Courier New"/>
              </a:rPr>
              <a:t>    return True</a:t>
            </a:r>
            <a:endParaRPr sz="1300">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sz="1300">
              <a:solidFill>
                <a:schemeClr val="lt2"/>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lt2"/>
              </a:buClr>
              <a:buSzPts val="1300"/>
              <a:buFont typeface="Courier New"/>
              <a:buNone/>
            </a:pPr>
            <a:r>
              <a:t/>
            </a:r>
            <a:endParaRPr sz="1300">
              <a:solidFill>
                <a:schemeClr val="lt2"/>
              </a:solidFill>
              <a:latin typeface="Courier New"/>
              <a:ea typeface="Courier New"/>
              <a:cs typeface="Courier New"/>
              <a:sym typeface="Courier New"/>
            </a:endParaRPr>
          </a:p>
        </p:txBody>
      </p:sp>
      <p:sp>
        <p:nvSpPr>
          <p:cNvPr id="380" name="Google Shape;380;h63c0e6991457cadf_0_76"/>
          <p:cNvSpPr/>
          <p:nvPr/>
        </p:nvSpPr>
        <p:spPr>
          <a:xfrm>
            <a:off x="5760720" y="5185562"/>
            <a:ext cx="5790900" cy="960000"/>
          </a:xfrm>
          <a:prstGeom prst="roundRect">
            <a:avLst>
              <a:gd fmla="val 5714"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h63c0e6991457cadf_0_76"/>
          <p:cNvSpPr txBox="1"/>
          <p:nvPr/>
        </p:nvSpPr>
        <p:spPr>
          <a:xfrm>
            <a:off x="6035040" y="5341010"/>
            <a:ext cx="3063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700"/>
              <a:buFont typeface="Courier New"/>
              <a:buNone/>
            </a:pPr>
            <a:r>
              <a:rPr b="1" i="0" lang="en-US" sz="1700" u="none" cap="none" strike="noStrike">
                <a:solidFill>
                  <a:schemeClr val="accent2"/>
                </a:solidFill>
                <a:latin typeface="Courier New"/>
                <a:ea typeface="Courier New"/>
                <a:cs typeface="Courier New"/>
                <a:sym typeface="Courier New"/>
              </a:rPr>
              <a:t>Time O(n)</a:t>
            </a:r>
            <a:endParaRPr b="0" i="0" sz="1700" u="none" cap="none" strike="noStrike">
              <a:solidFill>
                <a:schemeClr val="dk1"/>
              </a:solidFill>
              <a:latin typeface="Calibri"/>
              <a:ea typeface="Calibri"/>
              <a:cs typeface="Calibri"/>
              <a:sym typeface="Calibri"/>
            </a:endParaRPr>
          </a:p>
        </p:txBody>
      </p:sp>
      <p:sp>
        <p:nvSpPr>
          <p:cNvPr id="382" name="Google Shape;382;h63c0e6991457cadf_0_76"/>
          <p:cNvSpPr txBox="1"/>
          <p:nvPr/>
        </p:nvSpPr>
        <p:spPr>
          <a:xfrm>
            <a:off x="6035040" y="5734202"/>
            <a:ext cx="3063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each pointer crosses s once</a:t>
            </a:r>
            <a:endParaRPr b="0" i="0" sz="1400" u="none" cap="none" strike="noStrike">
              <a:solidFill>
                <a:schemeClr val="dk1"/>
              </a:solidFill>
              <a:latin typeface="Calibri"/>
              <a:ea typeface="Calibri"/>
              <a:cs typeface="Calibri"/>
              <a:sym typeface="Calibri"/>
            </a:endParaRPr>
          </a:p>
        </p:txBody>
      </p:sp>
      <p:sp>
        <p:nvSpPr>
          <p:cNvPr id="383" name="Google Shape;383;h63c0e6991457cadf_0_76"/>
          <p:cNvSpPr txBox="1"/>
          <p:nvPr/>
        </p:nvSpPr>
        <p:spPr>
          <a:xfrm>
            <a:off x="9098280" y="5341010"/>
            <a:ext cx="2453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700"/>
              <a:buFont typeface="Courier New"/>
              <a:buNone/>
            </a:pPr>
            <a:r>
              <a:rPr b="1" i="0" lang="en-US" sz="1700" u="none" cap="none" strike="noStrike">
                <a:solidFill>
                  <a:schemeClr val="accent2"/>
                </a:solidFill>
                <a:latin typeface="Courier New"/>
                <a:ea typeface="Courier New"/>
                <a:cs typeface="Courier New"/>
                <a:sym typeface="Courier New"/>
              </a:rPr>
              <a:t>Space O(1)</a:t>
            </a:r>
            <a:endParaRPr b="0" i="0" sz="1700" u="none" cap="none" strike="noStrike">
              <a:solidFill>
                <a:schemeClr val="dk1"/>
              </a:solidFill>
              <a:latin typeface="Calibri"/>
              <a:ea typeface="Calibri"/>
              <a:cs typeface="Calibri"/>
              <a:sym typeface="Calibri"/>
            </a:endParaRPr>
          </a:p>
        </p:txBody>
      </p:sp>
      <p:sp>
        <p:nvSpPr>
          <p:cNvPr id="384" name="Google Shape;384;h63c0e6991457cadf_0_76"/>
          <p:cNvSpPr txBox="1"/>
          <p:nvPr/>
        </p:nvSpPr>
        <p:spPr>
          <a:xfrm>
            <a:off x="9098280" y="5734202"/>
            <a:ext cx="2453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only two index variables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h63c0e6991457cadf_0_269"/>
          <p:cNvSpPr txBox="1"/>
          <p:nvPr>
            <p:ph idx="1" type="body"/>
          </p:nvPr>
        </p:nvSpPr>
        <p:spPr>
          <a:xfrm>
            <a:off x="640080" y="457200"/>
            <a:ext cx="8229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1200"/>
              <a:buNone/>
            </a:pPr>
            <a:r>
              <a:rPr b="1" lang="en-US" sz="1200">
                <a:solidFill>
                  <a:schemeClr val="accent1"/>
                </a:solidFill>
              </a:rPr>
              <a:t>WORKED EXAMPLE 2   //   MEDIUM</a:t>
            </a:r>
            <a:endParaRPr sz="1200"/>
          </a:p>
        </p:txBody>
      </p:sp>
      <p:sp>
        <p:nvSpPr>
          <p:cNvPr id="391" name="Google Shape;391;h63c0e6991457cadf_0_269"/>
          <p:cNvSpPr txBox="1"/>
          <p:nvPr>
            <p:ph type="title"/>
          </p:nvPr>
        </p:nvSpPr>
        <p:spPr>
          <a:xfrm>
            <a:off x="640080" y="777240"/>
            <a:ext cx="109089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dk1"/>
                </a:solidFill>
              </a:rPr>
              <a:t>Worked example: Multiply Complex Numbers</a:t>
            </a:r>
            <a:endParaRPr sz="3200"/>
          </a:p>
        </p:txBody>
      </p:sp>
      <p:sp>
        <p:nvSpPr>
          <p:cNvPr id="392" name="Google Shape;392;h63c0e6991457cadf_0_269"/>
          <p:cNvSpPr/>
          <p:nvPr/>
        </p:nvSpPr>
        <p:spPr>
          <a:xfrm>
            <a:off x="640080" y="1600200"/>
            <a:ext cx="4846200" cy="4572000"/>
          </a:xfrm>
          <a:prstGeom prst="roundRect">
            <a:avLst>
              <a:gd fmla="val 12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h63c0e6991457cadf_0_269"/>
          <p:cNvSpPr txBox="1"/>
          <p:nvPr/>
        </p:nvSpPr>
        <p:spPr>
          <a:xfrm>
            <a:off x="914400" y="1874520"/>
            <a:ext cx="301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Problem statement</a:t>
            </a:r>
            <a:endParaRPr b="0" i="0" sz="2000" u="none" cap="none" strike="noStrike">
              <a:solidFill>
                <a:schemeClr val="dk1"/>
              </a:solidFill>
              <a:latin typeface="Calibri"/>
              <a:ea typeface="Calibri"/>
              <a:cs typeface="Calibri"/>
              <a:sym typeface="Calibri"/>
            </a:endParaRPr>
          </a:p>
        </p:txBody>
      </p:sp>
      <p:sp>
        <p:nvSpPr>
          <p:cNvPr id="394" name="Google Shape;394;h63c0e6991457cadf_0_269"/>
          <p:cNvSpPr/>
          <p:nvPr/>
        </p:nvSpPr>
        <p:spPr>
          <a:xfrm>
            <a:off x="4297680" y="1901952"/>
            <a:ext cx="914400" cy="310800"/>
          </a:xfrm>
          <a:prstGeom prst="roundRect">
            <a:avLst>
              <a:gd fmla="val 44118" name="adj"/>
            </a:avLst>
          </a:prstGeom>
          <a:solidFill>
            <a:schemeClr val="accent1">
              <a:alpha val="14900"/>
            </a:schemeClr>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1100"/>
              <a:buFont typeface="Calibri"/>
              <a:buNone/>
            </a:pPr>
            <a:r>
              <a:rPr b="1" i="0" lang="en-US" sz="1100" u="none" cap="none" strike="noStrike">
                <a:solidFill>
                  <a:schemeClr val="accent3"/>
                </a:solidFill>
                <a:latin typeface="Calibri"/>
                <a:ea typeface="Calibri"/>
                <a:cs typeface="Calibri"/>
                <a:sym typeface="Calibri"/>
              </a:rPr>
              <a:t>MEDIUM</a:t>
            </a:r>
            <a:endParaRPr b="0" i="0" sz="1100" u="none" cap="none" strike="noStrike">
              <a:solidFill>
                <a:schemeClr val="dk1"/>
              </a:solidFill>
              <a:latin typeface="Calibri"/>
              <a:ea typeface="Calibri"/>
              <a:cs typeface="Calibri"/>
              <a:sym typeface="Calibri"/>
            </a:endParaRPr>
          </a:p>
        </p:txBody>
      </p:sp>
      <p:sp>
        <p:nvSpPr>
          <p:cNvPr id="395" name="Google Shape;395;h63c0e6991457cadf_0_269"/>
          <p:cNvSpPr txBox="1"/>
          <p:nvPr/>
        </p:nvSpPr>
        <p:spPr>
          <a:xfrm>
            <a:off x="914400" y="2313432"/>
            <a:ext cx="42978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US" sz="1200" u="none" cap="none" strike="noStrike">
                <a:solidFill>
                  <a:schemeClr val="accent5"/>
                </a:solidFill>
                <a:latin typeface="Calibri"/>
                <a:ea typeface="Calibri"/>
                <a:cs typeface="Calibri"/>
                <a:sym typeface="Calibri"/>
              </a:rPr>
              <a:t>Author: Elizabeth Gonzalez</a:t>
            </a:r>
            <a:endParaRPr b="0" i="0" sz="1200" u="none" cap="none" strike="noStrike">
              <a:solidFill>
                <a:schemeClr val="dk1"/>
              </a:solidFill>
              <a:latin typeface="Calibri"/>
              <a:ea typeface="Calibri"/>
              <a:cs typeface="Calibri"/>
              <a:sym typeface="Calibri"/>
            </a:endParaRPr>
          </a:p>
        </p:txBody>
      </p:sp>
      <p:sp>
        <p:nvSpPr>
          <p:cNvPr id="396" name="Google Shape;396;h63c0e6991457cadf_0_269"/>
          <p:cNvSpPr txBox="1"/>
          <p:nvPr/>
        </p:nvSpPr>
        <p:spPr>
          <a:xfrm>
            <a:off x="914400" y="2624328"/>
            <a:ext cx="4297800" cy="1828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Given two complex numbers x and y represented as strings, return a string of their product. Notes: A complex number is written in the form "real_part + imaginary_parti". real_part and imaginary_part could be negative. i^2 == -1.</a:t>
            </a:r>
            <a:endParaRPr b="0" i="0" sz="1400" u="none" cap="none" strike="noStrike">
              <a:solidFill>
                <a:schemeClr val="dk1"/>
              </a:solidFill>
              <a:latin typeface="Calibri"/>
              <a:ea typeface="Calibri"/>
              <a:cs typeface="Calibri"/>
              <a:sym typeface="Calibri"/>
            </a:endParaRPr>
          </a:p>
        </p:txBody>
      </p:sp>
      <p:sp>
        <p:nvSpPr>
          <p:cNvPr id="397" name="Google Shape;397;h63c0e6991457cadf_0_269"/>
          <p:cNvSpPr txBox="1"/>
          <p:nvPr/>
        </p:nvSpPr>
        <p:spPr>
          <a:xfrm>
            <a:off x="914400" y="3977655"/>
            <a:ext cx="2743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CONSTRAINTS</a:t>
            </a:r>
            <a:endParaRPr b="0" i="0" sz="1100" u="none" cap="none" strike="noStrike">
              <a:solidFill>
                <a:schemeClr val="dk1"/>
              </a:solidFill>
              <a:latin typeface="Calibri"/>
              <a:ea typeface="Calibri"/>
              <a:cs typeface="Calibri"/>
              <a:sym typeface="Calibri"/>
            </a:endParaRPr>
          </a:p>
        </p:txBody>
      </p:sp>
      <p:sp>
        <p:nvSpPr>
          <p:cNvPr id="398" name="Google Shape;398;h63c0e6991457cadf_0_269"/>
          <p:cNvSpPr txBox="1"/>
          <p:nvPr/>
        </p:nvSpPr>
        <p:spPr>
          <a:xfrm>
            <a:off x="914275" y="4329575"/>
            <a:ext cx="4297800" cy="132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x and y are valid complex numbers.</a:t>
            </a:r>
            <a:endParaRPr b="0" i="0" sz="13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-1000 &lt;= real_part &lt;= 1000</a:t>
            </a:r>
            <a:endParaRPr b="0" i="0" sz="13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-1000 &lt;= imaginary_part &lt;= 1000</a:t>
            </a:r>
            <a:endParaRPr b="0" i="0" sz="1300" u="none" cap="none" strike="noStrike">
              <a:solidFill>
                <a:schemeClr val="dk1"/>
              </a:solidFill>
              <a:latin typeface="Calibri"/>
              <a:ea typeface="Calibri"/>
              <a:cs typeface="Calibri"/>
              <a:sym typeface="Calibri"/>
            </a:endParaRPr>
          </a:p>
        </p:txBody>
      </p:sp>
      <p:sp>
        <p:nvSpPr>
          <p:cNvPr id="399" name="Google Shape;399;h63c0e6991457cadf_0_269"/>
          <p:cNvSpPr/>
          <p:nvPr/>
        </p:nvSpPr>
        <p:spPr>
          <a:xfrm>
            <a:off x="5760720" y="1600200"/>
            <a:ext cx="5790900" cy="2194500"/>
          </a:xfrm>
          <a:prstGeom prst="roundRect">
            <a:avLst>
              <a:gd fmla="val 25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h63c0e6991457cadf_0_269"/>
          <p:cNvSpPr txBox="1"/>
          <p:nvPr/>
        </p:nvSpPr>
        <p:spPr>
          <a:xfrm>
            <a:off x="6080760" y="1783080"/>
            <a:ext cx="51507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Example 1</a:t>
            </a:r>
            <a:endParaRPr b="0" i="0" sz="1700" u="none" cap="none" strike="noStrike">
              <a:solidFill>
                <a:schemeClr val="dk1"/>
              </a:solidFill>
              <a:latin typeface="Calibri"/>
              <a:ea typeface="Calibri"/>
              <a:cs typeface="Calibri"/>
              <a:sym typeface="Calibri"/>
            </a:endParaRPr>
          </a:p>
        </p:txBody>
      </p:sp>
      <p:sp>
        <p:nvSpPr>
          <p:cNvPr id="401" name="Google Shape;401;h63c0e6991457cadf_0_269"/>
          <p:cNvSpPr txBox="1"/>
          <p:nvPr/>
        </p:nvSpPr>
        <p:spPr>
          <a:xfrm>
            <a:off x="6080760" y="2194560"/>
            <a:ext cx="5150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Input:   x = "2 + 3i"</a:t>
            </a:r>
            <a:endParaRPr b="0" i="0" sz="1400" u="none" cap="none" strike="noStrike">
              <a:solidFill>
                <a:schemeClr val="dk1"/>
              </a:solidFill>
              <a:latin typeface="Calibri"/>
              <a:ea typeface="Calibri"/>
              <a:cs typeface="Calibri"/>
              <a:sym typeface="Calibri"/>
            </a:endParaRPr>
          </a:p>
        </p:txBody>
      </p:sp>
      <p:sp>
        <p:nvSpPr>
          <p:cNvPr id="402" name="Google Shape;402;h63c0e6991457cadf_0_269"/>
          <p:cNvSpPr txBox="1"/>
          <p:nvPr/>
        </p:nvSpPr>
        <p:spPr>
          <a:xfrm>
            <a:off x="6080760" y="2478024"/>
            <a:ext cx="5150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         y = "1 + 4i"</a:t>
            </a:r>
            <a:endParaRPr b="0" i="0" sz="1400" u="none" cap="none" strike="noStrike">
              <a:solidFill>
                <a:schemeClr val="dk1"/>
              </a:solidFill>
              <a:latin typeface="Calibri"/>
              <a:ea typeface="Calibri"/>
              <a:cs typeface="Calibri"/>
              <a:sym typeface="Calibri"/>
            </a:endParaRPr>
          </a:p>
        </p:txBody>
      </p:sp>
      <p:sp>
        <p:nvSpPr>
          <p:cNvPr id="403" name="Google Shape;403;h63c0e6991457cadf_0_269"/>
          <p:cNvSpPr txBox="1"/>
          <p:nvPr/>
        </p:nvSpPr>
        <p:spPr>
          <a:xfrm>
            <a:off x="6080760" y="2761488"/>
            <a:ext cx="5150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1" i="0" lang="en-US" sz="1400" u="none" cap="none" strike="noStrike">
                <a:solidFill>
                  <a:schemeClr val="dk1"/>
                </a:solidFill>
                <a:latin typeface="Courier New"/>
                <a:ea typeface="Courier New"/>
                <a:cs typeface="Courier New"/>
                <a:sym typeface="Courier New"/>
              </a:rPr>
              <a:t>Output:  "-10 + 11i"</a:t>
            </a:r>
            <a:endParaRPr b="0" i="0" sz="1400" u="none" cap="none" strike="noStrike">
              <a:solidFill>
                <a:schemeClr val="dk1"/>
              </a:solidFill>
              <a:latin typeface="Calibri"/>
              <a:ea typeface="Calibri"/>
              <a:cs typeface="Calibri"/>
              <a:sym typeface="Calibri"/>
            </a:endParaRPr>
          </a:p>
        </p:txBody>
      </p:sp>
      <p:sp>
        <p:nvSpPr>
          <p:cNvPr id="404" name="Google Shape;404;h63c0e6991457cadf_0_269"/>
          <p:cNvSpPr txBox="1"/>
          <p:nvPr/>
        </p:nvSpPr>
        <p:spPr>
          <a:xfrm>
            <a:off x="6080760" y="3145536"/>
            <a:ext cx="5150700" cy="55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1" lang="en-US" sz="1400" u="none" cap="none" strike="noStrike">
                <a:solidFill>
                  <a:schemeClr val="accent5"/>
                </a:solidFill>
                <a:latin typeface="Calibri"/>
                <a:ea typeface="Calibri"/>
                <a:cs typeface="Calibri"/>
                <a:sym typeface="Calibri"/>
              </a:rPr>
              <a:t>Explanation: (2+3i)×(1+4i) = 2×1 + 2×4i + 3i×1 + 3i×4i = 2 + 8i + 3i + 12(i^2) = 2 + 11i - 12 = -10+11i</a:t>
            </a:r>
            <a:endParaRPr b="0" i="0" sz="1400" u="none" cap="none" strike="noStrike">
              <a:solidFill>
                <a:schemeClr val="dk1"/>
              </a:solidFill>
              <a:latin typeface="Calibri"/>
              <a:ea typeface="Calibri"/>
              <a:cs typeface="Calibri"/>
              <a:sym typeface="Calibri"/>
            </a:endParaRPr>
          </a:p>
        </p:txBody>
      </p:sp>
      <p:sp>
        <p:nvSpPr>
          <p:cNvPr id="405" name="Google Shape;405;h63c0e6991457cadf_0_269"/>
          <p:cNvSpPr/>
          <p:nvPr/>
        </p:nvSpPr>
        <p:spPr>
          <a:xfrm>
            <a:off x="5760720" y="3977640"/>
            <a:ext cx="5790900" cy="2194500"/>
          </a:xfrm>
          <a:prstGeom prst="roundRect">
            <a:avLst>
              <a:gd fmla="val 25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h63c0e6991457cadf_0_269"/>
          <p:cNvSpPr txBox="1"/>
          <p:nvPr/>
        </p:nvSpPr>
        <p:spPr>
          <a:xfrm>
            <a:off x="6080760" y="4160520"/>
            <a:ext cx="51507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Example 2</a:t>
            </a:r>
            <a:endParaRPr b="0" i="0" sz="1700" u="none" cap="none" strike="noStrike">
              <a:solidFill>
                <a:schemeClr val="dk1"/>
              </a:solidFill>
              <a:latin typeface="Calibri"/>
              <a:ea typeface="Calibri"/>
              <a:cs typeface="Calibri"/>
              <a:sym typeface="Calibri"/>
            </a:endParaRPr>
          </a:p>
        </p:txBody>
      </p:sp>
      <p:sp>
        <p:nvSpPr>
          <p:cNvPr id="407" name="Google Shape;407;h63c0e6991457cadf_0_269"/>
          <p:cNvSpPr txBox="1"/>
          <p:nvPr/>
        </p:nvSpPr>
        <p:spPr>
          <a:xfrm>
            <a:off x="6080760" y="4572000"/>
            <a:ext cx="5150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Input:   x = "-1 + -1i"</a:t>
            </a:r>
            <a:endParaRPr b="0" i="0" sz="1400" u="none" cap="none" strike="noStrike">
              <a:solidFill>
                <a:schemeClr val="dk1"/>
              </a:solidFill>
              <a:latin typeface="Calibri"/>
              <a:ea typeface="Calibri"/>
              <a:cs typeface="Calibri"/>
              <a:sym typeface="Calibri"/>
            </a:endParaRPr>
          </a:p>
        </p:txBody>
      </p:sp>
      <p:sp>
        <p:nvSpPr>
          <p:cNvPr id="408" name="Google Shape;408;h63c0e6991457cadf_0_269"/>
          <p:cNvSpPr txBox="1"/>
          <p:nvPr/>
        </p:nvSpPr>
        <p:spPr>
          <a:xfrm>
            <a:off x="6080760" y="4855464"/>
            <a:ext cx="5150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         y = "1 + -1i"</a:t>
            </a:r>
            <a:endParaRPr b="0" i="0" sz="1400" u="none" cap="none" strike="noStrike">
              <a:solidFill>
                <a:schemeClr val="dk1"/>
              </a:solidFill>
              <a:latin typeface="Calibri"/>
              <a:ea typeface="Calibri"/>
              <a:cs typeface="Calibri"/>
              <a:sym typeface="Calibri"/>
            </a:endParaRPr>
          </a:p>
        </p:txBody>
      </p:sp>
      <p:sp>
        <p:nvSpPr>
          <p:cNvPr id="409" name="Google Shape;409;h63c0e6991457cadf_0_269"/>
          <p:cNvSpPr txBox="1"/>
          <p:nvPr/>
        </p:nvSpPr>
        <p:spPr>
          <a:xfrm>
            <a:off x="6080760" y="5138928"/>
            <a:ext cx="5150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1" i="0" lang="en-US" sz="1400" u="none" cap="none" strike="noStrike">
                <a:solidFill>
                  <a:schemeClr val="dk1"/>
                </a:solidFill>
                <a:latin typeface="Courier New"/>
                <a:ea typeface="Courier New"/>
                <a:cs typeface="Courier New"/>
                <a:sym typeface="Courier New"/>
              </a:rPr>
              <a:t>Output:  "-2 + 0i"</a:t>
            </a:r>
            <a:endParaRPr b="0" i="0" sz="1400" u="none" cap="none" strike="noStrike">
              <a:solidFill>
                <a:schemeClr val="dk1"/>
              </a:solidFill>
              <a:latin typeface="Calibri"/>
              <a:ea typeface="Calibri"/>
              <a:cs typeface="Calibri"/>
              <a:sym typeface="Calibri"/>
            </a:endParaRPr>
          </a:p>
        </p:txBody>
      </p:sp>
      <p:sp>
        <p:nvSpPr>
          <p:cNvPr id="410" name="Google Shape;410;h63c0e6991457cadf_0_269"/>
          <p:cNvSpPr txBox="1"/>
          <p:nvPr/>
        </p:nvSpPr>
        <p:spPr>
          <a:xfrm>
            <a:off x="6080760" y="5522976"/>
            <a:ext cx="5150700" cy="55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1" lang="en-US" sz="1400" u="none" cap="none" strike="noStrike">
                <a:solidFill>
                  <a:schemeClr val="accent5"/>
                </a:solidFill>
                <a:latin typeface="Calibri"/>
                <a:ea typeface="Calibri"/>
                <a:cs typeface="Calibri"/>
                <a:sym typeface="Calibri"/>
              </a:rPr>
              <a:t>Explanation: (-1+-1i)×(1+-1i) = -1×1 + -1×-1i + -1i×1 + -1i×-1i = -1 + 1i + -1i + 1(i^2) = -1 + 0i - 1 = -2+0i</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h63c0e6991457cadf_0_306"/>
          <p:cNvSpPr txBox="1"/>
          <p:nvPr>
            <p:ph idx="1" type="body"/>
          </p:nvPr>
        </p:nvSpPr>
        <p:spPr>
          <a:xfrm>
            <a:off x="640080" y="457200"/>
            <a:ext cx="8229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1200"/>
              <a:buNone/>
            </a:pPr>
            <a:r>
              <a:rPr b="1" lang="en-US" sz="1200">
                <a:solidFill>
                  <a:schemeClr val="accent1"/>
                </a:solidFill>
              </a:rPr>
              <a:t>WORKED EXAMPLE 2   //   MEDIUM</a:t>
            </a:r>
            <a:endParaRPr sz="1200"/>
          </a:p>
        </p:txBody>
      </p:sp>
      <p:sp>
        <p:nvSpPr>
          <p:cNvPr id="417" name="Google Shape;417;h63c0e6991457cadf_0_306"/>
          <p:cNvSpPr txBox="1"/>
          <p:nvPr>
            <p:ph type="title"/>
          </p:nvPr>
        </p:nvSpPr>
        <p:spPr>
          <a:xfrm>
            <a:off x="640080" y="777240"/>
            <a:ext cx="109089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dk1"/>
                </a:solidFill>
              </a:rPr>
              <a:t>Worked example: Multiply Complex Numbers</a:t>
            </a:r>
            <a:endParaRPr sz="3200"/>
          </a:p>
        </p:txBody>
      </p:sp>
      <p:sp>
        <p:nvSpPr>
          <p:cNvPr id="418" name="Google Shape;418;h63c0e6991457cadf_0_306"/>
          <p:cNvSpPr/>
          <p:nvPr/>
        </p:nvSpPr>
        <p:spPr>
          <a:xfrm>
            <a:off x="640075" y="1600200"/>
            <a:ext cx="4846200" cy="3191100"/>
          </a:xfrm>
          <a:prstGeom prst="roundRect">
            <a:avLst>
              <a:gd fmla="val 12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h63c0e6991457cadf_0_306"/>
          <p:cNvSpPr txBox="1"/>
          <p:nvPr/>
        </p:nvSpPr>
        <p:spPr>
          <a:xfrm>
            <a:off x="914400" y="1874520"/>
            <a:ext cx="301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Problem statement</a:t>
            </a:r>
            <a:endParaRPr b="0" i="0" sz="2000" u="none" cap="none" strike="noStrike">
              <a:solidFill>
                <a:schemeClr val="dk1"/>
              </a:solidFill>
              <a:latin typeface="Calibri"/>
              <a:ea typeface="Calibri"/>
              <a:cs typeface="Calibri"/>
              <a:sym typeface="Calibri"/>
            </a:endParaRPr>
          </a:p>
        </p:txBody>
      </p:sp>
      <p:sp>
        <p:nvSpPr>
          <p:cNvPr id="420" name="Google Shape;420;h63c0e6991457cadf_0_306"/>
          <p:cNvSpPr/>
          <p:nvPr/>
        </p:nvSpPr>
        <p:spPr>
          <a:xfrm>
            <a:off x="4297680" y="1901952"/>
            <a:ext cx="914400" cy="310800"/>
          </a:xfrm>
          <a:prstGeom prst="roundRect">
            <a:avLst>
              <a:gd fmla="val 44118" name="adj"/>
            </a:avLst>
          </a:prstGeom>
          <a:solidFill>
            <a:schemeClr val="accent1">
              <a:alpha val="14900"/>
            </a:schemeClr>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1100"/>
              <a:buFont typeface="Calibri"/>
              <a:buNone/>
            </a:pPr>
            <a:r>
              <a:rPr b="1" i="0" lang="en-US" sz="1100" u="none" cap="none" strike="noStrike">
                <a:solidFill>
                  <a:schemeClr val="accent3"/>
                </a:solidFill>
                <a:latin typeface="Calibri"/>
                <a:ea typeface="Calibri"/>
                <a:cs typeface="Calibri"/>
                <a:sym typeface="Calibri"/>
              </a:rPr>
              <a:t>MEDIUM</a:t>
            </a:r>
            <a:endParaRPr b="0" i="0" sz="1100" u="none" cap="none" strike="noStrike">
              <a:solidFill>
                <a:schemeClr val="dk1"/>
              </a:solidFill>
              <a:latin typeface="Calibri"/>
              <a:ea typeface="Calibri"/>
              <a:cs typeface="Calibri"/>
              <a:sym typeface="Calibri"/>
            </a:endParaRPr>
          </a:p>
        </p:txBody>
      </p:sp>
      <p:sp>
        <p:nvSpPr>
          <p:cNvPr id="421" name="Google Shape;421;h63c0e6991457cadf_0_306"/>
          <p:cNvSpPr txBox="1"/>
          <p:nvPr/>
        </p:nvSpPr>
        <p:spPr>
          <a:xfrm>
            <a:off x="914400" y="2313432"/>
            <a:ext cx="42978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US" sz="1200" u="none" cap="none" strike="noStrike">
                <a:solidFill>
                  <a:schemeClr val="accent5"/>
                </a:solidFill>
                <a:latin typeface="Calibri"/>
                <a:ea typeface="Calibri"/>
                <a:cs typeface="Calibri"/>
                <a:sym typeface="Calibri"/>
              </a:rPr>
              <a:t>Author: Elizabeth Gonzalez</a:t>
            </a:r>
            <a:endParaRPr b="0" i="0" sz="1200" u="none" cap="none" strike="noStrike">
              <a:solidFill>
                <a:schemeClr val="dk1"/>
              </a:solidFill>
              <a:latin typeface="Calibri"/>
              <a:ea typeface="Calibri"/>
              <a:cs typeface="Calibri"/>
              <a:sym typeface="Calibri"/>
            </a:endParaRPr>
          </a:p>
        </p:txBody>
      </p:sp>
      <p:sp>
        <p:nvSpPr>
          <p:cNvPr id="422" name="Google Shape;422;h63c0e6991457cadf_0_306"/>
          <p:cNvSpPr txBox="1"/>
          <p:nvPr/>
        </p:nvSpPr>
        <p:spPr>
          <a:xfrm>
            <a:off x="914400" y="2624328"/>
            <a:ext cx="4297800" cy="1828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Given two complex numbers x and y represented as strings, return a string of their product. Notes: A complex number is written in the form "real_part + imaginary_parti". real_part and imaginary_part could be negative. i^2 == -1.</a:t>
            </a:r>
            <a:endParaRPr b="0" i="0" sz="1400" u="none" cap="none" strike="noStrike">
              <a:solidFill>
                <a:schemeClr val="dk1"/>
              </a:solidFill>
              <a:latin typeface="Calibri"/>
              <a:ea typeface="Calibri"/>
              <a:cs typeface="Calibri"/>
              <a:sym typeface="Calibri"/>
            </a:endParaRPr>
          </a:p>
        </p:txBody>
      </p:sp>
      <p:sp>
        <p:nvSpPr>
          <p:cNvPr id="423" name="Google Shape;423;h63c0e6991457cadf_0_306"/>
          <p:cNvSpPr txBox="1"/>
          <p:nvPr/>
        </p:nvSpPr>
        <p:spPr>
          <a:xfrm>
            <a:off x="914400" y="3657480"/>
            <a:ext cx="2743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CONSTRAINTS</a:t>
            </a:r>
            <a:endParaRPr b="0" i="0" sz="1100" u="none" cap="none" strike="noStrike">
              <a:solidFill>
                <a:schemeClr val="dk1"/>
              </a:solidFill>
              <a:latin typeface="Calibri"/>
              <a:ea typeface="Calibri"/>
              <a:cs typeface="Calibri"/>
              <a:sym typeface="Calibri"/>
            </a:endParaRPr>
          </a:p>
        </p:txBody>
      </p:sp>
      <p:sp>
        <p:nvSpPr>
          <p:cNvPr id="424" name="Google Shape;424;h63c0e6991457cadf_0_306"/>
          <p:cNvSpPr txBox="1"/>
          <p:nvPr/>
        </p:nvSpPr>
        <p:spPr>
          <a:xfrm>
            <a:off x="914400" y="3886075"/>
            <a:ext cx="4297800" cy="132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x and y are valid complex numbers.</a:t>
            </a:r>
            <a:endParaRPr b="0" i="0" sz="13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-1000 &lt;= real_part &lt;= 1000</a:t>
            </a:r>
            <a:endParaRPr b="0" i="0" sz="13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-1000 &lt;= imaginary_part &lt;= 1000</a:t>
            </a:r>
            <a:endParaRPr b="0" i="0" sz="1300" u="none" cap="none" strike="noStrike">
              <a:solidFill>
                <a:schemeClr val="dk1"/>
              </a:solidFill>
              <a:latin typeface="Calibri"/>
              <a:ea typeface="Calibri"/>
              <a:cs typeface="Calibri"/>
              <a:sym typeface="Calibri"/>
            </a:endParaRPr>
          </a:p>
        </p:txBody>
      </p:sp>
      <p:sp>
        <p:nvSpPr>
          <p:cNvPr id="425" name="Google Shape;425;h63c0e6991457cadf_0_306"/>
          <p:cNvSpPr/>
          <p:nvPr/>
        </p:nvSpPr>
        <p:spPr>
          <a:xfrm>
            <a:off x="5760650" y="2496050"/>
            <a:ext cx="5790900" cy="728100"/>
          </a:xfrm>
          <a:prstGeom prst="roundRect">
            <a:avLst>
              <a:gd fmla="val 5714"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h63c0e6991457cadf_0_306"/>
          <p:cNvSpPr txBox="1"/>
          <p:nvPr/>
        </p:nvSpPr>
        <p:spPr>
          <a:xfrm>
            <a:off x="6080685" y="2633210"/>
            <a:ext cx="18288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HINT</a:t>
            </a:r>
            <a:endParaRPr b="0" i="0" sz="1100" u="none" cap="none" strike="noStrike">
              <a:solidFill>
                <a:schemeClr val="dk1"/>
              </a:solidFill>
              <a:latin typeface="Calibri"/>
              <a:ea typeface="Calibri"/>
              <a:cs typeface="Calibri"/>
              <a:sym typeface="Calibri"/>
            </a:endParaRPr>
          </a:p>
        </p:txBody>
      </p:sp>
      <p:sp>
        <p:nvSpPr>
          <p:cNvPr id="427" name="Google Shape;427;h63c0e6991457cadf_0_306"/>
          <p:cNvSpPr txBox="1"/>
          <p:nvPr/>
        </p:nvSpPr>
        <p:spPr>
          <a:xfrm>
            <a:off x="6080685" y="2907530"/>
            <a:ext cx="5150700" cy="502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Parse each string into two integers, then expand the product using i^2 = -1.</a:t>
            </a:r>
            <a:endParaRPr b="0" i="0" sz="1300" u="none" cap="none" strike="noStrike">
              <a:solidFill>
                <a:schemeClr val="dk1"/>
              </a:solidFill>
              <a:latin typeface="Calibri"/>
              <a:ea typeface="Calibri"/>
              <a:cs typeface="Calibri"/>
              <a:sym typeface="Calibri"/>
            </a:endParaRPr>
          </a:p>
        </p:txBody>
      </p:sp>
      <p:sp>
        <p:nvSpPr>
          <p:cNvPr id="428" name="Google Shape;428;h63c0e6991457cadf_0_306"/>
          <p:cNvSpPr/>
          <p:nvPr/>
        </p:nvSpPr>
        <p:spPr>
          <a:xfrm>
            <a:off x="640075" y="4974050"/>
            <a:ext cx="4846200" cy="1198200"/>
          </a:xfrm>
          <a:prstGeom prst="roundRect">
            <a:avLst>
              <a:gd fmla="val 2667"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h63c0e6991457cadf_0_306"/>
          <p:cNvSpPr txBox="1"/>
          <p:nvPr/>
        </p:nvSpPr>
        <p:spPr>
          <a:xfrm>
            <a:off x="907901" y="5138642"/>
            <a:ext cx="19131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Example 1</a:t>
            </a:r>
            <a:endParaRPr b="0" i="0" sz="1400" u="none" cap="none" strike="noStrike">
              <a:solidFill>
                <a:schemeClr val="dk1"/>
              </a:solidFill>
              <a:latin typeface="Calibri"/>
              <a:ea typeface="Calibri"/>
              <a:cs typeface="Calibri"/>
              <a:sym typeface="Calibri"/>
            </a:endParaRPr>
          </a:p>
        </p:txBody>
      </p:sp>
      <p:sp>
        <p:nvSpPr>
          <p:cNvPr id="430" name="Google Shape;430;h63c0e6991457cadf_0_306"/>
          <p:cNvSpPr txBox="1"/>
          <p:nvPr/>
        </p:nvSpPr>
        <p:spPr>
          <a:xfrm>
            <a:off x="2820974" y="5138642"/>
            <a:ext cx="2397300" cy="255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1"/>
              </a:buClr>
              <a:buSzPts val="1300"/>
              <a:buFont typeface="Courier New"/>
              <a:buNone/>
            </a:pPr>
            <a:r>
              <a:rPr b="1" i="0" lang="en-US" sz="1300" u="none" cap="none" strike="noStrike">
                <a:solidFill>
                  <a:schemeClr val="dk1"/>
                </a:solidFill>
                <a:latin typeface="Courier New"/>
                <a:ea typeface="Courier New"/>
                <a:cs typeface="Courier New"/>
                <a:sym typeface="Courier New"/>
              </a:rPr>
              <a:t>Output: "-10 + 11i"</a:t>
            </a:r>
            <a:endParaRPr b="0" i="0" sz="1300" u="none" cap="none" strike="noStrike">
              <a:solidFill>
                <a:schemeClr val="dk1"/>
              </a:solidFill>
              <a:latin typeface="Calibri"/>
              <a:ea typeface="Calibri"/>
              <a:cs typeface="Calibri"/>
              <a:sym typeface="Calibri"/>
            </a:endParaRPr>
          </a:p>
        </p:txBody>
      </p:sp>
      <p:sp>
        <p:nvSpPr>
          <p:cNvPr id="431" name="Google Shape;431;h63c0e6991457cadf_0_306"/>
          <p:cNvSpPr txBox="1"/>
          <p:nvPr/>
        </p:nvSpPr>
        <p:spPr>
          <a:xfrm>
            <a:off x="907901" y="5412962"/>
            <a:ext cx="4310400" cy="237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ourier New"/>
              <a:buNone/>
            </a:pPr>
            <a:r>
              <a:rPr b="0" i="0" lang="en-US" sz="1300" u="none" cap="none" strike="noStrike">
                <a:solidFill>
                  <a:schemeClr val="dk1"/>
                </a:solidFill>
                <a:latin typeface="Courier New"/>
                <a:ea typeface="Courier New"/>
                <a:cs typeface="Courier New"/>
                <a:sym typeface="Courier New"/>
              </a:rPr>
              <a:t>x = "2 + 3i"</a:t>
            </a:r>
            <a:endParaRPr b="0" i="0" sz="1300" u="none" cap="none" strike="noStrike">
              <a:solidFill>
                <a:schemeClr val="dk1"/>
              </a:solidFill>
              <a:latin typeface="Calibri"/>
              <a:ea typeface="Calibri"/>
              <a:cs typeface="Calibri"/>
              <a:sym typeface="Calibri"/>
            </a:endParaRPr>
          </a:p>
        </p:txBody>
      </p:sp>
      <p:sp>
        <p:nvSpPr>
          <p:cNvPr id="432" name="Google Shape;432;h63c0e6991457cadf_0_306"/>
          <p:cNvSpPr txBox="1"/>
          <p:nvPr/>
        </p:nvSpPr>
        <p:spPr>
          <a:xfrm>
            <a:off x="907901" y="5650706"/>
            <a:ext cx="4310400" cy="237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ourier New"/>
              <a:buNone/>
            </a:pPr>
            <a:r>
              <a:rPr b="0" i="0" lang="en-US" sz="1300" u="none" cap="none" strike="noStrike">
                <a:solidFill>
                  <a:schemeClr val="dk1"/>
                </a:solidFill>
                <a:latin typeface="Courier New"/>
                <a:ea typeface="Courier New"/>
                <a:cs typeface="Courier New"/>
                <a:sym typeface="Courier New"/>
              </a:rPr>
              <a:t>y = "1 + 4i"</a:t>
            </a:r>
            <a:endParaRPr b="0" i="0" sz="1300" u="none" cap="none" strike="noStrike">
              <a:solidFill>
                <a:schemeClr val="dk1"/>
              </a:solidFill>
              <a:latin typeface="Calibri"/>
              <a:ea typeface="Calibri"/>
              <a:cs typeface="Calibri"/>
              <a:sym typeface="Calibri"/>
            </a:endParaRPr>
          </a:p>
        </p:txBody>
      </p:sp>
      <p:sp>
        <p:nvSpPr>
          <p:cNvPr id="433" name="Google Shape;433;h63c0e6991457cadf_0_306"/>
          <p:cNvSpPr/>
          <p:nvPr/>
        </p:nvSpPr>
        <p:spPr>
          <a:xfrm>
            <a:off x="5760725" y="1600200"/>
            <a:ext cx="5790900" cy="713100"/>
          </a:xfrm>
          <a:prstGeom prst="roundRect">
            <a:avLst>
              <a:gd fmla="val 4615" name="adj"/>
            </a:avLst>
          </a:prstGeom>
          <a:solidFill>
            <a:schemeClr val="accent6"/>
          </a:solidFill>
          <a:ln cap="flat" cmpd="sng" w="9525">
            <a:solidFill>
              <a:schemeClr val="accent5">
                <a:alpha val="502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h63c0e6991457cadf_0_306"/>
          <p:cNvSpPr txBox="1"/>
          <p:nvPr/>
        </p:nvSpPr>
        <p:spPr>
          <a:xfrm>
            <a:off x="6126430" y="1686030"/>
            <a:ext cx="50595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200"/>
              <a:buFont typeface="Calibri"/>
              <a:buNone/>
            </a:pPr>
            <a:r>
              <a:rPr b="1" i="0" lang="en-US" sz="2000" u="none" cap="none" strike="noStrike">
                <a:solidFill>
                  <a:schemeClr val="lt1"/>
                </a:solidFill>
                <a:latin typeface="Calibri"/>
                <a:ea typeface="Calibri"/>
                <a:cs typeface="Calibri"/>
                <a:sym typeface="Calibri"/>
              </a:rPr>
              <a:t>You have 5 minutes to complete this.</a:t>
            </a:r>
            <a:endParaRPr b="0" i="0" sz="2000" u="none" cap="none" strike="noStrike">
              <a:solidFill>
                <a:schemeClr val="dk1"/>
              </a:solidFill>
              <a:latin typeface="Calibri"/>
              <a:ea typeface="Calibri"/>
              <a:cs typeface="Calibri"/>
              <a:sym typeface="Calibri"/>
            </a:endParaRPr>
          </a:p>
        </p:txBody>
      </p:sp>
      <p:sp>
        <p:nvSpPr>
          <p:cNvPr id="435" name="Google Shape;435;h63c0e6991457cadf_0_306"/>
          <p:cNvSpPr txBox="1"/>
          <p:nvPr/>
        </p:nvSpPr>
        <p:spPr>
          <a:xfrm>
            <a:off x="6126355" y="1990956"/>
            <a:ext cx="50595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500"/>
              <a:buFont typeface="Calibri"/>
              <a:buNone/>
            </a:pPr>
            <a:r>
              <a:rPr b="0" i="0" lang="en-US" sz="1300" u="none" cap="none" strike="noStrike">
                <a:solidFill>
                  <a:schemeClr val="lt2"/>
                </a:solidFill>
                <a:latin typeface="Calibri"/>
                <a:ea typeface="Calibri"/>
                <a:cs typeface="Calibri"/>
                <a:sym typeface="Calibri"/>
              </a:rPr>
              <a:t>Please feel free to work in pairs or small groups (3 to 4).</a:t>
            </a:r>
            <a:endParaRPr b="0" i="0" sz="1300" u="none" cap="none" strike="noStrike">
              <a:solidFill>
                <a:schemeClr val="dk1"/>
              </a:solidFill>
              <a:latin typeface="Calibri"/>
              <a:ea typeface="Calibri"/>
              <a:cs typeface="Calibri"/>
              <a:sym typeface="Calibri"/>
            </a:endParaRPr>
          </a:p>
        </p:txBody>
      </p:sp>
      <p:pic>
        <p:nvPicPr>
          <p:cNvPr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id="436" name="Google Shape;436;h63c0e6991457cadf_0_306" title="5 Minute Timer">
            <a:hlinkClick r:id="rId3"/>
          </p:cNvPr>
          <p:cNvPicPr preferRelativeResize="0"/>
          <p:nvPr/>
        </p:nvPicPr>
        <p:blipFill>
          <a:blip r:embed="rId4">
            <a:alphaModFix/>
          </a:blip>
          <a:stretch>
            <a:fillRect/>
          </a:stretch>
        </p:blipFill>
        <p:spPr>
          <a:xfrm>
            <a:off x="5760726" y="3448000"/>
            <a:ext cx="5790900" cy="272419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h63c0e6991457cadf_0_342"/>
          <p:cNvSpPr txBox="1"/>
          <p:nvPr>
            <p:ph idx="1" type="body"/>
          </p:nvPr>
        </p:nvSpPr>
        <p:spPr>
          <a:xfrm>
            <a:off x="640080" y="457200"/>
            <a:ext cx="8229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1200"/>
              <a:buNone/>
            </a:pPr>
            <a:r>
              <a:rPr b="1" lang="en-US" sz="1200">
                <a:solidFill>
                  <a:schemeClr val="accent1"/>
                </a:solidFill>
              </a:rPr>
              <a:t>WORKED EXAMPLE 2   //   MEDIUM</a:t>
            </a:r>
            <a:endParaRPr sz="1200"/>
          </a:p>
        </p:txBody>
      </p:sp>
      <p:sp>
        <p:nvSpPr>
          <p:cNvPr id="443" name="Google Shape;443;h63c0e6991457cadf_0_342"/>
          <p:cNvSpPr txBox="1"/>
          <p:nvPr>
            <p:ph type="title"/>
          </p:nvPr>
        </p:nvSpPr>
        <p:spPr>
          <a:xfrm>
            <a:off x="640080" y="777240"/>
            <a:ext cx="109089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dk1"/>
                </a:solidFill>
              </a:rPr>
              <a:t>Worked example: Multiply Complex Numbers</a:t>
            </a:r>
            <a:endParaRPr sz="3200"/>
          </a:p>
        </p:txBody>
      </p:sp>
      <p:sp>
        <p:nvSpPr>
          <p:cNvPr id="444" name="Google Shape;444;h63c0e6991457cadf_0_342"/>
          <p:cNvSpPr/>
          <p:nvPr/>
        </p:nvSpPr>
        <p:spPr>
          <a:xfrm>
            <a:off x="640080" y="1600200"/>
            <a:ext cx="4846200" cy="3291900"/>
          </a:xfrm>
          <a:prstGeom prst="roundRect">
            <a:avLst>
              <a:gd fmla="val 1667"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h63c0e6991457cadf_0_342"/>
          <p:cNvSpPr txBox="1"/>
          <p:nvPr/>
        </p:nvSpPr>
        <p:spPr>
          <a:xfrm>
            <a:off x="914400" y="1801368"/>
            <a:ext cx="42978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Pattern and approach</a:t>
            </a:r>
            <a:endParaRPr b="0" i="0" sz="1800" u="none" cap="none" strike="noStrike">
              <a:solidFill>
                <a:schemeClr val="dk1"/>
              </a:solidFill>
              <a:latin typeface="Calibri"/>
              <a:ea typeface="Calibri"/>
              <a:cs typeface="Calibri"/>
              <a:sym typeface="Calibri"/>
            </a:endParaRPr>
          </a:p>
        </p:txBody>
      </p:sp>
      <p:sp>
        <p:nvSpPr>
          <p:cNvPr id="446" name="Google Shape;446;h63c0e6991457cadf_0_342"/>
          <p:cNvSpPr/>
          <p:nvPr/>
        </p:nvSpPr>
        <p:spPr>
          <a:xfrm>
            <a:off x="914400" y="2313432"/>
            <a:ext cx="1444800" cy="292500"/>
          </a:xfrm>
          <a:prstGeom prst="roundRect">
            <a:avLst>
              <a:gd fmla="val 50000" name="adj"/>
            </a:avLst>
          </a:prstGeom>
          <a:solidFill>
            <a:schemeClr val="accent2">
              <a:alpha val="25100"/>
            </a:schemeClr>
          </a:solidFill>
          <a:ln cap="flat" cmpd="sng" w="9525">
            <a:solidFill>
              <a:schemeClr val="accent2">
                <a:alpha val="70200"/>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Split and parse</a:t>
            </a:r>
            <a:endParaRPr b="0" i="0" sz="1100" u="none" cap="none" strike="noStrike">
              <a:solidFill>
                <a:schemeClr val="dk1"/>
              </a:solidFill>
              <a:latin typeface="Calibri"/>
              <a:ea typeface="Calibri"/>
              <a:cs typeface="Calibri"/>
              <a:sym typeface="Calibri"/>
            </a:endParaRPr>
          </a:p>
        </p:txBody>
      </p:sp>
      <p:sp>
        <p:nvSpPr>
          <p:cNvPr id="447" name="Google Shape;447;h63c0e6991457cadf_0_342"/>
          <p:cNvSpPr/>
          <p:nvPr/>
        </p:nvSpPr>
        <p:spPr>
          <a:xfrm>
            <a:off x="914400" y="2880360"/>
            <a:ext cx="347400" cy="3474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448" name="Google Shape;448;h63c0e6991457cadf_0_342"/>
          <p:cNvSpPr txBox="1"/>
          <p:nvPr/>
        </p:nvSpPr>
        <p:spPr>
          <a:xfrm>
            <a:off x="1463040" y="2862072"/>
            <a:ext cx="3749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Parse each number</a:t>
            </a:r>
            <a:endParaRPr b="0" i="0" sz="1500" u="none" cap="none" strike="noStrike">
              <a:solidFill>
                <a:schemeClr val="dk1"/>
              </a:solidFill>
              <a:latin typeface="Calibri"/>
              <a:ea typeface="Calibri"/>
              <a:cs typeface="Calibri"/>
              <a:sym typeface="Calibri"/>
            </a:endParaRPr>
          </a:p>
        </p:txBody>
      </p:sp>
      <p:sp>
        <p:nvSpPr>
          <p:cNvPr id="449" name="Google Shape;449;h63c0e6991457cadf_0_342"/>
          <p:cNvSpPr txBox="1"/>
          <p:nvPr/>
        </p:nvSpPr>
        <p:spPr>
          <a:xfrm>
            <a:off x="1463040" y="3136392"/>
            <a:ext cx="37491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Drop the trailing i, then split on " + ".</a:t>
            </a:r>
            <a:endParaRPr b="0" i="0" sz="1400" u="none" cap="none" strike="noStrike">
              <a:solidFill>
                <a:schemeClr val="dk1"/>
              </a:solidFill>
              <a:latin typeface="Calibri"/>
              <a:ea typeface="Calibri"/>
              <a:cs typeface="Calibri"/>
              <a:sym typeface="Calibri"/>
            </a:endParaRPr>
          </a:p>
        </p:txBody>
      </p:sp>
      <p:sp>
        <p:nvSpPr>
          <p:cNvPr id="450" name="Google Shape;450;h63c0e6991457cadf_0_342"/>
          <p:cNvSpPr/>
          <p:nvPr/>
        </p:nvSpPr>
        <p:spPr>
          <a:xfrm>
            <a:off x="914400" y="3538728"/>
            <a:ext cx="347400" cy="3474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451" name="Google Shape;451;h63c0e6991457cadf_0_342"/>
          <p:cNvSpPr txBox="1"/>
          <p:nvPr/>
        </p:nvSpPr>
        <p:spPr>
          <a:xfrm>
            <a:off x="1463040" y="3520440"/>
            <a:ext cx="3749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Apply the formula</a:t>
            </a:r>
            <a:endParaRPr b="0" i="0" sz="1500" u="none" cap="none" strike="noStrike">
              <a:solidFill>
                <a:schemeClr val="dk1"/>
              </a:solidFill>
              <a:latin typeface="Calibri"/>
              <a:ea typeface="Calibri"/>
              <a:cs typeface="Calibri"/>
              <a:sym typeface="Calibri"/>
            </a:endParaRPr>
          </a:p>
        </p:txBody>
      </p:sp>
      <p:sp>
        <p:nvSpPr>
          <p:cNvPr id="452" name="Google Shape;452;h63c0e6991457cadf_0_342"/>
          <p:cNvSpPr txBox="1"/>
          <p:nvPr/>
        </p:nvSpPr>
        <p:spPr>
          <a:xfrm>
            <a:off x="1463040" y="3794760"/>
            <a:ext cx="37491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Real: ac - bd. Imaginary: ad + bc.</a:t>
            </a:r>
            <a:endParaRPr b="0" i="0" sz="1400" u="none" cap="none" strike="noStrike">
              <a:solidFill>
                <a:schemeClr val="dk1"/>
              </a:solidFill>
              <a:latin typeface="Calibri"/>
              <a:ea typeface="Calibri"/>
              <a:cs typeface="Calibri"/>
              <a:sym typeface="Calibri"/>
            </a:endParaRPr>
          </a:p>
        </p:txBody>
      </p:sp>
      <p:sp>
        <p:nvSpPr>
          <p:cNvPr id="453" name="Google Shape;453;h63c0e6991457cadf_0_342"/>
          <p:cNvSpPr/>
          <p:nvPr/>
        </p:nvSpPr>
        <p:spPr>
          <a:xfrm>
            <a:off x="914400" y="4197096"/>
            <a:ext cx="347400" cy="3474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454" name="Google Shape;454;h63c0e6991457cadf_0_342"/>
          <p:cNvSpPr txBox="1"/>
          <p:nvPr/>
        </p:nvSpPr>
        <p:spPr>
          <a:xfrm>
            <a:off x="1463040" y="4178808"/>
            <a:ext cx="3749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Format the result</a:t>
            </a:r>
            <a:endParaRPr b="0" i="0" sz="1500" u="none" cap="none" strike="noStrike">
              <a:solidFill>
                <a:schemeClr val="dk1"/>
              </a:solidFill>
              <a:latin typeface="Calibri"/>
              <a:ea typeface="Calibri"/>
              <a:cs typeface="Calibri"/>
              <a:sym typeface="Calibri"/>
            </a:endParaRPr>
          </a:p>
        </p:txBody>
      </p:sp>
      <p:sp>
        <p:nvSpPr>
          <p:cNvPr id="455" name="Google Shape;455;h63c0e6991457cadf_0_342"/>
          <p:cNvSpPr txBox="1"/>
          <p:nvPr/>
        </p:nvSpPr>
        <p:spPr>
          <a:xfrm>
            <a:off x="1463040" y="4453128"/>
            <a:ext cx="37491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An f-string builds "real + imagi", negatives included.</a:t>
            </a:r>
            <a:endParaRPr b="0" i="0" sz="1400" u="none" cap="none" strike="noStrike">
              <a:solidFill>
                <a:schemeClr val="dk1"/>
              </a:solidFill>
              <a:latin typeface="Calibri"/>
              <a:ea typeface="Calibri"/>
              <a:cs typeface="Calibri"/>
              <a:sym typeface="Calibri"/>
            </a:endParaRPr>
          </a:p>
        </p:txBody>
      </p:sp>
      <p:sp>
        <p:nvSpPr>
          <p:cNvPr id="456" name="Google Shape;456;h63c0e6991457cadf_0_342"/>
          <p:cNvSpPr/>
          <p:nvPr/>
        </p:nvSpPr>
        <p:spPr>
          <a:xfrm>
            <a:off x="5760725" y="1600200"/>
            <a:ext cx="5790900" cy="4407300"/>
          </a:xfrm>
          <a:prstGeom prst="roundRect">
            <a:avLst>
              <a:gd fmla="val 2490"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h63c0e6991457cadf_0_342"/>
          <p:cNvSpPr txBox="1"/>
          <p:nvPr/>
        </p:nvSpPr>
        <p:spPr>
          <a:xfrm>
            <a:off x="6035040" y="1801368"/>
            <a:ext cx="5242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PYTHON</a:t>
            </a:r>
            <a:endParaRPr b="0" i="0" sz="1100" u="none" cap="none" strike="noStrike">
              <a:solidFill>
                <a:schemeClr val="dk1"/>
              </a:solidFill>
              <a:latin typeface="Calibri"/>
              <a:ea typeface="Calibri"/>
              <a:cs typeface="Calibri"/>
              <a:sym typeface="Calibri"/>
            </a:endParaRPr>
          </a:p>
        </p:txBody>
      </p:sp>
      <p:sp>
        <p:nvSpPr>
          <p:cNvPr id="458" name="Google Shape;458;h63c0e6991457cadf_0_342"/>
          <p:cNvSpPr txBox="1"/>
          <p:nvPr/>
        </p:nvSpPr>
        <p:spPr>
          <a:xfrm>
            <a:off x="6035050" y="2194537"/>
            <a:ext cx="5242200" cy="329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solidFill>
                  <a:schemeClr val="lt2"/>
                </a:solidFill>
                <a:latin typeface="Courier New"/>
                <a:ea typeface="Courier New"/>
                <a:cs typeface="Courier New"/>
                <a:sym typeface="Courier New"/>
              </a:rPr>
              <a:t>def multiply_complex(x: str, y: str) -&gt; str:</a:t>
            </a:r>
            <a:endParaRPr>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a:solidFill>
                  <a:schemeClr val="lt2"/>
                </a:solidFill>
                <a:latin typeface="Courier New"/>
                <a:ea typeface="Courier New"/>
                <a:cs typeface="Courier New"/>
                <a:sym typeface="Courier New"/>
              </a:rPr>
              <a:t>    parts_x = x.split(" + ")</a:t>
            </a:r>
            <a:endParaRPr>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a:solidFill>
                  <a:schemeClr val="lt2"/>
                </a:solidFill>
                <a:latin typeface="Courier New"/>
                <a:ea typeface="Courier New"/>
                <a:cs typeface="Courier New"/>
                <a:sym typeface="Courier New"/>
              </a:rPr>
              <a:t>    parts_y = y.split(" + ")</a:t>
            </a:r>
            <a:endParaRPr>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a:solidFill>
                  <a:schemeClr val="lt2"/>
                </a:solidFill>
                <a:latin typeface="Courier New"/>
                <a:ea typeface="Courier New"/>
                <a:cs typeface="Courier New"/>
                <a:sym typeface="Courier New"/>
              </a:rPr>
              <a:t>    a = int(parts_x[0])</a:t>
            </a:r>
            <a:endParaRPr>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a:solidFill>
                  <a:schemeClr val="lt2"/>
                </a:solidFill>
                <a:latin typeface="Courier New"/>
                <a:ea typeface="Courier New"/>
                <a:cs typeface="Courier New"/>
                <a:sym typeface="Courier New"/>
              </a:rPr>
              <a:t>    b = int(parts_x[1].replace("i", ""))</a:t>
            </a:r>
            <a:endParaRPr>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a:solidFill>
                  <a:schemeClr val="lt2"/>
                </a:solidFill>
                <a:latin typeface="Courier New"/>
                <a:ea typeface="Courier New"/>
                <a:cs typeface="Courier New"/>
                <a:sym typeface="Courier New"/>
              </a:rPr>
              <a:t>    c = int(parts_y[0])</a:t>
            </a:r>
            <a:endParaRPr>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a:solidFill>
                  <a:schemeClr val="lt2"/>
                </a:solidFill>
                <a:latin typeface="Courier New"/>
                <a:ea typeface="Courier New"/>
                <a:cs typeface="Courier New"/>
                <a:sym typeface="Courier New"/>
              </a:rPr>
              <a:t>    d = int(parts_y[1].replace("i", ""))</a:t>
            </a:r>
            <a:endParaRPr>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a:solidFill>
                  <a:schemeClr val="lt2"/>
                </a:solidFill>
                <a:latin typeface="Courier New"/>
                <a:ea typeface="Courier New"/>
                <a:cs typeface="Courier New"/>
                <a:sym typeface="Courier New"/>
              </a:rPr>
              <a:t>    real = a * c - b * d</a:t>
            </a:r>
            <a:endParaRPr>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a:solidFill>
                  <a:schemeClr val="lt2"/>
                </a:solidFill>
                <a:latin typeface="Courier New"/>
                <a:ea typeface="Courier New"/>
                <a:cs typeface="Courier New"/>
                <a:sym typeface="Courier New"/>
              </a:rPr>
              <a:t>    imag = a * d + b * c</a:t>
            </a:r>
            <a:endParaRPr>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a:solidFill>
                  <a:schemeClr val="lt2"/>
                </a:solidFill>
                <a:latin typeface="Courier New"/>
                <a:ea typeface="Courier New"/>
                <a:cs typeface="Courier New"/>
                <a:sym typeface="Courier New"/>
              </a:rPr>
              <a:t>    return f"{real} + {imag}i"</a:t>
            </a:r>
            <a:endParaRPr>
              <a:solidFill>
                <a:schemeClr val="lt2"/>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lt2"/>
              </a:buClr>
              <a:buSzPts val="1400"/>
              <a:buFont typeface="Courier New"/>
              <a:buNone/>
            </a:pPr>
            <a:r>
              <a:t/>
            </a:r>
            <a:endParaRPr>
              <a:solidFill>
                <a:schemeClr val="lt2"/>
              </a:solidFill>
              <a:latin typeface="Courier New"/>
              <a:ea typeface="Courier New"/>
              <a:cs typeface="Courier New"/>
              <a:sym typeface="Courier New"/>
            </a:endParaRPr>
          </a:p>
        </p:txBody>
      </p:sp>
      <p:sp>
        <p:nvSpPr>
          <p:cNvPr id="459" name="Google Shape;459;h63c0e6991457cadf_0_342"/>
          <p:cNvSpPr/>
          <p:nvPr/>
        </p:nvSpPr>
        <p:spPr>
          <a:xfrm>
            <a:off x="640075" y="5129700"/>
            <a:ext cx="4846200" cy="877800"/>
          </a:xfrm>
          <a:prstGeom prst="roundRect">
            <a:avLst>
              <a:gd fmla="val 5714"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h63c0e6991457cadf_0_342"/>
          <p:cNvSpPr txBox="1"/>
          <p:nvPr/>
        </p:nvSpPr>
        <p:spPr>
          <a:xfrm>
            <a:off x="869637" y="5285138"/>
            <a:ext cx="25635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700"/>
              <a:buFont typeface="Courier New"/>
              <a:buNone/>
            </a:pPr>
            <a:r>
              <a:rPr b="1" i="0" lang="en-US" sz="1700" u="none" cap="none" strike="noStrike">
                <a:solidFill>
                  <a:schemeClr val="accent2"/>
                </a:solidFill>
                <a:latin typeface="Courier New"/>
                <a:ea typeface="Courier New"/>
                <a:cs typeface="Courier New"/>
                <a:sym typeface="Courier New"/>
              </a:rPr>
              <a:t>Time O(1)</a:t>
            </a:r>
            <a:endParaRPr b="0" i="0" sz="1700" u="none" cap="none" strike="noStrike">
              <a:solidFill>
                <a:schemeClr val="dk1"/>
              </a:solidFill>
              <a:latin typeface="Calibri"/>
              <a:ea typeface="Calibri"/>
              <a:cs typeface="Calibri"/>
              <a:sym typeface="Calibri"/>
            </a:endParaRPr>
          </a:p>
        </p:txBody>
      </p:sp>
      <p:sp>
        <p:nvSpPr>
          <p:cNvPr id="461" name="Google Shape;461;h63c0e6991457cadf_0_342"/>
          <p:cNvSpPr txBox="1"/>
          <p:nvPr/>
        </p:nvSpPr>
        <p:spPr>
          <a:xfrm>
            <a:off x="869637" y="5586780"/>
            <a:ext cx="2563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300" u="none" cap="none" strike="noStrike">
                <a:solidFill>
                  <a:schemeClr val="accent5"/>
                </a:solidFill>
                <a:latin typeface="Calibri"/>
                <a:ea typeface="Calibri"/>
                <a:cs typeface="Calibri"/>
                <a:sym typeface="Calibri"/>
              </a:rPr>
              <a:t>inputs have a bounded length</a:t>
            </a:r>
            <a:endParaRPr b="0" i="0" sz="1300" u="none" cap="none" strike="noStrike">
              <a:solidFill>
                <a:schemeClr val="dk1"/>
              </a:solidFill>
              <a:latin typeface="Calibri"/>
              <a:ea typeface="Calibri"/>
              <a:cs typeface="Calibri"/>
              <a:sym typeface="Calibri"/>
            </a:endParaRPr>
          </a:p>
        </p:txBody>
      </p:sp>
      <p:sp>
        <p:nvSpPr>
          <p:cNvPr id="462" name="Google Shape;462;h63c0e6991457cadf_0_342"/>
          <p:cNvSpPr txBox="1"/>
          <p:nvPr/>
        </p:nvSpPr>
        <p:spPr>
          <a:xfrm>
            <a:off x="3433131" y="5285138"/>
            <a:ext cx="205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700"/>
              <a:buFont typeface="Courier New"/>
              <a:buNone/>
            </a:pPr>
            <a:r>
              <a:rPr b="1" i="0" lang="en-US" sz="1700" u="none" cap="none" strike="noStrike">
                <a:solidFill>
                  <a:schemeClr val="accent2"/>
                </a:solidFill>
                <a:latin typeface="Courier New"/>
                <a:ea typeface="Courier New"/>
                <a:cs typeface="Courier New"/>
                <a:sym typeface="Courier New"/>
              </a:rPr>
              <a:t>Space O(1)</a:t>
            </a:r>
            <a:endParaRPr b="0" i="0" sz="1700" u="none" cap="none" strike="noStrike">
              <a:solidFill>
                <a:schemeClr val="dk1"/>
              </a:solidFill>
              <a:latin typeface="Calibri"/>
              <a:ea typeface="Calibri"/>
              <a:cs typeface="Calibri"/>
              <a:sym typeface="Calibri"/>
            </a:endParaRPr>
          </a:p>
        </p:txBody>
      </p:sp>
      <p:sp>
        <p:nvSpPr>
          <p:cNvPr id="463" name="Google Shape;463;h63c0e6991457cadf_0_342"/>
          <p:cNvSpPr txBox="1"/>
          <p:nvPr/>
        </p:nvSpPr>
        <p:spPr>
          <a:xfrm>
            <a:off x="3433131" y="5586780"/>
            <a:ext cx="205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300" u="none" cap="none" strike="noStrike">
                <a:solidFill>
                  <a:schemeClr val="accent5"/>
                </a:solidFill>
                <a:latin typeface="Calibri"/>
                <a:ea typeface="Calibri"/>
                <a:cs typeface="Calibri"/>
                <a:sym typeface="Calibri"/>
              </a:rPr>
              <a:t>a few integers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h63c0e6991457cadf_0_385"/>
          <p:cNvSpPr txBox="1"/>
          <p:nvPr>
            <p:ph idx="1" type="body"/>
          </p:nvPr>
        </p:nvSpPr>
        <p:spPr>
          <a:xfrm>
            <a:off x="640080" y="457200"/>
            <a:ext cx="8229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1200"/>
              <a:buNone/>
            </a:pPr>
            <a:r>
              <a:rPr b="1" lang="en-US" sz="1200">
                <a:solidFill>
                  <a:schemeClr val="accent1"/>
                </a:solidFill>
              </a:rPr>
              <a:t>WORKED EXAMPLE 3   //   HARD</a:t>
            </a:r>
            <a:endParaRPr sz="1200"/>
          </a:p>
        </p:txBody>
      </p:sp>
      <p:sp>
        <p:nvSpPr>
          <p:cNvPr id="470" name="Google Shape;470;h63c0e6991457cadf_0_385"/>
          <p:cNvSpPr txBox="1"/>
          <p:nvPr>
            <p:ph type="title"/>
          </p:nvPr>
        </p:nvSpPr>
        <p:spPr>
          <a:xfrm>
            <a:off x="640080" y="777240"/>
            <a:ext cx="109089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dk1"/>
                </a:solidFill>
              </a:rPr>
              <a:t>Worked example: Smallest Matching Substring</a:t>
            </a:r>
            <a:endParaRPr sz="3200"/>
          </a:p>
        </p:txBody>
      </p:sp>
      <p:sp>
        <p:nvSpPr>
          <p:cNvPr id="471" name="Google Shape;471;h63c0e6991457cadf_0_385"/>
          <p:cNvSpPr/>
          <p:nvPr/>
        </p:nvSpPr>
        <p:spPr>
          <a:xfrm>
            <a:off x="640080" y="1600200"/>
            <a:ext cx="4846200" cy="4572000"/>
          </a:xfrm>
          <a:prstGeom prst="roundRect">
            <a:avLst>
              <a:gd fmla="val 12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h63c0e6991457cadf_0_385"/>
          <p:cNvSpPr txBox="1"/>
          <p:nvPr/>
        </p:nvSpPr>
        <p:spPr>
          <a:xfrm>
            <a:off x="914400" y="1874520"/>
            <a:ext cx="301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Problem statement</a:t>
            </a:r>
            <a:endParaRPr b="0" i="0" sz="2000" u="none" cap="none" strike="noStrike">
              <a:solidFill>
                <a:schemeClr val="dk1"/>
              </a:solidFill>
              <a:latin typeface="Calibri"/>
              <a:ea typeface="Calibri"/>
              <a:cs typeface="Calibri"/>
              <a:sym typeface="Calibri"/>
            </a:endParaRPr>
          </a:p>
        </p:txBody>
      </p:sp>
      <p:sp>
        <p:nvSpPr>
          <p:cNvPr id="473" name="Google Shape;473;h63c0e6991457cadf_0_385"/>
          <p:cNvSpPr/>
          <p:nvPr/>
        </p:nvSpPr>
        <p:spPr>
          <a:xfrm>
            <a:off x="4297680" y="1901952"/>
            <a:ext cx="914400" cy="310800"/>
          </a:xfrm>
          <a:prstGeom prst="roundRect">
            <a:avLst>
              <a:gd fmla="val 44118" name="adj"/>
            </a:avLst>
          </a:prstGeom>
          <a:solidFill>
            <a:schemeClr val="accent1">
              <a:alpha val="14900"/>
            </a:schemeClr>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1100"/>
              <a:buFont typeface="Calibri"/>
              <a:buNone/>
            </a:pPr>
            <a:r>
              <a:rPr b="1" i="0" lang="en-US" sz="1100" u="none" cap="none" strike="noStrike">
                <a:solidFill>
                  <a:schemeClr val="accent3"/>
                </a:solidFill>
                <a:latin typeface="Calibri"/>
                <a:ea typeface="Calibri"/>
                <a:cs typeface="Calibri"/>
                <a:sym typeface="Calibri"/>
              </a:rPr>
              <a:t>HARD</a:t>
            </a:r>
            <a:endParaRPr b="0" i="0" sz="1100" u="none" cap="none" strike="noStrike">
              <a:solidFill>
                <a:schemeClr val="dk1"/>
              </a:solidFill>
              <a:latin typeface="Calibri"/>
              <a:ea typeface="Calibri"/>
              <a:cs typeface="Calibri"/>
              <a:sym typeface="Calibri"/>
            </a:endParaRPr>
          </a:p>
        </p:txBody>
      </p:sp>
      <p:sp>
        <p:nvSpPr>
          <p:cNvPr id="474" name="Google Shape;474;h63c0e6991457cadf_0_385"/>
          <p:cNvSpPr txBox="1"/>
          <p:nvPr/>
        </p:nvSpPr>
        <p:spPr>
          <a:xfrm>
            <a:off x="914400" y="2313432"/>
            <a:ext cx="42978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US" sz="1200" u="none" cap="none" strike="noStrike">
                <a:solidFill>
                  <a:schemeClr val="accent5"/>
                </a:solidFill>
                <a:latin typeface="Calibri"/>
                <a:ea typeface="Calibri"/>
                <a:cs typeface="Calibri"/>
                <a:sym typeface="Calibri"/>
              </a:rPr>
              <a:t>Author: Justin Brown   //   Created 07/02/2025</a:t>
            </a:r>
            <a:endParaRPr b="0" i="0" sz="1200" u="none" cap="none" strike="noStrike">
              <a:solidFill>
                <a:schemeClr val="dk1"/>
              </a:solidFill>
              <a:latin typeface="Calibri"/>
              <a:ea typeface="Calibri"/>
              <a:cs typeface="Calibri"/>
              <a:sym typeface="Calibri"/>
            </a:endParaRPr>
          </a:p>
        </p:txBody>
      </p:sp>
      <p:sp>
        <p:nvSpPr>
          <p:cNvPr id="475" name="Google Shape;475;h63c0e6991457cadf_0_385"/>
          <p:cNvSpPr txBox="1"/>
          <p:nvPr/>
        </p:nvSpPr>
        <p:spPr>
          <a:xfrm>
            <a:off x="914400" y="2624328"/>
            <a:ext cx="4297800" cy="1828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Given a string s and a pattern p containing exactly two wildcard '*' characters, return the length of the smallest substring in s that matches the pattern p. Note: A wildcard '*' can match any sequence of characters (including the empty sequence). Note: An empty substring is a valid substring.</a:t>
            </a:r>
            <a:endParaRPr b="0" i="0" sz="1400" u="none" cap="none" strike="noStrike">
              <a:solidFill>
                <a:schemeClr val="dk1"/>
              </a:solidFill>
              <a:latin typeface="Calibri"/>
              <a:ea typeface="Calibri"/>
              <a:cs typeface="Calibri"/>
              <a:sym typeface="Calibri"/>
            </a:endParaRPr>
          </a:p>
        </p:txBody>
      </p:sp>
      <p:sp>
        <p:nvSpPr>
          <p:cNvPr id="476" name="Google Shape;476;h63c0e6991457cadf_0_385"/>
          <p:cNvSpPr txBox="1"/>
          <p:nvPr/>
        </p:nvSpPr>
        <p:spPr>
          <a:xfrm>
            <a:off x="914400" y="4297680"/>
            <a:ext cx="2743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CONSTRAINTS</a:t>
            </a:r>
            <a:endParaRPr b="0" i="0" sz="1100" u="none" cap="none" strike="noStrike">
              <a:solidFill>
                <a:schemeClr val="dk1"/>
              </a:solidFill>
              <a:latin typeface="Calibri"/>
              <a:ea typeface="Calibri"/>
              <a:cs typeface="Calibri"/>
              <a:sym typeface="Calibri"/>
            </a:endParaRPr>
          </a:p>
        </p:txBody>
      </p:sp>
      <p:sp>
        <p:nvSpPr>
          <p:cNvPr id="477" name="Google Shape;477;h63c0e6991457cadf_0_385"/>
          <p:cNvSpPr txBox="1"/>
          <p:nvPr/>
        </p:nvSpPr>
        <p:spPr>
          <a:xfrm>
            <a:off x="914400" y="4572000"/>
            <a:ext cx="4297800" cy="15546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1 &lt;= s.length &lt;= 10^4</a:t>
            </a:r>
            <a:endParaRPr b="0" i="0" sz="13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2 &lt;= p.length &lt;= 10^4</a:t>
            </a:r>
            <a:endParaRPr b="0" i="0" sz="13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s contains only lowercase English letters and spaces.</a:t>
            </a:r>
            <a:endParaRPr b="0" i="0" sz="13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p contains only lowercase English letters and exactly two '*'.</a:t>
            </a:r>
            <a:endParaRPr b="0" i="0" sz="1300" u="none" cap="none" strike="noStrike">
              <a:solidFill>
                <a:schemeClr val="dk1"/>
              </a:solidFill>
              <a:latin typeface="Calibri"/>
              <a:ea typeface="Calibri"/>
              <a:cs typeface="Calibri"/>
              <a:sym typeface="Calibri"/>
            </a:endParaRPr>
          </a:p>
        </p:txBody>
      </p:sp>
      <p:sp>
        <p:nvSpPr>
          <p:cNvPr id="478" name="Google Shape;478;h63c0e6991457cadf_0_385"/>
          <p:cNvSpPr/>
          <p:nvPr/>
        </p:nvSpPr>
        <p:spPr>
          <a:xfrm>
            <a:off x="5760720" y="1600200"/>
            <a:ext cx="5790900" cy="2194500"/>
          </a:xfrm>
          <a:prstGeom prst="roundRect">
            <a:avLst>
              <a:gd fmla="val 25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h63c0e6991457cadf_0_385"/>
          <p:cNvSpPr txBox="1"/>
          <p:nvPr/>
        </p:nvSpPr>
        <p:spPr>
          <a:xfrm>
            <a:off x="6080760" y="1783080"/>
            <a:ext cx="51507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Example 1</a:t>
            </a:r>
            <a:endParaRPr b="0" i="0" sz="1700" u="none" cap="none" strike="noStrike">
              <a:solidFill>
                <a:schemeClr val="dk1"/>
              </a:solidFill>
              <a:latin typeface="Calibri"/>
              <a:ea typeface="Calibri"/>
              <a:cs typeface="Calibri"/>
              <a:sym typeface="Calibri"/>
            </a:endParaRPr>
          </a:p>
        </p:txBody>
      </p:sp>
      <p:sp>
        <p:nvSpPr>
          <p:cNvPr id="480" name="Google Shape;480;h63c0e6991457cadf_0_385"/>
          <p:cNvSpPr txBox="1"/>
          <p:nvPr/>
        </p:nvSpPr>
        <p:spPr>
          <a:xfrm>
            <a:off x="6080760" y="2194560"/>
            <a:ext cx="5150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Input:   s = "alliterations", p = "a*i*s"</a:t>
            </a:r>
            <a:endParaRPr b="0" i="0" sz="1400" u="none" cap="none" strike="noStrike">
              <a:solidFill>
                <a:schemeClr val="dk1"/>
              </a:solidFill>
              <a:latin typeface="Calibri"/>
              <a:ea typeface="Calibri"/>
              <a:cs typeface="Calibri"/>
              <a:sym typeface="Calibri"/>
            </a:endParaRPr>
          </a:p>
        </p:txBody>
      </p:sp>
      <p:sp>
        <p:nvSpPr>
          <p:cNvPr id="481" name="Google Shape;481;h63c0e6991457cadf_0_385"/>
          <p:cNvSpPr txBox="1"/>
          <p:nvPr/>
        </p:nvSpPr>
        <p:spPr>
          <a:xfrm>
            <a:off x="6080760" y="2478024"/>
            <a:ext cx="5150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1" i="0" lang="en-US" sz="1400" u="none" cap="none" strike="noStrike">
                <a:solidFill>
                  <a:schemeClr val="dk1"/>
                </a:solidFill>
                <a:latin typeface="Courier New"/>
                <a:ea typeface="Courier New"/>
                <a:cs typeface="Courier New"/>
                <a:sym typeface="Courier New"/>
              </a:rPr>
              <a:t>Output:  6</a:t>
            </a:r>
            <a:endParaRPr b="0" i="0" sz="1400" u="none" cap="none" strike="noStrike">
              <a:solidFill>
                <a:schemeClr val="dk1"/>
              </a:solidFill>
              <a:latin typeface="Calibri"/>
              <a:ea typeface="Calibri"/>
              <a:cs typeface="Calibri"/>
              <a:sym typeface="Calibri"/>
            </a:endParaRPr>
          </a:p>
        </p:txBody>
      </p:sp>
      <p:sp>
        <p:nvSpPr>
          <p:cNvPr id="482" name="Google Shape;482;h63c0e6991457cadf_0_385"/>
          <p:cNvSpPr txBox="1"/>
          <p:nvPr/>
        </p:nvSpPr>
        <p:spPr>
          <a:xfrm>
            <a:off x="6080760" y="2862072"/>
            <a:ext cx="5150700" cy="841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1" lang="en-US" sz="1400" u="none" cap="none" strike="noStrike">
                <a:solidFill>
                  <a:schemeClr val="accent5"/>
                </a:solidFill>
                <a:latin typeface="Calibri"/>
                <a:ea typeface="Calibri"/>
                <a:cs typeface="Calibri"/>
                <a:sym typeface="Calibri"/>
              </a:rPr>
              <a:t>Explanation: The substrings that match that pattern are "ations" and the entire string "alliterations". The smaller of the two is "ations", which has a length of 6.</a:t>
            </a:r>
            <a:endParaRPr b="0" i="0" sz="1400" u="none" cap="none" strike="noStrike">
              <a:solidFill>
                <a:schemeClr val="dk1"/>
              </a:solidFill>
              <a:latin typeface="Calibri"/>
              <a:ea typeface="Calibri"/>
              <a:cs typeface="Calibri"/>
              <a:sym typeface="Calibri"/>
            </a:endParaRPr>
          </a:p>
        </p:txBody>
      </p:sp>
      <p:sp>
        <p:nvSpPr>
          <p:cNvPr id="483" name="Google Shape;483;h63c0e6991457cadf_0_385"/>
          <p:cNvSpPr/>
          <p:nvPr/>
        </p:nvSpPr>
        <p:spPr>
          <a:xfrm>
            <a:off x="5760720" y="3977640"/>
            <a:ext cx="5790900" cy="2194500"/>
          </a:xfrm>
          <a:prstGeom prst="roundRect">
            <a:avLst>
              <a:gd fmla="val 25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h63c0e6991457cadf_0_385"/>
          <p:cNvSpPr txBox="1"/>
          <p:nvPr/>
        </p:nvSpPr>
        <p:spPr>
          <a:xfrm>
            <a:off x="6080760" y="4160520"/>
            <a:ext cx="51507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Example 2</a:t>
            </a:r>
            <a:endParaRPr b="0" i="0" sz="1700" u="none" cap="none" strike="noStrike">
              <a:solidFill>
                <a:schemeClr val="dk1"/>
              </a:solidFill>
              <a:latin typeface="Calibri"/>
              <a:ea typeface="Calibri"/>
              <a:cs typeface="Calibri"/>
              <a:sym typeface="Calibri"/>
            </a:endParaRPr>
          </a:p>
        </p:txBody>
      </p:sp>
      <p:sp>
        <p:nvSpPr>
          <p:cNvPr id="485" name="Google Shape;485;h63c0e6991457cadf_0_385"/>
          <p:cNvSpPr txBox="1"/>
          <p:nvPr/>
        </p:nvSpPr>
        <p:spPr>
          <a:xfrm>
            <a:off x="6080760" y="4572000"/>
            <a:ext cx="5150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0" i="0" lang="en-US" sz="1400" u="none" cap="none" strike="noStrike">
                <a:solidFill>
                  <a:schemeClr val="dk1"/>
                </a:solidFill>
                <a:latin typeface="Courier New"/>
                <a:ea typeface="Courier New"/>
                <a:cs typeface="Courier New"/>
                <a:sym typeface="Courier New"/>
              </a:rPr>
              <a:t>Input:   s = "constitutional", p = "co*tio*onal"</a:t>
            </a:r>
            <a:endParaRPr b="0" i="0" sz="1400" u="none" cap="none" strike="noStrike">
              <a:solidFill>
                <a:schemeClr val="dk1"/>
              </a:solidFill>
              <a:latin typeface="Calibri"/>
              <a:ea typeface="Calibri"/>
              <a:cs typeface="Calibri"/>
              <a:sym typeface="Calibri"/>
            </a:endParaRPr>
          </a:p>
        </p:txBody>
      </p:sp>
      <p:sp>
        <p:nvSpPr>
          <p:cNvPr id="486" name="Google Shape;486;h63c0e6991457cadf_0_385"/>
          <p:cNvSpPr txBox="1"/>
          <p:nvPr/>
        </p:nvSpPr>
        <p:spPr>
          <a:xfrm>
            <a:off x="6080760" y="4855464"/>
            <a:ext cx="5150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ourier New"/>
              <a:buNone/>
            </a:pPr>
            <a:r>
              <a:rPr b="1" i="0" lang="en-US" sz="1400" u="none" cap="none" strike="noStrike">
                <a:solidFill>
                  <a:schemeClr val="dk1"/>
                </a:solidFill>
                <a:latin typeface="Courier New"/>
                <a:ea typeface="Courier New"/>
                <a:cs typeface="Courier New"/>
                <a:sym typeface="Courier New"/>
              </a:rPr>
              <a:t>Output:  -1</a:t>
            </a:r>
            <a:endParaRPr b="0" i="0" sz="1400" u="none" cap="none" strike="noStrike">
              <a:solidFill>
                <a:schemeClr val="dk1"/>
              </a:solidFill>
              <a:latin typeface="Calibri"/>
              <a:ea typeface="Calibri"/>
              <a:cs typeface="Calibri"/>
              <a:sym typeface="Calibri"/>
            </a:endParaRPr>
          </a:p>
        </p:txBody>
      </p:sp>
      <p:sp>
        <p:nvSpPr>
          <p:cNvPr id="487" name="Google Shape;487;h63c0e6991457cadf_0_385"/>
          <p:cNvSpPr txBox="1"/>
          <p:nvPr/>
        </p:nvSpPr>
        <p:spPr>
          <a:xfrm>
            <a:off x="6080760" y="5239512"/>
            <a:ext cx="5150700" cy="841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1" lang="en-US" sz="1400" u="none" cap="none" strike="noStrike">
                <a:solidFill>
                  <a:schemeClr val="accent5"/>
                </a:solidFill>
                <a:latin typeface="Calibri"/>
                <a:ea typeface="Calibri"/>
                <a:cs typeface="Calibri"/>
                <a:sym typeface="Calibri"/>
              </a:rPr>
              <a:t>Explanation: There is no substring in s that matches the pattern p.</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h63c0e6991457cadf_0_420"/>
          <p:cNvSpPr txBox="1"/>
          <p:nvPr>
            <p:ph idx="1" type="body"/>
          </p:nvPr>
        </p:nvSpPr>
        <p:spPr>
          <a:xfrm>
            <a:off x="640080" y="457200"/>
            <a:ext cx="8229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1200"/>
              <a:buNone/>
            </a:pPr>
            <a:r>
              <a:rPr b="1" lang="en-US" sz="1200">
                <a:solidFill>
                  <a:schemeClr val="accent1"/>
                </a:solidFill>
              </a:rPr>
              <a:t>WORKED EXAMPLE 3   //   HARD</a:t>
            </a:r>
            <a:endParaRPr sz="1200"/>
          </a:p>
        </p:txBody>
      </p:sp>
      <p:sp>
        <p:nvSpPr>
          <p:cNvPr id="494" name="Google Shape;494;h63c0e6991457cadf_0_420"/>
          <p:cNvSpPr txBox="1"/>
          <p:nvPr>
            <p:ph type="title"/>
          </p:nvPr>
        </p:nvSpPr>
        <p:spPr>
          <a:xfrm>
            <a:off x="640080" y="777240"/>
            <a:ext cx="109089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dk1"/>
                </a:solidFill>
              </a:rPr>
              <a:t>Worked example: Smallest Matching Substring</a:t>
            </a:r>
            <a:endParaRPr sz="3200"/>
          </a:p>
        </p:txBody>
      </p:sp>
      <p:sp>
        <p:nvSpPr>
          <p:cNvPr id="495" name="Google Shape;495;h63c0e6991457cadf_0_420"/>
          <p:cNvSpPr/>
          <p:nvPr/>
        </p:nvSpPr>
        <p:spPr>
          <a:xfrm>
            <a:off x="640075" y="1600200"/>
            <a:ext cx="4846200" cy="2853000"/>
          </a:xfrm>
          <a:prstGeom prst="roundRect">
            <a:avLst>
              <a:gd fmla="val 1200"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h63c0e6991457cadf_0_420"/>
          <p:cNvSpPr txBox="1"/>
          <p:nvPr/>
        </p:nvSpPr>
        <p:spPr>
          <a:xfrm>
            <a:off x="914400" y="1682583"/>
            <a:ext cx="3017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1500" u="none" cap="none" strike="noStrike">
                <a:solidFill>
                  <a:schemeClr val="dk1"/>
                </a:solidFill>
                <a:latin typeface="Calibri"/>
                <a:ea typeface="Calibri"/>
                <a:cs typeface="Calibri"/>
                <a:sym typeface="Calibri"/>
              </a:rPr>
              <a:t>Problem statement</a:t>
            </a:r>
            <a:endParaRPr b="0" i="0" sz="1500" u="none" cap="none" strike="noStrike">
              <a:solidFill>
                <a:schemeClr val="dk1"/>
              </a:solidFill>
              <a:latin typeface="Calibri"/>
              <a:ea typeface="Calibri"/>
              <a:cs typeface="Calibri"/>
              <a:sym typeface="Calibri"/>
            </a:endParaRPr>
          </a:p>
        </p:txBody>
      </p:sp>
      <p:sp>
        <p:nvSpPr>
          <p:cNvPr id="497" name="Google Shape;497;h63c0e6991457cadf_0_420"/>
          <p:cNvSpPr/>
          <p:nvPr/>
        </p:nvSpPr>
        <p:spPr>
          <a:xfrm>
            <a:off x="4297680" y="1744402"/>
            <a:ext cx="914400" cy="310800"/>
          </a:xfrm>
          <a:prstGeom prst="roundRect">
            <a:avLst>
              <a:gd fmla="val 44118" name="adj"/>
            </a:avLst>
          </a:prstGeom>
          <a:solidFill>
            <a:schemeClr val="accent1">
              <a:alpha val="14900"/>
            </a:schemeClr>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1100"/>
              <a:buFont typeface="Calibri"/>
              <a:buNone/>
            </a:pPr>
            <a:r>
              <a:rPr b="1" i="0" lang="en-US" sz="1100" u="none" cap="none" strike="noStrike">
                <a:solidFill>
                  <a:schemeClr val="accent3"/>
                </a:solidFill>
                <a:latin typeface="Calibri"/>
                <a:ea typeface="Calibri"/>
                <a:cs typeface="Calibri"/>
                <a:sym typeface="Calibri"/>
              </a:rPr>
              <a:t>HARD</a:t>
            </a:r>
            <a:endParaRPr b="0" i="0" sz="1100" u="none" cap="none" strike="noStrike">
              <a:solidFill>
                <a:schemeClr val="dk1"/>
              </a:solidFill>
              <a:latin typeface="Calibri"/>
              <a:ea typeface="Calibri"/>
              <a:cs typeface="Calibri"/>
              <a:sym typeface="Calibri"/>
            </a:endParaRPr>
          </a:p>
        </p:txBody>
      </p:sp>
      <p:sp>
        <p:nvSpPr>
          <p:cNvPr id="498" name="Google Shape;498;h63c0e6991457cadf_0_420"/>
          <p:cNvSpPr txBox="1"/>
          <p:nvPr/>
        </p:nvSpPr>
        <p:spPr>
          <a:xfrm>
            <a:off x="914400" y="2023570"/>
            <a:ext cx="42978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200"/>
              <a:buFont typeface="Calibri"/>
              <a:buNone/>
            </a:pPr>
            <a:r>
              <a:rPr b="0" i="1" lang="en-US" sz="1000" u="none" cap="none" strike="noStrike">
                <a:solidFill>
                  <a:schemeClr val="accent5"/>
                </a:solidFill>
                <a:latin typeface="Calibri"/>
                <a:ea typeface="Calibri"/>
                <a:cs typeface="Calibri"/>
                <a:sym typeface="Calibri"/>
              </a:rPr>
              <a:t>Author: Justin Brown   //   Created 07/02/2025</a:t>
            </a:r>
            <a:endParaRPr b="0" i="0" sz="1000" u="none" cap="none" strike="noStrike">
              <a:solidFill>
                <a:schemeClr val="dk1"/>
              </a:solidFill>
              <a:latin typeface="Calibri"/>
              <a:ea typeface="Calibri"/>
              <a:cs typeface="Calibri"/>
              <a:sym typeface="Calibri"/>
            </a:endParaRPr>
          </a:p>
        </p:txBody>
      </p:sp>
      <p:sp>
        <p:nvSpPr>
          <p:cNvPr id="499" name="Google Shape;499;h63c0e6991457cadf_0_420"/>
          <p:cNvSpPr txBox="1"/>
          <p:nvPr/>
        </p:nvSpPr>
        <p:spPr>
          <a:xfrm>
            <a:off x="914400" y="2305453"/>
            <a:ext cx="4297800" cy="1828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chemeClr val="accent5"/>
              </a:buClr>
              <a:buSzPts val="1400"/>
              <a:buFont typeface="Calibri"/>
              <a:buNone/>
            </a:pPr>
            <a:r>
              <a:rPr b="0" i="0" lang="en-US" sz="1000" u="none" cap="none" strike="noStrike">
                <a:solidFill>
                  <a:schemeClr val="accent5"/>
                </a:solidFill>
                <a:latin typeface="Calibri"/>
                <a:ea typeface="Calibri"/>
                <a:cs typeface="Calibri"/>
                <a:sym typeface="Calibri"/>
              </a:rPr>
              <a:t>Given a string s and a pattern p containing exactly two wildcard '*' characters, return the length of the smallest substring in s that matches the pattern p. Note: A wildcard '*' can match any sequence of characters (including the empty sequence). Note: An empty substring is a valid substring.</a:t>
            </a:r>
            <a:endParaRPr b="0" i="0" sz="1000" u="none" cap="none" strike="noStrike">
              <a:solidFill>
                <a:schemeClr val="dk1"/>
              </a:solidFill>
              <a:latin typeface="Calibri"/>
              <a:ea typeface="Calibri"/>
              <a:cs typeface="Calibri"/>
              <a:sym typeface="Calibri"/>
            </a:endParaRPr>
          </a:p>
        </p:txBody>
      </p:sp>
      <p:sp>
        <p:nvSpPr>
          <p:cNvPr id="500" name="Google Shape;500;h63c0e6991457cadf_0_420"/>
          <p:cNvSpPr txBox="1"/>
          <p:nvPr/>
        </p:nvSpPr>
        <p:spPr>
          <a:xfrm>
            <a:off x="914400" y="3105542"/>
            <a:ext cx="2743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CONSTRAINTS</a:t>
            </a:r>
            <a:endParaRPr b="0" i="0" sz="1100" u="none" cap="none" strike="noStrike">
              <a:solidFill>
                <a:schemeClr val="dk1"/>
              </a:solidFill>
              <a:latin typeface="Calibri"/>
              <a:ea typeface="Calibri"/>
              <a:cs typeface="Calibri"/>
              <a:sym typeface="Calibri"/>
            </a:endParaRPr>
          </a:p>
        </p:txBody>
      </p:sp>
      <p:sp>
        <p:nvSpPr>
          <p:cNvPr id="501" name="Google Shape;501;h63c0e6991457cadf_0_420"/>
          <p:cNvSpPr txBox="1"/>
          <p:nvPr/>
        </p:nvSpPr>
        <p:spPr>
          <a:xfrm>
            <a:off x="914275" y="3300900"/>
            <a:ext cx="4297800" cy="1554600"/>
          </a:xfrm>
          <a:prstGeom prst="rect">
            <a:avLst/>
          </a:prstGeom>
          <a:noFill/>
          <a:ln>
            <a:noFill/>
          </a:ln>
        </p:spPr>
        <p:txBody>
          <a:bodyPr anchorCtr="0" anchor="t" bIns="0" lIns="0" spcFirstLastPara="1" rIns="0" wrap="square" tIns="0">
            <a:noAutofit/>
          </a:bodyPr>
          <a:lstStyle/>
          <a:p>
            <a:pPr indent="-323850" lvl="0" marL="342900" marR="0" rtl="0" algn="l">
              <a:spcBef>
                <a:spcPts val="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1 &lt;= s.length &lt;= 10^4</a:t>
            </a:r>
            <a:endParaRPr b="0" i="0" sz="1000" u="none" cap="none" strike="noStrike">
              <a:solidFill>
                <a:schemeClr val="dk1"/>
              </a:solidFill>
              <a:latin typeface="Calibri"/>
              <a:ea typeface="Calibri"/>
              <a:cs typeface="Calibri"/>
              <a:sym typeface="Calibri"/>
            </a:endParaRPr>
          </a:p>
          <a:p>
            <a:pPr indent="-323850" lvl="0" marL="342900" marR="0" rtl="0" algn="l">
              <a:spcBef>
                <a:spcPts val="3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2 &lt;= p.length &lt;= 10^4</a:t>
            </a:r>
            <a:endParaRPr b="0" i="0" sz="1000" u="none" cap="none" strike="noStrike">
              <a:solidFill>
                <a:schemeClr val="dk1"/>
              </a:solidFill>
              <a:latin typeface="Calibri"/>
              <a:ea typeface="Calibri"/>
              <a:cs typeface="Calibri"/>
              <a:sym typeface="Calibri"/>
            </a:endParaRPr>
          </a:p>
          <a:p>
            <a:pPr indent="-323850" lvl="0" marL="342900" marR="0" rtl="0" algn="l">
              <a:spcBef>
                <a:spcPts val="3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s contains only lowercase English letters and spaces.</a:t>
            </a:r>
            <a:endParaRPr b="0" i="0" sz="1000" u="none" cap="none" strike="noStrike">
              <a:solidFill>
                <a:schemeClr val="dk1"/>
              </a:solidFill>
              <a:latin typeface="Calibri"/>
              <a:ea typeface="Calibri"/>
              <a:cs typeface="Calibri"/>
              <a:sym typeface="Calibri"/>
            </a:endParaRPr>
          </a:p>
          <a:p>
            <a:pPr indent="-323850" lvl="0" marL="342900" marR="0" rtl="0" algn="l">
              <a:spcBef>
                <a:spcPts val="3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p contains only lowercase English letters and exactly two '*'.</a:t>
            </a:r>
            <a:endParaRPr b="0" i="0" sz="1000" u="none" cap="none" strike="noStrike">
              <a:solidFill>
                <a:schemeClr val="dk1"/>
              </a:solidFill>
              <a:latin typeface="Calibri"/>
              <a:ea typeface="Calibri"/>
              <a:cs typeface="Calibri"/>
              <a:sym typeface="Calibri"/>
            </a:endParaRPr>
          </a:p>
        </p:txBody>
      </p:sp>
      <p:sp>
        <p:nvSpPr>
          <p:cNvPr id="502" name="Google Shape;502;h63c0e6991457cadf_0_420"/>
          <p:cNvSpPr/>
          <p:nvPr/>
        </p:nvSpPr>
        <p:spPr>
          <a:xfrm>
            <a:off x="5760725" y="2537975"/>
            <a:ext cx="5790900" cy="895200"/>
          </a:xfrm>
          <a:prstGeom prst="roundRect">
            <a:avLst>
              <a:gd fmla="val 5714"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h63c0e6991457cadf_0_420"/>
          <p:cNvSpPr txBox="1"/>
          <p:nvPr/>
        </p:nvSpPr>
        <p:spPr>
          <a:xfrm>
            <a:off x="6080760" y="2675135"/>
            <a:ext cx="18288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HINT</a:t>
            </a:r>
            <a:endParaRPr b="0" i="0" sz="1100" u="none" cap="none" strike="noStrike">
              <a:solidFill>
                <a:schemeClr val="dk1"/>
              </a:solidFill>
              <a:latin typeface="Calibri"/>
              <a:ea typeface="Calibri"/>
              <a:cs typeface="Calibri"/>
              <a:sym typeface="Calibri"/>
            </a:endParaRPr>
          </a:p>
        </p:txBody>
      </p:sp>
      <p:sp>
        <p:nvSpPr>
          <p:cNvPr id="504" name="Google Shape;504;h63c0e6991457cadf_0_420"/>
          <p:cNvSpPr txBox="1"/>
          <p:nvPr/>
        </p:nvSpPr>
        <p:spPr>
          <a:xfrm>
            <a:off x="6080760" y="2869605"/>
            <a:ext cx="5150700" cy="502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Split p on "*" into three parts. For each start that matches the first part, find the other two as early as possible.</a:t>
            </a:r>
            <a:endParaRPr b="0" i="0" sz="1300" u="none" cap="none" strike="noStrike">
              <a:solidFill>
                <a:schemeClr val="dk1"/>
              </a:solidFill>
              <a:latin typeface="Calibri"/>
              <a:ea typeface="Calibri"/>
              <a:cs typeface="Calibri"/>
              <a:sym typeface="Calibri"/>
            </a:endParaRPr>
          </a:p>
        </p:txBody>
      </p:sp>
      <p:sp>
        <p:nvSpPr>
          <p:cNvPr id="505" name="Google Shape;505;h63c0e6991457cadf_0_420"/>
          <p:cNvSpPr/>
          <p:nvPr/>
        </p:nvSpPr>
        <p:spPr>
          <a:xfrm>
            <a:off x="640075" y="4555900"/>
            <a:ext cx="4846200" cy="1828800"/>
          </a:xfrm>
          <a:prstGeom prst="roundRect">
            <a:avLst>
              <a:gd fmla="val 2667"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h63c0e6991457cadf_0_420"/>
          <p:cNvSpPr txBox="1"/>
          <p:nvPr/>
        </p:nvSpPr>
        <p:spPr>
          <a:xfrm>
            <a:off x="960110" y="4702117"/>
            <a:ext cx="22860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Example 3</a:t>
            </a:r>
            <a:endParaRPr b="0" i="0" sz="1400" u="none" cap="none" strike="noStrike">
              <a:solidFill>
                <a:schemeClr val="dk1"/>
              </a:solidFill>
              <a:latin typeface="Calibri"/>
              <a:ea typeface="Calibri"/>
              <a:cs typeface="Calibri"/>
              <a:sym typeface="Calibri"/>
            </a:endParaRPr>
          </a:p>
        </p:txBody>
      </p:sp>
      <p:sp>
        <p:nvSpPr>
          <p:cNvPr id="507" name="Google Shape;507;h63c0e6991457cadf_0_420"/>
          <p:cNvSpPr txBox="1"/>
          <p:nvPr/>
        </p:nvSpPr>
        <p:spPr>
          <a:xfrm>
            <a:off x="2408010" y="4702117"/>
            <a:ext cx="2864700" cy="255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1"/>
              </a:buClr>
              <a:buSzPts val="1300"/>
              <a:buFont typeface="Courier New"/>
              <a:buNone/>
            </a:pPr>
            <a:r>
              <a:rPr b="1" i="0" lang="en-US" sz="1000" u="none" cap="none" strike="noStrike">
                <a:solidFill>
                  <a:schemeClr val="dk1"/>
                </a:solidFill>
                <a:latin typeface="Courier New"/>
                <a:ea typeface="Courier New"/>
                <a:cs typeface="Courier New"/>
                <a:sym typeface="Courier New"/>
              </a:rPr>
              <a:t>Output: 0</a:t>
            </a:r>
            <a:endParaRPr b="0" i="0" sz="1000" u="none" cap="none" strike="noStrike">
              <a:solidFill>
                <a:schemeClr val="dk1"/>
              </a:solidFill>
              <a:latin typeface="Calibri"/>
              <a:ea typeface="Calibri"/>
              <a:cs typeface="Calibri"/>
              <a:sym typeface="Calibri"/>
            </a:endParaRPr>
          </a:p>
        </p:txBody>
      </p:sp>
      <p:sp>
        <p:nvSpPr>
          <p:cNvPr id="508" name="Google Shape;508;h63c0e6991457cadf_0_420"/>
          <p:cNvSpPr txBox="1"/>
          <p:nvPr/>
        </p:nvSpPr>
        <p:spPr>
          <a:xfrm>
            <a:off x="960110" y="4938400"/>
            <a:ext cx="5150700" cy="237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ourier New"/>
              <a:buNone/>
            </a:pPr>
            <a:r>
              <a:rPr b="0" i="0" lang="en-US" sz="1000" u="none" cap="none" strike="noStrike">
                <a:solidFill>
                  <a:schemeClr val="dk1"/>
                </a:solidFill>
                <a:latin typeface="Courier New"/>
                <a:ea typeface="Courier New"/>
                <a:cs typeface="Courier New"/>
                <a:sym typeface="Courier New"/>
              </a:rPr>
              <a:t>s = "a", p = "**"</a:t>
            </a:r>
            <a:endParaRPr b="0" i="0" sz="1000" u="none" cap="none" strike="noStrike">
              <a:solidFill>
                <a:schemeClr val="dk1"/>
              </a:solidFill>
              <a:latin typeface="Calibri"/>
              <a:ea typeface="Calibri"/>
              <a:cs typeface="Calibri"/>
              <a:sym typeface="Calibri"/>
            </a:endParaRPr>
          </a:p>
        </p:txBody>
      </p:sp>
      <p:sp>
        <p:nvSpPr>
          <p:cNvPr id="509" name="Google Shape;509;h63c0e6991457cadf_0_420"/>
          <p:cNvSpPr txBox="1"/>
          <p:nvPr/>
        </p:nvSpPr>
        <p:spPr>
          <a:xfrm>
            <a:off x="960102" y="5130900"/>
            <a:ext cx="4312500" cy="43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b="0" i="1" lang="en-US" sz="1000" u="none" cap="none" strike="noStrike">
                <a:solidFill>
                  <a:schemeClr val="accent5"/>
                </a:solidFill>
                <a:latin typeface="Calibri"/>
                <a:ea typeface="Calibri"/>
                <a:cs typeface="Calibri"/>
                <a:sym typeface="Calibri"/>
              </a:rPr>
              <a:t>Between substrings "a" and "" (empty string), the smaller is "", which has a length of 0.</a:t>
            </a:r>
            <a:endParaRPr b="0" i="0" sz="1000" u="none" cap="none" strike="noStrike">
              <a:solidFill>
                <a:schemeClr val="dk1"/>
              </a:solidFill>
              <a:latin typeface="Calibri"/>
              <a:ea typeface="Calibri"/>
              <a:cs typeface="Calibri"/>
              <a:sym typeface="Calibri"/>
            </a:endParaRPr>
          </a:p>
        </p:txBody>
      </p:sp>
      <p:sp>
        <p:nvSpPr>
          <p:cNvPr id="510" name="Google Shape;510;h63c0e6991457cadf_0_420"/>
          <p:cNvSpPr txBox="1"/>
          <p:nvPr/>
        </p:nvSpPr>
        <p:spPr>
          <a:xfrm>
            <a:off x="960110" y="5525234"/>
            <a:ext cx="22860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Example 4</a:t>
            </a:r>
            <a:endParaRPr b="0" i="0" sz="1400" u="none" cap="none" strike="noStrike">
              <a:solidFill>
                <a:schemeClr val="dk1"/>
              </a:solidFill>
              <a:latin typeface="Calibri"/>
              <a:ea typeface="Calibri"/>
              <a:cs typeface="Calibri"/>
              <a:sym typeface="Calibri"/>
            </a:endParaRPr>
          </a:p>
        </p:txBody>
      </p:sp>
      <p:sp>
        <p:nvSpPr>
          <p:cNvPr id="511" name="Google Shape;511;h63c0e6991457cadf_0_420"/>
          <p:cNvSpPr txBox="1"/>
          <p:nvPr/>
        </p:nvSpPr>
        <p:spPr>
          <a:xfrm>
            <a:off x="2408010" y="5525909"/>
            <a:ext cx="2864700" cy="255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1"/>
              </a:buClr>
              <a:buSzPts val="1300"/>
              <a:buFont typeface="Courier New"/>
              <a:buNone/>
            </a:pPr>
            <a:r>
              <a:rPr b="1" i="0" lang="en-US" sz="1000" u="none" cap="none" strike="noStrike">
                <a:solidFill>
                  <a:schemeClr val="dk1"/>
                </a:solidFill>
                <a:latin typeface="Courier New"/>
                <a:ea typeface="Courier New"/>
                <a:cs typeface="Courier New"/>
                <a:sym typeface="Courier New"/>
              </a:rPr>
              <a:t>Output: 6</a:t>
            </a:r>
            <a:endParaRPr b="0" i="0" sz="1000" u="none" cap="none" strike="noStrike">
              <a:solidFill>
                <a:schemeClr val="dk1"/>
              </a:solidFill>
              <a:latin typeface="Calibri"/>
              <a:ea typeface="Calibri"/>
              <a:cs typeface="Calibri"/>
              <a:sym typeface="Calibri"/>
            </a:endParaRPr>
          </a:p>
        </p:txBody>
      </p:sp>
      <p:sp>
        <p:nvSpPr>
          <p:cNvPr id="512" name="Google Shape;512;h63c0e6991457cadf_0_420"/>
          <p:cNvSpPr txBox="1"/>
          <p:nvPr/>
        </p:nvSpPr>
        <p:spPr>
          <a:xfrm>
            <a:off x="960110" y="5716717"/>
            <a:ext cx="5150700" cy="237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ourier New"/>
              <a:buNone/>
            </a:pPr>
            <a:r>
              <a:rPr b="0" i="0" lang="en-US" sz="1000" u="none" cap="none" strike="noStrike">
                <a:solidFill>
                  <a:schemeClr val="dk1"/>
                </a:solidFill>
                <a:latin typeface="Courier New"/>
                <a:ea typeface="Courier New"/>
                <a:cs typeface="Courier New"/>
                <a:sym typeface="Courier New"/>
              </a:rPr>
              <a:t>s = "computer", p = "*ompute*"</a:t>
            </a:r>
            <a:endParaRPr b="0" i="0" sz="1000" u="none" cap="none" strike="noStrike">
              <a:solidFill>
                <a:schemeClr val="dk1"/>
              </a:solidFill>
              <a:latin typeface="Calibri"/>
              <a:ea typeface="Calibri"/>
              <a:cs typeface="Calibri"/>
              <a:sym typeface="Calibri"/>
            </a:endParaRPr>
          </a:p>
        </p:txBody>
      </p:sp>
      <p:sp>
        <p:nvSpPr>
          <p:cNvPr id="513" name="Google Shape;513;h63c0e6991457cadf_0_420"/>
          <p:cNvSpPr txBox="1"/>
          <p:nvPr/>
        </p:nvSpPr>
        <p:spPr>
          <a:xfrm>
            <a:off x="960110" y="5904236"/>
            <a:ext cx="5150700" cy="237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b="0" i="1" lang="en-US" sz="1000" u="none" cap="none" strike="noStrike">
                <a:solidFill>
                  <a:schemeClr val="accent5"/>
                </a:solidFill>
                <a:latin typeface="Calibri"/>
                <a:ea typeface="Calibri"/>
                <a:cs typeface="Calibri"/>
                <a:sym typeface="Calibri"/>
              </a:rPr>
              <a:t>The smallest matching substring of p in s is "ompute".</a:t>
            </a:r>
            <a:endParaRPr b="0" i="0" sz="1000" u="none" cap="none" strike="noStrike">
              <a:solidFill>
                <a:schemeClr val="dk1"/>
              </a:solidFill>
              <a:latin typeface="Calibri"/>
              <a:ea typeface="Calibri"/>
              <a:cs typeface="Calibri"/>
              <a:sym typeface="Calibri"/>
            </a:endParaRPr>
          </a:p>
        </p:txBody>
      </p:sp>
      <p:sp>
        <p:nvSpPr>
          <p:cNvPr id="514" name="Google Shape;514;h63c0e6991457cadf_0_420"/>
          <p:cNvSpPr/>
          <p:nvPr/>
        </p:nvSpPr>
        <p:spPr>
          <a:xfrm>
            <a:off x="5760725" y="1600200"/>
            <a:ext cx="5790900" cy="713100"/>
          </a:xfrm>
          <a:prstGeom prst="roundRect">
            <a:avLst>
              <a:gd fmla="val 4615" name="adj"/>
            </a:avLst>
          </a:prstGeom>
          <a:solidFill>
            <a:schemeClr val="accent6"/>
          </a:solidFill>
          <a:ln cap="flat" cmpd="sng" w="9525">
            <a:solidFill>
              <a:schemeClr val="accent5">
                <a:alpha val="502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h63c0e6991457cadf_0_420"/>
          <p:cNvSpPr txBox="1"/>
          <p:nvPr/>
        </p:nvSpPr>
        <p:spPr>
          <a:xfrm>
            <a:off x="6126430" y="1686030"/>
            <a:ext cx="50595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200"/>
              <a:buFont typeface="Calibri"/>
              <a:buNone/>
            </a:pPr>
            <a:r>
              <a:rPr b="1" i="0" lang="en-US" sz="2000" u="none" cap="none" strike="noStrike">
                <a:solidFill>
                  <a:schemeClr val="lt1"/>
                </a:solidFill>
                <a:latin typeface="Calibri"/>
                <a:ea typeface="Calibri"/>
                <a:cs typeface="Calibri"/>
                <a:sym typeface="Calibri"/>
              </a:rPr>
              <a:t>You have 5 minutes to complete this.</a:t>
            </a:r>
            <a:endParaRPr b="0" i="0" sz="2000" u="none" cap="none" strike="noStrike">
              <a:solidFill>
                <a:schemeClr val="dk1"/>
              </a:solidFill>
              <a:latin typeface="Calibri"/>
              <a:ea typeface="Calibri"/>
              <a:cs typeface="Calibri"/>
              <a:sym typeface="Calibri"/>
            </a:endParaRPr>
          </a:p>
        </p:txBody>
      </p:sp>
      <p:sp>
        <p:nvSpPr>
          <p:cNvPr id="516" name="Google Shape;516;h63c0e6991457cadf_0_420"/>
          <p:cNvSpPr txBox="1"/>
          <p:nvPr/>
        </p:nvSpPr>
        <p:spPr>
          <a:xfrm>
            <a:off x="6126355" y="1990956"/>
            <a:ext cx="50595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500"/>
              <a:buFont typeface="Calibri"/>
              <a:buNone/>
            </a:pPr>
            <a:r>
              <a:rPr b="0" i="0" lang="en-US" sz="1300" u="none" cap="none" strike="noStrike">
                <a:solidFill>
                  <a:schemeClr val="lt2"/>
                </a:solidFill>
                <a:latin typeface="Calibri"/>
                <a:ea typeface="Calibri"/>
                <a:cs typeface="Calibri"/>
                <a:sym typeface="Calibri"/>
              </a:rPr>
              <a:t>Please feel free to work in pairs or small groups (3 to 4).</a:t>
            </a:r>
            <a:endParaRPr b="0" i="0" sz="1300" u="none" cap="none" strike="noStrike">
              <a:solidFill>
                <a:schemeClr val="dk1"/>
              </a:solidFill>
              <a:latin typeface="Calibri"/>
              <a:ea typeface="Calibri"/>
              <a:cs typeface="Calibri"/>
              <a:sym typeface="Calibri"/>
            </a:endParaRPr>
          </a:p>
        </p:txBody>
      </p:sp>
      <p:pic>
        <p:nvPicPr>
          <p:cNvPr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id="517" name="Google Shape;517;h63c0e6991457cadf_0_420" title="5 Minute Timer">
            <a:hlinkClick r:id="rId3"/>
          </p:cNvPr>
          <p:cNvPicPr preferRelativeResize="0"/>
          <p:nvPr/>
        </p:nvPicPr>
        <p:blipFill>
          <a:blip r:embed="rId4">
            <a:alphaModFix/>
          </a:blip>
          <a:stretch>
            <a:fillRect/>
          </a:stretch>
        </p:blipFill>
        <p:spPr>
          <a:xfrm>
            <a:off x="5760651" y="3657850"/>
            <a:ext cx="5790900" cy="272419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h63c0e6991457cadf_0_460"/>
          <p:cNvSpPr txBox="1"/>
          <p:nvPr>
            <p:ph idx="1" type="body"/>
          </p:nvPr>
        </p:nvSpPr>
        <p:spPr>
          <a:xfrm>
            <a:off x="640080" y="457200"/>
            <a:ext cx="8229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1200"/>
              <a:buNone/>
            </a:pPr>
            <a:r>
              <a:rPr b="1" lang="en-US" sz="1200">
                <a:solidFill>
                  <a:schemeClr val="accent1"/>
                </a:solidFill>
              </a:rPr>
              <a:t>WORKED EXAMPLE 3   //   HARD</a:t>
            </a:r>
            <a:endParaRPr sz="1200"/>
          </a:p>
        </p:txBody>
      </p:sp>
      <p:sp>
        <p:nvSpPr>
          <p:cNvPr id="524" name="Google Shape;524;h63c0e6991457cadf_0_460"/>
          <p:cNvSpPr txBox="1"/>
          <p:nvPr>
            <p:ph type="title"/>
          </p:nvPr>
        </p:nvSpPr>
        <p:spPr>
          <a:xfrm>
            <a:off x="640080" y="777240"/>
            <a:ext cx="109089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dk1"/>
                </a:solidFill>
              </a:rPr>
              <a:t>Worked example: Smallest Matching Substring</a:t>
            </a:r>
            <a:endParaRPr sz="3200"/>
          </a:p>
        </p:txBody>
      </p:sp>
      <p:sp>
        <p:nvSpPr>
          <p:cNvPr id="525" name="Google Shape;525;h63c0e6991457cadf_0_460"/>
          <p:cNvSpPr/>
          <p:nvPr/>
        </p:nvSpPr>
        <p:spPr>
          <a:xfrm>
            <a:off x="640080" y="1600200"/>
            <a:ext cx="4846200" cy="3291900"/>
          </a:xfrm>
          <a:prstGeom prst="roundRect">
            <a:avLst>
              <a:gd fmla="val 1667"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h63c0e6991457cadf_0_460"/>
          <p:cNvSpPr txBox="1"/>
          <p:nvPr/>
        </p:nvSpPr>
        <p:spPr>
          <a:xfrm>
            <a:off x="914400" y="1801368"/>
            <a:ext cx="42978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Pattern and approach</a:t>
            </a:r>
            <a:endParaRPr b="0" i="0" sz="1800" u="none" cap="none" strike="noStrike">
              <a:solidFill>
                <a:schemeClr val="dk1"/>
              </a:solidFill>
              <a:latin typeface="Calibri"/>
              <a:ea typeface="Calibri"/>
              <a:cs typeface="Calibri"/>
              <a:sym typeface="Calibri"/>
            </a:endParaRPr>
          </a:p>
        </p:txBody>
      </p:sp>
      <p:sp>
        <p:nvSpPr>
          <p:cNvPr id="527" name="Google Shape;527;h63c0e6991457cadf_0_460"/>
          <p:cNvSpPr/>
          <p:nvPr/>
        </p:nvSpPr>
        <p:spPr>
          <a:xfrm>
            <a:off x="914400" y="2313432"/>
            <a:ext cx="1594800" cy="292500"/>
          </a:xfrm>
          <a:prstGeom prst="roundRect">
            <a:avLst>
              <a:gd fmla="val 50000" name="adj"/>
            </a:avLst>
          </a:prstGeom>
          <a:solidFill>
            <a:schemeClr val="accent2">
              <a:alpha val="25100"/>
            </a:schemeClr>
          </a:solidFill>
          <a:ln cap="flat" cmpd="sng" w="9525">
            <a:solidFill>
              <a:schemeClr val="accent2">
                <a:alpha val="70200"/>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Split the pattern</a:t>
            </a:r>
            <a:endParaRPr b="0" i="0" sz="1100" u="none" cap="none" strike="noStrike">
              <a:solidFill>
                <a:schemeClr val="dk1"/>
              </a:solidFill>
              <a:latin typeface="Calibri"/>
              <a:ea typeface="Calibri"/>
              <a:cs typeface="Calibri"/>
              <a:sym typeface="Calibri"/>
            </a:endParaRPr>
          </a:p>
        </p:txBody>
      </p:sp>
      <p:sp>
        <p:nvSpPr>
          <p:cNvPr id="528" name="Google Shape;528;h63c0e6991457cadf_0_460"/>
          <p:cNvSpPr/>
          <p:nvPr/>
        </p:nvSpPr>
        <p:spPr>
          <a:xfrm>
            <a:off x="2600554" y="2313432"/>
            <a:ext cx="1144800" cy="292500"/>
          </a:xfrm>
          <a:prstGeom prst="roundRect">
            <a:avLst>
              <a:gd fmla="val 50000" name="adj"/>
            </a:avLst>
          </a:prstGeom>
          <a:solidFill>
            <a:schemeClr val="accent2">
              <a:alpha val="25100"/>
            </a:schemeClr>
          </a:solidFill>
          <a:ln cap="flat" cmpd="sng" w="9525">
            <a:solidFill>
              <a:schemeClr val="accent2">
                <a:alpha val="70200"/>
              </a:schemeClr>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Calibri"/>
              <a:buNone/>
            </a:pPr>
            <a:r>
              <a:rPr b="1" i="0" lang="en-US" sz="1100" u="none" cap="none" strike="noStrike">
                <a:solidFill>
                  <a:schemeClr val="dk1"/>
                </a:solidFill>
                <a:latin typeface="Calibri"/>
                <a:ea typeface="Calibri"/>
                <a:cs typeface="Calibri"/>
                <a:sym typeface="Calibri"/>
              </a:rPr>
              <a:t>Greedy scan</a:t>
            </a:r>
            <a:endParaRPr b="0" i="0" sz="1100" u="none" cap="none" strike="noStrike">
              <a:solidFill>
                <a:schemeClr val="dk1"/>
              </a:solidFill>
              <a:latin typeface="Calibri"/>
              <a:ea typeface="Calibri"/>
              <a:cs typeface="Calibri"/>
              <a:sym typeface="Calibri"/>
            </a:endParaRPr>
          </a:p>
        </p:txBody>
      </p:sp>
      <p:sp>
        <p:nvSpPr>
          <p:cNvPr id="529" name="Google Shape;529;h63c0e6991457cadf_0_460"/>
          <p:cNvSpPr/>
          <p:nvPr/>
        </p:nvSpPr>
        <p:spPr>
          <a:xfrm>
            <a:off x="914400" y="2880360"/>
            <a:ext cx="347400" cy="3474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530" name="Google Shape;530;h63c0e6991457cadf_0_460"/>
          <p:cNvSpPr txBox="1"/>
          <p:nvPr/>
        </p:nvSpPr>
        <p:spPr>
          <a:xfrm>
            <a:off x="1463040" y="2862072"/>
            <a:ext cx="3749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Split the pattern in three</a:t>
            </a:r>
            <a:endParaRPr b="0" i="0" sz="1500" u="none" cap="none" strike="noStrike">
              <a:solidFill>
                <a:schemeClr val="dk1"/>
              </a:solidFill>
              <a:latin typeface="Calibri"/>
              <a:ea typeface="Calibri"/>
              <a:cs typeface="Calibri"/>
              <a:sym typeface="Calibri"/>
            </a:endParaRPr>
          </a:p>
        </p:txBody>
      </p:sp>
      <p:sp>
        <p:nvSpPr>
          <p:cNvPr id="531" name="Google Shape;531;h63c0e6991457cadf_0_460"/>
          <p:cNvSpPr txBox="1"/>
          <p:nvPr/>
        </p:nvSpPr>
        <p:spPr>
          <a:xfrm>
            <a:off x="1463040" y="3136392"/>
            <a:ext cx="37491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p.split("*") gives a prefix, a middle, and a suffix.</a:t>
            </a:r>
            <a:endParaRPr b="0" i="0" sz="1400" u="none" cap="none" strike="noStrike">
              <a:solidFill>
                <a:schemeClr val="dk1"/>
              </a:solidFill>
              <a:latin typeface="Calibri"/>
              <a:ea typeface="Calibri"/>
              <a:cs typeface="Calibri"/>
              <a:sym typeface="Calibri"/>
            </a:endParaRPr>
          </a:p>
        </p:txBody>
      </p:sp>
      <p:sp>
        <p:nvSpPr>
          <p:cNvPr id="532" name="Google Shape;532;h63c0e6991457cadf_0_460"/>
          <p:cNvSpPr/>
          <p:nvPr/>
        </p:nvSpPr>
        <p:spPr>
          <a:xfrm>
            <a:off x="914400" y="3538728"/>
            <a:ext cx="347400" cy="3474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533" name="Google Shape;533;h63c0e6991457cadf_0_460"/>
          <p:cNvSpPr txBox="1"/>
          <p:nvPr/>
        </p:nvSpPr>
        <p:spPr>
          <a:xfrm>
            <a:off x="1463040" y="3520440"/>
            <a:ext cx="3749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Try each start that fits the prefix</a:t>
            </a:r>
            <a:endParaRPr b="0" i="0" sz="1500" u="none" cap="none" strike="noStrike">
              <a:solidFill>
                <a:schemeClr val="dk1"/>
              </a:solidFill>
              <a:latin typeface="Calibri"/>
              <a:ea typeface="Calibri"/>
              <a:cs typeface="Calibri"/>
              <a:sym typeface="Calibri"/>
            </a:endParaRPr>
          </a:p>
        </p:txBody>
      </p:sp>
      <p:sp>
        <p:nvSpPr>
          <p:cNvPr id="534" name="Google Shape;534;h63c0e6991457cadf_0_460"/>
          <p:cNvSpPr txBox="1"/>
          <p:nvPr/>
        </p:nvSpPr>
        <p:spPr>
          <a:xfrm>
            <a:off x="1463040" y="3794760"/>
            <a:ext cx="37491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startswith(a, i) filters the possible starts.</a:t>
            </a:r>
            <a:endParaRPr b="0" i="0" sz="1400" u="none" cap="none" strike="noStrike">
              <a:solidFill>
                <a:schemeClr val="dk1"/>
              </a:solidFill>
              <a:latin typeface="Calibri"/>
              <a:ea typeface="Calibri"/>
              <a:cs typeface="Calibri"/>
              <a:sym typeface="Calibri"/>
            </a:endParaRPr>
          </a:p>
        </p:txBody>
      </p:sp>
      <p:sp>
        <p:nvSpPr>
          <p:cNvPr id="535" name="Google Shape;535;h63c0e6991457cadf_0_460"/>
          <p:cNvSpPr/>
          <p:nvPr/>
        </p:nvSpPr>
        <p:spPr>
          <a:xfrm>
            <a:off x="914400" y="4197096"/>
            <a:ext cx="347400" cy="3474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536" name="Google Shape;536;h63c0e6991457cadf_0_460"/>
          <p:cNvSpPr txBox="1"/>
          <p:nvPr/>
        </p:nvSpPr>
        <p:spPr>
          <a:xfrm>
            <a:off x="1463040" y="4178808"/>
            <a:ext cx="3749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Take the earliest middle and suffix</a:t>
            </a:r>
            <a:endParaRPr b="0" i="0" sz="1500" u="none" cap="none" strike="noStrike">
              <a:solidFill>
                <a:schemeClr val="dk1"/>
              </a:solidFill>
              <a:latin typeface="Calibri"/>
              <a:ea typeface="Calibri"/>
              <a:cs typeface="Calibri"/>
              <a:sym typeface="Calibri"/>
            </a:endParaRPr>
          </a:p>
        </p:txBody>
      </p:sp>
      <p:sp>
        <p:nvSpPr>
          <p:cNvPr id="537" name="Google Shape;537;h63c0e6991457cadf_0_460"/>
          <p:cNvSpPr txBox="1"/>
          <p:nvPr/>
        </p:nvSpPr>
        <p:spPr>
          <a:xfrm>
            <a:off x="1463040" y="4453128"/>
            <a:ext cx="37491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Earliest matches give the shortest span.</a:t>
            </a:r>
            <a:endParaRPr b="0" i="0" sz="1400" u="none" cap="none" strike="noStrike">
              <a:solidFill>
                <a:schemeClr val="dk1"/>
              </a:solidFill>
              <a:latin typeface="Calibri"/>
              <a:ea typeface="Calibri"/>
              <a:cs typeface="Calibri"/>
              <a:sym typeface="Calibri"/>
            </a:endParaRPr>
          </a:p>
        </p:txBody>
      </p:sp>
      <p:sp>
        <p:nvSpPr>
          <p:cNvPr id="538" name="Google Shape;538;h63c0e6991457cadf_0_460"/>
          <p:cNvSpPr/>
          <p:nvPr/>
        </p:nvSpPr>
        <p:spPr>
          <a:xfrm>
            <a:off x="5760725" y="1600200"/>
            <a:ext cx="5790900" cy="4887900"/>
          </a:xfrm>
          <a:prstGeom prst="roundRect">
            <a:avLst>
              <a:gd fmla="val 1591"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h63c0e6991457cadf_0_460"/>
          <p:cNvSpPr txBox="1"/>
          <p:nvPr/>
        </p:nvSpPr>
        <p:spPr>
          <a:xfrm>
            <a:off x="6035040" y="1801368"/>
            <a:ext cx="5242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PYTHON</a:t>
            </a:r>
            <a:endParaRPr b="0" i="0" sz="1100" u="none" cap="none" strike="noStrike">
              <a:solidFill>
                <a:schemeClr val="dk1"/>
              </a:solidFill>
              <a:latin typeface="Calibri"/>
              <a:ea typeface="Calibri"/>
              <a:cs typeface="Calibri"/>
              <a:sym typeface="Calibri"/>
            </a:endParaRPr>
          </a:p>
        </p:txBody>
      </p:sp>
      <p:sp>
        <p:nvSpPr>
          <p:cNvPr id="540" name="Google Shape;540;h63c0e6991457cadf_0_460"/>
          <p:cNvSpPr txBox="1"/>
          <p:nvPr/>
        </p:nvSpPr>
        <p:spPr>
          <a:xfrm>
            <a:off x="6035040" y="2043785"/>
            <a:ext cx="5242200" cy="267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def smallest_matching_substring(s: str, p: str) -&gt; int:</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parts = p.split("*")</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a = parts[0]</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b = parts[1]</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c = parts[2]</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best = -1</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for i in range(len(s) + 1):</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if not s.startswith(a, i):</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continue</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b_start = s.find(b, i + len(a))</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if b_start == -1:</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break </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c_start = s.find(c, b_start + len(b))</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if c_start == -1:</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break  </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length = c_start + len(c) - i</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if best == -1 or length &lt; best:</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best = length</a:t>
            </a:r>
            <a:endParaRPr sz="120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US" sz="1200">
                <a:solidFill>
                  <a:schemeClr val="lt2"/>
                </a:solidFill>
                <a:latin typeface="Courier New"/>
                <a:ea typeface="Courier New"/>
                <a:cs typeface="Courier New"/>
                <a:sym typeface="Courier New"/>
              </a:rPr>
              <a:t>    return best</a:t>
            </a:r>
            <a:endParaRPr sz="1200">
              <a:solidFill>
                <a:schemeClr val="lt2"/>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lt2"/>
              </a:buClr>
              <a:buSzPts val="1300"/>
              <a:buFont typeface="Courier New"/>
              <a:buNone/>
            </a:pPr>
            <a:r>
              <a:t/>
            </a:r>
            <a:endParaRPr sz="1200">
              <a:solidFill>
                <a:schemeClr val="lt2"/>
              </a:solidFill>
              <a:latin typeface="Courier New"/>
              <a:ea typeface="Courier New"/>
              <a:cs typeface="Courier New"/>
              <a:sym typeface="Courier New"/>
            </a:endParaRPr>
          </a:p>
        </p:txBody>
      </p:sp>
      <p:sp>
        <p:nvSpPr>
          <p:cNvPr id="541" name="Google Shape;541;h63c0e6991457cadf_0_460"/>
          <p:cNvSpPr/>
          <p:nvPr/>
        </p:nvSpPr>
        <p:spPr>
          <a:xfrm>
            <a:off x="640050" y="5021050"/>
            <a:ext cx="4846200" cy="887100"/>
          </a:xfrm>
          <a:prstGeom prst="roundRect">
            <a:avLst>
              <a:gd fmla="val 5714"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h63c0e6991457cadf_0_460"/>
          <p:cNvSpPr txBox="1"/>
          <p:nvPr/>
        </p:nvSpPr>
        <p:spPr>
          <a:xfrm>
            <a:off x="776865" y="5074860"/>
            <a:ext cx="3063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700"/>
              <a:buFont typeface="Courier New"/>
              <a:buNone/>
            </a:pPr>
            <a:r>
              <a:rPr b="1" i="0" lang="en-US" sz="1200" cap="none" strike="noStrike">
                <a:solidFill>
                  <a:schemeClr val="accent1"/>
                </a:solidFill>
                <a:latin typeface="Courier New"/>
                <a:ea typeface="Courier New"/>
                <a:cs typeface="Courier New"/>
                <a:sym typeface="Courier New"/>
              </a:rPr>
              <a:t>Time O(</a:t>
            </a:r>
            <a:r>
              <a:rPr b="1" lang="en-US" sz="1200">
                <a:solidFill>
                  <a:schemeClr val="accent1"/>
                </a:solidFill>
                <a:latin typeface="Courier New"/>
                <a:ea typeface="Courier New"/>
                <a:cs typeface="Courier New"/>
                <a:sym typeface="Courier New"/>
              </a:rPr>
              <a:t>n*(n+m</a:t>
            </a:r>
            <a:r>
              <a:rPr b="1" i="0" lang="en-US" sz="1200" cap="none" strike="noStrike">
                <a:solidFill>
                  <a:schemeClr val="accent1"/>
                </a:solidFill>
                <a:latin typeface="Courier New"/>
                <a:ea typeface="Courier New"/>
                <a:cs typeface="Courier New"/>
                <a:sym typeface="Courier New"/>
              </a:rPr>
              <a:t>))</a:t>
            </a:r>
            <a:endParaRPr b="0" i="0" sz="1200" cap="none" strike="noStrike">
              <a:solidFill>
                <a:schemeClr val="accent1"/>
              </a:solidFill>
              <a:latin typeface="Calibri"/>
              <a:ea typeface="Calibri"/>
              <a:cs typeface="Calibri"/>
              <a:sym typeface="Calibri"/>
            </a:endParaRPr>
          </a:p>
        </p:txBody>
      </p:sp>
      <p:sp>
        <p:nvSpPr>
          <p:cNvPr id="543" name="Google Shape;543;h63c0e6991457cadf_0_460"/>
          <p:cNvSpPr txBox="1"/>
          <p:nvPr/>
        </p:nvSpPr>
        <p:spPr>
          <a:xfrm>
            <a:off x="776875" y="5349275"/>
            <a:ext cx="1823700" cy="47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sz="1000">
                <a:solidFill>
                  <a:schemeClr val="accent5"/>
                </a:solidFill>
                <a:latin typeface="Calibri"/>
                <a:ea typeface="Calibri"/>
                <a:cs typeface="Calibri"/>
                <a:sym typeface="Calibri"/>
              </a:rPr>
              <a:t>every start position passes startswith check and every find has to scan without fail</a:t>
            </a:r>
            <a:endParaRPr b="0" i="0" sz="1000" u="none" cap="none" strike="noStrike">
              <a:solidFill>
                <a:schemeClr val="dk1"/>
              </a:solidFill>
              <a:latin typeface="Calibri"/>
              <a:ea typeface="Calibri"/>
              <a:cs typeface="Calibri"/>
              <a:sym typeface="Calibri"/>
            </a:endParaRPr>
          </a:p>
        </p:txBody>
      </p:sp>
      <p:sp>
        <p:nvSpPr>
          <p:cNvPr id="544" name="Google Shape;544;h63c0e6991457cadf_0_460"/>
          <p:cNvSpPr txBox="1"/>
          <p:nvPr/>
        </p:nvSpPr>
        <p:spPr>
          <a:xfrm>
            <a:off x="2971755" y="5074860"/>
            <a:ext cx="2453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700"/>
              <a:buFont typeface="Courier New"/>
              <a:buNone/>
            </a:pPr>
            <a:r>
              <a:rPr b="1" i="0" lang="en-US" sz="1200" u="none" cap="none" strike="noStrike">
                <a:solidFill>
                  <a:schemeClr val="accent1"/>
                </a:solidFill>
                <a:latin typeface="Courier New"/>
                <a:ea typeface="Courier New"/>
                <a:cs typeface="Courier New"/>
                <a:sym typeface="Courier New"/>
              </a:rPr>
              <a:t>Space O(</a:t>
            </a:r>
            <a:r>
              <a:rPr b="1" lang="en-US" sz="1200">
                <a:solidFill>
                  <a:schemeClr val="accent1"/>
                </a:solidFill>
                <a:latin typeface="Courier New"/>
                <a:ea typeface="Courier New"/>
                <a:cs typeface="Courier New"/>
                <a:sym typeface="Courier New"/>
              </a:rPr>
              <a:t>m</a:t>
            </a:r>
            <a:r>
              <a:rPr b="1" i="0" lang="en-US" sz="1200" u="none" cap="none" strike="noStrike">
                <a:solidFill>
                  <a:schemeClr val="accent1"/>
                </a:solidFill>
                <a:latin typeface="Courier New"/>
                <a:ea typeface="Courier New"/>
                <a:cs typeface="Courier New"/>
                <a:sym typeface="Courier New"/>
              </a:rPr>
              <a:t>)</a:t>
            </a:r>
            <a:endParaRPr b="0" i="0" sz="1200" u="none" cap="none" strike="noStrike">
              <a:solidFill>
                <a:schemeClr val="accent1"/>
              </a:solidFill>
              <a:latin typeface="Calibri"/>
              <a:ea typeface="Calibri"/>
              <a:cs typeface="Calibri"/>
              <a:sym typeface="Calibri"/>
            </a:endParaRPr>
          </a:p>
        </p:txBody>
      </p:sp>
      <p:sp>
        <p:nvSpPr>
          <p:cNvPr id="545" name="Google Shape;545;h63c0e6991457cadf_0_460"/>
          <p:cNvSpPr txBox="1"/>
          <p:nvPr/>
        </p:nvSpPr>
        <p:spPr>
          <a:xfrm>
            <a:off x="2971755" y="5349277"/>
            <a:ext cx="2453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sz="1000">
                <a:solidFill>
                  <a:schemeClr val="accent5"/>
                </a:solidFill>
                <a:latin typeface="Calibri"/>
                <a:ea typeface="Calibri"/>
                <a:cs typeface="Calibri"/>
                <a:sym typeface="Calibri"/>
              </a:rPr>
              <a:t>p.split(“*”) creates new string</a:t>
            </a:r>
            <a:endParaRPr b="0" i="0" sz="1000" u="none" cap="none" strike="noStrike">
              <a:solidFill>
                <a:schemeClr val="dk1"/>
              </a:solidFill>
              <a:latin typeface="Calibri"/>
              <a:ea typeface="Calibri"/>
              <a:cs typeface="Calibri"/>
              <a:sym typeface="Calibri"/>
            </a:endParaRPr>
          </a:p>
        </p:txBody>
      </p:sp>
      <p:sp>
        <p:nvSpPr>
          <p:cNvPr id="546" name="Google Shape;546;h63c0e6991457cadf_0_460"/>
          <p:cNvSpPr txBox="1"/>
          <p:nvPr/>
        </p:nvSpPr>
        <p:spPr>
          <a:xfrm>
            <a:off x="2953955" y="5577702"/>
            <a:ext cx="2453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sz="1000">
                <a:solidFill>
                  <a:schemeClr val="accent5"/>
                </a:solidFill>
                <a:latin typeface="Calibri"/>
                <a:ea typeface="Calibri"/>
                <a:cs typeface="Calibri"/>
                <a:sym typeface="Calibri"/>
              </a:rPr>
              <a:t>n = length pattern s; m = length of pattern p</a:t>
            </a:r>
            <a:endParaRPr b="0" i="0" sz="1000" u="none" cap="none" strike="noStrike">
              <a:solidFill>
                <a:schemeClr val="dk1"/>
              </a:solidFill>
              <a:latin typeface="Calibri"/>
              <a:ea typeface="Calibri"/>
              <a:cs typeface="Calibri"/>
              <a:sym typeface="Calibri"/>
            </a:endParaRPr>
          </a:p>
        </p:txBody>
      </p:sp>
      <p:sp>
        <p:nvSpPr>
          <p:cNvPr id="547" name="Google Shape;547;h63c0e6991457cadf_0_460"/>
          <p:cNvSpPr/>
          <p:nvPr/>
        </p:nvSpPr>
        <p:spPr>
          <a:xfrm>
            <a:off x="640200" y="6037100"/>
            <a:ext cx="4846200" cy="476100"/>
          </a:xfrm>
          <a:prstGeom prst="roundRect">
            <a:avLst>
              <a:gd fmla="val 5714"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h63c0e6991457cadf_0_460"/>
          <p:cNvSpPr txBox="1"/>
          <p:nvPr/>
        </p:nvSpPr>
        <p:spPr>
          <a:xfrm>
            <a:off x="776865" y="6110385"/>
            <a:ext cx="3063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700"/>
              <a:buFont typeface="Courier New"/>
              <a:buNone/>
            </a:pPr>
            <a:r>
              <a:rPr b="1" lang="en-US" sz="1200">
                <a:solidFill>
                  <a:schemeClr val="accent2"/>
                </a:solidFill>
                <a:latin typeface="Courier New"/>
                <a:ea typeface="Courier New"/>
                <a:cs typeface="Courier New"/>
                <a:sym typeface="Courier New"/>
              </a:rPr>
              <a:t>Time O(n)</a:t>
            </a:r>
            <a:endParaRPr b="0" i="0" sz="1200" cap="none" strike="noStrike">
              <a:solidFill>
                <a:schemeClr val="accent2"/>
              </a:solidFill>
              <a:latin typeface="Calibri"/>
              <a:ea typeface="Calibri"/>
              <a:cs typeface="Calibri"/>
              <a:sym typeface="Calibri"/>
            </a:endParaRPr>
          </a:p>
        </p:txBody>
      </p:sp>
      <p:sp>
        <p:nvSpPr>
          <p:cNvPr id="549" name="Google Shape;549;h63c0e6991457cadf_0_460"/>
          <p:cNvSpPr txBox="1"/>
          <p:nvPr/>
        </p:nvSpPr>
        <p:spPr>
          <a:xfrm>
            <a:off x="1921650" y="6037100"/>
            <a:ext cx="3290400" cy="47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sz="1000">
                <a:solidFill>
                  <a:schemeClr val="accent5"/>
                </a:solidFill>
                <a:latin typeface="Calibri"/>
                <a:ea typeface="Calibri"/>
                <a:cs typeface="Calibri"/>
                <a:sym typeface="Calibri"/>
              </a:rPr>
              <a:t>a never matches, loop ends immediately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21"/>
          <p:cNvSpPr txBox="1"/>
          <p:nvPr>
            <p:ph type="title"/>
          </p:nvPr>
        </p:nvSpPr>
        <p:spPr>
          <a:xfrm>
            <a:off x="640080" y="777240"/>
            <a:ext cx="10908792"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200"/>
              <a:buFont typeface="Arial"/>
              <a:buNone/>
            </a:pPr>
            <a:r>
              <a:rPr b="1" lang="en-US" sz="3200">
                <a:solidFill>
                  <a:schemeClr val="dk1"/>
                </a:solidFill>
              </a:rPr>
              <a:t>Four patterns that solve most string problems</a:t>
            </a:r>
            <a:endParaRPr sz="3200"/>
          </a:p>
        </p:txBody>
      </p:sp>
      <p:sp>
        <p:nvSpPr>
          <p:cNvPr id="556" name="Google Shape;556;p21"/>
          <p:cNvSpPr/>
          <p:nvPr/>
        </p:nvSpPr>
        <p:spPr>
          <a:xfrm>
            <a:off x="640080" y="1600200"/>
            <a:ext cx="5303520" cy="2148840"/>
          </a:xfrm>
          <a:prstGeom prst="roundRect">
            <a:avLst>
              <a:gd fmla="val 2553"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1"/>
          <p:cNvSpPr/>
          <p:nvPr/>
        </p:nvSpPr>
        <p:spPr>
          <a:xfrm>
            <a:off x="914400" y="1874520"/>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558" name="Google Shape;558;p21"/>
          <p:cNvSpPr txBox="1"/>
          <p:nvPr/>
        </p:nvSpPr>
        <p:spPr>
          <a:xfrm>
            <a:off x="1600200" y="1874520"/>
            <a:ext cx="4069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lang="en-US" sz="2000">
                <a:solidFill>
                  <a:schemeClr val="dk1"/>
                </a:solidFill>
                <a:latin typeface="Calibri"/>
                <a:ea typeface="Calibri"/>
                <a:cs typeface="Calibri"/>
                <a:sym typeface="Calibri"/>
              </a:rPr>
              <a:t>Count with a dictionary</a:t>
            </a:r>
            <a:endParaRPr sz="2000">
              <a:solidFill>
                <a:schemeClr val="dk1"/>
              </a:solidFill>
              <a:latin typeface="Calibri"/>
              <a:ea typeface="Calibri"/>
              <a:cs typeface="Calibri"/>
              <a:sym typeface="Calibri"/>
            </a:endParaRPr>
          </a:p>
        </p:txBody>
      </p:sp>
      <p:sp>
        <p:nvSpPr>
          <p:cNvPr id="559" name="Google Shape;559;p21"/>
          <p:cNvSpPr txBox="1"/>
          <p:nvPr/>
        </p:nvSpPr>
        <p:spPr>
          <a:xfrm>
            <a:off x="1600200" y="2441448"/>
            <a:ext cx="40690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sz="1400">
                <a:solidFill>
                  <a:schemeClr val="accent5"/>
                </a:solidFill>
                <a:latin typeface="Calibri"/>
                <a:ea typeface="Calibri"/>
                <a:cs typeface="Calibri"/>
                <a:sym typeface="Calibri"/>
              </a:rPr>
              <a:t>Counter(s) tallies every character in one pass.</a:t>
            </a:r>
            <a:endParaRPr sz="1400">
              <a:solidFill>
                <a:schemeClr val="dk1"/>
              </a:solidFill>
              <a:latin typeface="Calibri"/>
              <a:ea typeface="Calibri"/>
              <a:cs typeface="Calibri"/>
              <a:sym typeface="Calibri"/>
            </a:endParaRPr>
          </a:p>
        </p:txBody>
      </p:sp>
      <p:sp>
        <p:nvSpPr>
          <p:cNvPr id="560" name="Google Shape;560;p21"/>
          <p:cNvSpPr/>
          <p:nvPr/>
        </p:nvSpPr>
        <p:spPr>
          <a:xfrm>
            <a:off x="6248095" y="1600200"/>
            <a:ext cx="5303520" cy="2148840"/>
          </a:xfrm>
          <a:prstGeom prst="roundRect">
            <a:avLst>
              <a:gd fmla="val 2553"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1"/>
          <p:cNvSpPr/>
          <p:nvPr/>
        </p:nvSpPr>
        <p:spPr>
          <a:xfrm>
            <a:off x="6522415" y="1874520"/>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562" name="Google Shape;562;p21"/>
          <p:cNvSpPr txBox="1"/>
          <p:nvPr/>
        </p:nvSpPr>
        <p:spPr>
          <a:xfrm>
            <a:off x="7208215" y="1874520"/>
            <a:ext cx="4069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lang="en-US" sz="2000">
                <a:solidFill>
                  <a:schemeClr val="dk1"/>
                </a:solidFill>
                <a:latin typeface="Calibri"/>
                <a:ea typeface="Calibri"/>
                <a:cs typeface="Calibri"/>
                <a:sym typeface="Calibri"/>
              </a:rPr>
              <a:t>Two pointers</a:t>
            </a:r>
            <a:endParaRPr sz="2000">
              <a:solidFill>
                <a:schemeClr val="dk1"/>
              </a:solidFill>
              <a:latin typeface="Calibri"/>
              <a:ea typeface="Calibri"/>
              <a:cs typeface="Calibri"/>
              <a:sym typeface="Calibri"/>
            </a:endParaRPr>
          </a:p>
        </p:txBody>
      </p:sp>
      <p:sp>
        <p:nvSpPr>
          <p:cNvPr id="563" name="Google Shape;563;p21"/>
          <p:cNvSpPr txBox="1"/>
          <p:nvPr/>
        </p:nvSpPr>
        <p:spPr>
          <a:xfrm>
            <a:off x="7208215" y="2441448"/>
            <a:ext cx="40690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sz="1400">
                <a:solidFill>
                  <a:schemeClr val="accent5"/>
                </a:solidFill>
                <a:latin typeface="Calibri"/>
                <a:ea typeface="Calibri"/>
                <a:cs typeface="Calibri"/>
                <a:sym typeface="Calibri"/>
              </a:rPr>
              <a:t>Start at both ends and move inward or move two indexes together.</a:t>
            </a:r>
            <a:endParaRPr/>
          </a:p>
        </p:txBody>
      </p:sp>
      <p:sp>
        <p:nvSpPr>
          <p:cNvPr id="564" name="Google Shape;564;p21"/>
          <p:cNvSpPr/>
          <p:nvPr/>
        </p:nvSpPr>
        <p:spPr>
          <a:xfrm>
            <a:off x="640080" y="4023360"/>
            <a:ext cx="5303520" cy="2148840"/>
          </a:xfrm>
          <a:prstGeom prst="roundRect">
            <a:avLst>
              <a:gd fmla="val 2553"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1"/>
          <p:cNvSpPr/>
          <p:nvPr/>
        </p:nvSpPr>
        <p:spPr>
          <a:xfrm>
            <a:off x="914400" y="4297680"/>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566" name="Google Shape;566;p21"/>
          <p:cNvSpPr txBox="1"/>
          <p:nvPr/>
        </p:nvSpPr>
        <p:spPr>
          <a:xfrm>
            <a:off x="1600200" y="4297680"/>
            <a:ext cx="4069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lang="en-US" sz="2000">
                <a:solidFill>
                  <a:schemeClr val="dk1"/>
                </a:solidFill>
                <a:latin typeface="Calibri"/>
                <a:ea typeface="Calibri"/>
                <a:cs typeface="Calibri"/>
                <a:sym typeface="Calibri"/>
              </a:rPr>
              <a:t>Sliding window</a:t>
            </a:r>
            <a:endParaRPr sz="2000">
              <a:solidFill>
                <a:schemeClr val="dk1"/>
              </a:solidFill>
              <a:latin typeface="Calibri"/>
              <a:ea typeface="Calibri"/>
              <a:cs typeface="Calibri"/>
              <a:sym typeface="Calibri"/>
            </a:endParaRPr>
          </a:p>
        </p:txBody>
      </p:sp>
      <p:sp>
        <p:nvSpPr>
          <p:cNvPr id="567" name="Google Shape;567;p21"/>
          <p:cNvSpPr txBox="1"/>
          <p:nvPr/>
        </p:nvSpPr>
        <p:spPr>
          <a:xfrm>
            <a:off x="1600200" y="4864608"/>
            <a:ext cx="40690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sz="1400">
                <a:solidFill>
                  <a:schemeClr val="accent5"/>
                </a:solidFill>
                <a:latin typeface="Calibri"/>
                <a:ea typeface="Calibri"/>
                <a:cs typeface="Calibri"/>
                <a:sym typeface="Calibri"/>
              </a:rPr>
              <a:t>Grow the right edge, shrink the left edge to keep a rule true.</a:t>
            </a:r>
            <a:endParaRPr sz="1400">
              <a:solidFill>
                <a:schemeClr val="dk1"/>
              </a:solidFill>
              <a:latin typeface="Calibri"/>
              <a:ea typeface="Calibri"/>
              <a:cs typeface="Calibri"/>
              <a:sym typeface="Calibri"/>
            </a:endParaRPr>
          </a:p>
        </p:txBody>
      </p:sp>
      <p:sp>
        <p:nvSpPr>
          <p:cNvPr id="568" name="Google Shape;568;p21"/>
          <p:cNvSpPr/>
          <p:nvPr/>
        </p:nvSpPr>
        <p:spPr>
          <a:xfrm>
            <a:off x="6248095" y="4023360"/>
            <a:ext cx="5303520" cy="2148840"/>
          </a:xfrm>
          <a:prstGeom prst="roundRect">
            <a:avLst>
              <a:gd fmla="val 2553" name="adj"/>
            </a:avLst>
          </a:prstGeom>
          <a:solidFill>
            <a:schemeClr val="lt1"/>
          </a:solidFill>
          <a:ln cap="flat" cmpd="sng" w="9525">
            <a:solidFill>
              <a:schemeClr val="accent4">
                <a:alpha val="4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1"/>
          <p:cNvSpPr/>
          <p:nvPr/>
        </p:nvSpPr>
        <p:spPr>
          <a:xfrm>
            <a:off x="6522415" y="4297680"/>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US" sz="1800">
                <a:solidFill>
                  <a:schemeClr val="lt1"/>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570" name="Google Shape;570;p21"/>
          <p:cNvSpPr txBox="1"/>
          <p:nvPr/>
        </p:nvSpPr>
        <p:spPr>
          <a:xfrm>
            <a:off x="7208215" y="4297680"/>
            <a:ext cx="4069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lang="en-US" sz="2000">
                <a:solidFill>
                  <a:schemeClr val="dk1"/>
                </a:solidFill>
                <a:latin typeface="Calibri"/>
                <a:ea typeface="Calibri"/>
                <a:cs typeface="Calibri"/>
                <a:sym typeface="Calibri"/>
              </a:rPr>
              <a:t>Sort or hash as a key</a:t>
            </a:r>
            <a:endParaRPr sz="2000">
              <a:solidFill>
                <a:schemeClr val="dk1"/>
              </a:solidFill>
              <a:latin typeface="Calibri"/>
              <a:ea typeface="Calibri"/>
              <a:cs typeface="Calibri"/>
              <a:sym typeface="Calibri"/>
            </a:endParaRPr>
          </a:p>
        </p:txBody>
      </p:sp>
      <p:sp>
        <p:nvSpPr>
          <p:cNvPr id="571" name="Google Shape;571;p21"/>
          <p:cNvSpPr txBox="1"/>
          <p:nvPr/>
        </p:nvSpPr>
        <p:spPr>
          <a:xfrm>
            <a:off x="7208215" y="4864608"/>
            <a:ext cx="40690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lang="en-US" sz="1400">
                <a:solidFill>
                  <a:schemeClr val="accent5"/>
                </a:solidFill>
                <a:latin typeface="Calibri"/>
                <a:ea typeface="Calibri"/>
                <a:cs typeface="Calibri"/>
                <a:sym typeface="Calibri"/>
              </a:rPr>
              <a:t>Turn each word into a standard key, such as sorted(word).</a:t>
            </a:r>
            <a:endParaRPr sz="14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22"/>
          <p:cNvSpPr txBox="1"/>
          <p:nvPr>
            <p:ph type="title"/>
          </p:nvPr>
        </p:nvSpPr>
        <p:spPr>
          <a:xfrm>
            <a:off x="640080" y="777240"/>
            <a:ext cx="10908792"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200"/>
              <a:buFont typeface="Arial"/>
              <a:buNone/>
            </a:pPr>
            <a:r>
              <a:rPr b="1" lang="en-US" sz="3200">
                <a:solidFill>
                  <a:schemeClr val="lt1"/>
                </a:solidFill>
              </a:rPr>
              <a:t>What to remember</a:t>
            </a:r>
            <a:endParaRPr sz="3200"/>
          </a:p>
        </p:txBody>
      </p:sp>
      <p:sp>
        <p:nvSpPr>
          <p:cNvPr id="578" name="Google Shape;578;p22"/>
          <p:cNvSpPr/>
          <p:nvPr/>
        </p:nvSpPr>
        <p:spPr>
          <a:xfrm>
            <a:off x="640080" y="1993392"/>
            <a:ext cx="128016" cy="457200"/>
          </a:xfrm>
          <a:prstGeom prst="roundRect">
            <a:avLst>
              <a:gd fmla="val 28571"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2"/>
          <p:cNvSpPr txBox="1"/>
          <p:nvPr/>
        </p:nvSpPr>
        <p:spPr>
          <a:xfrm>
            <a:off x="1051560" y="1920240"/>
            <a:ext cx="10424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2"/>
              </a:buClr>
              <a:buSzPts val="2000"/>
              <a:buFont typeface="Calibri"/>
              <a:buNone/>
            </a:pPr>
            <a:r>
              <a:rPr lang="en-US" sz="2000">
                <a:solidFill>
                  <a:schemeClr val="lt2"/>
                </a:solidFill>
                <a:latin typeface="Calibri"/>
                <a:ea typeface="Calibri"/>
                <a:cs typeface="Calibri"/>
                <a:sym typeface="Calibri"/>
              </a:rPr>
              <a:t>Strings are immutable sequences. Index and slice freely, but every edit builds a new string.</a:t>
            </a:r>
            <a:endParaRPr sz="2000">
              <a:solidFill>
                <a:schemeClr val="dk1"/>
              </a:solidFill>
              <a:latin typeface="Calibri"/>
              <a:ea typeface="Calibri"/>
              <a:cs typeface="Calibri"/>
              <a:sym typeface="Calibri"/>
            </a:endParaRPr>
          </a:p>
        </p:txBody>
      </p:sp>
      <p:sp>
        <p:nvSpPr>
          <p:cNvPr id="580" name="Google Shape;580;p22"/>
          <p:cNvSpPr/>
          <p:nvPr/>
        </p:nvSpPr>
        <p:spPr>
          <a:xfrm>
            <a:off x="640080" y="2953512"/>
            <a:ext cx="128016" cy="457200"/>
          </a:xfrm>
          <a:prstGeom prst="roundRect">
            <a:avLst>
              <a:gd fmla="val 28571"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2"/>
          <p:cNvSpPr txBox="1"/>
          <p:nvPr/>
        </p:nvSpPr>
        <p:spPr>
          <a:xfrm>
            <a:off x="1051560" y="2880360"/>
            <a:ext cx="10424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2"/>
              </a:buClr>
              <a:buSzPts val="2000"/>
              <a:buFont typeface="Calibri"/>
              <a:buNone/>
            </a:pPr>
            <a:r>
              <a:rPr lang="en-US" sz="2000">
                <a:solidFill>
                  <a:schemeClr val="lt2"/>
                </a:solidFill>
                <a:latin typeface="Calibri"/>
                <a:ea typeface="Calibri"/>
                <a:cs typeface="Calibri"/>
                <a:sym typeface="Calibri"/>
              </a:rPr>
              <a:t>Reach for split, join, strip, and Counter before writing manual loops.</a:t>
            </a:r>
            <a:endParaRPr sz="2000">
              <a:solidFill>
                <a:schemeClr val="dk1"/>
              </a:solidFill>
              <a:latin typeface="Calibri"/>
              <a:ea typeface="Calibri"/>
              <a:cs typeface="Calibri"/>
              <a:sym typeface="Calibri"/>
            </a:endParaRPr>
          </a:p>
        </p:txBody>
      </p:sp>
      <p:sp>
        <p:nvSpPr>
          <p:cNvPr id="582" name="Google Shape;582;p22"/>
          <p:cNvSpPr/>
          <p:nvPr/>
        </p:nvSpPr>
        <p:spPr>
          <a:xfrm>
            <a:off x="640080" y="3913632"/>
            <a:ext cx="128016" cy="457200"/>
          </a:xfrm>
          <a:prstGeom prst="roundRect">
            <a:avLst>
              <a:gd fmla="val 28571"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2"/>
          <p:cNvSpPr txBox="1"/>
          <p:nvPr/>
        </p:nvSpPr>
        <p:spPr>
          <a:xfrm>
            <a:off x="1051560" y="3840480"/>
            <a:ext cx="10424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2"/>
              </a:buClr>
              <a:buSzPts val="2000"/>
              <a:buFont typeface="Calibri"/>
              <a:buNone/>
            </a:pPr>
            <a:r>
              <a:rPr lang="en-US" sz="2000">
                <a:solidFill>
                  <a:schemeClr val="lt2"/>
                </a:solidFill>
                <a:latin typeface="Calibri"/>
                <a:ea typeface="Calibri"/>
                <a:cs typeface="Calibri"/>
                <a:sym typeface="Calibri"/>
              </a:rPr>
              <a:t>Two pointers and sliding windows turn nested loops into single passes.</a:t>
            </a:r>
            <a:endParaRPr sz="2000">
              <a:solidFill>
                <a:schemeClr val="dk1"/>
              </a:solidFill>
              <a:latin typeface="Calibri"/>
              <a:ea typeface="Calibri"/>
              <a:cs typeface="Calibri"/>
              <a:sym typeface="Calibri"/>
            </a:endParaRPr>
          </a:p>
        </p:txBody>
      </p:sp>
      <p:sp>
        <p:nvSpPr>
          <p:cNvPr id="584" name="Google Shape;584;p22"/>
          <p:cNvSpPr/>
          <p:nvPr/>
        </p:nvSpPr>
        <p:spPr>
          <a:xfrm>
            <a:off x="640080" y="4873752"/>
            <a:ext cx="128016" cy="457200"/>
          </a:xfrm>
          <a:prstGeom prst="roundRect">
            <a:avLst>
              <a:gd fmla="val 28571"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2"/>
          <p:cNvSpPr txBox="1"/>
          <p:nvPr/>
        </p:nvSpPr>
        <p:spPr>
          <a:xfrm>
            <a:off x="1051560" y="4800600"/>
            <a:ext cx="10424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2"/>
              </a:buClr>
              <a:buSzPts val="2000"/>
              <a:buFont typeface="Calibri"/>
              <a:buNone/>
            </a:pPr>
            <a:r>
              <a:rPr lang="en-US" sz="2000">
                <a:solidFill>
                  <a:schemeClr val="lt2"/>
                </a:solidFill>
                <a:latin typeface="Calibri"/>
                <a:ea typeface="Calibri"/>
                <a:cs typeface="Calibri"/>
                <a:sym typeface="Calibri"/>
              </a:rPr>
              <a:t>Build with a list and join. Never grow a string inside a loop.</a:t>
            </a:r>
            <a:endParaRPr sz="20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h63c0e6991457cadf_0_501"/>
          <p:cNvSpPr txBox="1"/>
          <p:nvPr>
            <p:ph idx="1" type="body"/>
          </p:nvPr>
        </p:nvSpPr>
        <p:spPr>
          <a:xfrm>
            <a:off x="640080" y="457200"/>
            <a:ext cx="82296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1200"/>
              <a:buNone/>
            </a:pPr>
            <a:r>
              <a:rPr b="1" lang="en-US" sz="1200">
                <a:solidFill>
                  <a:schemeClr val="accent1"/>
                </a:solidFill>
              </a:rPr>
              <a:t>NEXT STEPS</a:t>
            </a:r>
            <a:endParaRPr sz="1200"/>
          </a:p>
        </p:txBody>
      </p:sp>
      <p:sp>
        <p:nvSpPr>
          <p:cNvPr id="592" name="Google Shape;592;h63c0e6991457cadf_0_501"/>
          <p:cNvSpPr txBox="1"/>
          <p:nvPr>
            <p:ph type="title"/>
          </p:nvPr>
        </p:nvSpPr>
        <p:spPr>
          <a:xfrm>
            <a:off x="640080" y="777240"/>
            <a:ext cx="109089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200"/>
              <a:buFont typeface="Arial"/>
              <a:buNone/>
            </a:pPr>
            <a:r>
              <a:rPr b="1" lang="en-US" sz="3200">
                <a:solidFill>
                  <a:schemeClr val="lt1"/>
                </a:solidFill>
              </a:rPr>
              <a:t>Where to go from here</a:t>
            </a:r>
            <a:endParaRPr sz="3200"/>
          </a:p>
        </p:txBody>
      </p:sp>
      <p:sp>
        <p:nvSpPr>
          <p:cNvPr id="593" name="Google Shape;593;h63c0e6991457cadf_0_501"/>
          <p:cNvSpPr/>
          <p:nvPr/>
        </p:nvSpPr>
        <p:spPr>
          <a:xfrm>
            <a:off x="640075" y="1600200"/>
            <a:ext cx="5303400" cy="2188500"/>
          </a:xfrm>
          <a:prstGeom prst="roundRect">
            <a:avLst>
              <a:gd fmla="val 1644" name="adj"/>
            </a:avLst>
          </a:prstGeom>
          <a:solidFill>
            <a:schemeClr val="accent6"/>
          </a:solidFill>
          <a:ln cap="flat" cmpd="sng" w="9525">
            <a:solidFill>
              <a:schemeClr val="accent5">
                <a:alpha val="502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h63c0e6991457cadf_0_501"/>
          <p:cNvSpPr txBox="1"/>
          <p:nvPr/>
        </p:nvSpPr>
        <p:spPr>
          <a:xfrm>
            <a:off x="960120" y="1828800"/>
            <a:ext cx="46635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Calibri"/>
              <a:buNone/>
            </a:pPr>
            <a:r>
              <a:rPr b="1" i="0" lang="en-US" sz="1200" u="none" cap="none" strike="noStrike">
                <a:solidFill>
                  <a:schemeClr val="accent1"/>
                </a:solidFill>
                <a:latin typeface="Calibri"/>
                <a:ea typeface="Calibri"/>
                <a:cs typeface="Calibri"/>
                <a:sym typeface="Calibri"/>
              </a:rPr>
              <a:t>PRACTICE THESE</a:t>
            </a:r>
            <a:endParaRPr b="0" i="0" sz="1200" u="none" cap="none" strike="noStrike">
              <a:solidFill>
                <a:schemeClr val="dk1"/>
              </a:solidFill>
              <a:latin typeface="Calibri"/>
              <a:ea typeface="Calibri"/>
              <a:cs typeface="Calibri"/>
              <a:sym typeface="Calibri"/>
            </a:endParaRPr>
          </a:p>
        </p:txBody>
      </p:sp>
      <p:sp>
        <p:nvSpPr>
          <p:cNvPr id="595" name="Google Shape;595;h63c0e6991457cadf_0_501"/>
          <p:cNvSpPr txBox="1"/>
          <p:nvPr/>
        </p:nvSpPr>
        <p:spPr>
          <a:xfrm>
            <a:off x="960120" y="2313432"/>
            <a:ext cx="8688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Courier New"/>
              <a:buNone/>
            </a:pPr>
            <a:r>
              <a:rPr b="1" lang="en-US" sz="1200">
                <a:solidFill>
                  <a:schemeClr val="accent1"/>
                </a:solidFill>
                <a:latin typeface="Courier New"/>
                <a:ea typeface="Courier New"/>
                <a:cs typeface="Courier New"/>
                <a:sym typeface="Courier New"/>
              </a:rPr>
              <a:t>3.3</a:t>
            </a:r>
            <a:endParaRPr b="0" i="0" sz="1200" u="none" cap="none" strike="noStrike">
              <a:solidFill>
                <a:schemeClr val="dk1"/>
              </a:solidFill>
              <a:latin typeface="Calibri"/>
              <a:ea typeface="Calibri"/>
              <a:cs typeface="Calibri"/>
              <a:sym typeface="Calibri"/>
            </a:endParaRPr>
          </a:p>
        </p:txBody>
      </p:sp>
      <p:sp>
        <p:nvSpPr>
          <p:cNvPr id="596" name="Google Shape;596;h63c0e6991457cadf_0_501"/>
          <p:cNvSpPr txBox="1"/>
          <p:nvPr/>
        </p:nvSpPr>
        <p:spPr>
          <a:xfrm>
            <a:off x="1828800" y="2286000"/>
            <a:ext cx="39318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1" lang="en-US" sz="1500">
                <a:solidFill>
                  <a:schemeClr val="lt1"/>
                </a:solidFill>
                <a:latin typeface="Calibri"/>
                <a:ea typeface="Calibri"/>
                <a:cs typeface="Calibri"/>
                <a:sym typeface="Calibri"/>
              </a:rPr>
              <a:t>Longest Substring Without Repeat Characters</a:t>
            </a:r>
            <a:endParaRPr b="0" i="0" sz="1500" u="none" cap="none" strike="noStrike">
              <a:solidFill>
                <a:schemeClr val="dk1"/>
              </a:solidFill>
              <a:latin typeface="Calibri"/>
              <a:ea typeface="Calibri"/>
              <a:cs typeface="Calibri"/>
              <a:sym typeface="Calibri"/>
            </a:endParaRPr>
          </a:p>
        </p:txBody>
      </p:sp>
      <p:sp>
        <p:nvSpPr>
          <p:cNvPr id="597" name="Google Shape;597;h63c0e6991457cadf_0_501"/>
          <p:cNvSpPr txBox="1"/>
          <p:nvPr/>
        </p:nvSpPr>
        <p:spPr>
          <a:xfrm>
            <a:off x="960120" y="2734062"/>
            <a:ext cx="8688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Courier New"/>
              <a:buNone/>
            </a:pPr>
            <a:r>
              <a:rPr b="1" lang="en-US" sz="1200">
                <a:solidFill>
                  <a:schemeClr val="accent1"/>
                </a:solidFill>
                <a:latin typeface="Courier New"/>
                <a:ea typeface="Courier New"/>
                <a:cs typeface="Courier New"/>
                <a:sym typeface="Courier New"/>
              </a:rPr>
              <a:t>3,4</a:t>
            </a:r>
            <a:endParaRPr b="0" i="0" sz="1200" u="none" cap="none" strike="noStrike">
              <a:solidFill>
                <a:schemeClr val="dk1"/>
              </a:solidFill>
              <a:latin typeface="Calibri"/>
              <a:ea typeface="Calibri"/>
              <a:cs typeface="Calibri"/>
              <a:sym typeface="Calibri"/>
            </a:endParaRPr>
          </a:p>
        </p:txBody>
      </p:sp>
      <p:sp>
        <p:nvSpPr>
          <p:cNvPr id="598" name="Google Shape;598;h63c0e6991457cadf_0_501"/>
          <p:cNvSpPr txBox="1"/>
          <p:nvPr/>
        </p:nvSpPr>
        <p:spPr>
          <a:xfrm>
            <a:off x="1828800" y="2711105"/>
            <a:ext cx="39318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1" lang="en-US" sz="1500">
                <a:solidFill>
                  <a:schemeClr val="lt1"/>
                </a:solidFill>
                <a:latin typeface="Calibri"/>
                <a:ea typeface="Calibri"/>
                <a:cs typeface="Calibri"/>
                <a:sym typeface="Calibri"/>
              </a:rPr>
              <a:t>Group Anagrams</a:t>
            </a:r>
            <a:endParaRPr b="0" i="0" sz="1500" u="none" cap="none" strike="noStrike">
              <a:solidFill>
                <a:schemeClr val="dk1"/>
              </a:solidFill>
              <a:latin typeface="Calibri"/>
              <a:ea typeface="Calibri"/>
              <a:cs typeface="Calibri"/>
              <a:sym typeface="Calibri"/>
            </a:endParaRPr>
          </a:p>
        </p:txBody>
      </p:sp>
      <p:sp>
        <p:nvSpPr>
          <p:cNvPr id="599" name="Google Shape;599;h63c0e6991457cadf_0_501"/>
          <p:cNvSpPr txBox="1"/>
          <p:nvPr/>
        </p:nvSpPr>
        <p:spPr>
          <a:xfrm>
            <a:off x="960135" y="3154807"/>
            <a:ext cx="8688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Courier New"/>
              <a:buNone/>
            </a:pPr>
            <a:r>
              <a:rPr b="1" lang="en-US" sz="1200">
                <a:solidFill>
                  <a:schemeClr val="accent1"/>
                </a:solidFill>
                <a:latin typeface="Courier New"/>
                <a:ea typeface="Courier New"/>
                <a:cs typeface="Courier New"/>
                <a:sym typeface="Courier New"/>
              </a:rPr>
              <a:t>3.6</a:t>
            </a:r>
            <a:endParaRPr b="0" i="0" sz="1200" u="none" cap="none" strike="noStrike">
              <a:solidFill>
                <a:schemeClr val="dk1"/>
              </a:solidFill>
              <a:latin typeface="Calibri"/>
              <a:ea typeface="Calibri"/>
              <a:cs typeface="Calibri"/>
              <a:sym typeface="Calibri"/>
            </a:endParaRPr>
          </a:p>
        </p:txBody>
      </p:sp>
      <p:sp>
        <p:nvSpPr>
          <p:cNvPr id="600" name="Google Shape;600;h63c0e6991457cadf_0_501"/>
          <p:cNvSpPr txBox="1"/>
          <p:nvPr/>
        </p:nvSpPr>
        <p:spPr>
          <a:xfrm>
            <a:off x="1828790" y="3131850"/>
            <a:ext cx="3931800" cy="32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1" lang="en-US" sz="1500">
                <a:solidFill>
                  <a:schemeClr val="lt1"/>
                </a:solidFill>
                <a:latin typeface="Calibri"/>
                <a:ea typeface="Calibri"/>
                <a:cs typeface="Calibri"/>
                <a:sym typeface="Calibri"/>
              </a:rPr>
              <a:t>Next Lexicographically Bigger String</a:t>
            </a:r>
            <a:endParaRPr b="0" i="0" sz="1500" u="none" cap="none" strike="noStrike">
              <a:solidFill>
                <a:schemeClr val="dk1"/>
              </a:solidFill>
              <a:latin typeface="Calibri"/>
              <a:ea typeface="Calibri"/>
              <a:cs typeface="Calibri"/>
              <a:sym typeface="Calibri"/>
            </a:endParaRPr>
          </a:p>
        </p:txBody>
      </p:sp>
      <p:sp>
        <p:nvSpPr>
          <p:cNvPr id="601" name="Google Shape;601;h63c0e6991457cadf_0_501"/>
          <p:cNvSpPr/>
          <p:nvPr/>
        </p:nvSpPr>
        <p:spPr>
          <a:xfrm>
            <a:off x="566825" y="4526275"/>
            <a:ext cx="10908900" cy="1326000"/>
          </a:xfrm>
          <a:prstGeom prst="roundRect">
            <a:avLst>
              <a:gd fmla="val 4000" name="adj"/>
            </a:avLst>
          </a:prstGeom>
          <a:solidFill>
            <a:srgbClr val="232640"/>
          </a:solidFill>
          <a:ln cap="flat" cmpd="sng" w="12700">
            <a:solidFill>
              <a:srgbClr val="3438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2" name="Google Shape;602;h63c0e6991457cadf_0_501"/>
          <p:cNvSpPr txBox="1"/>
          <p:nvPr/>
        </p:nvSpPr>
        <p:spPr>
          <a:xfrm>
            <a:off x="1024128" y="4754880"/>
            <a:ext cx="82296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F6B35"/>
                </a:solidFill>
                <a:latin typeface="Calibri"/>
                <a:ea typeface="Calibri"/>
                <a:cs typeface="Calibri"/>
                <a:sym typeface="Calibri"/>
              </a:rPr>
              <a:t>NEXT WORKSHOP</a:t>
            </a:r>
            <a:endParaRPr/>
          </a:p>
        </p:txBody>
      </p:sp>
      <p:sp>
        <p:nvSpPr>
          <p:cNvPr id="603" name="Google Shape;603;h63c0e6991457cadf_0_501"/>
          <p:cNvSpPr txBox="1"/>
          <p:nvPr/>
        </p:nvSpPr>
        <p:spPr>
          <a:xfrm>
            <a:off x="1024128" y="5047488"/>
            <a:ext cx="10058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400">
                <a:solidFill>
                  <a:srgbClr val="FFFFFF"/>
                </a:solidFill>
              </a:rPr>
              <a:t>Hash Tables</a:t>
            </a:r>
            <a:endParaRPr/>
          </a:p>
        </p:txBody>
      </p:sp>
      <p:sp>
        <p:nvSpPr>
          <p:cNvPr id="604" name="Google Shape;604;h63c0e6991457cadf_0_501"/>
          <p:cNvSpPr txBox="1"/>
          <p:nvPr/>
        </p:nvSpPr>
        <p:spPr>
          <a:xfrm>
            <a:off x="1024128" y="5468112"/>
            <a:ext cx="100584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a:solidFill>
                  <a:srgbClr val="BEC3D8"/>
                </a:solidFill>
                <a:latin typeface="Calibri"/>
                <a:ea typeface="Calibri"/>
                <a:cs typeface="Calibri"/>
                <a:sym typeface="Calibri"/>
              </a:rPr>
              <a:t>Same format, built on everything you did today. Come with the </a:t>
            </a:r>
            <a:r>
              <a:rPr lang="en-US" sz="1350">
                <a:solidFill>
                  <a:srgbClr val="BEC3D8"/>
                </a:solidFill>
                <a:latin typeface="Calibri"/>
                <a:ea typeface="Calibri"/>
                <a:cs typeface="Calibri"/>
                <a:sym typeface="Calibri"/>
              </a:rPr>
              <a:t>three </a:t>
            </a:r>
            <a:r>
              <a:rPr b="0" i="0" lang="en-US" sz="1350">
                <a:solidFill>
                  <a:srgbClr val="BEC3D8"/>
                </a:solidFill>
                <a:latin typeface="Calibri"/>
                <a:ea typeface="Calibri"/>
                <a:cs typeface="Calibri"/>
                <a:sym typeface="Calibri"/>
              </a:rPr>
              <a:t> problems above attempted.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23"/>
          <p:cNvSpPr txBox="1"/>
          <p:nvPr>
            <p:ph type="title"/>
          </p:nvPr>
        </p:nvSpPr>
        <p:spPr>
          <a:xfrm>
            <a:off x="640080" y="777240"/>
            <a:ext cx="10908792"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200"/>
              <a:buFont typeface="Arial"/>
              <a:buNone/>
            </a:pPr>
            <a:r>
              <a:rPr lang="en-US"/>
              <a:t>Resources:</a:t>
            </a:r>
            <a:endParaRPr/>
          </a:p>
        </p:txBody>
      </p:sp>
      <p:sp>
        <p:nvSpPr>
          <p:cNvPr id="611" name="Google Shape;611;p23"/>
          <p:cNvSpPr txBox="1"/>
          <p:nvPr/>
        </p:nvSpPr>
        <p:spPr>
          <a:xfrm>
            <a:off x="645160" y="1422400"/>
            <a:ext cx="10424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2"/>
              </a:buClr>
              <a:buSzPts val="2000"/>
              <a:buFont typeface="Calibri"/>
              <a:buNone/>
            </a:pPr>
            <a:r>
              <a:rPr lang="en-US" sz="2000">
                <a:solidFill>
                  <a:schemeClr val="lt2"/>
                </a:solidFill>
                <a:latin typeface="Calibri"/>
                <a:ea typeface="Calibri"/>
                <a:cs typeface="Calibri"/>
                <a:sym typeface="Calibri"/>
              </a:rPr>
              <a:t>https://realpython.com/python-strings/</a:t>
            </a:r>
            <a:endParaRPr sz="1800">
              <a:solidFill>
                <a:schemeClr val="lt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trings Module">
  <a:themeElements>
    <a:clrScheme name="Strings Module">
      <a:dk1>
        <a:srgbClr val="1F2333"/>
      </a:dk1>
      <a:lt1>
        <a:srgbClr val="FFFFFF"/>
      </a:lt1>
      <a:dk2>
        <a:srgbClr val="1B1E33"/>
      </a:dk2>
      <a:lt2>
        <a:srgbClr val="F6F7FB"/>
      </a:lt2>
      <a:accent1>
        <a:srgbClr val="FF6B35"/>
      </a:accent1>
      <a:accent2>
        <a:srgbClr val="2A9D8F"/>
      </a:accent2>
      <a:accent3>
        <a:srgbClr val="B3441F"/>
      </a:accent3>
      <a:accent4>
        <a:srgbClr val="8E94AE"/>
      </a:accent4>
      <a:accent5>
        <a:srgbClr val="5A6072"/>
      </a:accent5>
      <a:accent6>
        <a:srgbClr val="232640"/>
      </a:accent6>
      <a:hlink>
        <a:srgbClr val="FF6B35"/>
      </a:hlink>
      <a:folHlink>
        <a:srgbClr val="8E94A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2026-10-12T02:09:40Z</dcterms:created>
  <dc:creator>Strings module</dc:creator>
</cp:coreProperties>
</file>