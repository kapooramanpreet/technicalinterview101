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3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333"/>
                </a:solidFill>
                <a:latin typeface="+mn-lt"/>
              </a:rPr>
              <a:t>Work as the input grows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Nested loops  O(n²)</c:v>
                </c:pt>
              </c:strCache>
            </c:strRef>
          </c:tx>
          <c:spPr>
            <a:solidFill>
              <a:srgbClr val="E05252"/>
            </a:solidFill>
            <a:ln w="28575" cap="flat">
              <a:solidFill>
                <a:srgbClr val="E052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5252"/>
              </a:solidFill>
              <a:ln w="9525" cap="flat">
                <a:solidFill>
                  <a:srgbClr val="E052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  <c:pt idx="6">
                  <c:v>49</c:v>
                </c:pt>
                <c:pt idx="7">
                  <c:v>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Hash map  O(n)</c:v>
                </c:pt>
              </c:strCache>
            </c:strRef>
          </c:tx>
          <c:spPr>
            <a:solidFill>
              <a:srgbClr val="2A9D8F"/>
            </a:solidFill>
            <a:ln w="28575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A6072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A6072"/>
                    </a:solidFill>
                    <a:latin typeface="+mn-lt"/>
                  </a:rPr>
                  <a:t>input size 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0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7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0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07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CTICE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6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77240" y="160020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 //   HASH TABLES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77240" y="16002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Maps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889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8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any value by its key, without searching</a:t>
            </a:r>
            <a:endParaRPr lang="en-US" sz="1900" dirty="0"/>
          </a:p>
        </p:txBody>
      </p:sp>
      <p:sp>
        <p:nvSpPr>
          <p:cNvPr id="5" name="anim01_after_key"/>
          <p:cNvSpPr/>
          <p:nvPr/>
        </p:nvSpPr>
        <p:spPr>
          <a:xfrm>
            <a:off x="822960" y="4114800"/>
            <a:ext cx="1417320" cy="603504"/>
          </a:xfrm>
          <a:prstGeom prst="roundRect">
            <a:avLst>
              <a:gd name="adj" fmla="val 7576"/>
            </a:avLst>
          </a:prstGeom>
          <a:solidFill>
            <a:srgbClr val="232640"/>
          </a:solidFill>
          <a:ln w="9525">
            <a:solidFill>
              <a:srgbClr val="3A3F63"/>
            </a:solidFill>
            <a:prstDash val="solid"/>
          </a:ln>
        </p:spPr>
      </p:sp>
      <p:sp>
        <p:nvSpPr>
          <p:cNvPr id="6" name="anim01_after_key"/>
          <p:cNvSpPr txBox="1"/>
          <p:nvPr/>
        </p:nvSpPr>
        <p:spPr>
          <a:xfrm>
            <a:off x="822960" y="411480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"apple"</a:t>
            </a:r>
            <a:endParaRPr lang="en-US" sz="1500" dirty="0"/>
          </a:p>
        </p:txBody>
      </p:sp>
      <p:sp>
        <p:nvSpPr>
          <p:cNvPr id="7" name="anim01_after_key"/>
          <p:cNvSpPr txBox="1"/>
          <p:nvPr/>
        </p:nvSpPr>
        <p:spPr>
          <a:xfrm>
            <a:off x="822960" y="475488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sz="1000" dirty="0"/>
          </a:p>
        </p:txBody>
      </p:sp>
      <p:sp>
        <p:nvSpPr>
          <p:cNvPr id="8" name="anim02_after_arrow"/>
          <p:cNvSpPr txBox="1"/>
          <p:nvPr/>
        </p:nvSpPr>
        <p:spPr>
          <a:xfrm>
            <a:off x="2331720" y="40050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% 8</a:t>
            </a:r>
            <a:endParaRPr lang="en-US" sz="1000" dirty="0"/>
          </a:p>
        </p:txBody>
      </p:sp>
      <p:sp>
        <p:nvSpPr>
          <p:cNvPr id="9" name="anim02_after_arrow"/>
          <p:cNvSpPr/>
          <p:nvPr/>
        </p:nvSpPr>
        <p:spPr>
          <a:xfrm>
            <a:off x="2377440" y="4416552"/>
            <a:ext cx="1051560" cy="0"/>
          </a:xfrm>
          <a:prstGeom prst="line">
            <a:avLst/>
          </a:prstGeom>
          <a:noFill/>
          <a:ln w="22225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10" name="bucket"/>
          <p:cNvSpPr/>
          <p:nvPr/>
        </p:nvSpPr>
        <p:spPr>
          <a:xfrm>
            <a:off x="3611880" y="4114800"/>
            <a:ext cx="713232" cy="603504"/>
          </a:xfrm>
          <a:prstGeom prst="roundRect">
            <a:avLst>
              <a:gd name="adj" fmla="val 7576"/>
            </a:avLst>
          </a:prstGeom>
          <a:solidFill>
            <a:srgbClr val="232640"/>
          </a:solidFill>
          <a:ln w="9525">
            <a:solidFill>
              <a:srgbClr val="3A3F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1880" y="475488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12" name="bucket"/>
          <p:cNvSpPr/>
          <p:nvPr/>
        </p:nvSpPr>
        <p:spPr>
          <a:xfrm>
            <a:off x="4416552" y="4114800"/>
            <a:ext cx="713232" cy="603504"/>
          </a:xfrm>
          <a:prstGeom prst="roundRect">
            <a:avLst>
              <a:gd name="adj" fmla="val 7576"/>
            </a:avLst>
          </a:prstGeom>
          <a:solidFill>
            <a:srgbClr val="232640"/>
          </a:solidFill>
          <a:ln w="9525">
            <a:solidFill>
              <a:srgbClr val="3A3F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16552" y="475488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bucket"/>
          <p:cNvSpPr/>
          <p:nvPr/>
        </p:nvSpPr>
        <p:spPr>
          <a:xfrm>
            <a:off x="5221224" y="4114800"/>
            <a:ext cx="713232" cy="603504"/>
          </a:xfrm>
          <a:prstGeom prst="roundRect">
            <a:avLst>
              <a:gd name="adj" fmla="val 7576"/>
            </a:avLst>
          </a:prstGeom>
          <a:solidFill>
            <a:srgbClr val="232640"/>
          </a:solidFill>
          <a:ln w="9525">
            <a:solidFill>
              <a:srgbClr val="3A3F6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21224" y="475488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bucket"/>
          <p:cNvSpPr/>
          <p:nvPr/>
        </p:nvSpPr>
        <p:spPr>
          <a:xfrm>
            <a:off x="6025896" y="4114800"/>
            <a:ext cx="713232" cy="603504"/>
          </a:xfrm>
          <a:prstGeom prst="roundRect">
            <a:avLst>
              <a:gd name="adj" fmla="val 7576"/>
            </a:avLst>
          </a:prstGeom>
          <a:solidFill>
            <a:srgbClr val="232640"/>
          </a:solidFill>
          <a:ln w="9525">
            <a:solidFill>
              <a:srgbClr val="3A3F6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25896" y="475488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bucket"/>
          <p:cNvSpPr/>
          <p:nvPr/>
        </p:nvSpPr>
        <p:spPr>
          <a:xfrm>
            <a:off x="6830568" y="4114800"/>
            <a:ext cx="713232" cy="603504"/>
          </a:xfrm>
          <a:prstGeom prst="roundRect">
            <a:avLst>
              <a:gd name="adj" fmla="val 7576"/>
            </a:avLst>
          </a:prstGeom>
          <a:solidFill>
            <a:srgbClr val="232640"/>
          </a:solidFill>
          <a:ln w="9525">
            <a:solidFill>
              <a:srgbClr val="3A3F6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30568" y="475488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bucket"/>
          <p:cNvSpPr/>
          <p:nvPr/>
        </p:nvSpPr>
        <p:spPr>
          <a:xfrm>
            <a:off x="7635240" y="4114800"/>
            <a:ext cx="713232" cy="603504"/>
          </a:xfrm>
          <a:prstGeom prst="roundRect">
            <a:avLst>
              <a:gd name="adj" fmla="val 7576"/>
            </a:avLst>
          </a:prstGeom>
          <a:solidFill>
            <a:srgbClr val="232640"/>
          </a:solidFill>
          <a:ln w="9525">
            <a:solidFill>
              <a:srgbClr val="3A3F6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35240" y="475488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bucket"/>
          <p:cNvSpPr/>
          <p:nvPr/>
        </p:nvSpPr>
        <p:spPr>
          <a:xfrm>
            <a:off x="8439912" y="4114800"/>
            <a:ext cx="713232" cy="603504"/>
          </a:xfrm>
          <a:prstGeom prst="roundRect">
            <a:avLst>
              <a:gd name="adj" fmla="val 7576"/>
            </a:avLst>
          </a:prstGeom>
          <a:solidFill>
            <a:srgbClr val="232640"/>
          </a:solidFill>
          <a:ln w="9525">
            <a:solidFill>
              <a:srgbClr val="3A3F6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39912" y="475488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bucket"/>
          <p:cNvSpPr/>
          <p:nvPr/>
        </p:nvSpPr>
        <p:spPr>
          <a:xfrm>
            <a:off x="9244584" y="4114800"/>
            <a:ext cx="713232" cy="603504"/>
          </a:xfrm>
          <a:prstGeom prst="roundRect">
            <a:avLst>
              <a:gd name="adj" fmla="val 7576"/>
            </a:avLst>
          </a:prstGeom>
          <a:solidFill>
            <a:srgbClr val="232640"/>
          </a:solidFill>
          <a:ln w="9525">
            <a:solidFill>
              <a:srgbClr val="3A3F6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44584" y="475488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26" name="anim03_after_hit"/>
          <p:cNvSpPr/>
          <p:nvPr/>
        </p:nvSpPr>
        <p:spPr>
          <a:xfrm>
            <a:off x="6025896" y="4114800"/>
            <a:ext cx="713232" cy="603504"/>
          </a:xfrm>
          <a:prstGeom prst="roundRect">
            <a:avLst>
              <a:gd name="adj" fmla="val 7576"/>
            </a:avLst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27" name="anim03_after_hit"/>
          <p:cNvSpPr txBox="1"/>
          <p:nvPr/>
        </p:nvSpPr>
        <p:spPr>
          <a:xfrm>
            <a:off x="6025896" y="4114800"/>
            <a:ext cx="713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4864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E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key is turned into a bucket number. That single idea powers the whole module.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26" grpId="0" animBg="1"/>
      <p:bldP spid="2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cover</a:t>
            </a:r>
            <a:endParaRPr lang="en-US" sz="3200" dirty="0"/>
          </a:p>
        </p:txBody>
      </p:sp>
      <p:sp>
        <p:nvSpPr>
          <p:cNvPr id="4" name="anim01_after_row"/>
          <p:cNvSpPr/>
          <p:nvPr/>
        </p:nvSpPr>
        <p:spPr>
          <a:xfrm>
            <a:off x="749808" y="1627632"/>
            <a:ext cx="347472" cy="347472"/>
          </a:xfrm>
          <a:prstGeom prst="ellipse">
            <a:avLst/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5" name="anim01_after_row"/>
          <p:cNvSpPr txBox="1"/>
          <p:nvPr/>
        </p:nvSpPr>
        <p:spPr>
          <a:xfrm>
            <a:off x="749808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anim01_after_row"/>
          <p:cNvSpPr txBox="1"/>
          <p:nvPr/>
        </p:nvSpPr>
        <p:spPr>
          <a:xfrm>
            <a:off x="1325880" y="1600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hash map is</a:t>
            </a:r>
            <a:endParaRPr lang="en-US" sz="1500" dirty="0"/>
          </a:p>
        </p:txBody>
      </p:sp>
      <p:sp>
        <p:nvSpPr>
          <p:cNvPr id="7" name="anim01_after_row"/>
          <p:cNvSpPr txBox="1"/>
          <p:nvPr/>
        </p:nvSpPr>
        <p:spPr>
          <a:xfrm>
            <a:off x="1325880" y="1920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Keys, values, and Python's dict</a:t>
            </a:r>
            <a:endParaRPr lang="en-US" sz="1250" dirty="0"/>
          </a:p>
        </p:txBody>
      </p:sp>
      <p:sp>
        <p:nvSpPr>
          <p:cNvPr id="8" name="anim01_after_row"/>
          <p:cNvSpPr/>
          <p:nvPr/>
        </p:nvSpPr>
        <p:spPr>
          <a:xfrm>
            <a:off x="1325880" y="2322576"/>
            <a:ext cx="8778240" cy="0"/>
          </a:xfrm>
          <a:prstGeom prst="line">
            <a:avLst/>
          </a:prstGeom>
          <a:noFill/>
          <a:ln w="9525">
            <a:solidFill>
              <a:srgbClr val="DDE1EC"/>
            </a:solidFill>
            <a:prstDash val="solid"/>
          </a:ln>
        </p:spPr>
      </p:sp>
      <p:sp>
        <p:nvSpPr>
          <p:cNvPr id="9" name="anim02_after_row"/>
          <p:cNvSpPr/>
          <p:nvPr/>
        </p:nvSpPr>
        <p:spPr>
          <a:xfrm>
            <a:off x="749808" y="2542032"/>
            <a:ext cx="347472" cy="347472"/>
          </a:xfrm>
          <a:prstGeom prst="ellipse">
            <a:avLst/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10" name="anim02_after_row"/>
          <p:cNvSpPr txBox="1"/>
          <p:nvPr/>
        </p:nvSpPr>
        <p:spPr>
          <a:xfrm>
            <a:off x="749808" y="2542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anim02_after_row"/>
          <p:cNvSpPr txBox="1"/>
          <p:nvPr/>
        </p:nvSpPr>
        <p:spPr>
          <a:xfrm>
            <a:off x="1325880" y="25146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hashing works</a:t>
            </a:r>
            <a:endParaRPr lang="en-US" sz="1500" dirty="0"/>
          </a:p>
        </p:txBody>
      </p:sp>
      <p:sp>
        <p:nvSpPr>
          <p:cNvPr id="12" name="anim02_after_row"/>
          <p:cNvSpPr txBox="1"/>
          <p:nvPr/>
        </p:nvSpPr>
        <p:spPr>
          <a:xfrm>
            <a:off x="1325880" y="2834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functions, buckets, and collisions</a:t>
            </a:r>
            <a:endParaRPr lang="en-US" sz="1250" dirty="0"/>
          </a:p>
        </p:txBody>
      </p:sp>
      <p:sp>
        <p:nvSpPr>
          <p:cNvPr id="13" name="anim02_after_row"/>
          <p:cNvSpPr/>
          <p:nvPr/>
        </p:nvSpPr>
        <p:spPr>
          <a:xfrm>
            <a:off x="1325880" y="3236976"/>
            <a:ext cx="8778240" cy="0"/>
          </a:xfrm>
          <a:prstGeom prst="line">
            <a:avLst/>
          </a:prstGeom>
          <a:noFill/>
          <a:ln w="9525">
            <a:solidFill>
              <a:srgbClr val="DDE1EC"/>
            </a:solidFill>
            <a:prstDash val="solid"/>
          </a:ln>
        </p:spPr>
      </p:sp>
      <p:sp>
        <p:nvSpPr>
          <p:cNvPr id="14" name="anim03_after_row"/>
          <p:cNvSpPr/>
          <p:nvPr/>
        </p:nvSpPr>
        <p:spPr>
          <a:xfrm>
            <a:off x="749808" y="3456432"/>
            <a:ext cx="347472" cy="347472"/>
          </a:xfrm>
          <a:prstGeom prst="ellipse">
            <a:avLst/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15" name="anim03_after_row"/>
          <p:cNvSpPr txBox="1"/>
          <p:nvPr/>
        </p:nvSpPr>
        <p:spPr>
          <a:xfrm>
            <a:off x="749808" y="3456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anim03_after_row"/>
          <p:cNvSpPr txBox="1"/>
          <p:nvPr/>
        </p:nvSpPr>
        <p:spPr>
          <a:xfrm>
            <a:off x="1325880" y="34290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and complexity</a:t>
            </a:r>
            <a:endParaRPr lang="en-US" sz="1500" dirty="0"/>
          </a:p>
        </p:txBody>
      </p:sp>
      <p:sp>
        <p:nvSpPr>
          <p:cNvPr id="17" name="anim03_after_row"/>
          <p:cNvSpPr txBox="1"/>
          <p:nvPr/>
        </p:nvSpPr>
        <p:spPr>
          <a:xfrm>
            <a:off x="1325880" y="3749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lookups are O(1) on average, and when they are not</a:t>
            </a:r>
            <a:endParaRPr lang="en-US" sz="1250" dirty="0"/>
          </a:p>
        </p:txBody>
      </p:sp>
      <p:sp>
        <p:nvSpPr>
          <p:cNvPr id="18" name="anim03_after_row"/>
          <p:cNvSpPr/>
          <p:nvPr/>
        </p:nvSpPr>
        <p:spPr>
          <a:xfrm>
            <a:off x="1325880" y="4151376"/>
            <a:ext cx="8778240" cy="0"/>
          </a:xfrm>
          <a:prstGeom prst="line">
            <a:avLst/>
          </a:prstGeom>
          <a:noFill/>
          <a:ln w="9525">
            <a:solidFill>
              <a:srgbClr val="DDE1EC"/>
            </a:solidFill>
            <a:prstDash val="solid"/>
          </a:ln>
        </p:spPr>
      </p:sp>
      <p:sp>
        <p:nvSpPr>
          <p:cNvPr id="19" name="anim04_after_row"/>
          <p:cNvSpPr/>
          <p:nvPr/>
        </p:nvSpPr>
        <p:spPr>
          <a:xfrm>
            <a:off x="749808" y="4370832"/>
            <a:ext cx="347472" cy="347472"/>
          </a:xfrm>
          <a:prstGeom prst="ellipse">
            <a:avLst/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20" name="anim04_after_row"/>
          <p:cNvSpPr txBox="1"/>
          <p:nvPr/>
        </p:nvSpPr>
        <p:spPr>
          <a:xfrm>
            <a:off x="749808" y="4370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anim04_after_row"/>
          <p:cNvSpPr txBox="1"/>
          <p:nvPr/>
        </p:nvSpPr>
        <p:spPr>
          <a:xfrm>
            <a:off x="1325880" y="43434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examples</a:t>
            </a:r>
            <a:endParaRPr lang="en-US" sz="1500" dirty="0"/>
          </a:p>
        </p:txBody>
      </p:sp>
      <p:sp>
        <p:nvSpPr>
          <p:cNvPr id="22" name="anim04_after_row"/>
          <p:cNvSpPr txBox="1"/>
          <p:nvPr/>
        </p:nvSpPr>
        <p:spPr>
          <a:xfrm>
            <a:off x="1325880" y="4663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Edugator problems, solved together</a:t>
            </a:r>
            <a:endParaRPr lang="en-US" sz="1250" dirty="0"/>
          </a:p>
        </p:txBody>
      </p:sp>
      <p:sp>
        <p:nvSpPr>
          <p:cNvPr id="23" name="anim04_after_row"/>
          <p:cNvSpPr/>
          <p:nvPr/>
        </p:nvSpPr>
        <p:spPr>
          <a:xfrm>
            <a:off x="1325880" y="5065776"/>
            <a:ext cx="8778240" cy="0"/>
          </a:xfrm>
          <a:prstGeom prst="line">
            <a:avLst/>
          </a:prstGeom>
          <a:noFill/>
          <a:ln w="9525">
            <a:solidFill>
              <a:srgbClr val="DDE1EC"/>
            </a:solidFill>
            <a:prstDash val="solid"/>
          </a:ln>
        </p:spPr>
      </p:sp>
      <p:sp>
        <p:nvSpPr>
          <p:cNvPr id="24" name="anim05_after_row"/>
          <p:cNvSpPr/>
          <p:nvPr/>
        </p:nvSpPr>
        <p:spPr>
          <a:xfrm>
            <a:off x="749808" y="5285232"/>
            <a:ext cx="347472" cy="347472"/>
          </a:xfrm>
          <a:prstGeom prst="ellipse">
            <a:avLst/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25" name="anim05_after_row"/>
          <p:cNvSpPr txBox="1"/>
          <p:nvPr/>
        </p:nvSpPr>
        <p:spPr>
          <a:xfrm>
            <a:off x="749808" y="5285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anim05_after_row"/>
          <p:cNvSpPr txBox="1"/>
          <p:nvPr/>
        </p:nvSpPr>
        <p:spPr>
          <a:xfrm>
            <a:off x="1325880" y="52578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and next steps</a:t>
            </a:r>
            <a:endParaRPr lang="en-US" sz="1500" dirty="0"/>
          </a:p>
        </p:txBody>
      </p:sp>
      <p:sp>
        <p:nvSpPr>
          <p:cNvPr id="27" name="anim05_after_row"/>
          <p:cNvSpPr txBox="1"/>
          <p:nvPr/>
        </p:nvSpPr>
        <p:spPr>
          <a:xfrm>
            <a:off x="1325880" y="5577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 and what to practice this week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hash map?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81328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map stores key → value pairs. Give it a key and it hands back the value, without searching. Every Python dict is a hash map.</a:t>
            </a:r>
            <a:endParaRPr lang="en-US" sz="1500" dirty="0"/>
          </a:p>
        </p:txBody>
      </p:sp>
      <p:sp>
        <p:nvSpPr>
          <p:cNvPr id="4" name="anim01_click_pt"/>
          <p:cNvSpPr/>
          <p:nvPr/>
        </p:nvSpPr>
        <p:spPr>
          <a:xfrm>
            <a:off x="749808" y="2679192"/>
            <a:ext cx="256032" cy="256032"/>
          </a:xfrm>
          <a:prstGeom prst="ellipse">
            <a:avLst/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5" name="anim01_click_pt"/>
          <p:cNvSpPr txBox="1"/>
          <p:nvPr/>
        </p:nvSpPr>
        <p:spPr>
          <a:xfrm>
            <a:off x="1188720" y="26334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are unique</a:t>
            </a:r>
            <a:endParaRPr lang="en-US" sz="1500" dirty="0"/>
          </a:p>
        </p:txBody>
      </p:sp>
      <p:sp>
        <p:nvSpPr>
          <p:cNvPr id="6" name="anim01_click_pt"/>
          <p:cNvSpPr txBox="1"/>
          <p:nvPr/>
        </p:nvSpPr>
        <p:spPr>
          <a:xfrm>
            <a:off x="1188720" y="296265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a key that already exists replaces its old value</a:t>
            </a:r>
            <a:endParaRPr lang="en-US" sz="1350" dirty="0"/>
          </a:p>
        </p:txBody>
      </p:sp>
      <p:sp>
        <p:nvSpPr>
          <p:cNvPr id="7" name="anim02_click_pt"/>
          <p:cNvSpPr/>
          <p:nvPr/>
        </p:nvSpPr>
        <p:spPr>
          <a:xfrm>
            <a:off x="749808" y="3703320"/>
            <a:ext cx="256032" cy="256032"/>
          </a:xfrm>
          <a:prstGeom prst="ellipse">
            <a:avLst/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8" name="anim02_click_pt"/>
          <p:cNvSpPr txBox="1"/>
          <p:nvPr/>
        </p:nvSpPr>
        <p:spPr>
          <a:xfrm>
            <a:off x="1188720" y="36576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must be hashable</a:t>
            </a:r>
            <a:endParaRPr lang="en-US" sz="1500" dirty="0"/>
          </a:p>
        </p:txBody>
      </p:sp>
      <p:sp>
        <p:nvSpPr>
          <p:cNvPr id="9" name="anim02_click_pt"/>
          <p:cNvSpPr txBox="1"/>
          <p:nvPr/>
        </p:nvSpPr>
        <p:spPr>
          <a:xfrm>
            <a:off x="1188720" y="398678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Strings, numbers, and tuples work. Lists do not, because they can change.</a:t>
            </a:r>
            <a:endParaRPr lang="en-US" sz="1350" dirty="0"/>
          </a:p>
        </p:txBody>
      </p:sp>
      <p:sp>
        <p:nvSpPr>
          <p:cNvPr id="10" name="anim03_click_pt"/>
          <p:cNvSpPr/>
          <p:nvPr/>
        </p:nvSpPr>
        <p:spPr>
          <a:xfrm>
            <a:off x="749808" y="4727448"/>
            <a:ext cx="256032" cy="256032"/>
          </a:xfrm>
          <a:prstGeom prst="ellipse">
            <a:avLst/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11" name="anim03_click_pt"/>
          <p:cNvSpPr txBox="1"/>
          <p:nvPr/>
        </p:nvSpPr>
        <p:spPr>
          <a:xfrm>
            <a:off x="1188720" y="46817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Lookup by key is instant</a:t>
            </a:r>
            <a:endParaRPr lang="en-US" sz="1500" dirty="0"/>
          </a:p>
        </p:txBody>
      </p:sp>
      <p:sp>
        <p:nvSpPr>
          <p:cNvPr id="12" name="anim03_click_pt"/>
          <p:cNvSpPr txBox="1"/>
          <p:nvPr/>
        </p:nvSpPr>
        <p:spPr>
          <a:xfrm>
            <a:off x="1188720" y="50109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computes where the key lives, it does not search</a:t>
            </a:r>
            <a:endParaRPr lang="en-US" sz="1350" dirty="0"/>
          </a:p>
        </p:txBody>
      </p:sp>
      <p:sp>
        <p:nvSpPr>
          <p:cNvPr id="13" name="card"/>
          <p:cNvSpPr/>
          <p:nvPr/>
        </p:nvSpPr>
        <p:spPr>
          <a:xfrm>
            <a:off x="6400800" y="1481328"/>
            <a:ext cx="502920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1737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ages = {"ana": 21, "ben": 19, "cy": 22}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212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22128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endParaRPr lang="en-US" sz="1000" dirty="0"/>
          </a:p>
        </p:txBody>
      </p:sp>
      <p:sp>
        <p:nvSpPr>
          <p:cNvPr id="17" name="box"/>
          <p:cNvSpPr/>
          <p:nvPr/>
        </p:nvSpPr>
        <p:spPr>
          <a:xfrm>
            <a:off x="6675120" y="2468880"/>
            <a:ext cx="1371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8" name="box"/>
          <p:cNvSpPr txBox="1"/>
          <p:nvPr/>
        </p:nvSpPr>
        <p:spPr>
          <a:xfrm>
            <a:off x="6675120" y="24688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endParaRPr lang="en-US" sz="1400" dirty="0"/>
          </a:p>
        </p:txBody>
      </p:sp>
      <p:sp>
        <p:nvSpPr>
          <p:cNvPr id="19" name="kv"/>
          <p:cNvSpPr/>
          <p:nvPr/>
        </p:nvSpPr>
        <p:spPr>
          <a:xfrm>
            <a:off x="8183880" y="2706624"/>
            <a:ext cx="822960" cy="0"/>
          </a:xfrm>
          <a:prstGeom prst="line">
            <a:avLst/>
          </a:prstGeom>
          <a:noFill/>
          <a:ln w="22225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20" name="box"/>
          <p:cNvSpPr/>
          <p:nvPr/>
        </p:nvSpPr>
        <p:spPr>
          <a:xfrm>
            <a:off x="9144000" y="2468880"/>
            <a:ext cx="10058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1" name="box"/>
          <p:cNvSpPr txBox="1"/>
          <p:nvPr/>
        </p:nvSpPr>
        <p:spPr>
          <a:xfrm>
            <a:off x="9144000" y="246888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400" dirty="0"/>
          </a:p>
        </p:txBody>
      </p:sp>
      <p:sp>
        <p:nvSpPr>
          <p:cNvPr id="22" name="box"/>
          <p:cNvSpPr/>
          <p:nvPr/>
        </p:nvSpPr>
        <p:spPr>
          <a:xfrm>
            <a:off x="6675120" y="3090672"/>
            <a:ext cx="1371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3" name="box"/>
          <p:cNvSpPr txBox="1"/>
          <p:nvPr/>
        </p:nvSpPr>
        <p:spPr>
          <a:xfrm>
            <a:off x="6675120" y="309067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"ben"</a:t>
            </a:r>
            <a:endParaRPr lang="en-US" sz="1400" dirty="0"/>
          </a:p>
        </p:txBody>
      </p:sp>
      <p:sp>
        <p:nvSpPr>
          <p:cNvPr id="24" name="kv"/>
          <p:cNvSpPr/>
          <p:nvPr/>
        </p:nvSpPr>
        <p:spPr>
          <a:xfrm>
            <a:off x="8183880" y="3328416"/>
            <a:ext cx="822960" cy="0"/>
          </a:xfrm>
          <a:prstGeom prst="line">
            <a:avLst/>
          </a:prstGeom>
          <a:noFill/>
          <a:ln w="22225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25" name="box"/>
          <p:cNvSpPr/>
          <p:nvPr/>
        </p:nvSpPr>
        <p:spPr>
          <a:xfrm>
            <a:off x="9144000" y="3090672"/>
            <a:ext cx="10058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6" name="box"/>
          <p:cNvSpPr txBox="1"/>
          <p:nvPr/>
        </p:nvSpPr>
        <p:spPr>
          <a:xfrm>
            <a:off x="9144000" y="309067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400" dirty="0"/>
          </a:p>
        </p:txBody>
      </p:sp>
      <p:sp>
        <p:nvSpPr>
          <p:cNvPr id="27" name="box"/>
          <p:cNvSpPr/>
          <p:nvPr/>
        </p:nvSpPr>
        <p:spPr>
          <a:xfrm>
            <a:off x="6675120" y="3712464"/>
            <a:ext cx="1371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8" name="box"/>
          <p:cNvSpPr txBox="1"/>
          <p:nvPr/>
        </p:nvSpPr>
        <p:spPr>
          <a:xfrm>
            <a:off x="6675120" y="371246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"cy"</a:t>
            </a:r>
            <a:endParaRPr lang="en-US" sz="1400" dirty="0"/>
          </a:p>
        </p:txBody>
      </p:sp>
      <p:sp>
        <p:nvSpPr>
          <p:cNvPr id="29" name="kv"/>
          <p:cNvSpPr/>
          <p:nvPr/>
        </p:nvSpPr>
        <p:spPr>
          <a:xfrm>
            <a:off x="8183880" y="3950208"/>
            <a:ext cx="822960" cy="0"/>
          </a:xfrm>
          <a:prstGeom prst="line">
            <a:avLst/>
          </a:prstGeom>
          <a:noFill/>
          <a:ln w="22225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30" name="box"/>
          <p:cNvSpPr/>
          <p:nvPr/>
        </p:nvSpPr>
        <p:spPr>
          <a:xfrm>
            <a:off x="9144000" y="3712464"/>
            <a:ext cx="1005840" cy="475488"/>
          </a:xfrm>
          <a:prstGeom prst="roundRect">
            <a:avLst>
              <a:gd name="adj" fmla="val 9615"/>
            </a:avLst>
          </a:prstGeom>
          <a:solidFill>
            <a:srgbClr val="FFF1EB"/>
          </a:solidFill>
          <a:ln w="9525">
            <a:solidFill>
              <a:srgbClr val="FFD5C4"/>
            </a:solidFill>
            <a:prstDash val="solid"/>
          </a:ln>
        </p:spPr>
      </p:sp>
      <p:sp>
        <p:nvSpPr>
          <p:cNvPr id="31" name="box"/>
          <p:cNvSpPr txBox="1"/>
          <p:nvPr/>
        </p:nvSpPr>
        <p:spPr>
          <a:xfrm>
            <a:off x="9144000" y="371246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400" dirty="0"/>
          </a:p>
        </p:txBody>
      </p:sp>
      <p:sp>
        <p:nvSpPr>
          <p:cNvPr id="32" name="anim03_click_gives"/>
          <p:cNvSpPr txBox="1"/>
          <p:nvPr/>
        </p:nvSpPr>
        <p:spPr>
          <a:xfrm>
            <a:off x="6675120" y="44348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ages["cy"]  gives back  22</a:t>
            </a:r>
            <a:endParaRPr lang="en-US" sz="1400" dirty="0"/>
          </a:p>
        </p:txBody>
      </p:sp>
      <p:sp>
        <p:nvSpPr>
          <p:cNvPr id="33" name="anim03_click_gives"/>
          <p:cNvSpPr txBox="1"/>
          <p:nvPr/>
        </p:nvSpPr>
        <p:spPr>
          <a:xfrm>
            <a:off x="6675120" y="48463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finds it by hashing the key, not by checking each pair. No loop, no matter how many people are in the dict.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32" grpId="0" animBg="1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Python's dict in practice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13716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 for this module: Module 2, Strings, plus comfort with loops and Big O.</a:t>
            </a:r>
            <a:endParaRPr lang="en-US" sz="1250" dirty="0"/>
          </a:p>
        </p:txBody>
      </p:sp>
      <p:sp>
        <p:nvSpPr>
          <p:cNvPr id="4" name="anim01_click_card"/>
          <p:cNvSpPr/>
          <p:nvPr/>
        </p:nvSpPr>
        <p:spPr>
          <a:xfrm>
            <a:off x="731520" y="1874520"/>
            <a:ext cx="5239512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anim01_click_card"/>
          <p:cNvSpPr txBox="1"/>
          <p:nvPr/>
        </p:nvSpPr>
        <p:spPr>
          <a:xfrm>
            <a:off x="1005840" y="2103120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dict</a:t>
            </a:r>
            <a:endParaRPr lang="en-US" sz="1500" dirty="0"/>
          </a:p>
        </p:txBody>
      </p:sp>
      <p:sp>
        <p:nvSpPr>
          <p:cNvPr id="6" name="anim01_click_card"/>
          <p:cNvSpPr txBox="1"/>
          <p:nvPr/>
        </p:nvSpPr>
        <p:spPr>
          <a:xfrm>
            <a:off x="1005840" y="2468880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Curly braces hold the pairs. Assigning to a key adds it or updates it.</a:t>
            </a:r>
            <a:endParaRPr lang="en-US" sz="1250" dirty="0"/>
          </a:p>
        </p:txBody>
      </p:sp>
      <p:sp>
        <p:nvSpPr>
          <p:cNvPr id="7" name="anim01_click_card"/>
          <p:cNvSpPr/>
          <p:nvPr/>
        </p:nvSpPr>
        <p:spPr>
          <a:xfrm>
            <a:off x="1005840" y="2971800"/>
            <a:ext cx="4690872" cy="1410462"/>
          </a:xfrm>
          <a:prstGeom prst="roundRect">
            <a:avLst>
              <a:gd name="adj" fmla="val 3890"/>
            </a:avLst>
          </a:prstGeom>
          <a:solidFill>
            <a:srgbClr val="1B1E33"/>
          </a:solidFill>
          <a:ln w="9525">
            <a:solidFill>
              <a:srgbClr val="1B1E33"/>
            </a:solidFill>
            <a:prstDash val="solid"/>
          </a:ln>
        </p:spPr>
      </p:sp>
      <p:sp>
        <p:nvSpPr>
          <p:cNvPr id="8" name="anim01_click_card"/>
          <p:cNvSpPr txBox="1"/>
          <p:nvPr/>
        </p:nvSpPr>
        <p:spPr>
          <a:xfrm>
            <a:off x="1207008" y="3063240"/>
            <a:ext cx="4288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anim01_click_card"/>
          <p:cNvSpPr txBox="1"/>
          <p:nvPr/>
        </p:nvSpPr>
        <p:spPr>
          <a:xfrm>
            <a:off x="1207008" y="3319272"/>
            <a:ext cx="4288536" cy="934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ages = {"ana": 21, "ben": 19}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ages["cy"] = 22    # new key: added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ages["ana"] = 22   # old key: updated</a:t>
            </a:r>
            <a:endParaRPr lang="en-US" sz="1300" dirty="0"/>
          </a:p>
        </p:txBody>
      </p:sp>
      <p:sp>
        <p:nvSpPr>
          <p:cNvPr id="10" name="anim01_click_card"/>
          <p:cNvSpPr txBox="1"/>
          <p:nvPr/>
        </p:nvSpPr>
        <p:spPr>
          <a:xfrm>
            <a:off x="1005840" y="4565142"/>
            <a:ext cx="4690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syntax for adding and updating. The dict checks whether the key already exists.</a:t>
            </a:r>
            <a:endParaRPr lang="en-US" sz="1250" dirty="0"/>
          </a:p>
        </p:txBody>
      </p:sp>
      <p:sp>
        <p:nvSpPr>
          <p:cNvPr id="11" name="anim02_click_card"/>
          <p:cNvSpPr/>
          <p:nvPr/>
        </p:nvSpPr>
        <p:spPr>
          <a:xfrm>
            <a:off x="6217920" y="1874520"/>
            <a:ext cx="5239512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2" name="anim02_click_card"/>
          <p:cNvSpPr txBox="1"/>
          <p:nvPr/>
        </p:nvSpPr>
        <p:spPr>
          <a:xfrm>
            <a:off x="6492240" y="2103120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safely</a:t>
            </a:r>
            <a:endParaRPr lang="en-US" sz="1500" dirty="0"/>
          </a:p>
        </p:txBody>
      </p:sp>
      <p:sp>
        <p:nvSpPr>
          <p:cNvPr id="13" name="anim02_click_card"/>
          <p:cNvSpPr txBox="1"/>
          <p:nvPr/>
        </p:nvSpPr>
        <p:spPr>
          <a:xfrm>
            <a:off x="6492240" y="2468880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for a key that is not there is the classic crash.</a:t>
            </a:r>
            <a:endParaRPr lang="en-US" sz="1250" dirty="0"/>
          </a:p>
        </p:txBody>
      </p:sp>
      <p:sp>
        <p:nvSpPr>
          <p:cNvPr id="14" name="anim02_click_card"/>
          <p:cNvSpPr/>
          <p:nvPr/>
        </p:nvSpPr>
        <p:spPr>
          <a:xfrm>
            <a:off x="6492240" y="2971800"/>
            <a:ext cx="4690872" cy="1697736"/>
          </a:xfrm>
          <a:prstGeom prst="roundRect">
            <a:avLst>
              <a:gd name="adj" fmla="val 3232"/>
            </a:avLst>
          </a:prstGeom>
          <a:solidFill>
            <a:srgbClr val="1B1E33"/>
          </a:solidFill>
          <a:ln w="9525">
            <a:solidFill>
              <a:srgbClr val="1B1E33"/>
            </a:solidFill>
            <a:prstDash val="solid"/>
          </a:ln>
        </p:spPr>
      </p:sp>
      <p:sp>
        <p:nvSpPr>
          <p:cNvPr id="15" name="anim02_click_card"/>
          <p:cNvSpPr txBox="1"/>
          <p:nvPr/>
        </p:nvSpPr>
        <p:spPr>
          <a:xfrm>
            <a:off x="6693408" y="3063240"/>
            <a:ext cx="4288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6" name="anim02_click_card"/>
          <p:cNvSpPr txBox="1"/>
          <p:nvPr/>
        </p:nvSpPr>
        <p:spPr>
          <a:xfrm>
            <a:off x="6693408" y="3319272"/>
            <a:ext cx="4288536" cy="122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ages["ana"]          # 22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ages["dee"]          # KeyError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ages.get("dee")      # None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ages.get("dee", 0)   # 0</a:t>
            </a:r>
            <a:endParaRPr lang="en-US" sz="1300" dirty="0"/>
          </a:p>
        </p:txBody>
      </p:sp>
      <p:sp>
        <p:nvSpPr>
          <p:cNvPr id="17" name="anim02_click_card"/>
          <p:cNvSpPr txBox="1"/>
          <p:nvPr/>
        </p:nvSpPr>
        <p:spPr>
          <a:xfrm>
            <a:off x="6492240" y="4852416"/>
            <a:ext cx="4690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with a default is the line you will type most today.</a:t>
            </a:r>
            <a:endParaRPr lang="en-US" sz="1250" dirty="0"/>
          </a:p>
        </p:txBody>
      </p:sp>
      <p:sp>
        <p:nvSpPr>
          <p:cNvPr id="18" name="anim03_click_foot"/>
          <p:cNvSpPr txBox="1"/>
          <p:nvPr/>
        </p:nvSpPr>
        <p:spPr>
          <a:xfrm>
            <a:off x="731520" y="57607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calls it HashMap, C++ calls it unordered_map, JavaScript calls it Map. The costs underneath are the same everywhere.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operations you will use constantly</a:t>
            </a:r>
            <a:endParaRPr lang="en-US" sz="3200" dirty="0"/>
          </a:p>
        </p:txBody>
      </p:sp>
      <p:sp>
        <p:nvSpPr>
          <p:cNvPr id="3" name="anim01_click_op"/>
          <p:cNvSpPr/>
          <p:nvPr/>
        </p:nvSpPr>
        <p:spPr>
          <a:xfrm>
            <a:off x="731520" y="1600200"/>
            <a:ext cx="2510028" cy="2697480"/>
          </a:xfrm>
          <a:prstGeom prst="roundRect">
            <a:avLst>
              <a:gd name="adj" fmla="val 2186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4" name="anim01_click_op"/>
          <p:cNvSpPr txBox="1"/>
          <p:nvPr/>
        </p:nvSpPr>
        <p:spPr>
          <a:xfrm>
            <a:off x="960120" y="1828800"/>
            <a:ext cx="2052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or update</a:t>
            </a:r>
            <a:endParaRPr lang="en-US" sz="1500" dirty="0"/>
          </a:p>
        </p:txBody>
      </p:sp>
      <p:sp>
        <p:nvSpPr>
          <p:cNvPr id="5" name="anim01_click_op"/>
          <p:cNvSpPr txBox="1"/>
          <p:nvPr/>
        </p:nvSpPr>
        <p:spPr>
          <a:xfrm>
            <a:off x="960120" y="2194560"/>
            <a:ext cx="2052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 value under a key.</a:t>
            </a:r>
            <a:endParaRPr lang="en-US" sz="1250" dirty="0"/>
          </a:p>
        </p:txBody>
      </p:sp>
      <p:sp>
        <p:nvSpPr>
          <p:cNvPr id="6" name="anim01_click_op"/>
          <p:cNvSpPr/>
          <p:nvPr/>
        </p:nvSpPr>
        <p:spPr>
          <a:xfrm>
            <a:off x="960120" y="2697480"/>
            <a:ext cx="2052828" cy="777240"/>
          </a:xfrm>
          <a:prstGeom prst="roundRect">
            <a:avLst>
              <a:gd name="adj" fmla="val 5882"/>
            </a:avLst>
          </a:prstGeom>
          <a:solidFill>
            <a:srgbClr val="1B1E33"/>
          </a:solidFill>
          <a:ln w="9525">
            <a:solidFill>
              <a:srgbClr val="1B1E33"/>
            </a:solidFill>
            <a:prstDash val="solid"/>
          </a:ln>
        </p:spPr>
      </p:sp>
      <p:sp>
        <p:nvSpPr>
          <p:cNvPr id="7" name="anim01_click_op"/>
          <p:cNvSpPr txBox="1"/>
          <p:nvPr/>
        </p:nvSpPr>
        <p:spPr>
          <a:xfrm>
            <a:off x="1115568" y="2697480"/>
            <a:ext cx="17419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d[k] = v</a:t>
            </a:r>
            <a:endParaRPr lang="en-US" sz="1300" dirty="0"/>
          </a:p>
        </p:txBody>
      </p:sp>
      <p:sp>
        <p:nvSpPr>
          <p:cNvPr id="8" name="anim01_click_op"/>
          <p:cNvSpPr txBox="1"/>
          <p:nvPr/>
        </p:nvSpPr>
        <p:spPr>
          <a:xfrm>
            <a:off x="960120" y="3703320"/>
            <a:ext cx="20528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400" dirty="0"/>
          </a:p>
        </p:txBody>
      </p:sp>
      <p:sp>
        <p:nvSpPr>
          <p:cNvPr id="9" name="anim02_click_op"/>
          <p:cNvSpPr/>
          <p:nvPr/>
        </p:nvSpPr>
        <p:spPr>
          <a:xfrm>
            <a:off x="3470148" y="1600200"/>
            <a:ext cx="2510028" cy="2697480"/>
          </a:xfrm>
          <a:prstGeom prst="roundRect">
            <a:avLst>
              <a:gd name="adj" fmla="val 2186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0" name="anim02_click_op"/>
          <p:cNvSpPr txBox="1"/>
          <p:nvPr/>
        </p:nvSpPr>
        <p:spPr>
          <a:xfrm>
            <a:off x="3698748" y="1828800"/>
            <a:ext cx="2052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up</a:t>
            </a:r>
            <a:endParaRPr lang="en-US" sz="1500" dirty="0"/>
          </a:p>
        </p:txBody>
      </p:sp>
      <p:sp>
        <p:nvSpPr>
          <p:cNvPr id="11" name="anim02_click_op"/>
          <p:cNvSpPr txBox="1"/>
          <p:nvPr/>
        </p:nvSpPr>
        <p:spPr>
          <a:xfrm>
            <a:off x="3698748" y="2194560"/>
            <a:ext cx="2052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value for a key.</a:t>
            </a:r>
            <a:endParaRPr lang="en-US" sz="1250" dirty="0"/>
          </a:p>
        </p:txBody>
      </p:sp>
      <p:sp>
        <p:nvSpPr>
          <p:cNvPr id="12" name="anim02_click_op"/>
          <p:cNvSpPr/>
          <p:nvPr/>
        </p:nvSpPr>
        <p:spPr>
          <a:xfrm>
            <a:off x="3698748" y="2697480"/>
            <a:ext cx="2052828" cy="777240"/>
          </a:xfrm>
          <a:prstGeom prst="roundRect">
            <a:avLst>
              <a:gd name="adj" fmla="val 5882"/>
            </a:avLst>
          </a:prstGeom>
          <a:solidFill>
            <a:srgbClr val="1B1E33"/>
          </a:solidFill>
          <a:ln w="9525">
            <a:solidFill>
              <a:srgbClr val="1B1E33"/>
            </a:solidFill>
            <a:prstDash val="solid"/>
          </a:ln>
        </p:spPr>
      </p:sp>
      <p:sp>
        <p:nvSpPr>
          <p:cNvPr id="13" name="anim02_click_op"/>
          <p:cNvSpPr txBox="1"/>
          <p:nvPr/>
        </p:nvSpPr>
        <p:spPr>
          <a:xfrm>
            <a:off x="3854196" y="2697480"/>
            <a:ext cx="17419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d[k]</a:t>
            </a:r>
            <a:endParaRPr lang="en-US" sz="1300" dirty="0"/>
          </a:p>
        </p:txBody>
      </p:sp>
      <p:sp>
        <p:nvSpPr>
          <p:cNvPr id="14" name="anim02_click_op"/>
          <p:cNvSpPr txBox="1"/>
          <p:nvPr/>
        </p:nvSpPr>
        <p:spPr>
          <a:xfrm>
            <a:off x="3698748" y="3703320"/>
            <a:ext cx="20528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400" dirty="0"/>
          </a:p>
        </p:txBody>
      </p:sp>
      <p:sp>
        <p:nvSpPr>
          <p:cNvPr id="15" name="anim03_click_op"/>
          <p:cNvSpPr/>
          <p:nvPr/>
        </p:nvSpPr>
        <p:spPr>
          <a:xfrm>
            <a:off x="6208776" y="1600200"/>
            <a:ext cx="2510028" cy="2697480"/>
          </a:xfrm>
          <a:prstGeom prst="roundRect">
            <a:avLst>
              <a:gd name="adj" fmla="val 2186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6" name="anim03_click_op"/>
          <p:cNvSpPr txBox="1"/>
          <p:nvPr/>
        </p:nvSpPr>
        <p:spPr>
          <a:xfrm>
            <a:off x="6437376" y="1828800"/>
            <a:ext cx="2052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500" dirty="0"/>
          </a:p>
        </p:txBody>
      </p:sp>
      <p:sp>
        <p:nvSpPr>
          <p:cNvPr id="17" name="anim03_click_op"/>
          <p:cNvSpPr txBox="1"/>
          <p:nvPr/>
        </p:nvSpPr>
        <p:spPr>
          <a:xfrm>
            <a:off x="6437376" y="2194560"/>
            <a:ext cx="2052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whether a key exists.</a:t>
            </a:r>
            <a:endParaRPr lang="en-US" sz="1250" dirty="0"/>
          </a:p>
        </p:txBody>
      </p:sp>
      <p:sp>
        <p:nvSpPr>
          <p:cNvPr id="18" name="anim03_click_op"/>
          <p:cNvSpPr/>
          <p:nvPr/>
        </p:nvSpPr>
        <p:spPr>
          <a:xfrm>
            <a:off x="6437376" y="2697480"/>
            <a:ext cx="2052828" cy="777240"/>
          </a:xfrm>
          <a:prstGeom prst="roundRect">
            <a:avLst>
              <a:gd name="adj" fmla="val 5882"/>
            </a:avLst>
          </a:prstGeom>
          <a:solidFill>
            <a:srgbClr val="1B1E33"/>
          </a:solidFill>
          <a:ln w="9525">
            <a:solidFill>
              <a:srgbClr val="1B1E33"/>
            </a:solidFill>
            <a:prstDash val="solid"/>
          </a:ln>
        </p:spPr>
      </p:sp>
      <p:sp>
        <p:nvSpPr>
          <p:cNvPr id="19" name="anim03_click_op"/>
          <p:cNvSpPr txBox="1"/>
          <p:nvPr/>
        </p:nvSpPr>
        <p:spPr>
          <a:xfrm>
            <a:off x="6592824" y="2697480"/>
            <a:ext cx="17419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k in d:</a:t>
            </a:r>
            <a:endParaRPr lang="en-US" sz="1300" dirty="0"/>
          </a:p>
        </p:txBody>
      </p:sp>
      <p:sp>
        <p:nvSpPr>
          <p:cNvPr id="20" name="anim03_click_op"/>
          <p:cNvSpPr txBox="1"/>
          <p:nvPr/>
        </p:nvSpPr>
        <p:spPr>
          <a:xfrm>
            <a:off x="6437376" y="3703320"/>
            <a:ext cx="20528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400" dirty="0"/>
          </a:p>
        </p:txBody>
      </p:sp>
      <p:sp>
        <p:nvSpPr>
          <p:cNvPr id="21" name="anim04_click_op"/>
          <p:cNvSpPr/>
          <p:nvPr/>
        </p:nvSpPr>
        <p:spPr>
          <a:xfrm>
            <a:off x="8947404" y="1600200"/>
            <a:ext cx="2510028" cy="2697480"/>
          </a:xfrm>
          <a:prstGeom prst="roundRect">
            <a:avLst>
              <a:gd name="adj" fmla="val 2186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2" name="anim04_click_op"/>
          <p:cNvSpPr txBox="1"/>
          <p:nvPr/>
        </p:nvSpPr>
        <p:spPr>
          <a:xfrm>
            <a:off x="9176004" y="1828800"/>
            <a:ext cx="2052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500" dirty="0"/>
          </a:p>
        </p:txBody>
      </p:sp>
      <p:sp>
        <p:nvSpPr>
          <p:cNvPr id="23" name="anim04_click_op"/>
          <p:cNvSpPr txBox="1"/>
          <p:nvPr/>
        </p:nvSpPr>
        <p:spPr>
          <a:xfrm>
            <a:off x="9176004" y="2194560"/>
            <a:ext cx="2052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key and its value.</a:t>
            </a:r>
            <a:endParaRPr lang="en-US" sz="1250" dirty="0"/>
          </a:p>
        </p:txBody>
      </p:sp>
      <p:sp>
        <p:nvSpPr>
          <p:cNvPr id="24" name="anim04_click_op"/>
          <p:cNvSpPr/>
          <p:nvPr/>
        </p:nvSpPr>
        <p:spPr>
          <a:xfrm>
            <a:off x="9176004" y="2697480"/>
            <a:ext cx="2052828" cy="777240"/>
          </a:xfrm>
          <a:prstGeom prst="roundRect">
            <a:avLst>
              <a:gd name="adj" fmla="val 5882"/>
            </a:avLst>
          </a:prstGeom>
          <a:solidFill>
            <a:srgbClr val="1B1E33"/>
          </a:solidFill>
          <a:ln w="9525">
            <a:solidFill>
              <a:srgbClr val="1B1E33"/>
            </a:solidFill>
            <a:prstDash val="solid"/>
          </a:ln>
        </p:spPr>
      </p:sp>
      <p:sp>
        <p:nvSpPr>
          <p:cNvPr id="25" name="anim04_click_op"/>
          <p:cNvSpPr txBox="1"/>
          <p:nvPr/>
        </p:nvSpPr>
        <p:spPr>
          <a:xfrm>
            <a:off x="9331452" y="2697480"/>
            <a:ext cx="17419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d[k]</a:t>
            </a:r>
            <a:endParaRPr lang="en-US" sz="1300" dirty="0"/>
          </a:p>
        </p:txBody>
      </p:sp>
      <p:sp>
        <p:nvSpPr>
          <p:cNvPr id="26" name="anim04_click_op"/>
          <p:cNvSpPr txBox="1"/>
          <p:nvPr/>
        </p:nvSpPr>
        <p:spPr>
          <a:xfrm>
            <a:off x="9176004" y="3703320"/>
            <a:ext cx="20528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400" dirty="0"/>
          </a:p>
        </p:txBody>
      </p:sp>
      <p:sp>
        <p:nvSpPr>
          <p:cNvPr id="27" name="anim05_click_note"/>
          <p:cNvSpPr/>
          <p:nvPr/>
        </p:nvSpPr>
        <p:spPr>
          <a:xfrm>
            <a:off x="731520" y="4572000"/>
            <a:ext cx="1072591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8" name="anim05_click_note"/>
          <p:cNvSpPr txBox="1"/>
          <p:nvPr/>
        </p:nvSpPr>
        <p:spPr>
          <a:xfrm>
            <a:off x="1005840" y="4572000"/>
            <a:ext cx="10177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from these. </a:t>
            </a:r>
            <a:pPr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is one lookup and one update: </a:t>
            </a:r>
            <a:pPr indent="0" marL="0">
              <a:buNone/>
            </a:pPr>
            <a:r>
              <a:rPr lang="en-US" sz="130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counts[x] = counts.get(x, 0) + 1</a:t>
            </a:r>
            <a:pPr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Most easy hash map problems are exactly this shape.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key finds its bucket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13716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"apple" with the value 1.25 in a table of 8 buckets</a:t>
            </a:r>
            <a:endParaRPr lang="en-US" sz="1300" dirty="0"/>
          </a:p>
        </p:txBody>
      </p:sp>
      <p:sp>
        <p:nvSpPr>
          <p:cNvPr id="4" name="anim01_click_step"/>
          <p:cNvSpPr/>
          <p:nvPr/>
        </p:nvSpPr>
        <p:spPr>
          <a:xfrm>
            <a:off x="731520" y="1828800"/>
            <a:ext cx="2971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anim01_click_step"/>
          <p:cNvSpPr txBox="1"/>
          <p:nvPr/>
        </p:nvSpPr>
        <p:spPr>
          <a:xfrm>
            <a:off x="960120" y="1965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key</a:t>
            </a:r>
            <a:endParaRPr lang="en-US" sz="1400" dirty="0"/>
          </a:p>
        </p:txBody>
      </p:sp>
      <p:sp>
        <p:nvSpPr>
          <p:cNvPr id="6" name="anim01_click_step"/>
          <p:cNvSpPr txBox="1"/>
          <p:nvPr/>
        </p:nvSpPr>
        <p:spPr>
          <a:xfrm>
            <a:off x="960120" y="22860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"apple"</a:t>
            </a:r>
            <a:endParaRPr lang="en-US" sz="1500" dirty="0"/>
          </a:p>
        </p:txBody>
      </p:sp>
      <p:sp>
        <p:nvSpPr>
          <p:cNvPr id="7" name="anim01_click_step"/>
          <p:cNvSpPr txBox="1"/>
          <p:nvPr/>
        </p:nvSpPr>
        <p:spPr>
          <a:xfrm>
            <a:off x="960120" y="261518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hashable value</a:t>
            </a:r>
            <a:endParaRPr lang="en-US" sz="1150" dirty="0"/>
          </a:p>
        </p:txBody>
      </p:sp>
      <p:sp>
        <p:nvSpPr>
          <p:cNvPr id="8" name="anim02_after_step"/>
          <p:cNvSpPr/>
          <p:nvPr/>
        </p:nvSpPr>
        <p:spPr>
          <a:xfrm>
            <a:off x="4599432" y="1828800"/>
            <a:ext cx="2971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9" name="anim02_after_step"/>
          <p:cNvSpPr txBox="1"/>
          <p:nvPr/>
        </p:nvSpPr>
        <p:spPr>
          <a:xfrm>
            <a:off x="4828032" y="1965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Hash it</a:t>
            </a:r>
            <a:endParaRPr lang="en-US" sz="1400" dirty="0"/>
          </a:p>
        </p:txBody>
      </p:sp>
      <p:sp>
        <p:nvSpPr>
          <p:cNvPr id="10" name="anim02_after_step"/>
          <p:cNvSpPr txBox="1"/>
          <p:nvPr/>
        </p:nvSpPr>
        <p:spPr>
          <a:xfrm>
            <a:off x="4828032" y="22860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hash("apple")</a:t>
            </a:r>
            <a:endParaRPr lang="en-US" sz="1500" dirty="0"/>
          </a:p>
        </p:txBody>
      </p:sp>
      <p:sp>
        <p:nvSpPr>
          <p:cNvPr id="11" name="anim02_after_step"/>
          <p:cNvSpPr txBox="1"/>
          <p:nvPr/>
        </p:nvSpPr>
        <p:spPr>
          <a:xfrm>
            <a:off x="4828032" y="261518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integer, the same every time during this run</a:t>
            </a:r>
            <a:endParaRPr lang="en-US" sz="1150" dirty="0"/>
          </a:p>
        </p:txBody>
      </p:sp>
      <p:sp>
        <p:nvSpPr>
          <p:cNvPr id="12" name="anim02_after_step"/>
          <p:cNvSpPr/>
          <p:nvPr/>
        </p:nvSpPr>
        <p:spPr>
          <a:xfrm>
            <a:off x="3813048" y="2441448"/>
            <a:ext cx="676656" cy="0"/>
          </a:xfrm>
          <a:prstGeom prst="line">
            <a:avLst/>
          </a:prstGeom>
          <a:noFill/>
          <a:ln w="22225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13" name="anim03_after_step"/>
          <p:cNvSpPr/>
          <p:nvPr/>
        </p:nvSpPr>
        <p:spPr>
          <a:xfrm>
            <a:off x="8485632" y="1828800"/>
            <a:ext cx="2971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4" name="anim03_after_step"/>
          <p:cNvSpPr txBox="1"/>
          <p:nvPr/>
        </p:nvSpPr>
        <p:spPr>
          <a:xfrm>
            <a:off x="8714232" y="1965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Fit it to the table</a:t>
            </a:r>
            <a:endParaRPr lang="en-US" sz="1400" dirty="0"/>
          </a:p>
        </p:txBody>
      </p:sp>
      <p:sp>
        <p:nvSpPr>
          <p:cNvPr id="15" name="anim03_after_step"/>
          <p:cNvSpPr txBox="1"/>
          <p:nvPr/>
        </p:nvSpPr>
        <p:spPr>
          <a:xfrm>
            <a:off x="8714232" y="22860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8  →  3</a:t>
            </a:r>
            <a:endParaRPr lang="en-US" sz="1500" dirty="0"/>
          </a:p>
        </p:txBody>
      </p:sp>
      <p:sp>
        <p:nvSpPr>
          <p:cNvPr id="16" name="anim03_after_step"/>
          <p:cNvSpPr txBox="1"/>
          <p:nvPr/>
        </p:nvSpPr>
        <p:spPr>
          <a:xfrm>
            <a:off x="8714232" y="261518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remainder picks one of the 8 buckets</a:t>
            </a:r>
            <a:endParaRPr lang="en-US" sz="1150" dirty="0"/>
          </a:p>
        </p:txBody>
      </p:sp>
      <p:sp>
        <p:nvSpPr>
          <p:cNvPr id="17" name="anim03_after_step"/>
          <p:cNvSpPr/>
          <p:nvPr/>
        </p:nvSpPr>
        <p:spPr>
          <a:xfrm>
            <a:off x="7680960" y="2441448"/>
            <a:ext cx="694944" cy="0"/>
          </a:xfrm>
          <a:prstGeom prst="line">
            <a:avLst/>
          </a:prstGeom>
          <a:noFill/>
          <a:ln w="22225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731520" y="33101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buckets</a:t>
            </a:r>
            <a:endParaRPr lang="en-US" sz="1000" dirty="0"/>
          </a:p>
        </p:txBody>
      </p:sp>
      <p:sp>
        <p:nvSpPr>
          <p:cNvPr id="19" name="bucket"/>
          <p:cNvSpPr/>
          <p:nvPr/>
        </p:nvSpPr>
        <p:spPr>
          <a:xfrm>
            <a:off x="731520" y="3566160"/>
            <a:ext cx="1188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1696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21" name="bucket"/>
          <p:cNvSpPr/>
          <p:nvPr/>
        </p:nvSpPr>
        <p:spPr>
          <a:xfrm>
            <a:off x="2093976" y="3566160"/>
            <a:ext cx="1188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093976" y="41696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bucket"/>
          <p:cNvSpPr/>
          <p:nvPr/>
        </p:nvSpPr>
        <p:spPr>
          <a:xfrm>
            <a:off x="3456432" y="3566160"/>
            <a:ext cx="1188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56432" y="41696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bucket"/>
          <p:cNvSpPr/>
          <p:nvPr/>
        </p:nvSpPr>
        <p:spPr>
          <a:xfrm>
            <a:off x="4818888" y="3566160"/>
            <a:ext cx="1188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18888" y="41696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bucket"/>
          <p:cNvSpPr/>
          <p:nvPr/>
        </p:nvSpPr>
        <p:spPr>
          <a:xfrm>
            <a:off x="6181344" y="3566160"/>
            <a:ext cx="1188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81344" y="41696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bucket"/>
          <p:cNvSpPr/>
          <p:nvPr/>
        </p:nvSpPr>
        <p:spPr>
          <a:xfrm>
            <a:off x="7543800" y="3566160"/>
            <a:ext cx="1188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43800" y="41696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bucket"/>
          <p:cNvSpPr/>
          <p:nvPr/>
        </p:nvSpPr>
        <p:spPr>
          <a:xfrm>
            <a:off x="8906256" y="3566160"/>
            <a:ext cx="1188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906256" y="41696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bucket"/>
          <p:cNvSpPr/>
          <p:nvPr/>
        </p:nvSpPr>
        <p:spPr>
          <a:xfrm>
            <a:off x="10268712" y="3566160"/>
            <a:ext cx="1188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268712" y="41696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35" name="anim04_click_hit"/>
          <p:cNvSpPr/>
          <p:nvPr/>
        </p:nvSpPr>
        <p:spPr>
          <a:xfrm>
            <a:off x="4818888" y="3566160"/>
            <a:ext cx="1188720" cy="566928"/>
          </a:xfrm>
          <a:prstGeom prst="roundRect">
            <a:avLst>
              <a:gd name="adj" fmla="val 8065"/>
            </a:avLst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36" name="anim04_click_hit"/>
          <p:cNvSpPr txBox="1"/>
          <p:nvPr/>
        </p:nvSpPr>
        <p:spPr>
          <a:xfrm>
            <a:off x="4818888" y="35661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"apple": 1.25</a:t>
            </a:r>
            <a:endParaRPr lang="en-US" sz="1150" dirty="0"/>
          </a:p>
        </p:txBody>
      </p:sp>
      <p:sp>
        <p:nvSpPr>
          <p:cNvPr id="37" name="anim05_click_use"/>
          <p:cNvSpPr/>
          <p:nvPr/>
        </p:nvSpPr>
        <p:spPr>
          <a:xfrm>
            <a:off x="731520" y="4617720"/>
            <a:ext cx="5257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38" name="anim05_click_use"/>
          <p:cNvSpPr txBox="1"/>
          <p:nvPr/>
        </p:nvSpPr>
        <p:spPr>
          <a:xfrm>
            <a:off x="1005840" y="46177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Storing:  </a:t>
            </a:r>
            <a:pPr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the key, jump to bucket 3, and put the pair there.</a:t>
            </a:r>
            <a:endParaRPr lang="en-US" sz="1300" dirty="0"/>
          </a:p>
        </p:txBody>
      </p:sp>
      <p:sp>
        <p:nvSpPr>
          <p:cNvPr id="39" name="anim05_click_use"/>
          <p:cNvSpPr/>
          <p:nvPr/>
        </p:nvSpPr>
        <p:spPr>
          <a:xfrm>
            <a:off x="6199632" y="4617720"/>
            <a:ext cx="5257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40" name="anim05_click_use"/>
          <p:cNvSpPr txBox="1"/>
          <p:nvPr/>
        </p:nvSpPr>
        <p:spPr>
          <a:xfrm>
            <a:off x="6473952" y="46177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up:  </a:t>
            </a:r>
            <a:pPr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the key again. Same key, same bucket, so 1.25 comes straight back.</a:t>
            </a:r>
            <a:endParaRPr lang="en-US" sz="1300" dirty="0"/>
          </a:p>
        </p:txBody>
      </p:sp>
      <p:sp>
        <p:nvSpPr>
          <p:cNvPr id="41" name="anim05_click_use"/>
          <p:cNvSpPr txBox="1"/>
          <p:nvPr/>
        </p:nvSpPr>
        <p:spPr>
          <a:xfrm>
            <a:off x="731520" y="57150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hash values are huge and change between runs. Bucket 3 is just this example.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two keys want the same bucket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13716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 buckets and endless possible keys, so collisions are guaranteed. Every hash map plans for them.</a:t>
            </a:r>
            <a:endParaRPr lang="en-US" sz="1300" dirty="0"/>
          </a:p>
        </p:txBody>
      </p:sp>
      <p:sp>
        <p:nvSpPr>
          <p:cNvPr id="4" name="anim01_click_two"/>
          <p:cNvSpPr txBox="1"/>
          <p:nvPr/>
        </p:nvSpPr>
        <p:spPr>
          <a:xfrm>
            <a:off x="73152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keys, one bucket</a:t>
            </a:r>
            <a:endParaRPr lang="en-US" sz="1400" dirty="0"/>
          </a:p>
        </p:txBody>
      </p:sp>
      <p:sp>
        <p:nvSpPr>
          <p:cNvPr id="5" name="anim01_click_two"/>
          <p:cNvSpPr txBox="1"/>
          <p:nvPr/>
        </p:nvSpPr>
        <p:spPr>
          <a:xfrm>
            <a:off x="731520" y="21762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hash("apple") % 8  →  3</a:t>
            </a:r>
            <a:endParaRPr lang="en-US" sz="1300" dirty="0"/>
          </a:p>
        </p:txBody>
      </p:sp>
      <p:sp>
        <p:nvSpPr>
          <p:cNvPr id="6" name="anim01_click_two"/>
          <p:cNvSpPr txBox="1"/>
          <p:nvPr/>
        </p:nvSpPr>
        <p:spPr>
          <a:xfrm>
            <a:off x="731520" y="2468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hash("grape") % 8  →  3</a:t>
            </a:r>
            <a:endParaRPr lang="en-US" sz="1300" dirty="0"/>
          </a:p>
        </p:txBody>
      </p:sp>
      <p:sp>
        <p:nvSpPr>
          <p:cNvPr id="7" name="anim02_click_chain"/>
          <p:cNvSpPr txBox="1"/>
          <p:nvPr/>
        </p:nvSpPr>
        <p:spPr>
          <a:xfrm>
            <a:off x="73152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Chaining keeps both in a list</a:t>
            </a:r>
            <a:endParaRPr lang="en-US" sz="1400" dirty="0"/>
          </a:p>
        </p:txBody>
      </p:sp>
      <p:sp>
        <p:nvSpPr>
          <p:cNvPr id="8" name="anim02_click_chain"/>
          <p:cNvSpPr/>
          <p:nvPr/>
        </p:nvSpPr>
        <p:spPr>
          <a:xfrm>
            <a:off x="731520" y="3337560"/>
            <a:ext cx="731520" cy="530352"/>
          </a:xfrm>
          <a:prstGeom prst="roundRect">
            <a:avLst>
              <a:gd name="adj" fmla="val 8621"/>
            </a:avLst>
          </a:prstGeom>
          <a:solidFill>
            <a:srgbClr val="1F2333"/>
          </a:solidFill>
          <a:ln w="9525">
            <a:solidFill>
              <a:srgbClr val="1F2333"/>
            </a:solidFill>
            <a:prstDash val="solid"/>
          </a:ln>
        </p:spPr>
      </p:sp>
      <p:sp>
        <p:nvSpPr>
          <p:cNvPr id="9" name="anim02_click_chain"/>
          <p:cNvSpPr txBox="1"/>
          <p:nvPr/>
        </p:nvSpPr>
        <p:spPr>
          <a:xfrm>
            <a:off x="731520" y="333756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1300" dirty="0"/>
          </a:p>
        </p:txBody>
      </p:sp>
      <p:sp>
        <p:nvSpPr>
          <p:cNvPr id="10" name="anim02_click_chain"/>
          <p:cNvSpPr/>
          <p:nvPr/>
        </p:nvSpPr>
        <p:spPr>
          <a:xfrm>
            <a:off x="1536192" y="3602736"/>
            <a:ext cx="521208" cy="0"/>
          </a:xfrm>
          <a:prstGeom prst="line">
            <a:avLst/>
          </a:prstGeom>
          <a:noFill/>
          <a:ln w="22225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11" name="anim02_click_chain"/>
          <p:cNvSpPr/>
          <p:nvPr/>
        </p:nvSpPr>
        <p:spPr>
          <a:xfrm>
            <a:off x="2130552" y="3337560"/>
            <a:ext cx="16002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2" name="anim02_click_chain"/>
          <p:cNvSpPr txBox="1"/>
          <p:nvPr/>
        </p:nvSpPr>
        <p:spPr>
          <a:xfrm>
            <a:off x="2130552" y="333756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apple: 1.25</a:t>
            </a:r>
            <a:endParaRPr lang="en-US" sz="1200" dirty="0"/>
          </a:p>
        </p:txBody>
      </p:sp>
      <p:sp>
        <p:nvSpPr>
          <p:cNvPr id="13" name="anim02_click_chain"/>
          <p:cNvSpPr/>
          <p:nvPr/>
        </p:nvSpPr>
        <p:spPr>
          <a:xfrm>
            <a:off x="3803904" y="3602736"/>
            <a:ext cx="521208" cy="0"/>
          </a:xfrm>
          <a:prstGeom prst="line">
            <a:avLst/>
          </a:prstGeom>
          <a:noFill/>
          <a:ln w="22225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14" name="anim02_click_chain"/>
          <p:cNvSpPr/>
          <p:nvPr/>
        </p:nvSpPr>
        <p:spPr>
          <a:xfrm>
            <a:off x="4398264" y="3337560"/>
            <a:ext cx="1600200" cy="530352"/>
          </a:xfrm>
          <a:prstGeom prst="roundRect">
            <a:avLst>
              <a:gd name="adj" fmla="val 8621"/>
            </a:avLst>
          </a:prstGeom>
          <a:solidFill>
            <a:srgbClr val="FFF1EB"/>
          </a:solidFill>
          <a:ln w="9525">
            <a:solidFill>
              <a:srgbClr val="FFD5C4"/>
            </a:solidFill>
            <a:prstDash val="solid"/>
          </a:ln>
        </p:spPr>
      </p:sp>
      <p:sp>
        <p:nvSpPr>
          <p:cNvPr id="15" name="anim02_click_chain"/>
          <p:cNvSpPr txBox="1"/>
          <p:nvPr/>
        </p:nvSpPr>
        <p:spPr>
          <a:xfrm>
            <a:off x="4398264" y="333756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grape: 2.40</a:t>
            </a:r>
            <a:endParaRPr lang="en-US" sz="1200" dirty="0"/>
          </a:p>
        </p:txBody>
      </p:sp>
      <p:sp>
        <p:nvSpPr>
          <p:cNvPr id="16" name="anim03_click_open"/>
          <p:cNvSpPr txBox="1"/>
          <p:nvPr/>
        </p:nvSpPr>
        <p:spPr>
          <a:xfrm>
            <a:off x="73152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addressing moves one over</a:t>
            </a:r>
            <a:endParaRPr lang="en-US" sz="1400" dirty="0"/>
          </a:p>
        </p:txBody>
      </p:sp>
      <p:sp>
        <p:nvSpPr>
          <p:cNvPr id="17" name="anim03_click_open"/>
          <p:cNvSpPr/>
          <p:nvPr/>
        </p:nvSpPr>
        <p:spPr>
          <a:xfrm>
            <a:off x="731520" y="4526280"/>
            <a:ext cx="125272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8" name="anim03_click_open"/>
          <p:cNvSpPr txBox="1"/>
          <p:nvPr/>
        </p:nvSpPr>
        <p:spPr>
          <a:xfrm>
            <a:off x="731520" y="4526280"/>
            <a:ext cx="1252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200" dirty="0"/>
          </a:p>
        </p:txBody>
      </p:sp>
      <p:sp>
        <p:nvSpPr>
          <p:cNvPr id="19" name="anim03_click_open"/>
          <p:cNvSpPr/>
          <p:nvPr/>
        </p:nvSpPr>
        <p:spPr>
          <a:xfrm>
            <a:off x="2075688" y="4526280"/>
            <a:ext cx="1252728" cy="530352"/>
          </a:xfrm>
          <a:prstGeom prst="roundRect">
            <a:avLst>
              <a:gd name="adj" fmla="val 8621"/>
            </a:avLst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20" name="anim03_click_open"/>
          <p:cNvSpPr txBox="1"/>
          <p:nvPr/>
        </p:nvSpPr>
        <p:spPr>
          <a:xfrm>
            <a:off x="2075688" y="4526280"/>
            <a:ext cx="1252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 apple</a:t>
            </a:r>
            <a:endParaRPr lang="en-US" sz="1200" dirty="0"/>
          </a:p>
        </p:txBody>
      </p:sp>
      <p:sp>
        <p:nvSpPr>
          <p:cNvPr id="21" name="anim03_click_open"/>
          <p:cNvSpPr/>
          <p:nvPr/>
        </p:nvSpPr>
        <p:spPr>
          <a:xfrm>
            <a:off x="3419856" y="4526280"/>
            <a:ext cx="1252728" cy="530352"/>
          </a:xfrm>
          <a:prstGeom prst="roundRect">
            <a:avLst>
              <a:gd name="adj" fmla="val 8621"/>
            </a:avLst>
          </a:prstGeom>
          <a:solidFill>
            <a:srgbClr val="FFF1EB"/>
          </a:solidFill>
          <a:ln w="9525">
            <a:solidFill>
              <a:srgbClr val="FFD5C4"/>
            </a:solidFill>
            <a:prstDash val="solid"/>
          </a:ln>
        </p:spPr>
      </p:sp>
      <p:sp>
        <p:nvSpPr>
          <p:cNvPr id="22" name="anim03_click_open"/>
          <p:cNvSpPr txBox="1"/>
          <p:nvPr/>
        </p:nvSpPr>
        <p:spPr>
          <a:xfrm>
            <a:off x="3419856" y="4526280"/>
            <a:ext cx="1252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 grape</a:t>
            </a:r>
            <a:endParaRPr lang="en-US" sz="1200" dirty="0"/>
          </a:p>
        </p:txBody>
      </p:sp>
      <p:sp>
        <p:nvSpPr>
          <p:cNvPr id="23" name="anim03_click_open"/>
          <p:cNvSpPr/>
          <p:nvPr/>
        </p:nvSpPr>
        <p:spPr>
          <a:xfrm>
            <a:off x="4764024" y="4526280"/>
            <a:ext cx="125272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4" name="anim03_click_open"/>
          <p:cNvSpPr txBox="1"/>
          <p:nvPr/>
        </p:nvSpPr>
        <p:spPr>
          <a:xfrm>
            <a:off x="4764024" y="4526280"/>
            <a:ext cx="1252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[5]</a:t>
            </a:r>
            <a:endParaRPr lang="en-US" sz="1200" dirty="0"/>
          </a:p>
        </p:txBody>
      </p:sp>
      <p:sp>
        <p:nvSpPr>
          <p:cNvPr id="25" name="anim03_click_open"/>
          <p:cNvSpPr txBox="1"/>
          <p:nvPr/>
        </p:nvSpPr>
        <p:spPr>
          <a:xfrm>
            <a:off x="731520" y="5138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B3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 probes to the next open slot</a:t>
            </a:r>
            <a:endParaRPr lang="en-US" sz="1150" dirty="0"/>
          </a:p>
        </p:txBody>
      </p:sp>
      <p:sp>
        <p:nvSpPr>
          <p:cNvPr id="26" name="anim04_click_take"/>
          <p:cNvSpPr/>
          <p:nvPr/>
        </p:nvSpPr>
        <p:spPr>
          <a:xfrm>
            <a:off x="6675120" y="1828800"/>
            <a:ext cx="4782312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7" name="anim04_click_take"/>
          <p:cNvSpPr txBox="1"/>
          <p:nvPr/>
        </p:nvSpPr>
        <p:spPr>
          <a:xfrm>
            <a:off x="6949440" y="2029968"/>
            <a:ext cx="4233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takeaway</a:t>
            </a:r>
            <a:endParaRPr lang="en-US" sz="1500" dirty="0"/>
          </a:p>
        </p:txBody>
      </p:sp>
      <p:sp>
        <p:nvSpPr>
          <p:cNvPr id="28" name="anim04_click_take"/>
          <p:cNvSpPr txBox="1"/>
          <p:nvPr/>
        </p:nvSpPr>
        <p:spPr>
          <a:xfrm>
            <a:off x="6949440" y="2514600"/>
            <a:ext cx="42336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35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Chaining: </a:t>
            </a:r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bucket holds a small list, and a lookup scans only that list.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addressing: </a:t>
            </a:r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bucket is taken, try the next one. Python's dict works this way.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Resizing: </a:t>
            </a:r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table is about two-thirds full, Python builds a bigger one and rehashes every key.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case: </a:t>
            </a:r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key collides and a lookup scans all n of them. That is the O(n) on the next slide.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operation costs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13716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Interviewers expect you to say these without hesitating.</a:t>
            </a:r>
            <a:endParaRPr lang="en-US" sz="1300" dirty="0"/>
          </a:p>
        </p:txBody>
      </p:sp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725912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1417320"/>
                <a:gridCol w="1417320"/>
                <a:gridCol w="47365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Worst case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d[k] = v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A9D8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the key and drop the pair in its bucket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d[k]  or  d.get(k)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A9D8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the key and go straight to the bucket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 in 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A9D8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a lookup, the value is just ignored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 d[k]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A9D8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the bucket and remove the pair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 k, v in d.items()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pair is visited once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anim01_click_foot"/>
          <p:cNvSpPr txBox="1"/>
          <p:nvPr/>
        </p:nvSpPr>
        <p:spPr>
          <a:xfrm>
            <a:off x="731520" y="51206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means many keys landed in one bucket. Good hash functions and resizing make that rare, which is why people quote O(1) average.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space for time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13716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map spends memory to remember what you have seen, so you never search for it twice.</a:t>
            </a:r>
            <a:endParaRPr lang="en-US" sz="1300" dirty="0"/>
          </a:p>
        </p:txBody>
      </p:sp>
      <p:sp>
        <p:nvSpPr>
          <p:cNvPr id="4" name="anim01_click_row"/>
          <p:cNvSpPr/>
          <p:nvPr/>
        </p:nvSpPr>
        <p:spPr>
          <a:xfrm>
            <a:off x="731520" y="182880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anim01_click_row"/>
          <p:cNvSpPr txBox="1"/>
          <p:nvPr/>
        </p:nvSpPr>
        <p:spPr>
          <a:xfrm>
            <a:off x="960120" y="182880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1600" dirty="0"/>
          </a:p>
        </p:txBody>
      </p:sp>
      <p:sp>
        <p:nvSpPr>
          <p:cNvPr id="6" name="anim01_click_row"/>
          <p:cNvSpPr txBox="1"/>
          <p:nvPr/>
        </p:nvSpPr>
        <p:spPr>
          <a:xfrm>
            <a:off x="2240280" y="1984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hash map</a:t>
            </a:r>
            <a:endParaRPr lang="en-US" sz="1400" dirty="0"/>
          </a:p>
        </p:txBody>
      </p:sp>
      <p:sp>
        <p:nvSpPr>
          <p:cNvPr id="7" name="anim01_click_row"/>
          <p:cNvSpPr txBox="1"/>
          <p:nvPr/>
        </p:nvSpPr>
        <p:spPr>
          <a:xfrm>
            <a:off x="2240280" y="2286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item, scan the rest of the list for its partner. A loop inside a loop.</a:t>
            </a:r>
            <a:endParaRPr lang="en-US" sz="1200" dirty="0"/>
          </a:p>
        </p:txBody>
      </p:sp>
      <p:sp>
        <p:nvSpPr>
          <p:cNvPr id="8" name="anim02_click_row"/>
          <p:cNvSpPr/>
          <p:nvPr/>
        </p:nvSpPr>
        <p:spPr>
          <a:xfrm>
            <a:off x="731520" y="3035808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9" name="anim02_click_row"/>
          <p:cNvSpPr txBox="1"/>
          <p:nvPr/>
        </p:nvSpPr>
        <p:spPr>
          <a:xfrm>
            <a:off x="960120" y="3035808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600" dirty="0"/>
          </a:p>
        </p:txBody>
      </p:sp>
      <p:sp>
        <p:nvSpPr>
          <p:cNvPr id="10" name="anim02_click_row"/>
          <p:cNvSpPr txBox="1"/>
          <p:nvPr/>
        </p:nvSpPr>
        <p:spPr>
          <a:xfrm>
            <a:off x="2240280" y="3191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hash map</a:t>
            </a:r>
            <a:endParaRPr lang="en-US" sz="1400" dirty="0"/>
          </a:p>
        </p:txBody>
      </p:sp>
      <p:sp>
        <p:nvSpPr>
          <p:cNvPr id="11" name="anim02_click_row"/>
          <p:cNvSpPr txBox="1"/>
          <p:nvPr/>
        </p:nvSpPr>
        <p:spPr>
          <a:xfrm>
            <a:off x="2240280" y="34930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pass. Store each item as you go and check the dict instead of rescanning.</a:t>
            </a:r>
            <a:endParaRPr lang="en-US" sz="1200" dirty="0"/>
          </a:p>
        </p:txBody>
      </p:sp>
      <p:sp>
        <p:nvSpPr>
          <p:cNvPr id="12" name="anim03_click_row"/>
          <p:cNvSpPr/>
          <p:nvPr/>
        </p:nvSpPr>
        <p:spPr>
          <a:xfrm>
            <a:off x="731520" y="4242816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3" name="anim03_click_row"/>
          <p:cNvSpPr txBox="1"/>
          <p:nvPr/>
        </p:nvSpPr>
        <p:spPr>
          <a:xfrm>
            <a:off x="960120" y="4242816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+O(n)</a:t>
            </a:r>
            <a:endParaRPr lang="en-US" sz="1600" dirty="0"/>
          </a:p>
        </p:txBody>
      </p:sp>
      <p:sp>
        <p:nvSpPr>
          <p:cNvPr id="14" name="anim03_click_row"/>
          <p:cNvSpPr txBox="1"/>
          <p:nvPr/>
        </p:nvSpPr>
        <p:spPr>
          <a:xfrm>
            <a:off x="2240280" y="4398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costs</a:t>
            </a:r>
            <a:endParaRPr lang="en-US" sz="1400" dirty="0"/>
          </a:p>
        </p:txBody>
      </p:sp>
      <p:sp>
        <p:nvSpPr>
          <p:cNvPr id="15" name="anim03_click_row"/>
          <p:cNvSpPr txBox="1"/>
          <p:nvPr/>
        </p:nvSpPr>
        <p:spPr>
          <a:xfrm>
            <a:off x="2240280" y="470001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memory that grows with the input. Name that tradeoff out loud.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6355080" y="1828800"/>
            <a:ext cx="5102352" cy="3465576"/>
          </a:xfrm>
          <a:prstGeom prst="roundRect">
            <a:avLst>
              <a:gd name="adj" fmla="val 1583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graphicFrame>
        <p:nvGraphicFramePr>
          <p:cNvPr id="17" name="chart" descr=""/>
          <p:cNvGraphicFramePr/>
          <p:nvPr/>
        </p:nvGraphicFramePr>
        <p:xfrm>
          <a:off x="6492240" y="1920240"/>
          <a:ext cx="4828032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spot a hash map problem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13716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prompt sounds like one of these, reach for a dict first.</a:t>
            </a:r>
            <a:endParaRPr lang="en-US" sz="1300" dirty="0"/>
          </a:p>
        </p:txBody>
      </p:sp>
      <p:sp>
        <p:nvSpPr>
          <p:cNvPr id="4" name="anim01_click_sig"/>
          <p:cNvSpPr/>
          <p:nvPr/>
        </p:nvSpPr>
        <p:spPr>
          <a:xfrm>
            <a:off x="731520" y="182880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anim01_click_sig"/>
          <p:cNvSpPr/>
          <p:nvPr/>
        </p:nvSpPr>
        <p:spPr>
          <a:xfrm>
            <a:off x="1005840" y="2103120"/>
            <a:ext cx="347472" cy="347472"/>
          </a:xfrm>
          <a:prstGeom prst="ellipse">
            <a:avLst/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6" name="anim01_click_sig"/>
          <p:cNvSpPr txBox="1"/>
          <p:nvPr/>
        </p:nvSpPr>
        <p:spPr>
          <a:xfrm>
            <a:off x="1005840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anim01_click_sig"/>
          <p:cNvSpPr txBox="1"/>
          <p:nvPr/>
        </p:nvSpPr>
        <p:spPr>
          <a:xfrm>
            <a:off x="1554480" y="2103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partner or complement</a:t>
            </a:r>
            <a:endParaRPr lang="en-US" sz="1500" dirty="0"/>
          </a:p>
        </p:txBody>
      </p:sp>
      <p:sp>
        <p:nvSpPr>
          <p:cNvPr id="8" name="anim01_click_sig"/>
          <p:cNvSpPr txBox="1"/>
          <p:nvPr/>
        </p:nvSpPr>
        <p:spPr>
          <a:xfrm>
            <a:off x="1554480" y="248716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value I need already exist?</a:t>
            </a:r>
            <a:endParaRPr lang="en-US" sz="1250" dirty="0"/>
          </a:p>
        </p:txBody>
      </p:sp>
      <p:sp>
        <p:nvSpPr>
          <p:cNvPr id="9" name="anim01_click_sig"/>
          <p:cNvSpPr txBox="1"/>
          <p:nvPr/>
        </p:nvSpPr>
        <p:spPr>
          <a:xfrm>
            <a:off x="1554480" y="288036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target - num in seen:</a:t>
            </a:r>
            <a:endParaRPr lang="en-US" sz="1250" dirty="0"/>
          </a:p>
        </p:txBody>
      </p:sp>
      <p:sp>
        <p:nvSpPr>
          <p:cNvPr id="10" name="anim02_click_sig"/>
          <p:cNvSpPr/>
          <p:nvPr/>
        </p:nvSpPr>
        <p:spPr>
          <a:xfrm>
            <a:off x="6199632" y="182880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1" name="anim02_click_sig"/>
          <p:cNvSpPr/>
          <p:nvPr/>
        </p:nvSpPr>
        <p:spPr>
          <a:xfrm>
            <a:off x="6473952" y="2103120"/>
            <a:ext cx="347472" cy="347472"/>
          </a:xfrm>
          <a:prstGeom prst="ellipse">
            <a:avLst/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12" name="anim02_click_sig"/>
          <p:cNvSpPr txBox="1"/>
          <p:nvPr/>
        </p:nvSpPr>
        <p:spPr>
          <a:xfrm>
            <a:off x="6473952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anim02_click_sig"/>
          <p:cNvSpPr txBox="1"/>
          <p:nvPr/>
        </p:nvSpPr>
        <p:spPr>
          <a:xfrm>
            <a:off x="7022592" y="2103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how often things appear</a:t>
            </a:r>
            <a:endParaRPr lang="en-US" sz="1500" dirty="0"/>
          </a:p>
        </p:txBody>
      </p:sp>
      <p:sp>
        <p:nvSpPr>
          <p:cNvPr id="14" name="anim02_click_sig"/>
          <p:cNvSpPr txBox="1"/>
          <p:nvPr/>
        </p:nvSpPr>
        <p:spPr>
          <a:xfrm>
            <a:off x="7022592" y="248716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every value, then read off the answer.</a:t>
            </a:r>
            <a:endParaRPr lang="en-US" sz="1250" dirty="0"/>
          </a:p>
        </p:txBody>
      </p:sp>
      <p:sp>
        <p:nvSpPr>
          <p:cNvPr id="15" name="anim02_click_sig"/>
          <p:cNvSpPr txBox="1"/>
          <p:nvPr/>
        </p:nvSpPr>
        <p:spPr>
          <a:xfrm>
            <a:off x="7022592" y="288036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counts[x] = counts.get(x, 0) + 1</a:t>
            </a:r>
            <a:endParaRPr lang="en-US" sz="1250" dirty="0"/>
          </a:p>
        </p:txBody>
      </p:sp>
      <p:sp>
        <p:nvSpPr>
          <p:cNvPr id="16" name="anim03_click_sig"/>
          <p:cNvSpPr/>
          <p:nvPr/>
        </p:nvSpPr>
        <p:spPr>
          <a:xfrm>
            <a:off x="731520" y="361188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7" name="anim03_click_sig"/>
          <p:cNvSpPr/>
          <p:nvPr/>
        </p:nvSpPr>
        <p:spPr>
          <a:xfrm>
            <a:off x="1005840" y="3886200"/>
            <a:ext cx="347472" cy="347472"/>
          </a:xfrm>
          <a:prstGeom prst="ellipse">
            <a:avLst/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18" name="anim03_click_sig"/>
          <p:cNvSpPr txBox="1"/>
          <p:nvPr/>
        </p:nvSpPr>
        <p:spPr>
          <a:xfrm>
            <a:off x="1005840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anim03_click_sig"/>
          <p:cNvSpPr txBox="1"/>
          <p:nvPr/>
        </p:nvSpPr>
        <p:spPr>
          <a:xfrm>
            <a:off x="1554480" y="38862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one thing to another</a:t>
            </a:r>
            <a:endParaRPr lang="en-US" sz="1500" dirty="0"/>
          </a:p>
        </p:txBody>
      </p:sp>
      <p:sp>
        <p:nvSpPr>
          <p:cNvPr id="20" name="anim03_click_sig"/>
          <p:cNvSpPr txBox="1"/>
          <p:nvPr/>
        </p:nvSpPr>
        <p:spPr>
          <a:xfrm>
            <a:off x="1554480" y="427024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what each item stands for.</a:t>
            </a:r>
            <a:endParaRPr lang="en-US" sz="1250" dirty="0"/>
          </a:p>
        </p:txBody>
      </p:sp>
      <p:sp>
        <p:nvSpPr>
          <p:cNvPr id="21" name="anim03_click_sig"/>
          <p:cNvSpPr txBox="1"/>
          <p:nvPr/>
        </p:nvSpPr>
        <p:spPr>
          <a:xfrm>
            <a:off x="1554480" y="46634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s_to_t[ch] = other</a:t>
            </a:r>
            <a:endParaRPr lang="en-US" sz="1250" dirty="0"/>
          </a:p>
        </p:txBody>
      </p:sp>
      <p:sp>
        <p:nvSpPr>
          <p:cNvPr id="22" name="anim04_click_sig"/>
          <p:cNvSpPr/>
          <p:nvPr/>
        </p:nvSpPr>
        <p:spPr>
          <a:xfrm>
            <a:off x="6199632" y="361188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3" name="anim04_click_sig"/>
          <p:cNvSpPr/>
          <p:nvPr/>
        </p:nvSpPr>
        <p:spPr>
          <a:xfrm>
            <a:off x="6473952" y="3886200"/>
            <a:ext cx="347472" cy="347472"/>
          </a:xfrm>
          <a:prstGeom prst="ellipse">
            <a:avLst/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24" name="anim04_click_sig"/>
          <p:cNvSpPr txBox="1"/>
          <p:nvPr/>
        </p:nvSpPr>
        <p:spPr>
          <a:xfrm>
            <a:off x="6473952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anim04_click_sig"/>
          <p:cNvSpPr txBox="1"/>
          <p:nvPr/>
        </p:nvSpPr>
        <p:spPr>
          <a:xfrm>
            <a:off x="7022592" y="38862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I seen this before?</a:t>
            </a:r>
            <a:endParaRPr lang="en-US" sz="1500" dirty="0"/>
          </a:p>
        </p:txBody>
      </p:sp>
      <p:sp>
        <p:nvSpPr>
          <p:cNvPr id="26" name="anim04_click_sig"/>
          <p:cNvSpPr txBox="1"/>
          <p:nvPr/>
        </p:nvSpPr>
        <p:spPr>
          <a:xfrm>
            <a:off x="7022592" y="427024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Duplicates, repeated sums, visited states.</a:t>
            </a:r>
            <a:endParaRPr lang="en-US" sz="1250" dirty="0"/>
          </a:p>
        </p:txBody>
      </p:sp>
      <p:sp>
        <p:nvSpPr>
          <p:cNvPr id="27" name="anim04_click_sig"/>
          <p:cNvSpPr txBox="1"/>
          <p:nvPr/>
        </p:nvSpPr>
        <p:spPr>
          <a:xfrm>
            <a:off x="7022592" y="46634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total in sums:</a:t>
            </a:r>
            <a:endParaRPr lang="en-US" sz="1250" dirty="0"/>
          </a:p>
        </p:txBody>
      </p:sp>
      <p:sp>
        <p:nvSpPr>
          <p:cNvPr id="28" name="anim05_click_foot"/>
          <p:cNvSpPr txBox="1"/>
          <p:nvPr/>
        </p:nvSpPr>
        <p:spPr>
          <a:xfrm>
            <a:off x="731520" y="55595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four worked examples use all four: Most Frequent Element counts, Isomorphic Strings maps, 3 Sum finds partners, and Equal Pair Sums remembers sums.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Most Frequent Element – Edugator 4.6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731520" y="1572768"/>
            <a:ext cx="5367528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83080"/>
            <a:ext cx="4818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121408"/>
            <a:ext cx="4818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array arr, return the element that appears most often. If several tie for the most, return any one of them.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907792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['a', 'b', 'a', 'c', 'b', 'a']  returns  'a'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00400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3, 2, 1, 4, 1, 3, 3]  returns  1 or 3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3611880"/>
            <a:ext cx="4818888" cy="914400"/>
          </a:xfrm>
          <a:prstGeom prst="roundRect">
            <a:avLst>
              <a:gd name="adj" fmla="val 5000"/>
            </a:avLst>
          </a:prstGeom>
          <a:solidFill>
            <a:srgbClr val="FFF1EB"/>
          </a:solidFill>
          <a:ln w="9525">
            <a:solidFill>
              <a:srgbClr val="FFD5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361188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pPr indent="0" marL="0">
              <a:buNone/>
            </a:pPr>
            <a:r>
              <a:rPr lang="en-US" sz="1250" dirty="0">
                <a:solidFill>
                  <a:srgbClr val="B3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'a' appears 3 times. In the second list 1 and 3 both appear 3 times, so either one is accepted.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681728"/>
            <a:ext cx="4818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holds between 1 and 1,000 elements, so it is never empty.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Most Frequent Element – Edugator 4.6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731520" y="1572768"/>
            <a:ext cx="5367528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83080"/>
            <a:ext cx="4818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121408"/>
            <a:ext cx="4818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array arr, return the element that appears most often. If several tie for the most, return any one of them.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907792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['a', 'b', 'a', 'c', 'b', 'a']  returns  'a'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00400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3, 2, 1, 4, 1, 3, 3]  returns  1 or 3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3611880"/>
            <a:ext cx="4818888" cy="914400"/>
          </a:xfrm>
          <a:prstGeom prst="roundRect">
            <a:avLst>
              <a:gd name="adj" fmla="val 5000"/>
            </a:avLst>
          </a:prstGeom>
          <a:solidFill>
            <a:srgbClr val="FFF1EB"/>
          </a:solidFill>
          <a:ln w="9525">
            <a:solidFill>
              <a:srgbClr val="FFD5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361188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pPr indent="0" marL="0">
              <a:buNone/>
            </a:pPr>
            <a:r>
              <a:rPr lang="en-US" sz="1250" dirty="0">
                <a:solidFill>
                  <a:srgbClr val="B3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'a' appears 3 times. In the second list 1 and 3 both appear 3 times, so either one is accepted.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681728"/>
            <a:ext cx="4818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holds between 1 and 1,000 elements, so it is never empty.</a:t>
            </a:r>
            <a:endParaRPr lang="en-US" sz="1200" dirty="0"/>
          </a:p>
        </p:txBody>
      </p:sp>
      <p:sp>
        <p:nvSpPr>
          <p:cNvPr id="12" name="anim01_click_timer"/>
          <p:cNvSpPr/>
          <p:nvPr/>
        </p:nvSpPr>
        <p:spPr>
          <a:xfrm>
            <a:off x="6373368" y="1572768"/>
            <a:ext cx="5084064" cy="1554480"/>
          </a:xfrm>
          <a:prstGeom prst="roundRect">
            <a:avLst>
              <a:gd name="adj" fmla="val 3529"/>
            </a:avLst>
          </a:prstGeom>
          <a:solidFill>
            <a:srgbClr val="1B1E33"/>
          </a:solidFill>
          <a:ln w="9525">
            <a:solidFill>
              <a:srgbClr val="1B1E33"/>
            </a:solidFill>
            <a:prstDash val="solid"/>
          </a:ln>
        </p:spPr>
      </p:sp>
      <p:sp>
        <p:nvSpPr>
          <p:cNvPr id="13" name="anim01_click_timer"/>
          <p:cNvSpPr txBox="1"/>
          <p:nvPr/>
        </p:nvSpPr>
        <p:spPr>
          <a:xfrm>
            <a:off x="6629400" y="1572768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5 minutes to complete this.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feel free to work in pairs or small groups (3 to 4).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Most Frequent Element – Edugator 4.6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731520" y="1572768"/>
            <a:ext cx="5367528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83080"/>
            <a:ext cx="4818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121408"/>
            <a:ext cx="4818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array arr, return the element that appears most often. If several tie for the most, return any one of them.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907792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['a', 'b', 'a', 'c', 'b', 'a']  returns  'a'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00400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3, 2, 1, 4, 1, 3, 3]  returns  1 or 3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3611880"/>
            <a:ext cx="4818888" cy="914400"/>
          </a:xfrm>
          <a:prstGeom prst="roundRect">
            <a:avLst>
              <a:gd name="adj" fmla="val 5000"/>
            </a:avLst>
          </a:prstGeom>
          <a:solidFill>
            <a:srgbClr val="FFF1EB"/>
          </a:solidFill>
          <a:ln w="9525">
            <a:solidFill>
              <a:srgbClr val="FFD5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361188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pPr indent="0" marL="0">
              <a:buNone/>
            </a:pPr>
            <a:r>
              <a:rPr lang="en-US" sz="1250" dirty="0">
                <a:solidFill>
                  <a:srgbClr val="B3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'a' appears 3 times. In the second list 1 and 3 both appear 3 times, so either one is accepted.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681728"/>
            <a:ext cx="4818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holds between 1 and 1,000 elements, so it is never empty.</a:t>
            </a:r>
            <a:endParaRPr lang="en-US" sz="1200" dirty="0"/>
          </a:p>
        </p:txBody>
      </p:sp>
      <p:sp>
        <p:nvSpPr>
          <p:cNvPr id="12" name="anim01_click_code"/>
          <p:cNvSpPr/>
          <p:nvPr/>
        </p:nvSpPr>
        <p:spPr>
          <a:xfrm>
            <a:off x="6217920" y="1572768"/>
            <a:ext cx="5239512" cy="2529840"/>
          </a:xfrm>
          <a:prstGeom prst="roundRect">
            <a:avLst>
              <a:gd name="adj" fmla="val 2169"/>
            </a:avLst>
          </a:prstGeom>
          <a:solidFill>
            <a:srgbClr val="1B1E33"/>
          </a:solidFill>
          <a:ln w="9525">
            <a:solidFill>
              <a:srgbClr val="1B1E33"/>
            </a:solidFill>
            <a:prstDash val="solid"/>
          </a:ln>
        </p:spPr>
      </p:sp>
      <p:sp>
        <p:nvSpPr>
          <p:cNvPr id="13" name="anim01_click_code"/>
          <p:cNvSpPr txBox="1"/>
          <p:nvPr/>
        </p:nvSpPr>
        <p:spPr>
          <a:xfrm>
            <a:off x="6419088" y="1664208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4" name="anim01_click_code"/>
          <p:cNvSpPr txBox="1"/>
          <p:nvPr/>
        </p:nvSpPr>
        <p:spPr>
          <a:xfrm>
            <a:off x="6419088" y="1920240"/>
            <a:ext cx="4837176" cy="205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most_frequent_element(arr):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frequencies = {}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element in arr: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element in frequencies: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frequencies[element] += 1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frequencies[element] = 1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max(frequencies, key=frequencies.get)</a:t>
            </a:r>
            <a:endParaRPr lang="en-US" sz="1250" dirty="0"/>
          </a:p>
        </p:txBody>
      </p:sp>
      <p:sp>
        <p:nvSpPr>
          <p:cNvPr id="15" name="anim02_click_cx"/>
          <p:cNvSpPr/>
          <p:nvPr/>
        </p:nvSpPr>
        <p:spPr>
          <a:xfrm>
            <a:off x="6217920" y="4221480"/>
            <a:ext cx="523951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6" name="anim02_click_cx"/>
          <p:cNvSpPr txBox="1"/>
          <p:nvPr/>
        </p:nvSpPr>
        <p:spPr>
          <a:xfrm>
            <a:off x="6492240" y="4221480"/>
            <a:ext cx="4690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O(n)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one pass to count, one pass over the counts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 O(k)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one entry per distinct element</a:t>
            </a:r>
            <a:endParaRPr lang="en-US" sz="1150" dirty="0"/>
          </a:p>
        </p:txBody>
      </p:sp>
      <p:sp>
        <p:nvSpPr>
          <p:cNvPr id="17" name="anim03_click_extra"/>
          <p:cNvSpPr/>
          <p:nvPr/>
        </p:nvSpPr>
        <p:spPr>
          <a:xfrm>
            <a:off x="6217920" y="5026152"/>
            <a:ext cx="523951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8" name="anim03_click_extra"/>
          <p:cNvSpPr txBox="1"/>
          <p:nvPr/>
        </p:nvSpPr>
        <p:spPr>
          <a:xfrm>
            <a:off x="6492240" y="5026152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Counter(arr).most_common(1)</a:t>
            </a:r>
            <a:pPr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also works. Counter is a dict underneath.</a:t>
            </a:r>
            <a:endParaRPr lang="en-US" sz="1150" dirty="0"/>
          </a:p>
        </p:txBody>
      </p:sp>
      <p:sp>
        <p:nvSpPr>
          <p:cNvPr id="19" name="anim04_click_bottom"/>
          <p:cNvSpPr/>
          <p:nvPr/>
        </p:nvSpPr>
        <p:spPr>
          <a:xfrm>
            <a:off x="731520" y="5602224"/>
            <a:ext cx="1072591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20" name="anim04_click_bottom"/>
          <p:cNvSpPr txBox="1"/>
          <p:nvPr/>
        </p:nvSpPr>
        <p:spPr>
          <a:xfrm>
            <a:off x="1005840" y="5602224"/>
            <a:ext cx="10177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bug:  </a:t>
            </a:r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arr.count(x) inside a loop. It looks like one line, but it rescans the whole list every time, which is O(n²).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Isomorphic Strings – Edugator 4.2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731520" y="1572768"/>
            <a:ext cx="5367528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83080"/>
            <a:ext cx="4818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121408"/>
            <a:ext cx="4818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True if s and t are isomorphic: each character in s swaps for one character in t, the same way every time, and no two characters share a swap.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907792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"egg", t = "add"  returns  True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00400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"foo", t = "bar"  returns  False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3611880"/>
            <a:ext cx="4818888" cy="914400"/>
          </a:xfrm>
          <a:prstGeom prst="roundRect">
            <a:avLst>
              <a:gd name="adj" fmla="val 5000"/>
            </a:avLst>
          </a:prstGeom>
          <a:solidFill>
            <a:srgbClr val="FFF1EB"/>
          </a:solidFill>
          <a:ln w="9525">
            <a:solidFill>
              <a:srgbClr val="FFD5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361188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pPr indent="0" marL="0">
              <a:buNone/>
            </a:pPr>
            <a:r>
              <a:rPr lang="en-US" sz="1250" dirty="0">
                <a:solidFill>
                  <a:srgbClr val="B3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maps to a and g maps to d, every time. In foo, o would have to map to both a and r.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681728"/>
            <a:ext cx="4818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strings have the same length, up to 5,000 characters, and can hold any ASCII character.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Isomorphic Strings – Edugator 4.2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731520" y="1572768"/>
            <a:ext cx="5367528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83080"/>
            <a:ext cx="4818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121408"/>
            <a:ext cx="4818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True if s and t are isomorphic: each character in s swaps for one character in t, the same way every time, and no two characters share a swap.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907792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"egg", t = "add"  returns  True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00400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"foo", t = "bar"  returns  False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3611880"/>
            <a:ext cx="4818888" cy="914400"/>
          </a:xfrm>
          <a:prstGeom prst="roundRect">
            <a:avLst>
              <a:gd name="adj" fmla="val 5000"/>
            </a:avLst>
          </a:prstGeom>
          <a:solidFill>
            <a:srgbClr val="FFF1EB"/>
          </a:solidFill>
          <a:ln w="9525">
            <a:solidFill>
              <a:srgbClr val="FFD5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361188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pPr indent="0" marL="0">
              <a:buNone/>
            </a:pPr>
            <a:r>
              <a:rPr lang="en-US" sz="1250" dirty="0">
                <a:solidFill>
                  <a:srgbClr val="B3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maps to a and g maps to d, every time. In foo, o would have to map to both a and r.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681728"/>
            <a:ext cx="4818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strings have the same length, up to 5,000 characters, and can hold any ASCII character.</a:t>
            </a:r>
            <a:endParaRPr lang="en-US" sz="1200" dirty="0"/>
          </a:p>
        </p:txBody>
      </p:sp>
      <p:sp>
        <p:nvSpPr>
          <p:cNvPr id="12" name="anim01_click_timer"/>
          <p:cNvSpPr/>
          <p:nvPr/>
        </p:nvSpPr>
        <p:spPr>
          <a:xfrm>
            <a:off x="6373368" y="1572768"/>
            <a:ext cx="5084064" cy="1554480"/>
          </a:xfrm>
          <a:prstGeom prst="roundRect">
            <a:avLst>
              <a:gd name="adj" fmla="val 3529"/>
            </a:avLst>
          </a:prstGeom>
          <a:solidFill>
            <a:srgbClr val="1B1E33"/>
          </a:solidFill>
          <a:ln w="9525">
            <a:solidFill>
              <a:srgbClr val="1B1E33"/>
            </a:solidFill>
            <a:prstDash val="solid"/>
          </a:ln>
        </p:spPr>
      </p:sp>
      <p:sp>
        <p:nvSpPr>
          <p:cNvPr id="13" name="anim01_click_timer"/>
          <p:cNvSpPr txBox="1"/>
          <p:nvPr/>
        </p:nvSpPr>
        <p:spPr>
          <a:xfrm>
            <a:off x="6629400" y="1572768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5 minutes to complete this.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feel free to work in pairs or small groups (3 to 4).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Isomorphic Strings – Edugator 4.2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731520" y="1572768"/>
            <a:ext cx="5367528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83080"/>
            <a:ext cx="4818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121408"/>
            <a:ext cx="4818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True if s and t are isomorphic: each character in s swaps for one character in t, the same way every time, and no two characters share a swap.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907792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"egg", t = "add"  returns  True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00400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"foo", t = "bar"  returns  False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3611880"/>
            <a:ext cx="4818888" cy="914400"/>
          </a:xfrm>
          <a:prstGeom prst="roundRect">
            <a:avLst>
              <a:gd name="adj" fmla="val 5000"/>
            </a:avLst>
          </a:prstGeom>
          <a:solidFill>
            <a:srgbClr val="FFF1EB"/>
          </a:solidFill>
          <a:ln w="9525">
            <a:solidFill>
              <a:srgbClr val="FFD5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361188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pPr indent="0" marL="0">
              <a:buNone/>
            </a:pPr>
            <a:r>
              <a:rPr lang="en-US" sz="1250" dirty="0">
                <a:solidFill>
                  <a:srgbClr val="B3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maps to a and g maps to d, every time. In foo, o would have to map to both a and r.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681728"/>
            <a:ext cx="4818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strings have the same length, up to 5,000 characters, and can hold any ASCII character.</a:t>
            </a:r>
            <a:endParaRPr lang="en-US" sz="1200" dirty="0"/>
          </a:p>
        </p:txBody>
      </p:sp>
      <p:sp>
        <p:nvSpPr>
          <p:cNvPr id="12" name="anim01_click_code"/>
          <p:cNvSpPr/>
          <p:nvPr/>
        </p:nvSpPr>
        <p:spPr>
          <a:xfrm>
            <a:off x="6217920" y="1572768"/>
            <a:ext cx="5239512" cy="3124200"/>
          </a:xfrm>
          <a:prstGeom prst="roundRect">
            <a:avLst>
              <a:gd name="adj" fmla="val 1756"/>
            </a:avLst>
          </a:prstGeom>
          <a:solidFill>
            <a:srgbClr val="1B1E33"/>
          </a:solidFill>
          <a:ln w="9525">
            <a:solidFill>
              <a:srgbClr val="1B1E33"/>
            </a:solidFill>
            <a:prstDash val="solid"/>
          </a:ln>
        </p:spPr>
      </p:sp>
      <p:sp>
        <p:nvSpPr>
          <p:cNvPr id="13" name="anim01_click_code"/>
          <p:cNvSpPr txBox="1"/>
          <p:nvPr/>
        </p:nvSpPr>
        <p:spPr>
          <a:xfrm>
            <a:off x="6419088" y="1664208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4" name="anim01_click_code"/>
          <p:cNvSpPr txBox="1"/>
          <p:nvPr/>
        </p:nvSpPr>
        <p:spPr>
          <a:xfrm>
            <a:off x="6419088" y="1920240"/>
            <a:ext cx="4837176" cy="2648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is_isomorphic(s, t):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s_to_t, t_to_s = {}, {}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a, b in zip(s, t):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s_to_t.get(a, b) != b: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False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t_to_s.get(b, a) != a: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False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s_to_t[a] = b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t_to_s[b] = 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True</a:t>
            </a:r>
            <a:endParaRPr lang="en-US" sz="1300" dirty="0"/>
          </a:p>
        </p:txBody>
      </p:sp>
      <p:sp>
        <p:nvSpPr>
          <p:cNvPr id="15" name="anim02_click_cx"/>
          <p:cNvSpPr/>
          <p:nvPr/>
        </p:nvSpPr>
        <p:spPr>
          <a:xfrm>
            <a:off x="6217920" y="4815840"/>
            <a:ext cx="523951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6" name="anim02_click_cx"/>
          <p:cNvSpPr txBox="1"/>
          <p:nvPr/>
        </p:nvSpPr>
        <p:spPr>
          <a:xfrm>
            <a:off x="6492240" y="4815840"/>
            <a:ext cx="4690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O(n)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one pass over both strings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 O(k)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 distinct characters, at most 128 in ASCII</a:t>
            </a:r>
            <a:endParaRPr lang="en-US" sz="1150" dirty="0"/>
          </a:p>
        </p:txBody>
      </p:sp>
      <p:sp>
        <p:nvSpPr>
          <p:cNvPr id="17" name="anim03_click_bottom"/>
          <p:cNvSpPr/>
          <p:nvPr/>
        </p:nvSpPr>
        <p:spPr>
          <a:xfrm>
            <a:off x="731520" y="5486400"/>
            <a:ext cx="5367528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8" name="anim03_click_bottom"/>
          <p:cNvSpPr txBox="1"/>
          <p:nvPr/>
        </p:nvSpPr>
        <p:spPr>
          <a:xfrm>
            <a:off x="1005840" y="5486400"/>
            <a:ext cx="4818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bug:  </a:t>
            </a:r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only one direction. With one dict, "ab" and "aa" passes, because nothing stops a and b from both mapping to a.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3 Sum – Edugator 4.4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731520" y="1572768"/>
            <a:ext cx="5367528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83080"/>
            <a:ext cx="4818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121408"/>
            <a:ext cx="4818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array of integers nums, return every unique triplet [nums[i], nums[j], nums[k]], using three different indices, that sums to 0.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907792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[-1, 0, 1, 2, -1, -4]  returns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00400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[[-1, -1, 2], [-1, 0, 1]]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3611880"/>
            <a:ext cx="4818888" cy="914400"/>
          </a:xfrm>
          <a:prstGeom prst="roundRect">
            <a:avLst>
              <a:gd name="adj" fmla="val 5000"/>
            </a:avLst>
          </a:prstGeom>
          <a:solidFill>
            <a:srgbClr val="FFF1EB"/>
          </a:solidFill>
          <a:ln w="9525">
            <a:solidFill>
              <a:srgbClr val="FFD5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361188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pPr indent="0" marL="0">
              <a:buNone/>
            </a:pPr>
            <a:r>
              <a:rPr lang="en-US" sz="1250" dirty="0">
                <a:solidFill>
                  <a:srgbClr val="B3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triplets add up to 0, and each appears once even though -1 shows up twice. [0, 1, 1] returns [].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681728"/>
            <a:ext cx="4818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of the triplets does not matter, but no triplet may appear twice.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3 Sum – Edugator 4.4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731520" y="1572768"/>
            <a:ext cx="5367528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83080"/>
            <a:ext cx="4818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121408"/>
            <a:ext cx="4818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array of integers nums, return every unique triplet [nums[i], nums[j], nums[k]], using three different indices, that sums to 0.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907792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[-1, 0, 1, 2, -1, -4]  returns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00400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[[-1, -1, 2], [-1, 0, 1]]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3611880"/>
            <a:ext cx="4818888" cy="914400"/>
          </a:xfrm>
          <a:prstGeom prst="roundRect">
            <a:avLst>
              <a:gd name="adj" fmla="val 5000"/>
            </a:avLst>
          </a:prstGeom>
          <a:solidFill>
            <a:srgbClr val="FFF1EB"/>
          </a:solidFill>
          <a:ln w="9525">
            <a:solidFill>
              <a:srgbClr val="FFD5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361188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pPr indent="0" marL="0">
              <a:buNone/>
            </a:pPr>
            <a:r>
              <a:rPr lang="en-US" sz="1250" dirty="0">
                <a:solidFill>
                  <a:srgbClr val="B3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triplets add up to 0, and each appears once even though -1 shows up twice. [0, 1, 1] returns [].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681728"/>
            <a:ext cx="4818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of the triplets does not matter, but no triplet may appear twice.</a:t>
            </a:r>
            <a:endParaRPr lang="en-US" sz="1200" dirty="0"/>
          </a:p>
        </p:txBody>
      </p:sp>
      <p:sp>
        <p:nvSpPr>
          <p:cNvPr id="12" name="anim01_click_timer"/>
          <p:cNvSpPr/>
          <p:nvPr/>
        </p:nvSpPr>
        <p:spPr>
          <a:xfrm>
            <a:off x="6373368" y="1572768"/>
            <a:ext cx="5084064" cy="1554480"/>
          </a:xfrm>
          <a:prstGeom prst="roundRect">
            <a:avLst>
              <a:gd name="adj" fmla="val 3529"/>
            </a:avLst>
          </a:prstGeom>
          <a:solidFill>
            <a:srgbClr val="1B1E33"/>
          </a:solidFill>
          <a:ln w="9525">
            <a:solidFill>
              <a:srgbClr val="1B1E33"/>
            </a:solidFill>
            <a:prstDash val="solid"/>
          </a:ln>
        </p:spPr>
      </p:sp>
      <p:sp>
        <p:nvSpPr>
          <p:cNvPr id="13" name="anim01_click_timer"/>
          <p:cNvSpPr txBox="1"/>
          <p:nvPr/>
        </p:nvSpPr>
        <p:spPr>
          <a:xfrm>
            <a:off x="6629400" y="1572768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5 minutes to complete this.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feel free to work in pairs or small groups (3 to 4).</a:t>
            </a:r>
            <a:endParaRPr lang="en-US" sz="1700" dirty="0"/>
          </a:p>
        </p:txBody>
      </p:sp>
      <p:sp>
        <p:nvSpPr>
          <p:cNvPr id="14" name="anim02_click_hint"/>
          <p:cNvSpPr/>
          <p:nvPr/>
        </p:nvSpPr>
        <p:spPr>
          <a:xfrm>
            <a:off x="6373368" y="3291840"/>
            <a:ext cx="508406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5" name="anim02_click_hint"/>
          <p:cNvSpPr txBox="1"/>
          <p:nvPr/>
        </p:nvSpPr>
        <p:spPr>
          <a:xfrm>
            <a:off x="6629400" y="32918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first. Then fix one number and run Two Sum on everything after it, looking for a pair that adds to -nums[i].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3 Sum – Edugator 4.4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731520" y="1572768"/>
            <a:ext cx="5367528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83080"/>
            <a:ext cx="4818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121408"/>
            <a:ext cx="4818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array of integers nums, return every unique triplet [nums[i], nums[j], nums[k]], using three different indices, that sums to 0.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907792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[-1, 0, 1, 2, -1, -4]  returns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00400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[[-1, -1, 2], [-1, 0, 1]]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3611880"/>
            <a:ext cx="4818888" cy="914400"/>
          </a:xfrm>
          <a:prstGeom prst="roundRect">
            <a:avLst>
              <a:gd name="adj" fmla="val 5000"/>
            </a:avLst>
          </a:prstGeom>
          <a:solidFill>
            <a:srgbClr val="FFF1EB"/>
          </a:solidFill>
          <a:ln w="9525">
            <a:solidFill>
              <a:srgbClr val="FFD5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361188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pPr indent="0" marL="0">
              <a:buNone/>
            </a:pPr>
            <a:r>
              <a:rPr lang="en-US" sz="1250" dirty="0">
                <a:solidFill>
                  <a:srgbClr val="B3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triplets add up to 0, and each appears once even though -1 shows up twice. [0, 1, 1] returns [].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681728"/>
            <a:ext cx="4818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of the triplets does not matter, but no triplet may appear twice.</a:t>
            </a:r>
            <a:endParaRPr lang="en-US" sz="1200" dirty="0"/>
          </a:p>
        </p:txBody>
      </p:sp>
      <p:sp>
        <p:nvSpPr>
          <p:cNvPr id="12" name="anim01_click_code"/>
          <p:cNvSpPr/>
          <p:nvPr/>
        </p:nvSpPr>
        <p:spPr>
          <a:xfrm>
            <a:off x="6217920" y="1572768"/>
            <a:ext cx="5239512" cy="3282696"/>
          </a:xfrm>
          <a:prstGeom prst="roundRect">
            <a:avLst>
              <a:gd name="adj" fmla="val 1671"/>
            </a:avLst>
          </a:prstGeom>
          <a:solidFill>
            <a:srgbClr val="1B1E33"/>
          </a:solidFill>
          <a:ln w="9525">
            <a:solidFill>
              <a:srgbClr val="1B1E33"/>
            </a:solidFill>
            <a:prstDash val="solid"/>
          </a:ln>
        </p:spPr>
      </p:sp>
      <p:sp>
        <p:nvSpPr>
          <p:cNvPr id="13" name="anim01_click_code"/>
          <p:cNvSpPr txBox="1"/>
          <p:nvPr/>
        </p:nvSpPr>
        <p:spPr>
          <a:xfrm>
            <a:off x="6419088" y="1664208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4" name="anim01_click_code"/>
          <p:cNvSpPr txBox="1"/>
          <p:nvPr/>
        </p:nvSpPr>
        <p:spPr>
          <a:xfrm>
            <a:off x="6419088" y="1920240"/>
            <a:ext cx="4837176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three_sum(nums):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nums.sort()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set()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range(len(nums) - 2):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 &gt; 0 and nums[i] == nums[i - 1]: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    # same anchor as before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seen = set()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x in nums[i + 1:]: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need = -nums[i] - x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need in seen: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result.add((nums[i], need, x))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seen.add(x)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sorted(list(t) for t in result)</a:t>
            </a:r>
            <a:endParaRPr lang="en-US" sz="1200" dirty="0"/>
          </a:p>
        </p:txBody>
      </p:sp>
      <p:sp>
        <p:nvSpPr>
          <p:cNvPr id="15" name="anim02_click_cx"/>
          <p:cNvSpPr/>
          <p:nvPr/>
        </p:nvSpPr>
        <p:spPr>
          <a:xfrm>
            <a:off x="6217920" y="4974336"/>
            <a:ext cx="523951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6" name="anim02_click_cx"/>
          <p:cNvSpPr txBox="1"/>
          <p:nvPr/>
        </p:nvSpPr>
        <p:spPr>
          <a:xfrm>
            <a:off x="6492240" y="4974336"/>
            <a:ext cx="4690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O(n²)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each anchor runs a one-pass Two Sum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 O(n)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seen set and the results</a:t>
            </a:r>
            <a:endParaRPr lang="en-US" sz="1150" dirty="0"/>
          </a:p>
        </p:txBody>
      </p:sp>
      <p:sp>
        <p:nvSpPr>
          <p:cNvPr id="17" name="anim03_click_bottom"/>
          <p:cNvSpPr/>
          <p:nvPr/>
        </p:nvSpPr>
        <p:spPr>
          <a:xfrm>
            <a:off x="731520" y="5486400"/>
            <a:ext cx="5367528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8" name="anim03_click_bottom"/>
          <p:cNvSpPr txBox="1"/>
          <p:nvPr/>
        </p:nvSpPr>
        <p:spPr>
          <a:xfrm>
            <a:off x="1005840" y="5486400"/>
            <a:ext cx="4818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bug:  </a:t>
            </a:r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dedupe. Without the set of tuples, [-1, 0, 1] comes out twice, once for each -1.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Equal Pair Sums – Edugator 4.7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731520" y="1572768"/>
            <a:ext cx="5367528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83080"/>
            <a:ext cx="4818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121408"/>
            <a:ext cx="4818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nums, return True if two different index pairs (i, j) and (k, l) have the same sum, where i, j, k, and l are all different.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907792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3, 4, 5]  returns  True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00400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3, 6]  returns  False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3611880"/>
            <a:ext cx="4818888" cy="914400"/>
          </a:xfrm>
          <a:prstGeom prst="roundRect">
            <a:avLst>
              <a:gd name="adj" fmla="val 5000"/>
            </a:avLst>
          </a:prstGeom>
          <a:solidFill>
            <a:srgbClr val="FFF1EB"/>
          </a:solidFill>
          <a:ln w="9525">
            <a:solidFill>
              <a:srgbClr val="FFD5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361188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pPr indent="0" marL="0">
              <a:buNone/>
            </a:pPr>
            <a:r>
              <a:rPr lang="en-US" sz="1250" dirty="0">
                <a:solidFill>
                  <a:srgbClr val="B3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4) and (1, 3) both sum to 6. In [1, 2, 3, 6] no two pairs match, and [1, 2, 3] has too few indices.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681728"/>
            <a:ext cx="4818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Edugator: Equal Sums of Distinct Index Pairs. At most 20 numbers, each between -10³ and 10³.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Equal Pair Sums – Edugator 4.7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731520" y="1572768"/>
            <a:ext cx="5367528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83080"/>
            <a:ext cx="4818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121408"/>
            <a:ext cx="4818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nums, return True if two different index pairs (i, j) and (k, l) have the same sum, where i, j, k, and l are all different.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907792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3, 4, 5]  returns  True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00400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3, 6]  returns  False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3611880"/>
            <a:ext cx="4818888" cy="914400"/>
          </a:xfrm>
          <a:prstGeom prst="roundRect">
            <a:avLst>
              <a:gd name="adj" fmla="val 5000"/>
            </a:avLst>
          </a:prstGeom>
          <a:solidFill>
            <a:srgbClr val="FFF1EB"/>
          </a:solidFill>
          <a:ln w="9525">
            <a:solidFill>
              <a:srgbClr val="FFD5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361188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pPr indent="0" marL="0">
              <a:buNone/>
            </a:pPr>
            <a:r>
              <a:rPr lang="en-US" sz="1250" dirty="0">
                <a:solidFill>
                  <a:srgbClr val="B3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4) and (1, 3) both sum to 6. In [1, 2, 3, 6] no two pairs match, and [1, 2, 3] has too few indices.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681728"/>
            <a:ext cx="4818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Edugator: Equal Sums of Distinct Index Pairs. At most 20 numbers, each between -10³ and 10³.</a:t>
            </a:r>
            <a:endParaRPr lang="en-US" sz="1200" dirty="0"/>
          </a:p>
        </p:txBody>
      </p:sp>
      <p:sp>
        <p:nvSpPr>
          <p:cNvPr id="12" name="anim01_click_timer"/>
          <p:cNvSpPr/>
          <p:nvPr/>
        </p:nvSpPr>
        <p:spPr>
          <a:xfrm>
            <a:off x="6373368" y="1572768"/>
            <a:ext cx="5084064" cy="1554480"/>
          </a:xfrm>
          <a:prstGeom prst="roundRect">
            <a:avLst>
              <a:gd name="adj" fmla="val 3529"/>
            </a:avLst>
          </a:prstGeom>
          <a:solidFill>
            <a:srgbClr val="1B1E33"/>
          </a:solidFill>
          <a:ln w="9525">
            <a:solidFill>
              <a:srgbClr val="1B1E33"/>
            </a:solidFill>
            <a:prstDash val="solid"/>
          </a:ln>
        </p:spPr>
      </p:sp>
      <p:sp>
        <p:nvSpPr>
          <p:cNvPr id="13" name="anim01_click_timer"/>
          <p:cNvSpPr txBox="1"/>
          <p:nvPr/>
        </p:nvSpPr>
        <p:spPr>
          <a:xfrm>
            <a:off x="6629400" y="1572768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5 minutes to complete this.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feel free to work in pairs or small groups (3 to 4).</a:t>
            </a:r>
            <a:endParaRPr lang="en-US" sz="1700" dirty="0"/>
          </a:p>
        </p:txBody>
      </p:sp>
      <p:sp>
        <p:nvSpPr>
          <p:cNvPr id="14" name="anim02_click_hint"/>
          <p:cNvSpPr/>
          <p:nvPr/>
        </p:nvSpPr>
        <p:spPr>
          <a:xfrm>
            <a:off x="6373368" y="3291840"/>
            <a:ext cx="508406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5" name="anim02_click_hint"/>
          <p:cNvSpPr txBox="1"/>
          <p:nvPr/>
        </p:nvSpPr>
        <p:spPr>
          <a:xfrm>
            <a:off x="6629400" y="32918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Two Sum one level up. Instead of remembering numbers you have seen, remember the pair sums you have seen.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Equal Pair Sums – Edugator 4.7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731520" y="1572768"/>
            <a:ext cx="5367528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83080"/>
            <a:ext cx="4818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121408"/>
            <a:ext cx="4818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nums, return True if two different index pairs (i, j) and (k, l) have the same sum, where i, j, k, and l are all different.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907792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3, 4, 5]  returns  True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00400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3, 6]  returns  False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3611880"/>
            <a:ext cx="4818888" cy="914400"/>
          </a:xfrm>
          <a:prstGeom prst="roundRect">
            <a:avLst>
              <a:gd name="adj" fmla="val 5000"/>
            </a:avLst>
          </a:prstGeom>
          <a:solidFill>
            <a:srgbClr val="FFF1EB"/>
          </a:solidFill>
          <a:ln w="9525">
            <a:solidFill>
              <a:srgbClr val="FFD5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361188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</a:t>
            </a:r>
            <a:pPr indent="0" marL="0">
              <a:buNone/>
            </a:pPr>
            <a:r>
              <a:rPr lang="en-US" sz="1250" dirty="0">
                <a:solidFill>
                  <a:srgbClr val="B34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4) and (1, 3) both sum to 6. In [1, 2, 3, 6] no two pairs match, and [1, 2, 3] has too few indices.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681728"/>
            <a:ext cx="4818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Edugator: Equal Sums of Distinct Index Pairs. At most 20 numbers, each between -10³ and 10³.</a:t>
            </a:r>
            <a:endParaRPr lang="en-US" sz="1200" dirty="0"/>
          </a:p>
        </p:txBody>
      </p:sp>
      <p:sp>
        <p:nvSpPr>
          <p:cNvPr id="12" name="anim01_click_code"/>
          <p:cNvSpPr/>
          <p:nvPr/>
        </p:nvSpPr>
        <p:spPr>
          <a:xfrm>
            <a:off x="6217920" y="1572768"/>
            <a:ext cx="5239512" cy="3272790"/>
          </a:xfrm>
          <a:prstGeom prst="roundRect">
            <a:avLst>
              <a:gd name="adj" fmla="val 1676"/>
            </a:avLst>
          </a:prstGeom>
          <a:solidFill>
            <a:srgbClr val="1B1E33"/>
          </a:solidFill>
          <a:ln w="9525">
            <a:solidFill>
              <a:srgbClr val="1B1E33"/>
            </a:solidFill>
            <a:prstDash val="solid"/>
          </a:ln>
        </p:spPr>
      </p:sp>
      <p:sp>
        <p:nvSpPr>
          <p:cNvPr id="13" name="anim01_click_code"/>
          <p:cNvSpPr txBox="1"/>
          <p:nvPr/>
        </p:nvSpPr>
        <p:spPr>
          <a:xfrm>
            <a:off x="6419088" y="1664208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4" name="anim01_click_code"/>
          <p:cNvSpPr txBox="1"/>
          <p:nvPr/>
        </p:nvSpPr>
        <p:spPr>
          <a:xfrm>
            <a:off x="6419088" y="1920240"/>
            <a:ext cx="4837176" cy="2797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equal_pair_sums(nums):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sums = {}    # pair sum -&gt; index pairs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range(len(nums)):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j in range(i + 1, len(nums)):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total = nums[i] + nums[j]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pairs = sums.setdefault(total, [])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k, l in pairs: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len({i, j, k, l}) == 4: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return True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pairs.append((i, j))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</a:t>
            </a:r>
            <a:endParaRPr lang="en-US" sz="1250" dirty="0"/>
          </a:p>
        </p:txBody>
      </p:sp>
      <p:sp>
        <p:nvSpPr>
          <p:cNvPr id="15" name="anim02_click_cx"/>
          <p:cNvSpPr/>
          <p:nvPr/>
        </p:nvSpPr>
        <p:spPr>
          <a:xfrm>
            <a:off x="6217920" y="4964430"/>
            <a:ext cx="523951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6" name="anim02_click_cx"/>
          <p:cNvSpPr txBox="1"/>
          <p:nvPr/>
        </p:nvSpPr>
        <p:spPr>
          <a:xfrm>
            <a:off x="6492240" y="4964430"/>
            <a:ext cx="4690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O(n³)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n² pairs, each checks the few stored with its sum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 O(n²)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one entry per pair</a:t>
            </a:r>
            <a:endParaRPr lang="en-US" sz="1150" dirty="0"/>
          </a:p>
        </p:txBody>
      </p:sp>
      <p:sp>
        <p:nvSpPr>
          <p:cNvPr id="17" name="anim03_click_bottom"/>
          <p:cNvSpPr/>
          <p:nvPr/>
        </p:nvSpPr>
        <p:spPr>
          <a:xfrm>
            <a:off x="731520" y="5486400"/>
            <a:ext cx="5367528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DDE1EC"/>
            </a:solidFill>
            <a:prstDash val="solid"/>
          </a:ln>
        </p:spPr>
      </p:sp>
      <p:sp>
        <p:nvSpPr>
          <p:cNvPr id="18" name="anim03_click_bottom"/>
          <p:cNvSpPr txBox="1"/>
          <p:nvPr/>
        </p:nvSpPr>
        <p:spPr>
          <a:xfrm>
            <a:off x="1005840" y="5486400"/>
            <a:ext cx="4818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bug:  </a:t>
            </a:r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the all-different rule. Then [1, 1, 2] returns True, because (0, 2) and (1, 2) share index 2.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remember</a:t>
            </a:r>
            <a:endParaRPr lang="en-US" sz="3200" dirty="0"/>
          </a:p>
        </p:txBody>
      </p:sp>
      <p:sp>
        <p:nvSpPr>
          <p:cNvPr id="4" name="anim01_after_line"/>
          <p:cNvSpPr/>
          <p:nvPr/>
        </p:nvSpPr>
        <p:spPr>
          <a:xfrm>
            <a:off x="777240" y="1856232"/>
            <a:ext cx="109728" cy="292608"/>
          </a:xfrm>
          <a:prstGeom prst="roundRect">
            <a:avLst>
              <a:gd name="adj" fmla="val 33333"/>
            </a:avLst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5" name="anim01_after_line"/>
          <p:cNvSpPr txBox="1"/>
          <p:nvPr/>
        </p:nvSpPr>
        <p:spPr>
          <a:xfrm>
            <a:off x="114300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map finds a value by its key in O(1) on average. It computes the bucket instead of searching.</a:t>
            </a:r>
            <a:endParaRPr lang="en-US" sz="1550" dirty="0"/>
          </a:p>
        </p:txBody>
      </p:sp>
      <p:sp>
        <p:nvSpPr>
          <p:cNvPr id="6" name="anim02_after_line"/>
          <p:cNvSpPr/>
          <p:nvPr/>
        </p:nvSpPr>
        <p:spPr>
          <a:xfrm>
            <a:off x="777240" y="2633472"/>
            <a:ext cx="109728" cy="292608"/>
          </a:xfrm>
          <a:prstGeom prst="roundRect">
            <a:avLst>
              <a:gd name="adj" fmla="val 33333"/>
            </a:avLst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7" name="anim02_after_line"/>
          <p:cNvSpPr txBox="1"/>
          <p:nvPr/>
        </p:nvSpPr>
        <p:spPr>
          <a:xfrm>
            <a:off x="1143000" y="2606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Collisions are why the worst case is O(n). Resizing keeps them rare.</a:t>
            </a:r>
            <a:endParaRPr lang="en-US" sz="1550" dirty="0"/>
          </a:p>
        </p:txBody>
      </p:sp>
      <p:sp>
        <p:nvSpPr>
          <p:cNvPr id="8" name="anim03_after_line"/>
          <p:cNvSpPr/>
          <p:nvPr/>
        </p:nvSpPr>
        <p:spPr>
          <a:xfrm>
            <a:off x="777240" y="3410712"/>
            <a:ext cx="109728" cy="292608"/>
          </a:xfrm>
          <a:prstGeom prst="roundRect">
            <a:avLst>
              <a:gd name="adj" fmla="val 33333"/>
            </a:avLst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9" name="anim03_after_line"/>
          <p:cNvSpPr txBox="1"/>
          <p:nvPr/>
        </p:nvSpPr>
        <p:spPr>
          <a:xfrm>
            <a:off x="1143000" y="3383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Python, dict is your hash map: d[k], d.get(k, default), and k in d.</a:t>
            </a:r>
            <a:endParaRPr lang="en-US" sz="1550" dirty="0"/>
          </a:p>
        </p:txBody>
      </p:sp>
      <p:sp>
        <p:nvSpPr>
          <p:cNvPr id="10" name="anim04_after_line"/>
          <p:cNvSpPr/>
          <p:nvPr/>
        </p:nvSpPr>
        <p:spPr>
          <a:xfrm>
            <a:off x="777240" y="4187952"/>
            <a:ext cx="109728" cy="292608"/>
          </a:xfrm>
          <a:prstGeom prst="roundRect">
            <a:avLst>
              <a:gd name="adj" fmla="val 33333"/>
            </a:avLst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11" name="anim04_after_line"/>
          <p:cNvSpPr txBox="1"/>
          <p:nvPr/>
        </p:nvSpPr>
        <p:spPr>
          <a:xfrm>
            <a:off x="114300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map, find a partner, or remember what you have seen. Each one turns a nested loop into a lookup.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4864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E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workshop: trees, building on everything you did today.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go from here</a:t>
            </a:r>
            <a:endParaRPr lang="en-US" sz="3200" dirty="0"/>
          </a:p>
        </p:txBody>
      </p:sp>
      <p:sp>
        <p:nvSpPr>
          <p:cNvPr id="4" name="anim01_click_practice"/>
          <p:cNvSpPr/>
          <p:nvPr/>
        </p:nvSpPr>
        <p:spPr>
          <a:xfrm>
            <a:off x="731520" y="1691640"/>
            <a:ext cx="5257800" cy="2331720"/>
          </a:xfrm>
          <a:prstGeom prst="roundRect">
            <a:avLst>
              <a:gd name="adj" fmla="val 2353"/>
            </a:avLst>
          </a:prstGeom>
          <a:solidFill>
            <a:srgbClr val="232640"/>
          </a:solidFill>
          <a:ln w="9525">
            <a:solidFill>
              <a:srgbClr val="3A3F63"/>
            </a:solidFill>
            <a:prstDash val="solid"/>
          </a:ln>
        </p:spPr>
      </p:sp>
      <p:sp>
        <p:nvSpPr>
          <p:cNvPr id="5" name="anim01_click_practice"/>
          <p:cNvSpPr txBox="1"/>
          <p:nvPr/>
        </p:nvSpPr>
        <p:spPr>
          <a:xfrm>
            <a:off x="1005840" y="18745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these two</a:t>
            </a:r>
            <a:endParaRPr lang="en-US" sz="1500" dirty="0"/>
          </a:p>
        </p:txBody>
      </p:sp>
      <p:sp>
        <p:nvSpPr>
          <p:cNvPr id="6" name="anim01_click_practice"/>
          <p:cNvSpPr txBox="1"/>
          <p:nvPr/>
        </p:nvSpPr>
        <p:spPr>
          <a:xfrm>
            <a:off x="1005840" y="221284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Edugator, before the next session</a:t>
            </a:r>
            <a:endParaRPr lang="en-US" sz="1150" dirty="0"/>
          </a:p>
        </p:txBody>
      </p:sp>
      <p:sp>
        <p:nvSpPr>
          <p:cNvPr id="7" name="anim01_click_practice"/>
          <p:cNvSpPr txBox="1"/>
          <p:nvPr/>
        </p:nvSpPr>
        <p:spPr>
          <a:xfrm>
            <a:off x="1005840" y="26974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</a:t>
            </a:r>
            <a:endParaRPr lang="en-US" sz="1300" dirty="0"/>
          </a:p>
        </p:txBody>
      </p:sp>
      <p:sp>
        <p:nvSpPr>
          <p:cNvPr id="8" name="anim01_click_practice"/>
          <p:cNvSpPr txBox="1"/>
          <p:nvPr/>
        </p:nvSpPr>
        <p:spPr>
          <a:xfrm>
            <a:off x="1600200" y="2697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Sum</a:t>
            </a:r>
            <a:endParaRPr lang="en-US" sz="1300" dirty="0"/>
          </a:p>
        </p:txBody>
      </p:sp>
      <p:sp>
        <p:nvSpPr>
          <p:cNvPr id="9" name="anim01_click_practice"/>
          <p:cNvSpPr txBox="1"/>
          <p:nvPr/>
        </p:nvSpPr>
        <p:spPr>
          <a:xfrm>
            <a:off x="1600200" y="296265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 with a dict from each value to its index</a:t>
            </a:r>
            <a:endParaRPr lang="en-US" sz="1150" dirty="0"/>
          </a:p>
        </p:txBody>
      </p:sp>
      <p:sp>
        <p:nvSpPr>
          <p:cNvPr id="10" name="anim01_click_practice"/>
          <p:cNvSpPr txBox="1"/>
          <p:nvPr/>
        </p:nvSpPr>
        <p:spPr>
          <a:xfrm>
            <a:off x="1005840" y="32918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</a:t>
            </a:r>
            <a:endParaRPr lang="en-US" sz="1300" dirty="0"/>
          </a:p>
        </p:txBody>
      </p:sp>
      <p:sp>
        <p:nvSpPr>
          <p:cNvPr id="11" name="anim01_click_practice"/>
          <p:cNvSpPr txBox="1"/>
          <p:nvPr/>
        </p:nvSpPr>
        <p:spPr>
          <a:xfrm>
            <a:off x="1600200" y="3291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Largest Value in DataFrame</a:t>
            </a:r>
            <a:endParaRPr lang="en-US" sz="1300" dirty="0"/>
          </a:p>
        </p:txBody>
      </p:sp>
      <p:sp>
        <p:nvSpPr>
          <p:cNvPr id="12" name="anim01_click_practice"/>
          <p:cNvSpPr txBox="1"/>
          <p:nvPr/>
        </p:nvSpPr>
        <p:spPr>
          <a:xfrm>
            <a:off x="1600200" y="35570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DataFrame column, looked up by its name</a:t>
            </a:r>
            <a:endParaRPr lang="en-US" sz="1150" dirty="0"/>
          </a:p>
        </p:txBody>
      </p:sp>
      <p:sp>
        <p:nvSpPr>
          <p:cNvPr id="13" name="anim02_click_more"/>
          <p:cNvSpPr/>
          <p:nvPr/>
        </p:nvSpPr>
        <p:spPr>
          <a:xfrm>
            <a:off x="6199632" y="1691640"/>
            <a:ext cx="5257800" cy="2331720"/>
          </a:xfrm>
          <a:prstGeom prst="roundRect">
            <a:avLst>
              <a:gd name="adj" fmla="val 2353"/>
            </a:avLst>
          </a:prstGeom>
          <a:solidFill>
            <a:srgbClr val="232640"/>
          </a:solidFill>
          <a:ln w="9525">
            <a:solidFill>
              <a:srgbClr val="3A3F63"/>
            </a:solidFill>
            <a:prstDash val="solid"/>
          </a:ln>
        </p:spPr>
      </p:sp>
      <p:sp>
        <p:nvSpPr>
          <p:cNvPr id="14" name="anim02_click_more"/>
          <p:cNvSpPr txBox="1"/>
          <p:nvPr/>
        </p:nvSpPr>
        <p:spPr>
          <a:xfrm>
            <a:off x="6473952" y="18745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have time</a:t>
            </a:r>
            <a:endParaRPr lang="en-US" sz="1500" dirty="0"/>
          </a:p>
        </p:txBody>
      </p:sp>
      <p:sp>
        <p:nvSpPr>
          <p:cNvPr id="15" name="anim02_click_more"/>
          <p:cNvSpPr txBox="1"/>
          <p:nvPr/>
        </p:nvSpPr>
        <p:spPr>
          <a:xfrm>
            <a:off x="6473952" y="221284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today's hardest one</a:t>
            </a:r>
            <a:endParaRPr lang="en-US" sz="1150" dirty="0"/>
          </a:p>
        </p:txBody>
      </p:sp>
      <p:sp>
        <p:nvSpPr>
          <p:cNvPr id="16" name="anim02_click_more"/>
          <p:cNvSpPr txBox="1"/>
          <p:nvPr/>
        </p:nvSpPr>
        <p:spPr>
          <a:xfrm>
            <a:off x="6473952" y="26974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4.4</a:t>
            </a:r>
            <a:endParaRPr lang="en-US" sz="1300" dirty="0"/>
          </a:p>
        </p:txBody>
      </p:sp>
      <p:sp>
        <p:nvSpPr>
          <p:cNvPr id="17" name="anim02_click_more"/>
          <p:cNvSpPr txBox="1"/>
          <p:nvPr/>
        </p:nvSpPr>
        <p:spPr>
          <a:xfrm>
            <a:off x="7068312" y="2697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Sum, again</a:t>
            </a:r>
            <a:endParaRPr lang="en-US" sz="1300" dirty="0"/>
          </a:p>
        </p:txBody>
      </p:sp>
      <p:sp>
        <p:nvSpPr>
          <p:cNvPr id="18" name="anim02_click_more"/>
          <p:cNvSpPr txBox="1"/>
          <p:nvPr/>
        </p:nvSpPr>
        <p:spPr>
          <a:xfrm>
            <a:off x="7068312" y="296265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pointers, as in Edugator's solution: no extra set</a:t>
            </a:r>
            <a:endParaRPr lang="en-US" sz="1150" dirty="0"/>
          </a:p>
        </p:txBody>
      </p:sp>
      <p:sp>
        <p:nvSpPr>
          <p:cNvPr id="19" name="anim02_click_more"/>
          <p:cNvSpPr txBox="1"/>
          <p:nvPr/>
        </p:nvSpPr>
        <p:spPr>
          <a:xfrm>
            <a:off x="6473952" y="32918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practice:  </a:t>
            </a:r>
            <a:pPr indent="0" marL="0">
              <a:buNone/>
            </a:pPr>
            <a:r>
              <a:rPr lang="en-US" sz="1200" dirty="0">
                <a:solidFill>
                  <a:srgbClr val="C8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five minutes per problem. Say your approach out loud before typing, then state time and space.</a:t>
            </a:r>
            <a:endParaRPr lang="en-US" sz="1200" dirty="0"/>
          </a:p>
        </p:txBody>
      </p:sp>
      <p:sp>
        <p:nvSpPr>
          <p:cNvPr id="20" name="anim03_click_next"/>
          <p:cNvSpPr/>
          <p:nvPr/>
        </p:nvSpPr>
        <p:spPr>
          <a:xfrm>
            <a:off x="731520" y="4251960"/>
            <a:ext cx="10725912" cy="1188720"/>
          </a:xfrm>
          <a:prstGeom prst="roundRect">
            <a:avLst>
              <a:gd name="adj" fmla="val 4615"/>
            </a:avLst>
          </a:prstGeom>
          <a:solidFill>
            <a:srgbClr val="232640"/>
          </a:solidFill>
          <a:ln w="9525">
            <a:solidFill>
              <a:srgbClr val="3A3F63"/>
            </a:solidFill>
            <a:prstDash val="solid"/>
          </a:ln>
        </p:spPr>
      </p:sp>
      <p:sp>
        <p:nvSpPr>
          <p:cNvPr id="21" name="anim03_click_next"/>
          <p:cNvSpPr txBox="1"/>
          <p:nvPr/>
        </p:nvSpPr>
        <p:spPr>
          <a:xfrm>
            <a:off x="1005840" y="43891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WORKSHOP</a:t>
            </a:r>
            <a:endParaRPr lang="en-US" sz="1050" dirty="0"/>
          </a:p>
        </p:txBody>
      </p:sp>
      <p:sp>
        <p:nvSpPr>
          <p:cNvPr id="22" name="anim03_click_next"/>
          <p:cNvSpPr txBox="1"/>
          <p:nvPr/>
        </p:nvSpPr>
        <p:spPr>
          <a:xfrm>
            <a:off x="1005840" y="46177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Trees</a:t>
            </a:r>
            <a:endParaRPr lang="en-US" sz="2000" dirty="0"/>
          </a:p>
        </p:txBody>
      </p:sp>
      <p:sp>
        <p:nvSpPr>
          <p:cNvPr id="23" name="anim03_click_next"/>
          <p:cNvSpPr txBox="1"/>
          <p:nvPr/>
        </p:nvSpPr>
        <p:spPr>
          <a:xfrm>
            <a:off x="1005840" y="502005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8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format, built on everything you did today. Come with the problems above attempted.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theme/theme1.xml><?xml version="1.0" encoding="utf-8"?>
<a:theme xmlns:a="http://schemas.openxmlformats.org/drawingml/2006/main" name="Technical Interview 101">
  <a:themeElements>
    <a:clrScheme name="Technical Interview 101">
      <a:dk1>
        <a:srgbClr val="1F2333"/>
      </a:dk1>
      <a:lt1>
        <a:srgbClr val="FFFFFF"/>
      </a:lt1>
      <a:dk2>
        <a:srgbClr val="1B1E33"/>
      </a:dk2>
      <a:lt2>
        <a:srgbClr val="F6F7FB"/>
      </a:lt2>
      <a:accent1>
        <a:srgbClr val="FF6B35"/>
      </a:accent1>
      <a:accent2>
        <a:srgbClr val="2A9D8F"/>
      </a:accent2>
      <a:accent3>
        <a:srgbClr val="E05252"/>
      </a:accent3>
      <a:accent4>
        <a:srgbClr val="5A6072"/>
      </a:accent4>
      <a:accent5>
        <a:srgbClr val="8E94AE"/>
      </a:accent5>
      <a:accent6>
        <a:srgbClr val="232640"/>
      </a:accent6>
      <a:hlink>
        <a:srgbClr val="2A9D8F"/>
      </a:hlink>
      <a:folHlink>
        <a:srgbClr val="B3441F"/>
      </a:folHlink>
    </a:clrScheme>
    <a:fontScheme name="Technical Interview 101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3: Hash Maps</dc:title>
  <dc:subject>PptxGenJS Presentation</dc:subject>
  <dc:creator>Grasshopper Lab</dc:creator>
  <cp:lastModifiedBy>Grasshopper Lab</cp:lastModifiedBy>
  <cp:revision>1</cp:revision>
  <dcterms:created xsi:type="dcterms:W3CDTF">2026-10-28T04:35:27Z</dcterms:created>
  <dcterms:modified xsi:type="dcterms:W3CDTF">2026-10-28T04:35:27Z</dcterms:modified>
</cp:coreProperties>
</file>