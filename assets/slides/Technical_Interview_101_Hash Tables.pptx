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3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333"/>
                </a:solidFill>
                <a:latin typeface="+mn-lt"/>
              </a:rPr>
              <a:t>Work as the input grows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Nested loops  O(n²)</c:v>
                </c:pt>
              </c:strCache>
            </c:strRef>
          </c:tx>
          <c:spPr>
            <a:solidFill>
              <a:srgbClr val="E05252"/>
            </a:solidFill>
            <a:ln w="28575" cap="flat">
              <a:solidFill>
                <a:srgbClr val="E052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05252"/>
              </a:solidFill>
              <a:ln w="9525" cap="flat">
                <a:solidFill>
                  <a:srgbClr val="E052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4</c:v>
                </c:pt>
                <c:pt idx="2">
                  <c:v>9</c:v>
                </c:pt>
                <c:pt idx="3">
                  <c:v>16</c:v>
                </c:pt>
                <c:pt idx="4">
                  <c:v>25</c:v>
                </c:pt>
                <c:pt idx="5">
                  <c:v>36</c:v>
                </c:pt>
                <c:pt idx="6">
                  <c:v>49</c:v>
                </c:pt>
                <c:pt idx="7">
                  <c:v>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Hash map  O(n)</c:v>
                </c:pt>
              </c:strCache>
            </c:strRef>
          </c:tx>
          <c:spPr>
            <a:solidFill>
              <a:srgbClr val="2A9D8F"/>
            </a:solidFill>
            <a:ln w="28575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A6072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A6072"/>
                    </a:solidFill>
                    <a:latin typeface="+mn-lt"/>
                  </a:rPr>
                  <a:t>input size 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0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7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0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072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ACTICE">
    <p:bg>
      <p:bgPr>
        <a:solidFill>
          <a:srgbClr val="F6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6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1600200"/>
            <a:ext cx="8229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  //   HASH TABLES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77240" y="16002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Maps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7889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8C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any value by its key, without searching</a:t>
            </a:r>
            <a:endParaRPr lang="en-US" sz="1900" dirty="0"/>
          </a:p>
        </p:txBody>
      </p:sp>
      <p:sp>
        <p:nvSpPr>
          <p:cNvPr id="5" name="anim01_after_key"/>
          <p:cNvSpPr/>
          <p:nvPr/>
        </p:nvSpPr>
        <p:spPr>
          <a:xfrm>
            <a:off x="822960" y="4114800"/>
            <a:ext cx="1417320" cy="603504"/>
          </a:xfrm>
          <a:prstGeom prst="roundRect">
            <a:avLst>
              <a:gd name="adj" fmla="val 7576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6" name="anim01_after_key"/>
          <p:cNvSpPr txBox="1"/>
          <p:nvPr/>
        </p:nvSpPr>
        <p:spPr>
          <a:xfrm>
            <a:off x="822960" y="411480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"apple"</a:t>
            </a:r>
            <a:endParaRPr lang="en-US" sz="1500" dirty="0"/>
          </a:p>
        </p:txBody>
      </p:sp>
      <p:sp>
        <p:nvSpPr>
          <p:cNvPr id="7" name="anim01_after_key"/>
          <p:cNvSpPr txBox="1"/>
          <p:nvPr/>
        </p:nvSpPr>
        <p:spPr>
          <a:xfrm>
            <a:off x="82296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sz="1000" dirty="0"/>
          </a:p>
        </p:txBody>
      </p:sp>
      <p:sp>
        <p:nvSpPr>
          <p:cNvPr id="8" name="anim02_after_arrow"/>
          <p:cNvSpPr txBox="1"/>
          <p:nvPr/>
        </p:nvSpPr>
        <p:spPr>
          <a:xfrm>
            <a:off x="2331720" y="40050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% 8</a:t>
            </a:r>
            <a:endParaRPr lang="en-US" sz="1000" dirty="0"/>
          </a:p>
        </p:txBody>
      </p:sp>
      <p:sp>
        <p:nvSpPr>
          <p:cNvPr id="9" name="anim02_after_arrow"/>
          <p:cNvSpPr/>
          <p:nvPr/>
        </p:nvSpPr>
        <p:spPr>
          <a:xfrm>
            <a:off x="2377440" y="4416552"/>
            <a:ext cx="1051560" cy="0"/>
          </a:xfrm>
          <a:prstGeom prst="line">
            <a:avLst/>
          </a:prstGeom>
          <a:noFill/>
          <a:ln w="22225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0" name="bucket"/>
          <p:cNvSpPr/>
          <p:nvPr/>
        </p:nvSpPr>
        <p:spPr>
          <a:xfrm>
            <a:off x="3611880" y="4114800"/>
            <a:ext cx="713232" cy="603504"/>
          </a:xfrm>
          <a:prstGeom prst="roundRect">
            <a:avLst>
              <a:gd name="adj" fmla="val 7576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47548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</p:txBody>
      </p:sp>
      <p:sp>
        <p:nvSpPr>
          <p:cNvPr id="12" name="bucket"/>
          <p:cNvSpPr/>
          <p:nvPr/>
        </p:nvSpPr>
        <p:spPr>
          <a:xfrm>
            <a:off x="4416552" y="4114800"/>
            <a:ext cx="713232" cy="603504"/>
          </a:xfrm>
          <a:prstGeom prst="roundRect">
            <a:avLst>
              <a:gd name="adj" fmla="val 7576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16552" y="47548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bucket"/>
          <p:cNvSpPr/>
          <p:nvPr/>
        </p:nvSpPr>
        <p:spPr>
          <a:xfrm>
            <a:off x="5221224" y="4114800"/>
            <a:ext cx="713232" cy="603504"/>
          </a:xfrm>
          <a:prstGeom prst="roundRect">
            <a:avLst>
              <a:gd name="adj" fmla="val 7576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21224" y="47548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bucket"/>
          <p:cNvSpPr/>
          <p:nvPr/>
        </p:nvSpPr>
        <p:spPr>
          <a:xfrm>
            <a:off x="6025896" y="4114800"/>
            <a:ext cx="713232" cy="603504"/>
          </a:xfrm>
          <a:prstGeom prst="roundRect">
            <a:avLst>
              <a:gd name="adj" fmla="val 7576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25896" y="47548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bucket"/>
          <p:cNvSpPr/>
          <p:nvPr/>
        </p:nvSpPr>
        <p:spPr>
          <a:xfrm>
            <a:off x="6830568" y="4114800"/>
            <a:ext cx="713232" cy="603504"/>
          </a:xfrm>
          <a:prstGeom prst="roundRect">
            <a:avLst>
              <a:gd name="adj" fmla="val 7576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30568" y="47548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bucket"/>
          <p:cNvSpPr/>
          <p:nvPr/>
        </p:nvSpPr>
        <p:spPr>
          <a:xfrm>
            <a:off x="7635240" y="4114800"/>
            <a:ext cx="713232" cy="603504"/>
          </a:xfrm>
          <a:prstGeom prst="roundRect">
            <a:avLst>
              <a:gd name="adj" fmla="val 7576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35240" y="47548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22" name="bucket"/>
          <p:cNvSpPr/>
          <p:nvPr/>
        </p:nvSpPr>
        <p:spPr>
          <a:xfrm>
            <a:off x="8439912" y="4114800"/>
            <a:ext cx="713232" cy="603504"/>
          </a:xfrm>
          <a:prstGeom prst="roundRect">
            <a:avLst>
              <a:gd name="adj" fmla="val 7576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39912" y="47548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24" name="bucket"/>
          <p:cNvSpPr/>
          <p:nvPr/>
        </p:nvSpPr>
        <p:spPr>
          <a:xfrm>
            <a:off x="9244584" y="4114800"/>
            <a:ext cx="713232" cy="603504"/>
          </a:xfrm>
          <a:prstGeom prst="roundRect">
            <a:avLst>
              <a:gd name="adj" fmla="val 7576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44584" y="47548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anim03_after_hit"/>
          <p:cNvSpPr/>
          <p:nvPr/>
        </p:nvSpPr>
        <p:spPr>
          <a:xfrm>
            <a:off x="6025896" y="4114800"/>
            <a:ext cx="713232" cy="603504"/>
          </a:xfrm>
          <a:prstGeom prst="roundRect">
            <a:avLst>
              <a:gd name="adj" fmla="val 7576"/>
            </a:avLst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27" name="anim03_after_hit"/>
          <p:cNvSpPr txBox="1"/>
          <p:nvPr/>
        </p:nvSpPr>
        <p:spPr>
          <a:xfrm>
            <a:off x="6025896" y="4114800"/>
            <a:ext cx="713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486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E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key is turned into a bucket number. That single idea powers the whole module.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will cover</a:t>
            </a:r>
            <a:endParaRPr lang="en-US" sz="3200" dirty="0"/>
          </a:p>
        </p:txBody>
      </p:sp>
      <p:sp>
        <p:nvSpPr>
          <p:cNvPr id="4" name="anim01_after_row"/>
          <p:cNvSpPr/>
          <p:nvPr/>
        </p:nvSpPr>
        <p:spPr>
          <a:xfrm>
            <a:off x="749808" y="1627632"/>
            <a:ext cx="347472" cy="347472"/>
          </a:xfrm>
          <a:prstGeom prst="ellipse">
            <a:avLst/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5" name="anim01_after_row"/>
          <p:cNvSpPr txBox="1"/>
          <p:nvPr/>
        </p:nvSpPr>
        <p:spPr>
          <a:xfrm>
            <a:off x="749808" y="1627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anim01_after_row"/>
          <p:cNvSpPr txBox="1"/>
          <p:nvPr/>
        </p:nvSpPr>
        <p:spPr>
          <a:xfrm>
            <a:off x="1325880" y="1600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hash map is</a:t>
            </a:r>
            <a:endParaRPr lang="en-US" sz="1500" dirty="0"/>
          </a:p>
        </p:txBody>
      </p:sp>
      <p:sp>
        <p:nvSpPr>
          <p:cNvPr id="7" name="anim01_after_row"/>
          <p:cNvSpPr txBox="1"/>
          <p:nvPr/>
        </p:nvSpPr>
        <p:spPr>
          <a:xfrm>
            <a:off x="1325880" y="1920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Keys, values, and Python's dict</a:t>
            </a:r>
            <a:endParaRPr lang="en-US" sz="1250" dirty="0"/>
          </a:p>
        </p:txBody>
      </p:sp>
      <p:sp>
        <p:nvSpPr>
          <p:cNvPr id="8" name="anim01_after_row"/>
          <p:cNvSpPr/>
          <p:nvPr/>
        </p:nvSpPr>
        <p:spPr>
          <a:xfrm>
            <a:off x="1325880" y="2322576"/>
            <a:ext cx="8778240" cy="0"/>
          </a:xfrm>
          <a:prstGeom prst="line">
            <a:avLst/>
          </a:prstGeom>
          <a:noFill/>
          <a:ln w="9525">
            <a:solidFill>
              <a:srgbClr val="DDE1EC"/>
            </a:solidFill>
            <a:prstDash val="solid"/>
          </a:ln>
        </p:spPr>
      </p:sp>
      <p:sp>
        <p:nvSpPr>
          <p:cNvPr id="9" name="anim02_after_row"/>
          <p:cNvSpPr/>
          <p:nvPr/>
        </p:nvSpPr>
        <p:spPr>
          <a:xfrm>
            <a:off x="749808" y="2542032"/>
            <a:ext cx="347472" cy="347472"/>
          </a:xfrm>
          <a:prstGeom prst="ellipse">
            <a:avLst/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10" name="anim02_after_row"/>
          <p:cNvSpPr txBox="1"/>
          <p:nvPr/>
        </p:nvSpPr>
        <p:spPr>
          <a:xfrm>
            <a:off x="749808" y="2542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anim02_after_row"/>
          <p:cNvSpPr txBox="1"/>
          <p:nvPr/>
        </p:nvSpPr>
        <p:spPr>
          <a:xfrm>
            <a:off x="1325880" y="25146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hashing works</a:t>
            </a:r>
            <a:endParaRPr lang="en-US" sz="1500" dirty="0"/>
          </a:p>
        </p:txBody>
      </p:sp>
      <p:sp>
        <p:nvSpPr>
          <p:cNvPr id="12" name="anim02_after_row"/>
          <p:cNvSpPr txBox="1"/>
          <p:nvPr/>
        </p:nvSpPr>
        <p:spPr>
          <a:xfrm>
            <a:off x="1325880" y="2834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functions, buckets, and collisions</a:t>
            </a:r>
            <a:endParaRPr lang="en-US" sz="1250" dirty="0"/>
          </a:p>
        </p:txBody>
      </p:sp>
      <p:sp>
        <p:nvSpPr>
          <p:cNvPr id="13" name="anim02_after_row"/>
          <p:cNvSpPr/>
          <p:nvPr/>
        </p:nvSpPr>
        <p:spPr>
          <a:xfrm>
            <a:off x="1325880" y="3236976"/>
            <a:ext cx="8778240" cy="0"/>
          </a:xfrm>
          <a:prstGeom prst="line">
            <a:avLst/>
          </a:prstGeom>
          <a:noFill/>
          <a:ln w="9525">
            <a:solidFill>
              <a:srgbClr val="DDE1EC"/>
            </a:solidFill>
            <a:prstDash val="solid"/>
          </a:ln>
        </p:spPr>
      </p:sp>
      <p:sp>
        <p:nvSpPr>
          <p:cNvPr id="14" name="anim03_after_row"/>
          <p:cNvSpPr/>
          <p:nvPr/>
        </p:nvSpPr>
        <p:spPr>
          <a:xfrm>
            <a:off x="749808" y="3456432"/>
            <a:ext cx="347472" cy="347472"/>
          </a:xfrm>
          <a:prstGeom prst="ellipse">
            <a:avLst/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15" name="anim03_after_row"/>
          <p:cNvSpPr txBox="1"/>
          <p:nvPr/>
        </p:nvSpPr>
        <p:spPr>
          <a:xfrm>
            <a:off x="749808" y="34564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anim03_after_row"/>
          <p:cNvSpPr txBox="1"/>
          <p:nvPr/>
        </p:nvSpPr>
        <p:spPr>
          <a:xfrm>
            <a:off x="1325880" y="34290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complexity</a:t>
            </a:r>
            <a:endParaRPr lang="en-US" sz="1500" dirty="0"/>
          </a:p>
        </p:txBody>
      </p:sp>
      <p:sp>
        <p:nvSpPr>
          <p:cNvPr id="17" name="anim03_after_row"/>
          <p:cNvSpPr txBox="1"/>
          <p:nvPr/>
        </p:nvSpPr>
        <p:spPr>
          <a:xfrm>
            <a:off x="1325880" y="3749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lookups are O(1) on average, and when they are not</a:t>
            </a:r>
            <a:endParaRPr lang="en-US" sz="1250" dirty="0"/>
          </a:p>
        </p:txBody>
      </p:sp>
      <p:sp>
        <p:nvSpPr>
          <p:cNvPr id="18" name="anim03_after_row"/>
          <p:cNvSpPr/>
          <p:nvPr/>
        </p:nvSpPr>
        <p:spPr>
          <a:xfrm>
            <a:off x="1325880" y="4151376"/>
            <a:ext cx="8778240" cy="0"/>
          </a:xfrm>
          <a:prstGeom prst="line">
            <a:avLst/>
          </a:prstGeom>
          <a:noFill/>
          <a:ln w="9525">
            <a:solidFill>
              <a:srgbClr val="DDE1EC"/>
            </a:solidFill>
            <a:prstDash val="solid"/>
          </a:ln>
        </p:spPr>
      </p:sp>
      <p:sp>
        <p:nvSpPr>
          <p:cNvPr id="19" name="anim04_after_row"/>
          <p:cNvSpPr/>
          <p:nvPr/>
        </p:nvSpPr>
        <p:spPr>
          <a:xfrm>
            <a:off x="749808" y="4370832"/>
            <a:ext cx="347472" cy="347472"/>
          </a:xfrm>
          <a:prstGeom prst="ellipse">
            <a:avLst/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20" name="anim04_after_row"/>
          <p:cNvSpPr txBox="1"/>
          <p:nvPr/>
        </p:nvSpPr>
        <p:spPr>
          <a:xfrm>
            <a:off x="749808" y="4370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anim04_after_row"/>
          <p:cNvSpPr txBox="1"/>
          <p:nvPr/>
        </p:nvSpPr>
        <p:spPr>
          <a:xfrm>
            <a:off x="1325880" y="43434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examples</a:t>
            </a:r>
            <a:endParaRPr lang="en-US" sz="1500" dirty="0"/>
          </a:p>
        </p:txBody>
      </p:sp>
      <p:sp>
        <p:nvSpPr>
          <p:cNvPr id="22" name="anim04_after_row"/>
          <p:cNvSpPr txBox="1"/>
          <p:nvPr/>
        </p:nvSpPr>
        <p:spPr>
          <a:xfrm>
            <a:off x="1325880" y="46634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Edugator problems, solved together</a:t>
            </a:r>
            <a:endParaRPr lang="en-US" sz="1250" dirty="0"/>
          </a:p>
        </p:txBody>
      </p:sp>
      <p:sp>
        <p:nvSpPr>
          <p:cNvPr id="23" name="anim04_after_row"/>
          <p:cNvSpPr/>
          <p:nvPr/>
        </p:nvSpPr>
        <p:spPr>
          <a:xfrm>
            <a:off x="1325880" y="5065776"/>
            <a:ext cx="8778240" cy="0"/>
          </a:xfrm>
          <a:prstGeom prst="line">
            <a:avLst/>
          </a:prstGeom>
          <a:noFill/>
          <a:ln w="9525">
            <a:solidFill>
              <a:srgbClr val="DDE1EC"/>
            </a:solidFill>
            <a:prstDash val="solid"/>
          </a:ln>
        </p:spPr>
      </p:sp>
      <p:sp>
        <p:nvSpPr>
          <p:cNvPr id="24" name="anim05_after_row"/>
          <p:cNvSpPr/>
          <p:nvPr/>
        </p:nvSpPr>
        <p:spPr>
          <a:xfrm>
            <a:off x="749808" y="5285232"/>
            <a:ext cx="347472" cy="347472"/>
          </a:xfrm>
          <a:prstGeom prst="ellipse">
            <a:avLst/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25" name="anim05_after_row"/>
          <p:cNvSpPr txBox="1"/>
          <p:nvPr/>
        </p:nvSpPr>
        <p:spPr>
          <a:xfrm>
            <a:off x="749808" y="5285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anim05_after_row"/>
          <p:cNvSpPr txBox="1"/>
          <p:nvPr/>
        </p:nvSpPr>
        <p:spPr>
          <a:xfrm>
            <a:off x="1325880" y="52578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and next steps</a:t>
            </a:r>
            <a:endParaRPr lang="en-US" sz="1500" dirty="0"/>
          </a:p>
        </p:txBody>
      </p:sp>
      <p:sp>
        <p:nvSpPr>
          <p:cNvPr id="27" name="anim05_after_row"/>
          <p:cNvSpPr txBox="1"/>
          <p:nvPr/>
        </p:nvSpPr>
        <p:spPr>
          <a:xfrm>
            <a:off x="1325880" y="5577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remember and what to practice this week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hash map?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81328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hash map stores key → value pairs. Give it a key and it hands back the value, without searching. Every Python dict is a hash map.</a:t>
            </a:r>
            <a:endParaRPr lang="en-US" sz="1500" dirty="0"/>
          </a:p>
        </p:txBody>
      </p:sp>
      <p:sp>
        <p:nvSpPr>
          <p:cNvPr id="4" name="anim01_click_pt"/>
          <p:cNvSpPr/>
          <p:nvPr/>
        </p:nvSpPr>
        <p:spPr>
          <a:xfrm>
            <a:off x="749808" y="2679192"/>
            <a:ext cx="256032" cy="25603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5" name="anim01_click_pt"/>
          <p:cNvSpPr txBox="1"/>
          <p:nvPr/>
        </p:nvSpPr>
        <p:spPr>
          <a:xfrm>
            <a:off x="1188720" y="2633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 are unique</a:t>
            </a:r>
            <a:endParaRPr lang="en-US" sz="1500" dirty="0"/>
          </a:p>
        </p:txBody>
      </p:sp>
      <p:sp>
        <p:nvSpPr>
          <p:cNvPr id="6" name="anim01_click_pt"/>
          <p:cNvSpPr txBox="1"/>
          <p:nvPr/>
        </p:nvSpPr>
        <p:spPr>
          <a:xfrm>
            <a:off x="1188720" y="296265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a key that already exists replaces its old value</a:t>
            </a:r>
            <a:endParaRPr lang="en-US" sz="1350" dirty="0"/>
          </a:p>
        </p:txBody>
      </p:sp>
      <p:sp>
        <p:nvSpPr>
          <p:cNvPr id="7" name="anim02_click_pt"/>
          <p:cNvSpPr/>
          <p:nvPr/>
        </p:nvSpPr>
        <p:spPr>
          <a:xfrm>
            <a:off x="749808" y="3703320"/>
            <a:ext cx="256032" cy="25603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8" name="anim02_click_pt"/>
          <p:cNvSpPr txBox="1"/>
          <p:nvPr/>
        </p:nvSpPr>
        <p:spPr>
          <a:xfrm>
            <a:off x="1188720" y="36576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 must be hashable</a:t>
            </a:r>
            <a:endParaRPr lang="en-US" sz="1500" dirty="0"/>
          </a:p>
        </p:txBody>
      </p:sp>
      <p:sp>
        <p:nvSpPr>
          <p:cNvPr id="9" name="anim02_click_pt"/>
          <p:cNvSpPr txBox="1"/>
          <p:nvPr/>
        </p:nvSpPr>
        <p:spPr>
          <a:xfrm>
            <a:off x="1188720" y="398678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Strings, numbers, and tuples work. Lists do not, because they can change.</a:t>
            </a:r>
            <a:endParaRPr lang="en-US" sz="1350" dirty="0"/>
          </a:p>
        </p:txBody>
      </p:sp>
      <p:sp>
        <p:nvSpPr>
          <p:cNvPr id="10" name="anim03_click_pt"/>
          <p:cNvSpPr/>
          <p:nvPr/>
        </p:nvSpPr>
        <p:spPr>
          <a:xfrm>
            <a:off x="749808" y="4727448"/>
            <a:ext cx="256032" cy="256032"/>
          </a:xfrm>
          <a:prstGeom prst="ellipse">
            <a:avLst/>
          </a:prstGeom>
          <a:solidFill>
            <a:srgbClr val="2A9D8F"/>
          </a:solidFill>
          <a:ln w="9525">
            <a:solidFill>
              <a:srgbClr val="2A9D8F"/>
            </a:solidFill>
            <a:prstDash val="solid"/>
          </a:ln>
        </p:spPr>
      </p:sp>
      <p:sp>
        <p:nvSpPr>
          <p:cNvPr id="11" name="anim03_click_pt"/>
          <p:cNvSpPr txBox="1"/>
          <p:nvPr/>
        </p:nvSpPr>
        <p:spPr>
          <a:xfrm>
            <a:off x="1188720" y="4681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 by key is instant</a:t>
            </a:r>
            <a:endParaRPr lang="en-US" sz="1500" dirty="0"/>
          </a:p>
        </p:txBody>
      </p:sp>
      <p:sp>
        <p:nvSpPr>
          <p:cNvPr id="12" name="anim03_click_pt"/>
          <p:cNvSpPr txBox="1"/>
          <p:nvPr/>
        </p:nvSpPr>
        <p:spPr>
          <a:xfrm>
            <a:off x="1188720" y="501091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computes where the key lives, it does not search</a:t>
            </a:r>
            <a:endParaRPr lang="en-US" sz="1350" dirty="0"/>
          </a:p>
        </p:txBody>
      </p:sp>
      <p:sp>
        <p:nvSpPr>
          <p:cNvPr id="13" name="card"/>
          <p:cNvSpPr/>
          <p:nvPr/>
        </p:nvSpPr>
        <p:spPr>
          <a:xfrm>
            <a:off x="6400800" y="1481328"/>
            <a:ext cx="50292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17373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ages = {"ana": 21, "ben": 19, "cy": 22}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22128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0" y="22128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endParaRPr lang="en-US" sz="1000" dirty="0"/>
          </a:p>
        </p:txBody>
      </p:sp>
      <p:sp>
        <p:nvSpPr>
          <p:cNvPr id="17" name="box"/>
          <p:cNvSpPr/>
          <p:nvPr/>
        </p:nvSpPr>
        <p:spPr>
          <a:xfrm>
            <a:off x="6675120" y="2468880"/>
            <a:ext cx="137160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8" name="box"/>
          <p:cNvSpPr txBox="1"/>
          <p:nvPr/>
        </p:nvSpPr>
        <p:spPr>
          <a:xfrm>
            <a:off x="6675120" y="246888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"ana"</a:t>
            </a:r>
            <a:endParaRPr lang="en-US" sz="1400" dirty="0"/>
          </a:p>
        </p:txBody>
      </p:sp>
      <p:sp>
        <p:nvSpPr>
          <p:cNvPr id="19" name="kv"/>
          <p:cNvSpPr/>
          <p:nvPr/>
        </p:nvSpPr>
        <p:spPr>
          <a:xfrm>
            <a:off x="8183880" y="2706624"/>
            <a:ext cx="822960" cy="0"/>
          </a:xfrm>
          <a:prstGeom prst="line">
            <a:avLst/>
          </a:prstGeom>
          <a:noFill/>
          <a:ln w="22225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20" name="box"/>
          <p:cNvSpPr/>
          <p:nvPr/>
        </p:nvSpPr>
        <p:spPr>
          <a:xfrm>
            <a:off x="9144000" y="2468880"/>
            <a:ext cx="100584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1" name="box"/>
          <p:cNvSpPr txBox="1"/>
          <p:nvPr/>
        </p:nvSpPr>
        <p:spPr>
          <a:xfrm>
            <a:off x="9144000" y="2468880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400" dirty="0"/>
          </a:p>
        </p:txBody>
      </p:sp>
      <p:sp>
        <p:nvSpPr>
          <p:cNvPr id="22" name="box"/>
          <p:cNvSpPr/>
          <p:nvPr/>
        </p:nvSpPr>
        <p:spPr>
          <a:xfrm>
            <a:off x="6675120" y="3090672"/>
            <a:ext cx="137160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3" name="box"/>
          <p:cNvSpPr txBox="1"/>
          <p:nvPr/>
        </p:nvSpPr>
        <p:spPr>
          <a:xfrm>
            <a:off x="6675120" y="309067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"ben"</a:t>
            </a:r>
            <a:endParaRPr lang="en-US" sz="1400" dirty="0"/>
          </a:p>
        </p:txBody>
      </p:sp>
      <p:sp>
        <p:nvSpPr>
          <p:cNvPr id="24" name="kv"/>
          <p:cNvSpPr/>
          <p:nvPr/>
        </p:nvSpPr>
        <p:spPr>
          <a:xfrm>
            <a:off x="8183880" y="3328416"/>
            <a:ext cx="822960" cy="0"/>
          </a:xfrm>
          <a:prstGeom prst="line">
            <a:avLst/>
          </a:prstGeom>
          <a:noFill/>
          <a:ln w="22225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25" name="box"/>
          <p:cNvSpPr/>
          <p:nvPr/>
        </p:nvSpPr>
        <p:spPr>
          <a:xfrm>
            <a:off x="9144000" y="3090672"/>
            <a:ext cx="100584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6" name="box"/>
          <p:cNvSpPr txBox="1"/>
          <p:nvPr/>
        </p:nvSpPr>
        <p:spPr>
          <a:xfrm>
            <a:off x="9144000" y="309067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400" dirty="0"/>
          </a:p>
        </p:txBody>
      </p:sp>
      <p:sp>
        <p:nvSpPr>
          <p:cNvPr id="27" name="box"/>
          <p:cNvSpPr/>
          <p:nvPr/>
        </p:nvSpPr>
        <p:spPr>
          <a:xfrm>
            <a:off x="6675120" y="3712464"/>
            <a:ext cx="137160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8" name="box"/>
          <p:cNvSpPr txBox="1"/>
          <p:nvPr/>
        </p:nvSpPr>
        <p:spPr>
          <a:xfrm>
            <a:off x="6675120" y="371246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"cy"</a:t>
            </a:r>
            <a:endParaRPr lang="en-US" sz="1400" dirty="0"/>
          </a:p>
        </p:txBody>
      </p:sp>
      <p:sp>
        <p:nvSpPr>
          <p:cNvPr id="29" name="kv"/>
          <p:cNvSpPr/>
          <p:nvPr/>
        </p:nvSpPr>
        <p:spPr>
          <a:xfrm>
            <a:off x="8183880" y="3950208"/>
            <a:ext cx="822960" cy="0"/>
          </a:xfrm>
          <a:prstGeom prst="line">
            <a:avLst/>
          </a:prstGeom>
          <a:noFill/>
          <a:ln w="22225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30" name="box"/>
          <p:cNvSpPr/>
          <p:nvPr/>
        </p:nvSpPr>
        <p:spPr>
          <a:xfrm>
            <a:off x="9144000" y="3712464"/>
            <a:ext cx="1005840" cy="475488"/>
          </a:xfrm>
          <a:prstGeom prst="roundRect">
            <a:avLst>
              <a:gd name="adj" fmla="val 9615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31" name="box"/>
          <p:cNvSpPr txBox="1"/>
          <p:nvPr/>
        </p:nvSpPr>
        <p:spPr>
          <a:xfrm>
            <a:off x="9144000" y="3712464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400" dirty="0"/>
          </a:p>
        </p:txBody>
      </p:sp>
      <p:sp>
        <p:nvSpPr>
          <p:cNvPr id="32" name="anim03_click_gives"/>
          <p:cNvSpPr txBox="1"/>
          <p:nvPr/>
        </p:nvSpPr>
        <p:spPr>
          <a:xfrm>
            <a:off x="6675120" y="44348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ages["cy"]  gives back  22</a:t>
            </a:r>
            <a:endParaRPr lang="en-US" sz="1400" dirty="0"/>
          </a:p>
        </p:txBody>
      </p:sp>
      <p:sp>
        <p:nvSpPr>
          <p:cNvPr id="33" name="anim03_click_gives"/>
          <p:cNvSpPr txBox="1"/>
          <p:nvPr/>
        </p:nvSpPr>
        <p:spPr>
          <a:xfrm>
            <a:off x="6675120" y="48463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finds it by hashing the key, not by checking each pair. No loop, no matter how many people are in the dict.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32" grpId="0" animBg="1"/>
      <p:bldP spid="3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Python's dict in practice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731520" y="137160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 for this module: Module 2, Strings, plus comfort with loops and Big O.</a:t>
            </a:r>
            <a:endParaRPr lang="en-US" sz="1250" dirty="0"/>
          </a:p>
        </p:txBody>
      </p:sp>
      <p:sp>
        <p:nvSpPr>
          <p:cNvPr id="4" name="anim01_click_card"/>
          <p:cNvSpPr/>
          <p:nvPr/>
        </p:nvSpPr>
        <p:spPr>
          <a:xfrm>
            <a:off x="731520" y="1874520"/>
            <a:ext cx="5239512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anim01_click_card"/>
          <p:cNvSpPr txBox="1"/>
          <p:nvPr/>
        </p:nvSpPr>
        <p:spPr>
          <a:xfrm>
            <a:off x="1005840" y="210312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dict</a:t>
            </a:r>
            <a:endParaRPr lang="en-US" sz="1500" dirty="0"/>
          </a:p>
        </p:txBody>
      </p:sp>
      <p:sp>
        <p:nvSpPr>
          <p:cNvPr id="6" name="anim01_click_card"/>
          <p:cNvSpPr txBox="1"/>
          <p:nvPr/>
        </p:nvSpPr>
        <p:spPr>
          <a:xfrm>
            <a:off x="1005840" y="2468880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Curly braces hold the pairs. Assigning to a key adds it or updates it.</a:t>
            </a:r>
            <a:endParaRPr lang="en-US" sz="1250" dirty="0"/>
          </a:p>
        </p:txBody>
      </p:sp>
      <p:sp>
        <p:nvSpPr>
          <p:cNvPr id="7" name="anim01_click_card"/>
          <p:cNvSpPr/>
          <p:nvPr/>
        </p:nvSpPr>
        <p:spPr>
          <a:xfrm>
            <a:off x="1005840" y="2971800"/>
            <a:ext cx="4690872" cy="1410462"/>
          </a:xfrm>
          <a:prstGeom prst="roundRect">
            <a:avLst>
              <a:gd name="adj" fmla="val 3890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8" name="anim01_click_card"/>
          <p:cNvSpPr txBox="1"/>
          <p:nvPr/>
        </p:nvSpPr>
        <p:spPr>
          <a:xfrm>
            <a:off x="1207008" y="3063240"/>
            <a:ext cx="4288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9" name="anim01_click_card"/>
          <p:cNvSpPr txBox="1"/>
          <p:nvPr/>
        </p:nvSpPr>
        <p:spPr>
          <a:xfrm>
            <a:off x="1207008" y="3319272"/>
            <a:ext cx="4288536" cy="934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ages = {"ana": 21, "ben": 19}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ages["cy"] = 22    # new key: added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ages["ana"] = 22   # old key: updated</a:t>
            </a:r>
            <a:endParaRPr lang="en-US" sz="1300" dirty="0"/>
          </a:p>
        </p:txBody>
      </p:sp>
      <p:sp>
        <p:nvSpPr>
          <p:cNvPr id="10" name="anim01_click_card"/>
          <p:cNvSpPr txBox="1"/>
          <p:nvPr/>
        </p:nvSpPr>
        <p:spPr>
          <a:xfrm>
            <a:off x="1005840" y="4565142"/>
            <a:ext cx="4690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syntax for adding and updating. The dict checks whether the key already exists.</a:t>
            </a:r>
            <a:endParaRPr lang="en-US" sz="1250" dirty="0"/>
          </a:p>
        </p:txBody>
      </p:sp>
      <p:sp>
        <p:nvSpPr>
          <p:cNvPr id="11" name="anim02_click_card"/>
          <p:cNvSpPr/>
          <p:nvPr/>
        </p:nvSpPr>
        <p:spPr>
          <a:xfrm>
            <a:off x="6217920" y="1874520"/>
            <a:ext cx="5239512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2" name="anim02_click_card"/>
          <p:cNvSpPr txBox="1"/>
          <p:nvPr/>
        </p:nvSpPr>
        <p:spPr>
          <a:xfrm>
            <a:off x="6492240" y="2103120"/>
            <a:ext cx="4690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safely</a:t>
            </a:r>
            <a:endParaRPr lang="en-US" sz="1500" dirty="0"/>
          </a:p>
        </p:txBody>
      </p:sp>
      <p:sp>
        <p:nvSpPr>
          <p:cNvPr id="13" name="anim02_click_card"/>
          <p:cNvSpPr txBox="1"/>
          <p:nvPr/>
        </p:nvSpPr>
        <p:spPr>
          <a:xfrm>
            <a:off x="6492240" y="2468880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for a key that is not there is the classic crash.</a:t>
            </a:r>
            <a:endParaRPr lang="en-US" sz="1250" dirty="0"/>
          </a:p>
        </p:txBody>
      </p:sp>
      <p:sp>
        <p:nvSpPr>
          <p:cNvPr id="14" name="anim02_click_card"/>
          <p:cNvSpPr/>
          <p:nvPr/>
        </p:nvSpPr>
        <p:spPr>
          <a:xfrm>
            <a:off x="6492240" y="2971800"/>
            <a:ext cx="4690872" cy="1697736"/>
          </a:xfrm>
          <a:prstGeom prst="roundRect">
            <a:avLst>
              <a:gd name="adj" fmla="val 3232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15" name="anim02_click_card"/>
          <p:cNvSpPr txBox="1"/>
          <p:nvPr/>
        </p:nvSpPr>
        <p:spPr>
          <a:xfrm>
            <a:off x="6693408" y="3063240"/>
            <a:ext cx="4288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6" name="anim02_click_card"/>
          <p:cNvSpPr txBox="1"/>
          <p:nvPr/>
        </p:nvSpPr>
        <p:spPr>
          <a:xfrm>
            <a:off x="6693408" y="3319272"/>
            <a:ext cx="4288536" cy="1222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ages["ana"]          # 22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ages["dee"]          # KeyError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ages.get("dee")      # None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ages.get("dee", 0)   # 0</a:t>
            </a:r>
            <a:endParaRPr lang="en-US" sz="1300" dirty="0"/>
          </a:p>
        </p:txBody>
      </p:sp>
      <p:sp>
        <p:nvSpPr>
          <p:cNvPr id="17" name="anim02_click_card"/>
          <p:cNvSpPr txBox="1"/>
          <p:nvPr/>
        </p:nvSpPr>
        <p:spPr>
          <a:xfrm>
            <a:off x="6492240" y="4852416"/>
            <a:ext cx="4690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with a default is the line you will type most today.</a:t>
            </a:r>
            <a:endParaRPr lang="en-US" sz="1250" dirty="0"/>
          </a:p>
        </p:txBody>
      </p:sp>
      <p:sp>
        <p:nvSpPr>
          <p:cNvPr id="18" name="anim03_click_foot"/>
          <p:cNvSpPr txBox="1"/>
          <p:nvPr/>
        </p:nvSpPr>
        <p:spPr>
          <a:xfrm>
            <a:off x="731520" y="57607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calls it HashMap, C++ calls it unordered_map, JavaScript calls it Map. The costs underneath are the same everywhere.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operations you will use constantly</a:t>
            </a:r>
            <a:endParaRPr lang="en-US" sz="3200" dirty="0"/>
          </a:p>
        </p:txBody>
      </p:sp>
      <p:sp>
        <p:nvSpPr>
          <p:cNvPr id="3" name="anim01_click_op"/>
          <p:cNvSpPr/>
          <p:nvPr/>
        </p:nvSpPr>
        <p:spPr>
          <a:xfrm>
            <a:off x="731520" y="1600200"/>
            <a:ext cx="2510028" cy="2697480"/>
          </a:xfrm>
          <a:prstGeom prst="roundRect">
            <a:avLst>
              <a:gd name="adj" fmla="val 2186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4" name="anim01_click_op"/>
          <p:cNvSpPr txBox="1"/>
          <p:nvPr/>
        </p:nvSpPr>
        <p:spPr>
          <a:xfrm>
            <a:off x="960120" y="1828800"/>
            <a:ext cx="2052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or update</a:t>
            </a:r>
            <a:endParaRPr lang="en-US" sz="1500" dirty="0"/>
          </a:p>
        </p:txBody>
      </p:sp>
      <p:sp>
        <p:nvSpPr>
          <p:cNvPr id="5" name="anim01_click_op"/>
          <p:cNvSpPr txBox="1"/>
          <p:nvPr/>
        </p:nvSpPr>
        <p:spPr>
          <a:xfrm>
            <a:off x="960120" y="2194560"/>
            <a:ext cx="2052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value under a key.</a:t>
            </a:r>
            <a:endParaRPr lang="en-US" sz="1250" dirty="0"/>
          </a:p>
        </p:txBody>
      </p:sp>
      <p:sp>
        <p:nvSpPr>
          <p:cNvPr id="6" name="anim01_click_op"/>
          <p:cNvSpPr/>
          <p:nvPr/>
        </p:nvSpPr>
        <p:spPr>
          <a:xfrm>
            <a:off x="960120" y="2697480"/>
            <a:ext cx="2052828" cy="777240"/>
          </a:xfrm>
          <a:prstGeom prst="roundRect">
            <a:avLst>
              <a:gd name="adj" fmla="val 5882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7" name="anim01_click_op"/>
          <p:cNvSpPr txBox="1"/>
          <p:nvPr/>
        </p:nvSpPr>
        <p:spPr>
          <a:xfrm>
            <a:off x="1115568" y="2697480"/>
            <a:ext cx="17419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d[k] = v</a:t>
            </a:r>
            <a:endParaRPr lang="en-US" sz="1300" dirty="0"/>
          </a:p>
        </p:txBody>
      </p:sp>
      <p:sp>
        <p:nvSpPr>
          <p:cNvPr id="8" name="anim01_click_op"/>
          <p:cNvSpPr txBox="1"/>
          <p:nvPr/>
        </p:nvSpPr>
        <p:spPr>
          <a:xfrm>
            <a:off x="960120" y="3703320"/>
            <a:ext cx="20528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400" dirty="0"/>
          </a:p>
        </p:txBody>
      </p:sp>
      <p:sp>
        <p:nvSpPr>
          <p:cNvPr id="9" name="anim02_click_op"/>
          <p:cNvSpPr/>
          <p:nvPr/>
        </p:nvSpPr>
        <p:spPr>
          <a:xfrm>
            <a:off x="3470148" y="1600200"/>
            <a:ext cx="2510028" cy="2697480"/>
          </a:xfrm>
          <a:prstGeom prst="roundRect">
            <a:avLst>
              <a:gd name="adj" fmla="val 2186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0" name="anim02_click_op"/>
          <p:cNvSpPr txBox="1"/>
          <p:nvPr/>
        </p:nvSpPr>
        <p:spPr>
          <a:xfrm>
            <a:off x="3698748" y="1828800"/>
            <a:ext cx="2052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</a:t>
            </a:r>
            <a:endParaRPr lang="en-US" sz="1500" dirty="0"/>
          </a:p>
        </p:txBody>
      </p:sp>
      <p:sp>
        <p:nvSpPr>
          <p:cNvPr id="11" name="anim02_click_op"/>
          <p:cNvSpPr txBox="1"/>
          <p:nvPr/>
        </p:nvSpPr>
        <p:spPr>
          <a:xfrm>
            <a:off x="3698748" y="2194560"/>
            <a:ext cx="2052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value for a key.</a:t>
            </a:r>
            <a:endParaRPr lang="en-US" sz="1250" dirty="0"/>
          </a:p>
        </p:txBody>
      </p:sp>
      <p:sp>
        <p:nvSpPr>
          <p:cNvPr id="12" name="anim02_click_op"/>
          <p:cNvSpPr/>
          <p:nvPr/>
        </p:nvSpPr>
        <p:spPr>
          <a:xfrm>
            <a:off x="3698748" y="2697480"/>
            <a:ext cx="2052828" cy="777240"/>
          </a:xfrm>
          <a:prstGeom prst="roundRect">
            <a:avLst>
              <a:gd name="adj" fmla="val 5882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13" name="anim02_click_op"/>
          <p:cNvSpPr txBox="1"/>
          <p:nvPr/>
        </p:nvSpPr>
        <p:spPr>
          <a:xfrm>
            <a:off x="3854196" y="2697480"/>
            <a:ext cx="17419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d[k]</a:t>
            </a:r>
            <a:endParaRPr lang="en-US" sz="1300" dirty="0"/>
          </a:p>
        </p:txBody>
      </p:sp>
      <p:sp>
        <p:nvSpPr>
          <p:cNvPr id="14" name="anim02_click_op"/>
          <p:cNvSpPr txBox="1"/>
          <p:nvPr/>
        </p:nvSpPr>
        <p:spPr>
          <a:xfrm>
            <a:off x="3698748" y="3703320"/>
            <a:ext cx="20528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400" dirty="0"/>
          </a:p>
        </p:txBody>
      </p:sp>
      <p:sp>
        <p:nvSpPr>
          <p:cNvPr id="15" name="anim03_click_op"/>
          <p:cNvSpPr/>
          <p:nvPr/>
        </p:nvSpPr>
        <p:spPr>
          <a:xfrm>
            <a:off x="6208776" y="1600200"/>
            <a:ext cx="2510028" cy="2697480"/>
          </a:xfrm>
          <a:prstGeom prst="roundRect">
            <a:avLst>
              <a:gd name="adj" fmla="val 2186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6" name="anim03_click_op"/>
          <p:cNvSpPr txBox="1"/>
          <p:nvPr/>
        </p:nvSpPr>
        <p:spPr>
          <a:xfrm>
            <a:off x="6437376" y="1828800"/>
            <a:ext cx="2052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500" dirty="0"/>
          </a:p>
        </p:txBody>
      </p:sp>
      <p:sp>
        <p:nvSpPr>
          <p:cNvPr id="17" name="anim03_click_op"/>
          <p:cNvSpPr txBox="1"/>
          <p:nvPr/>
        </p:nvSpPr>
        <p:spPr>
          <a:xfrm>
            <a:off x="6437376" y="2194560"/>
            <a:ext cx="2052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whether a key exists.</a:t>
            </a:r>
            <a:endParaRPr lang="en-US" sz="1250" dirty="0"/>
          </a:p>
        </p:txBody>
      </p:sp>
      <p:sp>
        <p:nvSpPr>
          <p:cNvPr id="18" name="anim03_click_op"/>
          <p:cNvSpPr/>
          <p:nvPr/>
        </p:nvSpPr>
        <p:spPr>
          <a:xfrm>
            <a:off x="6437376" y="2697480"/>
            <a:ext cx="2052828" cy="777240"/>
          </a:xfrm>
          <a:prstGeom prst="roundRect">
            <a:avLst>
              <a:gd name="adj" fmla="val 5882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19" name="anim03_click_op"/>
          <p:cNvSpPr txBox="1"/>
          <p:nvPr/>
        </p:nvSpPr>
        <p:spPr>
          <a:xfrm>
            <a:off x="6592824" y="2697480"/>
            <a:ext cx="17419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k in d:</a:t>
            </a:r>
            <a:endParaRPr lang="en-US" sz="1300" dirty="0"/>
          </a:p>
        </p:txBody>
      </p:sp>
      <p:sp>
        <p:nvSpPr>
          <p:cNvPr id="20" name="anim03_click_op"/>
          <p:cNvSpPr txBox="1"/>
          <p:nvPr/>
        </p:nvSpPr>
        <p:spPr>
          <a:xfrm>
            <a:off x="6437376" y="3703320"/>
            <a:ext cx="20528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400" dirty="0"/>
          </a:p>
        </p:txBody>
      </p:sp>
      <p:sp>
        <p:nvSpPr>
          <p:cNvPr id="21" name="anim04_click_op"/>
          <p:cNvSpPr/>
          <p:nvPr/>
        </p:nvSpPr>
        <p:spPr>
          <a:xfrm>
            <a:off x="8947404" y="1600200"/>
            <a:ext cx="2510028" cy="2697480"/>
          </a:xfrm>
          <a:prstGeom prst="roundRect">
            <a:avLst>
              <a:gd name="adj" fmla="val 2186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2" name="anim04_click_op"/>
          <p:cNvSpPr txBox="1"/>
          <p:nvPr/>
        </p:nvSpPr>
        <p:spPr>
          <a:xfrm>
            <a:off x="9176004" y="1828800"/>
            <a:ext cx="2052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</a:t>
            </a:r>
            <a:endParaRPr lang="en-US" sz="1500" dirty="0"/>
          </a:p>
        </p:txBody>
      </p:sp>
      <p:sp>
        <p:nvSpPr>
          <p:cNvPr id="23" name="anim04_click_op"/>
          <p:cNvSpPr txBox="1"/>
          <p:nvPr/>
        </p:nvSpPr>
        <p:spPr>
          <a:xfrm>
            <a:off x="9176004" y="2194560"/>
            <a:ext cx="20528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 key and its value.</a:t>
            </a:r>
            <a:endParaRPr lang="en-US" sz="1250" dirty="0"/>
          </a:p>
        </p:txBody>
      </p:sp>
      <p:sp>
        <p:nvSpPr>
          <p:cNvPr id="24" name="anim04_click_op"/>
          <p:cNvSpPr/>
          <p:nvPr/>
        </p:nvSpPr>
        <p:spPr>
          <a:xfrm>
            <a:off x="9176004" y="2697480"/>
            <a:ext cx="2052828" cy="777240"/>
          </a:xfrm>
          <a:prstGeom prst="roundRect">
            <a:avLst>
              <a:gd name="adj" fmla="val 5882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25" name="anim04_click_op"/>
          <p:cNvSpPr txBox="1"/>
          <p:nvPr/>
        </p:nvSpPr>
        <p:spPr>
          <a:xfrm>
            <a:off x="9331452" y="2697480"/>
            <a:ext cx="17419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 d[k]</a:t>
            </a:r>
            <a:endParaRPr lang="en-US" sz="1300" dirty="0"/>
          </a:p>
        </p:txBody>
      </p:sp>
      <p:sp>
        <p:nvSpPr>
          <p:cNvPr id="26" name="anim04_click_op"/>
          <p:cNvSpPr txBox="1"/>
          <p:nvPr/>
        </p:nvSpPr>
        <p:spPr>
          <a:xfrm>
            <a:off x="9176004" y="3703320"/>
            <a:ext cx="20528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400" dirty="0"/>
          </a:p>
        </p:txBody>
      </p:sp>
      <p:sp>
        <p:nvSpPr>
          <p:cNvPr id="27" name="anim05_click_note"/>
          <p:cNvSpPr/>
          <p:nvPr/>
        </p:nvSpPr>
        <p:spPr>
          <a:xfrm>
            <a:off x="731520" y="4572000"/>
            <a:ext cx="1072591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8" name="anim05_click_note"/>
          <p:cNvSpPr txBox="1"/>
          <p:nvPr/>
        </p:nvSpPr>
        <p:spPr>
          <a:xfrm>
            <a:off x="1005840" y="4572000"/>
            <a:ext cx="10177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from these. </a:t>
            </a:r>
            <a:pPr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one lookup and one update: </a:t>
            </a:r>
            <a:pPr indent="0" marL="0">
              <a:buNone/>
            </a:pPr>
            <a:r>
              <a:rPr lang="en-US" sz="13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counts[x] = counts.get(x, 0) + 1</a:t>
            </a:r>
            <a:pPr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Most easy hash map problems are exactly this shape.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key finds its bucket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731520" y="137160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"apple" with the value 1.25 in a table of 8 buckets</a:t>
            </a:r>
            <a:endParaRPr lang="en-US" sz="1300" dirty="0"/>
          </a:p>
        </p:txBody>
      </p:sp>
      <p:sp>
        <p:nvSpPr>
          <p:cNvPr id="4" name="anim01_click_step"/>
          <p:cNvSpPr/>
          <p:nvPr/>
        </p:nvSpPr>
        <p:spPr>
          <a:xfrm>
            <a:off x="731520" y="1828800"/>
            <a:ext cx="2971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anim01_click_step"/>
          <p:cNvSpPr txBox="1"/>
          <p:nvPr/>
        </p:nvSpPr>
        <p:spPr>
          <a:xfrm>
            <a:off x="960120" y="19659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key</a:t>
            </a:r>
            <a:endParaRPr lang="en-US" sz="1400" dirty="0"/>
          </a:p>
        </p:txBody>
      </p:sp>
      <p:sp>
        <p:nvSpPr>
          <p:cNvPr id="6" name="anim01_click_step"/>
          <p:cNvSpPr txBox="1"/>
          <p:nvPr/>
        </p:nvSpPr>
        <p:spPr>
          <a:xfrm>
            <a:off x="960120" y="22860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"apple"</a:t>
            </a:r>
            <a:endParaRPr lang="en-US" sz="1500" dirty="0"/>
          </a:p>
        </p:txBody>
      </p:sp>
      <p:sp>
        <p:nvSpPr>
          <p:cNvPr id="7" name="anim01_click_step"/>
          <p:cNvSpPr txBox="1"/>
          <p:nvPr/>
        </p:nvSpPr>
        <p:spPr>
          <a:xfrm>
            <a:off x="960120" y="2615184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hashable value</a:t>
            </a:r>
            <a:endParaRPr lang="en-US" sz="1150" dirty="0"/>
          </a:p>
        </p:txBody>
      </p:sp>
      <p:sp>
        <p:nvSpPr>
          <p:cNvPr id="8" name="anim02_after_step"/>
          <p:cNvSpPr/>
          <p:nvPr/>
        </p:nvSpPr>
        <p:spPr>
          <a:xfrm>
            <a:off x="4599432" y="1828800"/>
            <a:ext cx="2971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9" name="anim02_after_step"/>
          <p:cNvSpPr txBox="1"/>
          <p:nvPr/>
        </p:nvSpPr>
        <p:spPr>
          <a:xfrm>
            <a:off x="4828032" y="19659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Hash it</a:t>
            </a:r>
            <a:endParaRPr lang="en-US" sz="1400" dirty="0"/>
          </a:p>
        </p:txBody>
      </p:sp>
      <p:sp>
        <p:nvSpPr>
          <p:cNvPr id="10" name="anim02_after_step"/>
          <p:cNvSpPr txBox="1"/>
          <p:nvPr/>
        </p:nvSpPr>
        <p:spPr>
          <a:xfrm>
            <a:off x="4828032" y="22860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hash("apple")</a:t>
            </a:r>
            <a:endParaRPr lang="en-US" sz="1500" dirty="0"/>
          </a:p>
        </p:txBody>
      </p:sp>
      <p:sp>
        <p:nvSpPr>
          <p:cNvPr id="11" name="anim02_after_step"/>
          <p:cNvSpPr txBox="1"/>
          <p:nvPr/>
        </p:nvSpPr>
        <p:spPr>
          <a:xfrm>
            <a:off x="4828032" y="2615184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integer, the same every time during this run</a:t>
            </a:r>
            <a:endParaRPr lang="en-US" sz="1150" dirty="0"/>
          </a:p>
        </p:txBody>
      </p:sp>
      <p:sp>
        <p:nvSpPr>
          <p:cNvPr id="12" name="anim02_after_step"/>
          <p:cNvSpPr/>
          <p:nvPr/>
        </p:nvSpPr>
        <p:spPr>
          <a:xfrm>
            <a:off x="3813048" y="2441448"/>
            <a:ext cx="676656" cy="0"/>
          </a:xfrm>
          <a:prstGeom prst="line">
            <a:avLst/>
          </a:prstGeom>
          <a:noFill/>
          <a:ln w="22225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3" name="anim03_after_step"/>
          <p:cNvSpPr/>
          <p:nvPr/>
        </p:nvSpPr>
        <p:spPr>
          <a:xfrm>
            <a:off x="8485632" y="1828800"/>
            <a:ext cx="2971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4" name="anim03_after_step"/>
          <p:cNvSpPr txBox="1"/>
          <p:nvPr/>
        </p:nvSpPr>
        <p:spPr>
          <a:xfrm>
            <a:off x="8714232" y="19659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Fit it to the table</a:t>
            </a:r>
            <a:endParaRPr lang="en-US" sz="1400" dirty="0"/>
          </a:p>
        </p:txBody>
      </p:sp>
      <p:sp>
        <p:nvSpPr>
          <p:cNvPr id="15" name="anim03_after_step"/>
          <p:cNvSpPr txBox="1"/>
          <p:nvPr/>
        </p:nvSpPr>
        <p:spPr>
          <a:xfrm>
            <a:off x="8714232" y="228600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 8  →  3</a:t>
            </a:r>
            <a:endParaRPr lang="en-US" sz="1500" dirty="0"/>
          </a:p>
        </p:txBody>
      </p:sp>
      <p:sp>
        <p:nvSpPr>
          <p:cNvPr id="16" name="anim03_after_step"/>
          <p:cNvSpPr txBox="1"/>
          <p:nvPr/>
        </p:nvSpPr>
        <p:spPr>
          <a:xfrm>
            <a:off x="8714232" y="2615184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remainder picks one of the 8 buckets</a:t>
            </a:r>
            <a:endParaRPr lang="en-US" sz="1150" dirty="0"/>
          </a:p>
        </p:txBody>
      </p:sp>
      <p:sp>
        <p:nvSpPr>
          <p:cNvPr id="17" name="anim03_after_step"/>
          <p:cNvSpPr/>
          <p:nvPr/>
        </p:nvSpPr>
        <p:spPr>
          <a:xfrm>
            <a:off x="7680960" y="2441448"/>
            <a:ext cx="694944" cy="0"/>
          </a:xfrm>
          <a:prstGeom prst="line">
            <a:avLst/>
          </a:prstGeom>
          <a:noFill/>
          <a:ln w="22225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731520" y="331012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buckets</a:t>
            </a:r>
            <a:endParaRPr lang="en-US" sz="1000" dirty="0"/>
          </a:p>
        </p:txBody>
      </p:sp>
      <p:sp>
        <p:nvSpPr>
          <p:cNvPr id="19" name="bucket"/>
          <p:cNvSpPr/>
          <p:nvPr/>
        </p:nvSpPr>
        <p:spPr>
          <a:xfrm>
            <a:off x="731520" y="3566160"/>
            <a:ext cx="1188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1696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</p:txBody>
      </p:sp>
      <p:sp>
        <p:nvSpPr>
          <p:cNvPr id="21" name="bucket"/>
          <p:cNvSpPr/>
          <p:nvPr/>
        </p:nvSpPr>
        <p:spPr>
          <a:xfrm>
            <a:off x="2093976" y="3566160"/>
            <a:ext cx="1188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093976" y="41696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bucket"/>
          <p:cNvSpPr/>
          <p:nvPr/>
        </p:nvSpPr>
        <p:spPr>
          <a:xfrm>
            <a:off x="3456432" y="3566160"/>
            <a:ext cx="1188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56432" y="41696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bucket"/>
          <p:cNvSpPr/>
          <p:nvPr/>
        </p:nvSpPr>
        <p:spPr>
          <a:xfrm>
            <a:off x="4818888" y="3566160"/>
            <a:ext cx="1188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18888" y="41696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bucket"/>
          <p:cNvSpPr/>
          <p:nvPr/>
        </p:nvSpPr>
        <p:spPr>
          <a:xfrm>
            <a:off x="6181344" y="3566160"/>
            <a:ext cx="1188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81344" y="41696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bucket"/>
          <p:cNvSpPr/>
          <p:nvPr/>
        </p:nvSpPr>
        <p:spPr>
          <a:xfrm>
            <a:off x="7543800" y="3566160"/>
            <a:ext cx="1188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43800" y="41696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bucket"/>
          <p:cNvSpPr/>
          <p:nvPr/>
        </p:nvSpPr>
        <p:spPr>
          <a:xfrm>
            <a:off x="8906256" y="3566160"/>
            <a:ext cx="1188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06256" y="41696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bucket"/>
          <p:cNvSpPr/>
          <p:nvPr/>
        </p:nvSpPr>
        <p:spPr>
          <a:xfrm>
            <a:off x="10268712" y="3566160"/>
            <a:ext cx="1188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268712" y="41696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94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anim04_click_hit"/>
          <p:cNvSpPr/>
          <p:nvPr/>
        </p:nvSpPr>
        <p:spPr>
          <a:xfrm>
            <a:off x="4818888" y="3566160"/>
            <a:ext cx="1188720" cy="566928"/>
          </a:xfrm>
          <a:prstGeom prst="roundRect">
            <a:avLst>
              <a:gd name="adj" fmla="val 8065"/>
            </a:avLst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36" name="anim04_click_hit"/>
          <p:cNvSpPr txBox="1"/>
          <p:nvPr/>
        </p:nvSpPr>
        <p:spPr>
          <a:xfrm>
            <a:off x="4818888" y="3566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"apple": 1.25</a:t>
            </a:r>
            <a:endParaRPr lang="en-US" sz="1150" dirty="0"/>
          </a:p>
        </p:txBody>
      </p:sp>
      <p:sp>
        <p:nvSpPr>
          <p:cNvPr id="37" name="anim05_click_use"/>
          <p:cNvSpPr/>
          <p:nvPr/>
        </p:nvSpPr>
        <p:spPr>
          <a:xfrm>
            <a:off x="731520" y="4617720"/>
            <a:ext cx="52578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38" name="anim05_click_use"/>
          <p:cNvSpPr txBox="1"/>
          <p:nvPr/>
        </p:nvSpPr>
        <p:spPr>
          <a:xfrm>
            <a:off x="1005840" y="46177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Storing:  </a:t>
            </a:r>
            <a:pPr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the key, jump to bucket 3, and put the pair there.</a:t>
            </a:r>
            <a:endParaRPr lang="en-US" sz="1300" dirty="0"/>
          </a:p>
        </p:txBody>
      </p:sp>
      <p:sp>
        <p:nvSpPr>
          <p:cNvPr id="39" name="anim05_click_use"/>
          <p:cNvSpPr/>
          <p:nvPr/>
        </p:nvSpPr>
        <p:spPr>
          <a:xfrm>
            <a:off x="6199632" y="4617720"/>
            <a:ext cx="525780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40" name="anim05_click_use"/>
          <p:cNvSpPr txBox="1"/>
          <p:nvPr/>
        </p:nvSpPr>
        <p:spPr>
          <a:xfrm>
            <a:off x="6473952" y="46177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up:  </a:t>
            </a:r>
            <a:pPr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the key again. Same key, same bucket, so 1.25 comes straight back.</a:t>
            </a:r>
            <a:endParaRPr lang="en-US" sz="1300" dirty="0"/>
          </a:p>
        </p:txBody>
      </p:sp>
      <p:sp>
        <p:nvSpPr>
          <p:cNvPr id="41" name="anim05_click_use"/>
          <p:cNvSpPr txBox="1"/>
          <p:nvPr/>
        </p:nvSpPr>
        <p:spPr>
          <a:xfrm>
            <a:off x="731520" y="57150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hash values are huge and change between runs. Bucket 3 is just this example.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two keys want the same bucket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731520" y="137160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8 buckets and endless possible keys, so collisions are guaranteed. Every hash map plans for them.</a:t>
            </a:r>
            <a:endParaRPr lang="en-US" sz="1300" dirty="0"/>
          </a:p>
        </p:txBody>
      </p:sp>
      <p:sp>
        <p:nvSpPr>
          <p:cNvPr id="4" name="anim01_click_two"/>
          <p:cNvSpPr txBox="1"/>
          <p:nvPr/>
        </p:nvSpPr>
        <p:spPr>
          <a:xfrm>
            <a:off x="7315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keys, one bucket</a:t>
            </a:r>
            <a:endParaRPr lang="en-US" sz="1400" dirty="0"/>
          </a:p>
        </p:txBody>
      </p:sp>
      <p:sp>
        <p:nvSpPr>
          <p:cNvPr id="5" name="anim01_click_two"/>
          <p:cNvSpPr txBox="1"/>
          <p:nvPr/>
        </p:nvSpPr>
        <p:spPr>
          <a:xfrm>
            <a:off x="731520" y="21762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hash("apple") % 8  →  3</a:t>
            </a:r>
            <a:endParaRPr lang="en-US" sz="1300" dirty="0"/>
          </a:p>
        </p:txBody>
      </p:sp>
      <p:sp>
        <p:nvSpPr>
          <p:cNvPr id="6" name="anim01_click_two"/>
          <p:cNvSpPr txBox="1"/>
          <p:nvPr/>
        </p:nvSpPr>
        <p:spPr>
          <a:xfrm>
            <a:off x="731520" y="2468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hash("grape") % 8  →  3</a:t>
            </a:r>
            <a:endParaRPr lang="en-US" sz="1300" dirty="0"/>
          </a:p>
        </p:txBody>
      </p:sp>
      <p:sp>
        <p:nvSpPr>
          <p:cNvPr id="7" name="anim02_click_chain"/>
          <p:cNvSpPr txBox="1"/>
          <p:nvPr/>
        </p:nvSpPr>
        <p:spPr>
          <a:xfrm>
            <a:off x="73152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Chaining keeps both in a list</a:t>
            </a:r>
            <a:endParaRPr lang="en-US" sz="1400" dirty="0"/>
          </a:p>
        </p:txBody>
      </p:sp>
      <p:sp>
        <p:nvSpPr>
          <p:cNvPr id="8" name="anim02_click_chain"/>
          <p:cNvSpPr/>
          <p:nvPr/>
        </p:nvSpPr>
        <p:spPr>
          <a:xfrm>
            <a:off x="731520" y="3337560"/>
            <a:ext cx="731520" cy="530352"/>
          </a:xfrm>
          <a:prstGeom prst="roundRect">
            <a:avLst>
              <a:gd name="adj" fmla="val 8621"/>
            </a:avLst>
          </a:prstGeom>
          <a:solidFill>
            <a:srgbClr val="1F2333"/>
          </a:solidFill>
          <a:ln w="9525">
            <a:solidFill>
              <a:srgbClr val="1F2333"/>
            </a:solidFill>
            <a:prstDash val="solid"/>
          </a:ln>
        </p:spPr>
      </p:sp>
      <p:sp>
        <p:nvSpPr>
          <p:cNvPr id="9" name="anim02_click_chain"/>
          <p:cNvSpPr txBox="1"/>
          <p:nvPr/>
        </p:nvSpPr>
        <p:spPr>
          <a:xfrm>
            <a:off x="731520" y="3337560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</a:t>
            </a:r>
            <a:endParaRPr lang="en-US" sz="1300" dirty="0"/>
          </a:p>
        </p:txBody>
      </p:sp>
      <p:sp>
        <p:nvSpPr>
          <p:cNvPr id="10" name="anim02_click_chain"/>
          <p:cNvSpPr/>
          <p:nvPr/>
        </p:nvSpPr>
        <p:spPr>
          <a:xfrm>
            <a:off x="1536192" y="3602736"/>
            <a:ext cx="521208" cy="0"/>
          </a:xfrm>
          <a:prstGeom prst="line">
            <a:avLst/>
          </a:prstGeom>
          <a:noFill/>
          <a:ln w="22225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1" name="anim02_click_chain"/>
          <p:cNvSpPr/>
          <p:nvPr/>
        </p:nvSpPr>
        <p:spPr>
          <a:xfrm>
            <a:off x="2130552" y="3337560"/>
            <a:ext cx="160020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2" name="anim02_click_chain"/>
          <p:cNvSpPr txBox="1"/>
          <p:nvPr/>
        </p:nvSpPr>
        <p:spPr>
          <a:xfrm>
            <a:off x="2130552" y="33375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apple: 1.25</a:t>
            </a:r>
            <a:endParaRPr lang="en-US" sz="1200" dirty="0"/>
          </a:p>
        </p:txBody>
      </p:sp>
      <p:sp>
        <p:nvSpPr>
          <p:cNvPr id="13" name="anim02_click_chain"/>
          <p:cNvSpPr/>
          <p:nvPr/>
        </p:nvSpPr>
        <p:spPr>
          <a:xfrm>
            <a:off x="3803904" y="3602736"/>
            <a:ext cx="521208" cy="0"/>
          </a:xfrm>
          <a:prstGeom prst="line">
            <a:avLst/>
          </a:prstGeom>
          <a:noFill/>
          <a:ln w="22225">
            <a:solidFill>
              <a:srgbClr val="FF6B35"/>
            </a:solidFill>
            <a:prstDash val="solid"/>
            <a:tailEnd type="triangle"/>
          </a:ln>
        </p:spPr>
      </p:sp>
      <p:sp>
        <p:nvSpPr>
          <p:cNvPr id="14" name="anim02_click_chain"/>
          <p:cNvSpPr/>
          <p:nvPr/>
        </p:nvSpPr>
        <p:spPr>
          <a:xfrm>
            <a:off x="4398264" y="3337560"/>
            <a:ext cx="1600200" cy="530352"/>
          </a:xfrm>
          <a:prstGeom prst="roundRect">
            <a:avLst>
              <a:gd name="adj" fmla="val 8621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15" name="anim02_click_chain"/>
          <p:cNvSpPr txBox="1"/>
          <p:nvPr/>
        </p:nvSpPr>
        <p:spPr>
          <a:xfrm>
            <a:off x="4398264" y="33375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grape: 2.40</a:t>
            </a:r>
            <a:endParaRPr lang="en-US" sz="1200" dirty="0"/>
          </a:p>
        </p:txBody>
      </p:sp>
      <p:sp>
        <p:nvSpPr>
          <p:cNvPr id="16" name="anim03_click_open"/>
          <p:cNvSpPr txBox="1"/>
          <p:nvPr/>
        </p:nvSpPr>
        <p:spPr>
          <a:xfrm>
            <a:off x="7315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addressing moves one over</a:t>
            </a:r>
            <a:endParaRPr lang="en-US" sz="1400" dirty="0"/>
          </a:p>
        </p:txBody>
      </p:sp>
      <p:sp>
        <p:nvSpPr>
          <p:cNvPr id="17" name="anim03_click_open"/>
          <p:cNvSpPr/>
          <p:nvPr/>
        </p:nvSpPr>
        <p:spPr>
          <a:xfrm>
            <a:off x="731520" y="4526280"/>
            <a:ext cx="1252728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8" name="anim03_click_open"/>
          <p:cNvSpPr txBox="1"/>
          <p:nvPr/>
        </p:nvSpPr>
        <p:spPr>
          <a:xfrm>
            <a:off x="731520" y="4526280"/>
            <a:ext cx="1252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[2]</a:t>
            </a:r>
            <a:endParaRPr lang="en-US" sz="1200" dirty="0"/>
          </a:p>
        </p:txBody>
      </p:sp>
      <p:sp>
        <p:nvSpPr>
          <p:cNvPr id="19" name="anim03_click_open"/>
          <p:cNvSpPr/>
          <p:nvPr/>
        </p:nvSpPr>
        <p:spPr>
          <a:xfrm>
            <a:off x="2075688" y="4526280"/>
            <a:ext cx="1252728" cy="530352"/>
          </a:xfrm>
          <a:prstGeom prst="roundRect">
            <a:avLst>
              <a:gd name="adj" fmla="val 8621"/>
            </a:avLst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20" name="anim03_click_open"/>
          <p:cNvSpPr txBox="1"/>
          <p:nvPr/>
        </p:nvSpPr>
        <p:spPr>
          <a:xfrm>
            <a:off x="2075688" y="4526280"/>
            <a:ext cx="1252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 apple</a:t>
            </a:r>
            <a:endParaRPr lang="en-US" sz="1200" dirty="0"/>
          </a:p>
        </p:txBody>
      </p:sp>
      <p:sp>
        <p:nvSpPr>
          <p:cNvPr id="21" name="anim03_click_open"/>
          <p:cNvSpPr/>
          <p:nvPr/>
        </p:nvSpPr>
        <p:spPr>
          <a:xfrm>
            <a:off x="3419856" y="4526280"/>
            <a:ext cx="1252728" cy="530352"/>
          </a:xfrm>
          <a:prstGeom prst="roundRect">
            <a:avLst>
              <a:gd name="adj" fmla="val 8621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22" name="anim03_click_open"/>
          <p:cNvSpPr txBox="1"/>
          <p:nvPr/>
        </p:nvSpPr>
        <p:spPr>
          <a:xfrm>
            <a:off x="3419856" y="4526280"/>
            <a:ext cx="1252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[4] grape</a:t>
            </a:r>
            <a:endParaRPr lang="en-US" sz="1200" dirty="0"/>
          </a:p>
        </p:txBody>
      </p:sp>
      <p:sp>
        <p:nvSpPr>
          <p:cNvPr id="23" name="anim03_click_open"/>
          <p:cNvSpPr/>
          <p:nvPr/>
        </p:nvSpPr>
        <p:spPr>
          <a:xfrm>
            <a:off x="4764024" y="4526280"/>
            <a:ext cx="1252728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4" name="anim03_click_open"/>
          <p:cNvSpPr txBox="1"/>
          <p:nvPr/>
        </p:nvSpPr>
        <p:spPr>
          <a:xfrm>
            <a:off x="4764024" y="4526280"/>
            <a:ext cx="1252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[5]</a:t>
            </a:r>
            <a:endParaRPr lang="en-US" sz="1200" dirty="0"/>
          </a:p>
        </p:txBody>
      </p:sp>
      <p:sp>
        <p:nvSpPr>
          <p:cNvPr id="25" name="anim03_click_open"/>
          <p:cNvSpPr txBox="1"/>
          <p:nvPr/>
        </p:nvSpPr>
        <p:spPr>
          <a:xfrm>
            <a:off x="731520" y="5138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grape probes to the next open slot</a:t>
            </a:r>
            <a:endParaRPr lang="en-US" sz="1150" dirty="0"/>
          </a:p>
        </p:txBody>
      </p:sp>
      <p:sp>
        <p:nvSpPr>
          <p:cNvPr id="26" name="anim04_click_take"/>
          <p:cNvSpPr/>
          <p:nvPr/>
        </p:nvSpPr>
        <p:spPr>
          <a:xfrm>
            <a:off x="6675120" y="1828800"/>
            <a:ext cx="4782312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7" name="anim04_click_take"/>
          <p:cNvSpPr txBox="1"/>
          <p:nvPr/>
        </p:nvSpPr>
        <p:spPr>
          <a:xfrm>
            <a:off x="6949440" y="2029968"/>
            <a:ext cx="4233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500" dirty="0"/>
          </a:p>
        </p:txBody>
      </p:sp>
      <p:sp>
        <p:nvSpPr>
          <p:cNvPr id="28" name="anim04_click_take"/>
          <p:cNvSpPr txBox="1"/>
          <p:nvPr/>
        </p:nvSpPr>
        <p:spPr>
          <a:xfrm>
            <a:off x="6949440" y="2514600"/>
            <a:ext cx="423367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5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Chaining: </a:t>
            </a:r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bucket holds a small list, and a lookup scans only that list.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addressing: </a:t>
            </a:r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bucket is taken, try the next one. Python's dict works this way.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Resizing: </a:t>
            </a:r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table is about two-thirds full, Python builds a bigger one and rehashes every key.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case: </a:t>
            </a:r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key collides and a lookup scans all n of them. That is the O(n) on the next slide.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operation costs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731520" y="137160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Interviewers expect you to say these without hesitating.</a:t>
            </a:r>
            <a:endParaRPr lang="en-US" sz="13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28800"/>
          <a:ext cx="10725912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417320"/>
                <a:gridCol w="1417320"/>
                <a:gridCol w="47365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Average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Worst case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d[k] = v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9D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 the key and drop the pair in its bucket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d[k]  or  d.get(k)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9D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 the key and go straight to the bucket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 in 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9D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as a lookup, the value is just ignored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 d[k]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9D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bucket and remove the 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3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 k, v in d.items()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0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pair is visited once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anim01_click_foot"/>
          <p:cNvSpPr txBox="1"/>
          <p:nvPr/>
        </p:nvSpPr>
        <p:spPr>
          <a:xfrm>
            <a:off x="731520" y="51206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means many keys landed in one bucket. Good hash functions and resizing make that rare, which is why people quote O(1) average.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space for time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731520" y="137160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hash map spends memory to remember what you have seen, so you never search for it twice.</a:t>
            </a:r>
            <a:endParaRPr lang="en-US" sz="1300" dirty="0"/>
          </a:p>
        </p:txBody>
      </p:sp>
      <p:sp>
        <p:nvSpPr>
          <p:cNvPr id="4" name="anim01_click_row"/>
          <p:cNvSpPr/>
          <p:nvPr/>
        </p:nvSpPr>
        <p:spPr>
          <a:xfrm>
            <a:off x="731520" y="1828800"/>
            <a:ext cx="53492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anim01_click_row"/>
          <p:cNvSpPr txBox="1"/>
          <p:nvPr/>
        </p:nvSpPr>
        <p:spPr>
          <a:xfrm>
            <a:off x="960120" y="18288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52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O(n²)</a:t>
            </a:r>
            <a:endParaRPr lang="en-US" sz="1600" dirty="0"/>
          </a:p>
        </p:txBody>
      </p:sp>
      <p:sp>
        <p:nvSpPr>
          <p:cNvPr id="6" name="anim01_click_row"/>
          <p:cNvSpPr txBox="1"/>
          <p:nvPr/>
        </p:nvSpPr>
        <p:spPr>
          <a:xfrm>
            <a:off x="2240280" y="19842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hash map</a:t>
            </a:r>
            <a:endParaRPr lang="en-US" sz="1400" dirty="0"/>
          </a:p>
        </p:txBody>
      </p:sp>
      <p:sp>
        <p:nvSpPr>
          <p:cNvPr id="7" name="anim01_click_row"/>
          <p:cNvSpPr txBox="1"/>
          <p:nvPr/>
        </p:nvSpPr>
        <p:spPr>
          <a:xfrm>
            <a:off x="2240280" y="2286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item, scan the rest of the list for its partner. A loop inside a loop.</a:t>
            </a:r>
            <a:endParaRPr lang="en-US" sz="1200" dirty="0"/>
          </a:p>
        </p:txBody>
      </p:sp>
      <p:sp>
        <p:nvSpPr>
          <p:cNvPr id="8" name="anim02_click_row"/>
          <p:cNvSpPr/>
          <p:nvPr/>
        </p:nvSpPr>
        <p:spPr>
          <a:xfrm>
            <a:off x="731520" y="3035808"/>
            <a:ext cx="53492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9" name="anim02_click_row"/>
          <p:cNvSpPr txBox="1"/>
          <p:nvPr/>
        </p:nvSpPr>
        <p:spPr>
          <a:xfrm>
            <a:off x="960120" y="3035808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600" dirty="0"/>
          </a:p>
        </p:txBody>
      </p:sp>
      <p:sp>
        <p:nvSpPr>
          <p:cNvPr id="10" name="anim02_click_row"/>
          <p:cNvSpPr txBox="1"/>
          <p:nvPr/>
        </p:nvSpPr>
        <p:spPr>
          <a:xfrm>
            <a:off x="2240280" y="3191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 hash map</a:t>
            </a:r>
            <a:endParaRPr lang="en-US" sz="1400" dirty="0"/>
          </a:p>
        </p:txBody>
      </p:sp>
      <p:sp>
        <p:nvSpPr>
          <p:cNvPr id="11" name="anim02_click_row"/>
          <p:cNvSpPr txBox="1"/>
          <p:nvPr/>
        </p:nvSpPr>
        <p:spPr>
          <a:xfrm>
            <a:off x="2240280" y="34930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pass. Store each item as you go and check the dict instead of rescanning.</a:t>
            </a:r>
            <a:endParaRPr lang="en-US" sz="1200" dirty="0"/>
          </a:p>
        </p:txBody>
      </p:sp>
      <p:sp>
        <p:nvSpPr>
          <p:cNvPr id="12" name="anim03_click_row"/>
          <p:cNvSpPr/>
          <p:nvPr/>
        </p:nvSpPr>
        <p:spPr>
          <a:xfrm>
            <a:off x="731520" y="4242816"/>
            <a:ext cx="53492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3" name="anim03_click_row"/>
          <p:cNvSpPr txBox="1"/>
          <p:nvPr/>
        </p:nvSpPr>
        <p:spPr>
          <a:xfrm>
            <a:off x="960120" y="4242816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+O(n)</a:t>
            </a:r>
            <a:endParaRPr lang="en-US" sz="1600" dirty="0"/>
          </a:p>
        </p:txBody>
      </p:sp>
      <p:sp>
        <p:nvSpPr>
          <p:cNvPr id="14" name="anim03_click_row"/>
          <p:cNvSpPr txBox="1"/>
          <p:nvPr/>
        </p:nvSpPr>
        <p:spPr>
          <a:xfrm>
            <a:off x="2240280" y="43982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costs</a:t>
            </a:r>
            <a:endParaRPr lang="en-US" sz="1400" dirty="0"/>
          </a:p>
        </p:txBody>
      </p:sp>
      <p:sp>
        <p:nvSpPr>
          <p:cNvPr id="15" name="anim03_click_row"/>
          <p:cNvSpPr txBox="1"/>
          <p:nvPr/>
        </p:nvSpPr>
        <p:spPr>
          <a:xfrm>
            <a:off x="2240280" y="47000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memory that grows with the input. Name that tradeoff out loud.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6355080" y="1828800"/>
            <a:ext cx="5102352" cy="3465576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graphicFrame>
        <p:nvGraphicFramePr>
          <p:cNvPr id="17" name="chart" descr=""/>
          <p:cNvGraphicFramePr/>
          <p:nvPr/>
        </p:nvGraphicFramePr>
        <p:xfrm>
          <a:off x="6492240" y="1920240"/>
          <a:ext cx="482803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spot a hash map problem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731520" y="137160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prompt sounds like one of these, reach for a dict first.</a:t>
            </a:r>
            <a:endParaRPr lang="en-US" sz="1300" dirty="0"/>
          </a:p>
        </p:txBody>
      </p:sp>
      <p:sp>
        <p:nvSpPr>
          <p:cNvPr id="4" name="anim01_click_sig"/>
          <p:cNvSpPr/>
          <p:nvPr/>
        </p:nvSpPr>
        <p:spPr>
          <a:xfrm>
            <a:off x="731520" y="1828800"/>
            <a:ext cx="52578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anim01_click_sig"/>
          <p:cNvSpPr/>
          <p:nvPr/>
        </p:nvSpPr>
        <p:spPr>
          <a:xfrm>
            <a:off x="1005840" y="2103120"/>
            <a:ext cx="347472" cy="347472"/>
          </a:xfrm>
          <a:prstGeom prst="ellipse">
            <a:avLst/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6" name="anim01_click_sig"/>
          <p:cNvSpPr txBox="1"/>
          <p:nvPr/>
        </p:nvSpPr>
        <p:spPr>
          <a:xfrm>
            <a:off x="1005840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anim01_click_sig"/>
          <p:cNvSpPr txBox="1"/>
          <p:nvPr/>
        </p:nvSpPr>
        <p:spPr>
          <a:xfrm>
            <a:off x="1554480" y="2103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a partner or complement</a:t>
            </a:r>
            <a:endParaRPr lang="en-US" sz="1500" dirty="0"/>
          </a:p>
        </p:txBody>
      </p:sp>
      <p:sp>
        <p:nvSpPr>
          <p:cNvPr id="8" name="anim01_click_sig"/>
          <p:cNvSpPr txBox="1"/>
          <p:nvPr/>
        </p:nvSpPr>
        <p:spPr>
          <a:xfrm>
            <a:off x="1554480" y="248716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value I need already exist?</a:t>
            </a:r>
            <a:endParaRPr lang="en-US" sz="1250" dirty="0"/>
          </a:p>
        </p:txBody>
      </p:sp>
      <p:sp>
        <p:nvSpPr>
          <p:cNvPr id="9" name="anim01_click_sig"/>
          <p:cNvSpPr txBox="1"/>
          <p:nvPr/>
        </p:nvSpPr>
        <p:spPr>
          <a:xfrm>
            <a:off x="1554480" y="288036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target - num in seen:</a:t>
            </a:r>
            <a:endParaRPr lang="en-US" sz="1250" dirty="0"/>
          </a:p>
        </p:txBody>
      </p:sp>
      <p:sp>
        <p:nvSpPr>
          <p:cNvPr id="10" name="anim02_click_sig"/>
          <p:cNvSpPr/>
          <p:nvPr/>
        </p:nvSpPr>
        <p:spPr>
          <a:xfrm>
            <a:off x="6199632" y="1828800"/>
            <a:ext cx="52578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1" name="anim02_click_sig"/>
          <p:cNvSpPr/>
          <p:nvPr/>
        </p:nvSpPr>
        <p:spPr>
          <a:xfrm>
            <a:off x="6473952" y="2103120"/>
            <a:ext cx="347472" cy="347472"/>
          </a:xfrm>
          <a:prstGeom prst="ellipse">
            <a:avLst/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12" name="anim02_click_sig"/>
          <p:cNvSpPr txBox="1"/>
          <p:nvPr/>
        </p:nvSpPr>
        <p:spPr>
          <a:xfrm>
            <a:off x="6473952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anim02_click_sig"/>
          <p:cNvSpPr txBox="1"/>
          <p:nvPr/>
        </p:nvSpPr>
        <p:spPr>
          <a:xfrm>
            <a:off x="7022592" y="2103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how often things appear</a:t>
            </a:r>
            <a:endParaRPr lang="en-US" sz="1500" dirty="0"/>
          </a:p>
        </p:txBody>
      </p:sp>
      <p:sp>
        <p:nvSpPr>
          <p:cNvPr id="14" name="anim02_click_sig"/>
          <p:cNvSpPr txBox="1"/>
          <p:nvPr/>
        </p:nvSpPr>
        <p:spPr>
          <a:xfrm>
            <a:off x="7022592" y="248716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Tally every value, then read off the answer.</a:t>
            </a:r>
            <a:endParaRPr lang="en-US" sz="1250" dirty="0"/>
          </a:p>
        </p:txBody>
      </p:sp>
      <p:sp>
        <p:nvSpPr>
          <p:cNvPr id="15" name="anim02_click_sig"/>
          <p:cNvSpPr txBox="1"/>
          <p:nvPr/>
        </p:nvSpPr>
        <p:spPr>
          <a:xfrm>
            <a:off x="7022592" y="288036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counts[x] = counts.get(x, 0) + 1</a:t>
            </a:r>
            <a:endParaRPr lang="en-US" sz="1250" dirty="0"/>
          </a:p>
        </p:txBody>
      </p:sp>
      <p:sp>
        <p:nvSpPr>
          <p:cNvPr id="16" name="anim03_click_sig"/>
          <p:cNvSpPr/>
          <p:nvPr/>
        </p:nvSpPr>
        <p:spPr>
          <a:xfrm>
            <a:off x="731520" y="3611880"/>
            <a:ext cx="52578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7" name="anim03_click_sig"/>
          <p:cNvSpPr/>
          <p:nvPr/>
        </p:nvSpPr>
        <p:spPr>
          <a:xfrm>
            <a:off x="1005840" y="3886200"/>
            <a:ext cx="347472" cy="347472"/>
          </a:xfrm>
          <a:prstGeom prst="ellipse">
            <a:avLst/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18" name="anim03_click_sig"/>
          <p:cNvSpPr txBox="1"/>
          <p:nvPr/>
        </p:nvSpPr>
        <p:spPr>
          <a:xfrm>
            <a:off x="1005840" y="3886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anim03_click_sig"/>
          <p:cNvSpPr txBox="1"/>
          <p:nvPr/>
        </p:nvSpPr>
        <p:spPr>
          <a:xfrm>
            <a:off x="1554480" y="388620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something up by name</a:t>
            </a:r>
            <a:endParaRPr lang="en-US" sz="1500" dirty="0"/>
          </a:p>
        </p:txBody>
      </p:sp>
      <p:sp>
        <p:nvSpPr>
          <p:cNvPr id="20" name="anim03_click_sig"/>
          <p:cNvSpPr txBox="1"/>
          <p:nvPr/>
        </p:nvSpPr>
        <p:spPr>
          <a:xfrm>
            <a:off x="1554480" y="42702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a value through a label, not a position.</a:t>
            </a:r>
            <a:endParaRPr lang="en-US" sz="1250" dirty="0"/>
          </a:p>
        </p:txBody>
      </p:sp>
      <p:sp>
        <p:nvSpPr>
          <p:cNvPr id="21" name="anim03_click_sig"/>
          <p:cNvSpPr txBox="1"/>
          <p:nvPr/>
        </p:nvSpPr>
        <p:spPr>
          <a:xfrm>
            <a:off x="1554480" y="466344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df["Numbers"]</a:t>
            </a:r>
            <a:endParaRPr lang="en-US" sz="1250" dirty="0"/>
          </a:p>
        </p:txBody>
      </p:sp>
      <p:sp>
        <p:nvSpPr>
          <p:cNvPr id="22" name="anim04_click_sig"/>
          <p:cNvSpPr/>
          <p:nvPr/>
        </p:nvSpPr>
        <p:spPr>
          <a:xfrm>
            <a:off x="6199632" y="3611880"/>
            <a:ext cx="52578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3" name="anim04_click_sig"/>
          <p:cNvSpPr/>
          <p:nvPr/>
        </p:nvSpPr>
        <p:spPr>
          <a:xfrm>
            <a:off x="6473952" y="3886200"/>
            <a:ext cx="347472" cy="347472"/>
          </a:xfrm>
          <a:prstGeom prst="ellipse">
            <a:avLst/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24" name="anim04_click_sig"/>
          <p:cNvSpPr txBox="1"/>
          <p:nvPr/>
        </p:nvSpPr>
        <p:spPr>
          <a:xfrm>
            <a:off x="6473952" y="3886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anim04_click_sig"/>
          <p:cNvSpPr txBox="1"/>
          <p:nvPr/>
        </p:nvSpPr>
        <p:spPr>
          <a:xfrm>
            <a:off x="7022592" y="388620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I seen this before?</a:t>
            </a:r>
            <a:endParaRPr lang="en-US" sz="1500" dirty="0"/>
          </a:p>
        </p:txBody>
      </p:sp>
      <p:sp>
        <p:nvSpPr>
          <p:cNvPr id="26" name="anim04_click_sig"/>
          <p:cNvSpPr txBox="1"/>
          <p:nvPr/>
        </p:nvSpPr>
        <p:spPr>
          <a:xfrm>
            <a:off x="7022592" y="4270248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Duplicates, repeated characters, visited states.</a:t>
            </a:r>
            <a:endParaRPr lang="en-US" sz="1250" dirty="0"/>
          </a:p>
        </p:txBody>
      </p:sp>
      <p:sp>
        <p:nvSpPr>
          <p:cNvPr id="27" name="anim04_click_sig"/>
          <p:cNvSpPr txBox="1"/>
          <p:nvPr/>
        </p:nvSpPr>
        <p:spPr>
          <a:xfrm>
            <a:off x="7022592" y="466344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x in seen:</a:t>
            </a:r>
            <a:endParaRPr lang="en-US" sz="1250" dirty="0"/>
          </a:p>
        </p:txBody>
      </p:sp>
      <p:sp>
        <p:nvSpPr>
          <p:cNvPr id="28" name="anim05_click_foot"/>
          <p:cNvSpPr txBox="1"/>
          <p:nvPr/>
        </p:nvSpPr>
        <p:spPr>
          <a:xfrm>
            <a:off x="731520" y="5559552"/>
            <a:ext cx="10725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three are today's worked examples: Two Sum, Most Frequent Element, and Find Largest Value in DataFrame.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QUESTION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Two Sum – Edugator 4.3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731520" y="1572768"/>
            <a:ext cx="5367528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21408"/>
            <a:ext cx="4818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array of integers nums and an integer target, return the indices of the two numbers that add up to target.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907792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[2, 7, 11, 15], target 9  returns  [0, 1]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00400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[3, 3], target 6  returns  [0, 1]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3611880"/>
            <a:ext cx="4818888" cy="914400"/>
          </a:xfrm>
          <a:prstGeom prst="roundRect">
            <a:avLst>
              <a:gd name="adj" fmla="val 5000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361188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Explanation: </a:t>
            </a:r>
            <a:pPr indent="0" marL="0">
              <a:buNone/>
            </a:pPr>
            <a:r>
              <a:rPr lang="en-US" sz="1250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nums[0] + nums[1] = 2 + 7 = 9. There is always exactly one answer, and one index cannot be used twice.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681728"/>
            <a:ext cx="4818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and target fall between -10⁹ and 10⁹, so the numbers can be negative.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QUESTION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Two Sum – Edugator 4.3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731520" y="1572768"/>
            <a:ext cx="5367528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21408"/>
            <a:ext cx="4818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array of integers nums and an integer target, return the indices of the two numbers that add up to target.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907792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[2, 7, 11, 15], target 9  returns  [0, 1]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00400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[3, 3], target 6  returns  [0, 1]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3611880"/>
            <a:ext cx="4818888" cy="914400"/>
          </a:xfrm>
          <a:prstGeom prst="roundRect">
            <a:avLst>
              <a:gd name="adj" fmla="val 5000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361188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Explanation: </a:t>
            </a:r>
            <a:pPr indent="0" marL="0">
              <a:buNone/>
            </a:pPr>
            <a:r>
              <a:rPr lang="en-US" sz="1250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nums[0] + nums[1] = 2 + 7 = 9. There is always exactly one answer, and one index cannot be used twice.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681728"/>
            <a:ext cx="4818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and target fall between -10⁹ and 10⁹, so the numbers can be negative.</a:t>
            </a:r>
            <a:endParaRPr lang="en-US" sz="1200" dirty="0"/>
          </a:p>
        </p:txBody>
      </p:sp>
      <p:sp>
        <p:nvSpPr>
          <p:cNvPr id="12" name="anim01_click_timer"/>
          <p:cNvSpPr/>
          <p:nvPr/>
        </p:nvSpPr>
        <p:spPr>
          <a:xfrm>
            <a:off x="6373368" y="1572768"/>
            <a:ext cx="5084064" cy="1554480"/>
          </a:xfrm>
          <a:prstGeom prst="roundRect">
            <a:avLst>
              <a:gd name="adj" fmla="val 3529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13" name="anim01_click_timer"/>
          <p:cNvSpPr txBox="1"/>
          <p:nvPr/>
        </p:nvSpPr>
        <p:spPr>
          <a:xfrm>
            <a:off x="6629400" y="157276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5 minutes to complete this.</a:t>
            </a:r>
            <a:endParaRPr lang="en-US" sz="17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feel free to work in pairs or small groups (3 to 4).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QUESTION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Two Sum – Edugator 4.3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731520" y="1572768"/>
            <a:ext cx="5367528" cy="3794760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21408"/>
            <a:ext cx="4818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array of integers nums and an integer target, return the indices of the two numbers that add up to target.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907792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[2, 7, 11, 15], target 9  returns  [0, 1]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00400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[3, 3], target 6  returns  [0, 1]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3611880"/>
            <a:ext cx="4818888" cy="914400"/>
          </a:xfrm>
          <a:prstGeom prst="roundRect">
            <a:avLst>
              <a:gd name="adj" fmla="val 5000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361188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Explanation: </a:t>
            </a:r>
            <a:pPr indent="0" marL="0">
              <a:buNone/>
            </a:pPr>
            <a:r>
              <a:rPr lang="en-US" sz="1250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nums[0] + nums[1] = 2 + 7 = 9. There is always exactly one answer, and one index cannot be used twice.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681728"/>
            <a:ext cx="4818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and target fall between -10⁹ and 10⁹, so the numbers can be negative.</a:t>
            </a:r>
            <a:endParaRPr lang="en-US" sz="1200" dirty="0"/>
          </a:p>
        </p:txBody>
      </p:sp>
      <p:sp>
        <p:nvSpPr>
          <p:cNvPr id="12" name="anim01_click_code"/>
          <p:cNvSpPr/>
          <p:nvPr/>
        </p:nvSpPr>
        <p:spPr>
          <a:xfrm>
            <a:off x="6217920" y="1572768"/>
            <a:ext cx="5239512" cy="2351532"/>
          </a:xfrm>
          <a:prstGeom prst="roundRect">
            <a:avLst>
              <a:gd name="adj" fmla="val 2333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13" name="anim01_click_code"/>
          <p:cNvSpPr txBox="1"/>
          <p:nvPr/>
        </p:nvSpPr>
        <p:spPr>
          <a:xfrm>
            <a:off x="6419088" y="1664208"/>
            <a:ext cx="4837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4" name="anim01_click_code"/>
          <p:cNvSpPr txBox="1"/>
          <p:nvPr/>
        </p:nvSpPr>
        <p:spPr>
          <a:xfrm>
            <a:off x="6419088" y="1920240"/>
            <a:ext cx="4837176" cy="1876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two_sum(nums, target):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seen = {}    # num -&gt; index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index, num in enumerate(nums):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complement = target - num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complement in seen: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[seen[complement], index]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seen[num] = index</a:t>
            </a:r>
            <a:endParaRPr lang="en-US" sz="1300" dirty="0"/>
          </a:p>
        </p:txBody>
      </p:sp>
      <p:sp>
        <p:nvSpPr>
          <p:cNvPr id="15" name="anim02_click_cx"/>
          <p:cNvSpPr/>
          <p:nvPr/>
        </p:nvSpPr>
        <p:spPr>
          <a:xfrm>
            <a:off x="6217920" y="4043172"/>
            <a:ext cx="523951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6" name="anim02_click_cx"/>
          <p:cNvSpPr txBox="1"/>
          <p:nvPr/>
        </p:nvSpPr>
        <p:spPr>
          <a:xfrm>
            <a:off x="6492240" y="4043172"/>
            <a:ext cx="4690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O(n)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one pass, each dict check is O(1)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Space O(n)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dict can hold every number</a:t>
            </a:r>
            <a:endParaRPr lang="en-US" sz="1150" dirty="0"/>
          </a:p>
        </p:txBody>
      </p:sp>
      <p:sp>
        <p:nvSpPr>
          <p:cNvPr id="17" name="anim03_click_extra"/>
          <p:cNvSpPr/>
          <p:nvPr/>
        </p:nvSpPr>
        <p:spPr>
          <a:xfrm>
            <a:off x="6217920" y="4847844"/>
            <a:ext cx="52395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8" name="anim03_click_extra"/>
          <p:cNvSpPr txBox="1"/>
          <p:nvPr/>
        </p:nvSpPr>
        <p:spPr>
          <a:xfrm>
            <a:off x="6492240" y="4847844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 force</a:t>
            </a:r>
            <a:pPr indent="0" marL="0">
              <a:buNone/>
            </a:pPr>
            <a:r>
              <a:rPr lang="en-US" sz="11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checks every pair. It passes, but it is O(n²).</a:t>
            </a:r>
            <a:endParaRPr lang="en-US" sz="1150" dirty="0"/>
          </a:p>
        </p:txBody>
      </p:sp>
      <p:sp>
        <p:nvSpPr>
          <p:cNvPr id="19" name="anim04_click_bottom"/>
          <p:cNvSpPr/>
          <p:nvPr/>
        </p:nvSpPr>
        <p:spPr>
          <a:xfrm>
            <a:off x="731520" y="5504688"/>
            <a:ext cx="10725912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0" name="anim04_click_bottom"/>
          <p:cNvSpPr txBox="1"/>
          <p:nvPr/>
        </p:nvSpPr>
        <p:spPr>
          <a:xfrm>
            <a:off x="1005840" y="5504688"/>
            <a:ext cx="10177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bug:  </a:t>
            </a:r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num before the check. Then [3, 3] with target 6 pairs index 0 with itself. Check first, then store.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QUESTION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Most Frequent Element – Edugator 4.6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731520" y="1572768"/>
            <a:ext cx="5367528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21408"/>
            <a:ext cx="4818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array arr, return the element that appears most often. If several tie for the most, return any one of them.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907792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['a', 'b', 'a', 'c', 'b', 'a']  returns  'a'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00400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 3, 2, 1, 4, 1, 3, 3]  returns  1 or 3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3611880"/>
            <a:ext cx="4818888" cy="914400"/>
          </a:xfrm>
          <a:prstGeom prst="roundRect">
            <a:avLst>
              <a:gd name="adj" fmla="val 5000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361188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Explanation: </a:t>
            </a:r>
            <a:pPr indent="0" marL="0">
              <a:buNone/>
            </a:pPr>
            <a:r>
              <a:rPr lang="en-US" sz="1250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'a' appears 3 times. In the second list 1 and 3 both appear 3 times, so either one is accepted.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681728"/>
            <a:ext cx="4818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holds between 1 and 1,000 elements, so it is never empty.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QUESTION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Most Frequent Element – Edugator 4.6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731520" y="1572768"/>
            <a:ext cx="5367528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21408"/>
            <a:ext cx="4818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array arr, return the element that appears most often. If several tie for the most, return any one of them.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907792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['a', 'b', 'a', 'c', 'b', 'a']  returns  'a'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00400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 3, 2, 1, 4, 1, 3, 3]  returns  1 or 3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3611880"/>
            <a:ext cx="4818888" cy="914400"/>
          </a:xfrm>
          <a:prstGeom prst="roundRect">
            <a:avLst>
              <a:gd name="adj" fmla="val 5000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361188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Explanation: </a:t>
            </a:r>
            <a:pPr indent="0" marL="0">
              <a:buNone/>
            </a:pPr>
            <a:r>
              <a:rPr lang="en-US" sz="1250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'a' appears 3 times. In the second list 1 and 3 both appear 3 times, so either one is accepted.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681728"/>
            <a:ext cx="4818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holds between 1 and 1,000 elements, so it is never empty.</a:t>
            </a:r>
            <a:endParaRPr lang="en-US" sz="1200" dirty="0"/>
          </a:p>
        </p:txBody>
      </p:sp>
      <p:sp>
        <p:nvSpPr>
          <p:cNvPr id="12" name="anim01_click_timer"/>
          <p:cNvSpPr/>
          <p:nvPr/>
        </p:nvSpPr>
        <p:spPr>
          <a:xfrm>
            <a:off x="6373368" y="1572768"/>
            <a:ext cx="5084064" cy="1554480"/>
          </a:xfrm>
          <a:prstGeom prst="roundRect">
            <a:avLst>
              <a:gd name="adj" fmla="val 3529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13" name="anim01_click_timer"/>
          <p:cNvSpPr txBox="1"/>
          <p:nvPr/>
        </p:nvSpPr>
        <p:spPr>
          <a:xfrm>
            <a:off x="6629400" y="157276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5 minutes to complete this.</a:t>
            </a:r>
            <a:endParaRPr lang="en-US" sz="17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feel free to work in pairs or small groups (3 to 4).</a:t>
            </a:r>
            <a:endParaRPr lang="en-US" sz="17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QUESTION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Most Frequent Element – Edugator 4.6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731520" y="1572768"/>
            <a:ext cx="5367528" cy="3794760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21408"/>
            <a:ext cx="4818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an array arr, return the element that appears most often. If several tie for the most, return any one of them.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907792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['a', 'b', 'a', 'c', 'b', 'a']  returns  'a'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00400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[1, 3, 2, 1, 4, 1, 3, 3]  returns  1 or 3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3611880"/>
            <a:ext cx="4818888" cy="914400"/>
          </a:xfrm>
          <a:prstGeom prst="roundRect">
            <a:avLst>
              <a:gd name="adj" fmla="val 5000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361188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Explanation: </a:t>
            </a:r>
            <a:pPr indent="0" marL="0">
              <a:buNone/>
            </a:pPr>
            <a:r>
              <a:rPr lang="en-US" sz="1250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'a' appears 3 times. In the second list 1 and 3 both appear 3 times, so either one is accepted.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681728"/>
            <a:ext cx="4818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holds between 1 and 1,000 elements, so it is never empty.</a:t>
            </a:r>
            <a:endParaRPr lang="en-US" sz="1200" dirty="0"/>
          </a:p>
        </p:txBody>
      </p:sp>
      <p:sp>
        <p:nvSpPr>
          <p:cNvPr id="12" name="anim01_click_code"/>
          <p:cNvSpPr/>
          <p:nvPr/>
        </p:nvSpPr>
        <p:spPr>
          <a:xfrm>
            <a:off x="6217920" y="1572768"/>
            <a:ext cx="5239512" cy="2529840"/>
          </a:xfrm>
          <a:prstGeom prst="roundRect">
            <a:avLst>
              <a:gd name="adj" fmla="val 2169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13" name="anim01_click_code"/>
          <p:cNvSpPr txBox="1"/>
          <p:nvPr/>
        </p:nvSpPr>
        <p:spPr>
          <a:xfrm>
            <a:off x="6419088" y="1664208"/>
            <a:ext cx="4837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4" name="anim01_click_code"/>
          <p:cNvSpPr txBox="1"/>
          <p:nvPr/>
        </p:nvSpPr>
        <p:spPr>
          <a:xfrm>
            <a:off x="6419088" y="1920240"/>
            <a:ext cx="4837176" cy="205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most_frequent_element(arr):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frequencies = {}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element in arr: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element in frequencies: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frequencies[element] += 1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frequencies[element] = 1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max(frequencies, key=frequencies.get)</a:t>
            </a:r>
            <a:endParaRPr lang="en-US" sz="1250" dirty="0"/>
          </a:p>
        </p:txBody>
      </p:sp>
      <p:sp>
        <p:nvSpPr>
          <p:cNvPr id="15" name="anim02_click_cx"/>
          <p:cNvSpPr/>
          <p:nvPr/>
        </p:nvSpPr>
        <p:spPr>
          <a:xfrm>
            <a:off x="6217920" y="4221480"/>
            <a:ext cx="523951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6" name="anim02_click_cx"/>
          <p:cNvSpPr txBox="1"/>
          <p:nvPr/>
        </p:nvSpPr>
        <p:spPr>
          <a:xfrm>
            <a:off x="6492240" y="4221480"/>
            <a:ext cx="4690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O(n)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one pass to count, one pass over the counts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Space O(k)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one entry per distinct element</a:t>
            </a:r>
            <a:endParaRPr lang="en-US" sz="1150" dirty="0"/>
          </a:p>
        </p:txBody>
      </p:sp>
      <p:sp>
        <p:nvSpPr>
          <p:cNvPr id="17" name="anim03_click_extra"/>
          <p:cNvSpPr/>
          <p:nvPr/>
        </p:nvSpPr>
        <p:spPr>
          <a:xfrm>
            <a:off x="6217920" y="5026152"/>
            <a:ext cx="523951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8" name="anim03_click_extra"/>
          <p:cNvSpPr txBox="1"/>
          <p:nvPr/>
        </p:nvSpPr>
        <p:spPr>
          <a:xfrm>
            <a:off x="6492240" y="5026152"/>
            <a:ext cx="4690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Counter(arr).most_common(1)</a:t>
            </a:r>
            <a:pPr indent="0" marL="0">
              <a:buNone/>
            </a:pPr>
            <a:r>
              <a:rPr lang="en-US" sz="11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also works. Counter is a dict underneath.</a:t>
            </a:r>
            <a:endParaRPr lang="en-US" sz="1150" dirty="0"/>
          </a:p>
        </p:txBody>
      </p:sp>
      <p:sp>
        <p:nvSpPr>
          <p:cNvPr id="19" name="anim04_click_bottom"/>
          <p:cNvSpPr/>
          <p:nvPr/>
        </p:nvSpPr>
        <p:spPr>
          <a:xfrm>
            <a:off x="731520" y="5602224"/>
            <a:ext cx="10725912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20" name="anim04_click_bottom"/>
          <p:cNvSpPr txBox="1"/>
          <p:nvPr/>
        </p:nvSpPr>
        <p:spPr>
          <a:xfrm>
            <a:off x="1005840" y="5602224"/>
            <a:ext cx="10177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bug:  </a:t>
            </a:r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arr.count(x) inside a loop. It looks like one line, but it rescans the whole list every time, which is O(n²).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QUESTION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Find Largest Value – Edugator 4.5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731520" y="1572768"/>
            <a:ext cx="5367528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21408"/>
            <a:ext cx="4818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numbers from input, one per line, until a non-numeric line such as end. Store them in a pandas DataFrame and print the largest.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907792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3.2, 7, -1, end  prints  7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00400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-5, -10, -3, end  prints  -3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3611880"/>
            <a:ext cx="4818888" cy="914400"/>
          </a:xfrm>
          <a:prstGeom prst="roundRect">
            <a:avLst>
              <a:gd name="adj" fmla="val 5000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361188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Explanation: </a:t>
            </a:r>
            <a:pPr indent="0" marL="0">
              <a:buNone/>
            </a:pPr>
            <a:r>
              <a:rPr lang="en-US" sz="1250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goes into one DataFrame column, and the largest value in that column is printed.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681728"/>
            <a:ext cx="4818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stops at the first non-numeric line, so end, a blank line, or any word ends reading.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QUESTION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Find Largest Value – Edugator 4.5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731520" y="1572768"/>
            <a:ext cx="5367528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21408"/>
            <a:ext cx="4818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numbers from input, one per line, until a non-numeric line such as end. Store them in a pandas DataFrame and print the largest.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907792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3.2, 7, -1, end  prints  7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00400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-5, -10, -3, end  prints  -3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3611880"/>
            <a:ext cx="4818888" cy="914400"/>
          </a:xfrm>
          <a:prstGeom prst="roundRect">
            <a:avLst>
              <a:gd name="adj" fmla="val 5000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361188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Explanation: </a:t>
            </a:r>
            <a:pPr indent="0" marL="0">
              <a:buNone/>
            </a:pPr>
            <a:r>
              <a:rPr lang="en-US" sz="1250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goes into one DataFrame column, and the largest value in that column is printed.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681728"/>
            <a:ext cx="4818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stops at the first non-numeric line, so end, a blank line, or any word ends reading.</a:t>
            </a:r>
            <a:endParaRPr lang="en-US" sz="1200" dirty="0"/>
          </a:p>
        </p:txBody>
      </p:sp>
      <p:sp>
        <p:nvSpPr>
          <p:cNvPr id="12" name="anim01_click_timer"/>
          <p:cNvSpPr/>
          <p:nvPr/>
        </p:nvSpPr>
        <p:spPr>
          <a:xfrm>
            <a:off x="6373368" y="1572768"/>
            <a:ext cx="5084064" cy="1554480"/>
          </a:xfrm>
          <a:prstGeom prst="roundRect">
            <a:avLst>
              <a:gd name="adj" fmla="val 3529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13" name="anim01_click_timer"/>
          <p:cNvSpPr txBox="1"/>
          <p:nvPr/>
        </p:nvSpPr>
        <p:spPr>
          <a:xfrm>
            <a:off x="6629400" y="157276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5 minutes to complete this.</a:t>
            </a:r>
            <a:endParaRPr lang="en-US" sz="17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feel free to work in pairs or small groups (3 to 4).</a:t>
            </a:r>
            <a:endParaRPr lang="en-US" sz="1700" dirty="0"/>
          </a:p>
        </p:txBody>
      </p:sp>
      <p:sp>
        <p:nvSpPr>
          <p:cNvPr id="14" name="anim02_click_hint"/>
          <p:cNvSpPr/>
          <p:nvPr/>
        </p:nvSpPr>
        <p:spPr>
          <a:xfrm>
            <a:off x="6373368" y="3291840"/>
            <a:ext cx="5084064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5" name="anim02_click_hint"/>
          <p:cNvSpPr txBox="1"/>
          <p:nvPr/>
        </p:nvSpPr>
        <p:spPr>
          <a:xfrm>
            <a:off x="6629400" y="329184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Edugator gives you the input loop and the DataFrame. You only write the last two lines, and the column is looked up by its name, like a dict key.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QUESTION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Find Largest Value – Edugator 4.5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731520" y="1572768"/>
            <a:ext cx="5367528" cy="3794760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21408"/>
            <a:ext cx="4818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numbers from input, one per line, until a non-numeric line such as end. Store them in a pandas DataFrame and print the largest.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907792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3.2, 7, -1, end  prints  7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00400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-5, -10, -3, end  prints  -3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05840" y="3611880"/>
            <a:ext cx="4818888" cy="914400"/>
          </a:xfrm>
          <a:prstGeom prst="roundRect">
            <a:avLst>
              <a:gd name="adj" fmla="val 5000"/>
            </a:avLst>
          </a:prstGeom>
          <a:solidFill>
            <a:srgbClr val="FFF1EB"/>
          </a:solidFill>
          <a:ln w="9525">
            <a:solidFill>
              <a:srgbClr val="FFD5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3611880"/>
            <a:ext cx="4453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Explanation: </a:t>
            </a:r>
            <a:pPr indent="0" marL="0">
              <a:buNone/>
            </a:pPr>
            <a:r>
              <a:rPr lang="en-US" sz="1250" dirty="0">
                <a:solidFill>
                  <a:srgbClr val="B3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goes into one DataFrame column, and the largest value in that column is printed.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681728"/>
            <a:ext cx="4818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stops at the first non-numeric line, so end, a blank line, or any word ends reading.</a:t>
            </a:r>
            <a:endParaRPr lang="en-US" sz="1200" dirty="0"/>
          </a:p>
        </p:txBody>
      </p:sp>
      <p:sp>
        <p:nvSpPr>
          <p:cNvPr id="12" name="anim01_click_code"/>
          <p:cNvSpPr/>
          <p:nvPr/>
        </p:nvSpPr>
        <p:spPr>
          <a:xfrm>
            <a:off x="6217920" y="1572768"/>
            <a:ext cx="5239512" cy="3282696"/>
          </a:xfrm>
          <a:prstGeom prst="roundRect">
            <a:avLst>
              <a:gd name="adj" fmla="val 1671"/>
            </a:avLst>
          </a:prstGeom>
          <a:solidFill>
            <a:srgbClr val="1B1E33"/>
          </a:solidFill>
          <a:ln w="9525">
            <a:solidFill>
              <a:srgbClr val="1B1E33"/>
            </a:solidFill>
            <a:prstDash val="solid"/>
          </a:ln>
        </p:spPr>
      </p:sp>
      <p:sp>
        <p:nvSpPr>
          <p:cNvPr id="13" name="anim01_click_code"/>
          <p:cNvSpPr txBox="1"/>
          <p:nvPr/>
        </p:nvSpPr>
        <p:spPr>
          <a:xfrm>
            <a:off x="6419088" y="1664208"/>
            <a:ext cx="4837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4" name="anim01_click_code"/>
          <p:cNvSpPr txBox="1"/>
          <p:nvPr/>
        </p:nvSpPr>
        <p:spPr>
          <a:xfrm>
            <a:off x="6419088" y="1920240"/>
            <a:ext cx="4837176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find_largest_value():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numbers = []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True: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user_input = input().strip()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user_input.lower() == 'end':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numbers.append(float(user_input))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except ValueError: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 = pd.DataFrame(numbers, columns=['Numbers'])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largest_number = df['Numbers'].max()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A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print(largest_number)</a:t>
            </a:r>
            <a:endParaRPr lang="en-US" sz="1200" dirty="0"/>
          </a:p>
        </p:txBody>
      </p:sp>
      <p:sp>
        <p:nvSpPr>
          <p:cNvPr id="15" name="anim02_click_cx"/>
          <p:cNvSpPr/>
          <p:nvPr/>
        </p:nvSpPr>
        <p:spPr>
          <a:xfrm>
            <a:off x="6217920" y="4974336"/>
            <a:ext cx="523951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6" name="anim02_click_cx"/>
          <p:cNvSpPr txBox="1"/>
          <p:nvPr/>
        </p:nvSpPr>
        <p:spPr>
          <a:xfrm>
            <a:off x="6492240" y="4974336"/>
            <a:ext cx="4690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O(n)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read n numbers once, then one pass for max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Space O(n)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 list and the DataFrame each hold n values</a:t>
            </a:r>
            <a:endParaRPr lang="en-US" sz="1150" dirty="0"/>
          </a:p>
        </p:txBody>
      </p:sp>
      <p:sp>
        <p:nvSpPr>
          <p:cNvPr id="17" name="anim03_click_bottom"/>
          <p:cNvSpPr/>
          <p:nvPr/>
        </p:nvSpPr>
        <p:spPr>
          <a:xfrm>
            <a:off x="731520" y="5486400"/>
            <a:ext cx="5367528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DDE1EC"/>
            </a:solidFill>
            <a:prstDash val="solid"/>
          </a:ln>
        </p:spPr>
      </p:sp>
      <p:sp>
        <p:nvSpPr>
          <p:cNvPr id="18" name="anim03_click_bottom"/>
          <p:cNvSpPr txBox="1"/>
          <p:nvPr/>
        </p:nvSpPr>
        <p:spPr>
          <a:xfrm>
            <a:off x="1005840" y="5486400"/>
            <a:ext cx="48188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the hash map?  </a:t>
            </a:r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df['Numbers'] finds a column by its name, the same way d[key] finds a value.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remember</a:t>
            </a:r>
            <a:endParaRPr lang="en-US" sz="3200" dirty="0"/>
          </a:p>
        </p:txBody>
      </p:sp>
      <p:sp>
        <p:nvSpPr>
          <p:cNvPr id="4" name="anim01_after_line"/>
          <p:cNvSpPr/>
          <p:nvPr/>
        </p:nvSpPr>
        <p:spPr>
          <a:xfrm>
            <a:off x="777240" y="1856232"/>
            <a:ext cx="109728" cy="292608"/>
          </a:xfrm>
          <a:prstGeom prst="roundRect">
            <a:avLst>
              <a:gd name="adj" fmla="val 33333"/>
            </a:avLst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5" name="anim01_after_line"/>
          <p:cNvSpPr txBox="1"/>
          <p:nvPr/>
        </p:nvSpPr>
        <p:spPr>
          <a:xfrm>
            <a:off x="114300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hash map finds a value by its key in O(1) on average. It computes the bucket instead of searching.</a:t>
            </a:r>
            <a:endParaRPr lang="en-US" sz="1550" dirty="0"/>
          </a:p>
        </p:txBody>
      </p:sp>
      <p:sp>
        <p:nvSpPr>
          <p:cNvPr id="6" name="anim02_after_line"/>
          <p:cNvSpPr/>
          <p:nvPr/>
        </p:nvSpPr>
        <p:spPr>
          <a:xfrm>
            <a:off x="777240" y="2633472"/>
            <a:ext cx="109728" cy="292608"/>
          </a:xfrm>
          <a:prstGeom prst="roundRect">
            <a:avLst>
              <a:gd name="adj" fmla="val 33333"/>
            </a:avLst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7" name="anim02_after_line"/>
          <p:cNvSpPr txBox="1"/>
          <p:nvPr/>
        </p:nvSpPr>
        <p:spPr>
          <a:xfrm>
            <a:off x="1143000" y="2606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Collisions are why the worst case is O(n). Resizing keeps them rare.</a:t>
            </a:r>
            <a:endParaRPr lang="en-US" sz="1550" dirty="0"/>
          </a:p>
        </p:txBody>
      </p:sp>
      <p:sp>
        <p:nvSpPr>
          <p:cNvPr id="8" name="anim03_after_line"/>
          <p:cNvSpPr/>
          <p:nvPr/>
        </p:nvSpPr>
        <p:spPr>
          <a:xfrm>
            <a:off x="777240" y="3410712"/>
            <a:ext cx="109728" cy="292608"/>
          </a:xfrm>
          <a:prstGeom prst="roundRect">
            <a:avLst>
              <a:gd name="adj" fmla="val 33333"/>
            </a:avLst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9" name="anim03_after_line"/>
          <p:cNvSpPr txBox="1"/>
          <p:nvPr/>
        </p:nvSpPr>
        <p:spPr>
          <a:xfrm>
            <a:off x="1143000" y="3383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Python, dict is your hash map: d[k], d.get(k, default), and k in d.</a:t>
            </a:r>
            <a:endParaRPr lang="en-US" sz="1550" dirty="0"/>
          </a:p>
        </p:txBody>
      </p:sp>
      <p:sp>
        <p:nvSpPr>
          <p:cNvPr id="10" name="anim04_after_line"/>
          <p:cNvSpPr/>
          <p:nvPr/>
        </p:nvSpPr>
        <p:spPr>
          <a:xfrm>
            <a:off x="777240" y="4187952"/>
            <a:ext cx="109728" cy="292608"/>
          </a:xfrm>
          <a:prstGeom prst="roundRect">
            <a:avLst>
              <a:gd name="adj" fmla="val 33333"/>
            </a:avLst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11" name="anim04_after_line"/>
          <p:cNvSpPr txBox="1"/>
          <p:nvPr/>
        </p:nvSpPr>
        <p:spPr>
          <a:xfrm>
            <a:off x="114300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O(n) memory to drop a nested loop is a tradeoff. Say it out loud.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4864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E9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workshop: trees, building on everything you did today.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13232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 from here</a:t>
            </a:r>
            <a:endParaRPr lang="en-US" sz="3200" dirty="0"/>
          </a:p>
        </p:txBody>
      </p:sp>
      <p:sp>
        <p:nvSpPr>
          <p:cNvPr id="4" name="anim01_click_practice"/>
          <p:cNvSpPr/>
          <p:nvPr/>
        </p:nvSpPr>
        <p:spPr>
          <a:xfrm>
            <a:off x="731520" y="1691640"/>
            <a:ext cx="5257800" cy="2788920"/>
          </a:xfrm>
          <a:prstGeom prst="roundRect">
            <a:avLst>
              <a:gd name="adj" fmla="val 1967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5" name="anim01_click_practice"/>
          <p:cNvSpPr txBox="1"/>
          <p:nvPr/>
        </p:nvSpPr>
        <p:spPr>
          <a:xfrm>
            <a:off x="1005840" y="187452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these three</a:t>
            </a:r>
            <a:endParaRPr lang="en-US" sz="1500" dirty="0"/>
          </a:p>
        </p:txBody>
      </p:sp>
      <p:sp>
        <p:nvSpPr>
          <p:cNvPr id="6" name="anim01_click_practice"/>
          <p:cNvSpPr txBox="1"/>
          <p:nvPr/>
        </p:nvSpPr>
        <p:spPr>
          <a:xfrm>
            <a:off x="1005840" y="221284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8C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Edugator, before the next session</a:t>
            </a:r>
            <a:endParaRPr lang="en-US" sz="1150" dirty="0"/>
          </a:p>
        </p:txBody>
      </p:sp>
      <p:sp>
        <p:nvSpPr>
          <p:cNvPr id="7" name="anim01_click_practice"/>
          <p:cNvSpPr txBox="1"/>
          <p:nvPr/>
        </p:nvSpPr>
        <p:spPr>
          <a:xfrm>
            <a:off x="1005840" y="26517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4.2</a:t>
            </a:r>
            <a:endParaRPr lang="en-US" sz="1300" dirty="0"/>
          </a:p>
        </p:txBody>
      </p:sp>
      <p:sp>
        <p:nvSpPr>
          <p:cNvPr id="8" name="anim01_click_practice"/>
          <p:cNvSpPr txBox="1"/>
          <p:nvPr/>
        </p:nvSpPr>
        <p:spPr>
          <a:xfrm>
            <a:off x="1600200" y="26517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Isomorphic Strings</a:t>
            </a:r>
            <a:endParaRPr lang="en-US" sz="1300" dirty="0"/>
          </a:p>
        </p:txBody>
      </p:sp>
      <p:sp>
        <p:nvSpPr>
          <p:cNvPr id="9" name="anim01_click_practice"/>
          <p:cNvSpPr txBox="1"/>
          <p:nvPr/>
        </p:nvSpPr>
        <p:spPr>
          <a:xfrm>
            <a:off x="1600200" y="291693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8C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dicts, one for each direction</a:t>
            </a:r>
            <a:endParaRPr lang="en-US" sz="1150" dirty="0"/>
          </a:p>
        </p:txBody>
      </p:sp>
      <p:sp>
        <p:nvSpPr>
          <p:cNvPr id="10" name="anim01_click_practice"/>
          <p:cNvSpPr txBox="1"/>
          <p:nvPr/>
        </p:nvSpPr>
        <p:spPr>
          <a:xfrm>
            <a:off x="1005840" y="32461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4.4</a:t>
            </a:r>
            <a:endParaRPr lang="en-US" sz="1300" dirty="0"/>
          </a:p>
        </p:txBody>
      </p:sp>
      <p:sp>
        <p:nvSpPr>
          <p:cNvPr id="11" name="anim01_click_practice"/>
          <p:cNvSpPr txBox="1"/>
          <p:nvPr/>
        </p:nvSpPr>
        <p:spPr>
          <a:xfrm>
            <a:off x="1600200" y="32461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Sum</a:t>
            </a:r>
            <a:endParaRPr lang="en-US" sz="1300" dirty="0"/>
          </a:p>
        </p:txBody>
      </p:sp>
      <p:sp>
        <p:nvSpPr>
          <p:cNvPr id="12" name="anim01_click_practice"/>
          <p:cNvSpPr txBox="1"/>
          <p:nvPr/>
        </p:nvSpPr>
        <p:spPr>
          <a:xfrm>
            <a:off x="1600200" y="351129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8C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sort, then run Two Sum for each number</a:t>
            </a:r>
            <a:endParaRPr lang="en-US" sz="1150" dirty="0"/>
          </a:p>
        </p:txBody>
      </p:sp>
      <p:sp>
        <p:nvSpPr>
          <p:cNvPr id="13" name="anim01_click_practice"/>
          <p:cNvSpPr txBox="1"/>
          <p:nvPr/>
        </p:nvSpPr>
        <p:spPr>
          <a:xfrm>
            <a:off x="1005840" y="38404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4.7</a:t>
            </a:r>
            <a:endParaRPr lang="en-US" sz="1300" dirty="0"/>
          </a:p>
        </p:txBody>
      </p:sp>
      <p:sp>
        <p:nvSpPr>
          <p:cNvPr id="14" name="anim01_click_practice"/>
          <p:cNvSpPr txBox="1"/>
          <p:nvPr/>
        </p:nvSpPr>
        <p:spPr>
          <a:xfrm>
            <a:off x="1600200" y="38404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 Sums of Distinct Index Pairs</a:t>
            </a:r>
            <a:endParaRPr lang="en-US" sz="1300" dirty="0"/>
          </a:p>
        </p:txBody>
      </p:sp>
      <p:sp>
        <p:nvSpPr>
          <p:cNvPr id="15" name="anim01_click_practice"/>
          <p:cNvSpPr txBox="1"/>
          <p:nvPr/>
        </p:nvSpPr>
        <p:spPr>
          <a:xfrm>
            <a:off x="1600200" y="410565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8C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dict from each pair sum to its index pairs</a:t>
            </a:r>
            <a:endParaRPr lang="en-US" sz="1150" dirty="0"/>
          </a:p>
        </p:txBody>
      </p:sp>
      <p:sp>
        <p:nvSpPr>
          <p:cNvPr id="16" name="anim02_click_how"/>
          <p:cNvSpPr/>
          <p:nvPr/>
        </p:nvSpPr>
        <p:spPr>
          <a:xfrm>
            <a:off x="6199632" y="1691640"/>
            <a:ext cx="5257800" cy="2788920"/>
          </a:xfrm>
          <a:prstGeom prst="roundRect">
            <a:avLst>
              <a:gd name="adj" fmla="val 1967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17" name="anim02_click_how"/>
          <p:cNvSpPr txBox="1"/>
          <p:nvPr/>
        </p:nvSpPr>
        <p:spPr>
          <a:xfrm>
            <a:off x="6473952" y="187452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practice</a:t>
            </a:r>
            <a:endParaRPr lang="en-US" sz="1500" dirty="0"/>
          </a:p>
        </p:txBody>
      </p:sp>
      <p:sp>
        <p:nvSpPr>
          <p:cNvPr id="18" name="anim02_click_how"/>
          <p:cNvSpPr txBox="1"/>
          <p:nvPr/>
        </p:nvSpPr>
        <p:spPr>
          <a:xfrm>
            <a:off x="6473952" y="2377440"/>
            <a:ext cx="4709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yourself twenty five minutes per problem.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your approach out loud before you type.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time and space when you finish.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each one from a blank page a week later.</a:t>
            </a:r>
            <a:endParaRPr lang="en-US" sz="1300" dirty="0"/>
          </a:p>
        </p:txBody>
      </p:sp>
      <p:sp>
        <p:nvSpPr>
          <p:cNvPr id="19" name="anim03_click_next"/>
          <p:cNvSpPr/>
          <p:nvPr/>
        </p:nvSpPr>
        <p:spPr>
          <a:xfrm>
            <a:off x="731520" y="4681728"/>
            <a:ext cx="10725912" cy="1188720"/>
          </a:xfrm>
          <a:prstGeom prst="roundRect">
            <a:avLst>
              <a:gd name="adj" fmla="val 4615"/>
            </a:avLst>
          </a:prstGeom>
          <a:solidFill>
            <a:srgbClr val="232640"/>
          </a:solidFill>
          <a:ln w="9525">
            <a:solidFill>
              <a:srgbClr val="3A3F63"/>
            </a:solidFill>
            <a:prstDash val="solid"/>
          </a:ln>
        </p:spPr>
      </p:sp>
      <p:sp>
        <p:nvSpPr>
          <p:cNvPr id="20" name="anim03_click_next"/>
          <p:cNvSpPr txBox="1"/>
          <p:nvPr/>
        </p:nvSpPr>
        <p:spPr>
          <a:xfrm>
            <a:off x="1005840" y="48188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WORKSHOP</a:t>
            </a:r>
            <a:endParaRPr lang="en-US" sz="1050" dirty="0"/>
          </a:p>
        </p:txBody>
      </p:sp>
      <p:sp>
        <p:nvSpPr>
          <p:cNvPr id="21" name="anim03_click_next"/>
          <p:cNvSpPr txBox="1"/>
          <p:nvPr/>
        </p:nvSpPr>
        <p:spPr>
          <a:xfrm>
            <a:off x="1005840" y="504748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Trees</a:t>
            </a:r>
            <a:endParaRPr lang="en-US" sz="2000" dirty="0"/>
          </a:p>
        </p:txBody>
      </p:sp>
      <p:sp>
        <p:nvSpPr>
          <p:cNvPr id="22" name="anim03_click_next"/>
          <p:cNvSpPr txBox="1"/>
          <p:nvPr/>
        </p:nvSpPr>
        <p:spPr>
          <a:xfrm>
            <a:off x="1005840" y="544982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8C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format, built on everything you did today. Come with the three problems above attempted.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theme/theme1.xml><?xml version="1.0" encoding="utf-8"?>
<a:theme xmlns:a="http://schemas.openxmlformats.org/drawingml/2006/main" name="Technical Interview 101">
  <a:themeElements>
    <a:clrScheme name="Technical Interview 101">
      <a:dk1>
        <a:srgbClr val="1F2333"/>
      </a:dk1>
      <a:lt1>
        <a:srgbClr val="FFFFFF"/>
      </a:lt1>
      <a:dk2>
        <a:srgbClr val="1B1E33"/>
      </a:dk2>
      <a:lt2>
        <a:srgbClr val="F6F7FB"/>
      </a:lt2>
      <a:accent1>
        <a:srgbClr val="FF6B35"/>
      </a:accent1>
      <a:accent2>
        <a:srgbClr val="2A9D8F"/>
      </a:accent2>
      <a:accent3>
        <a:srgbClr val="E05252"/>
      </a:accent3>
      <a:accent4>
        <a:srgbClr val="5A6072"/>
      </a:accent4>
      <a:accent5>
        <a:srgbClr val="8E94AE"/>
      </a:accent5>
      <a:accent6>
        <a:srgbClr val="232640"/>
      </a:accent6>
      <a:hlink>
        <a:srgbClr val="2A9D8F"/>
      </a:hlink>
      <a:folHlink>
        <a:srgbClr val="B3441F"/>
      </a:folHlink>
    </a:clrScheme>
    <a:fontScheme name="Technical Interview 101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3: Hash Maps</dc:title>
  <dc:subject>PptxGenJS Presentation</dc:subject>
  <dc:creator>Grasshopper Lab</dc:creator>
  <cp:lastModifiedBy>Grasshopper Lab</cp:lastModifiedBy>
  <cp:revision>1</cp:revision>
  <dcterms:created xsi:type="dcterms:W3CDTF">2026-10-12T04:05:02Z</dcterms:created>
  <dcterms:modified xsi:type="dcterms:W3CDTF">2026-10-12T04:05:02Z</dcterms:modified>
</cp:coreProperties>
</file>