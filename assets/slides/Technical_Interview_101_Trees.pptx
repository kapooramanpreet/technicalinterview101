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">
    <p:bg>
      <p:bgPr>
        <a:solidFill>
          <a:srgbClr val="F5F6FA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B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/>
        </p:nvSpPr>
        <p:spPr>
          <a:xfrm>
            <a:off x="514350" y="161163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TECHNICAL INTERVIEWS 101 // MODULE 5 // TREES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6"/>
          <p:cNvSpPr txBox="1"/>
          <p:nvPr/>
        </p:nvSpPr>
        <p:spPr>
          <a:xfrm>
            <a:off x="514350" y="1885950"/>
            <a:ext cx="411480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lang="en" sz="4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Trees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6"/>
          <p:cNvSpPr txBox="1"/>
          <p:nvPr/>
        </p:nvSpPr>
        <p:spPr>
          <a:xfrm>
            <a:off x="514350" y="2846070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C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C8CCDC"/>
                </a:solidFill>
                <a:latin typeface="Calibri"/>
                <a:ea typeface="Calibri"/>
                <a:cs typeface="Calibri"/>
                <a:sym typeface="Calibri"/>
              </a:rPr>
              <a:t>Binary trees, binary search trees, and traversals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16"/>
          <p:cNvCxnSpPr/>
          <p:nvPr/>
        </p:nvCxnSpPr>
        <p:spPr>
          <a:xfrm flipH="1">
            <a:off x="5554980" y="1577340"/>
            <a:ext cx="1028700" cy="1131570"/>
          </a:xfrm>
          <a:prstGeom prst="straightConnector1">
            <a:avLst/>
          </a:prstGeom>
          <a:noFill/>
          <a:ln cap="flat" cmpd="sng" w="19050">
            <a:solidFill>
              <a:srgbClr val="4A50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6"/>
          <p:cNvCxnSpPr/>
          <p:nvPr/>
        </p:nvCxnSpPr>
        <p:spPr>
          <a:xfrm flipH="1">
            <a:off x="5040630" y="2708910"/>
            <a:ext cx="514350" cy="1131570"/>
          </a:xfrm>
          <a:prstGeom prst="straightConnector1">
            <a:avLst/>
          </a:prstGeom>
          <a:noFill/>
          <a:ln cap="flat" cmpd="sng" w="19050">
            <a:solidFill>
              <a:srgbClr val="4A50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6"/>
          <p:cNvCxnSpPr/>
          <p:nvPr/>
        </p:nvCxnSpPr>
        <p:spPr>
          <a:xfrm>
            <a:off x="5554980" y="2708910"/>
            <a:ext cx="514350" cy="1131570"/>
          </a:xfrm>
          <a:prstGeom prst="straightConnector1">
            <a:avLst/>
          </a:prstGeom>
          <a:noFill/>
          <a:ln cap="flat" cmpd="sng" w="19050">
            <a:solidFill>
              <a:srgbClr val="4A50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6"/>
          <p:cNvCxnSpPr/>
          <p:nvPr/>
        </p:nvCxnSpPr>
        <p:spPr>
          <a:xfrm>
            <a:off x="6583680" y="1577340"/>
            <a:ext cx="1028700" cy="1131570"/>
          </a:xfrm>
          <a:prstGeom prst="straightConnector1">
            <a:avLst/>
          </a:prstGeom>
          <a:noFill/>
          <a:ln cap="flat" cmpd="sng" w="19050">
            <a:solidFill>
              <a:srgbClr val="4A50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6"/>
          <p:cNvCxnSpPr/>
          <p:nvPr/>
        </p:nvCxnSpPr>
        <p:spPr>
          <a:xfrm flipH="1">
            <a:off x="7098030" y="2708910"/>
            <a:ext cx="514350" cy="1131570"/>
          </a:xfrm>
          <a:prstGeom prst="straightConnector1">
            <a:avLst/>
          </a:prstGeom>
          <a:noFill/>
          <a:ln cap="flat" cmpd="sng" w="19050">
            <a:solidFill>
              <a:srgbClr val="4A50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6"/>
          <p:cNvCxnSpPr/>
          <p:nvPr/>
        </p:nvCxnSpPr>
        <p:spPr>
          <a:xfrm>
            <a:off x="7612380" y="2708910"/>
            <a:ext cx="514350" cy="1131570"/>
          </a:xfrm>
          <a:prstGeom prst="straightConnector1">
            <a:avLst/>
          </a:prstGeom>
          <a:noFill/>
          <a:ln cap="flat" cmpd="sng" w="19050">
            <a:solidFill>
              <a:srgbClr val="4A50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6"/>
          <p:cNvSpPr/>
          <p:nvPr/>
        </p:nvSpPr>
        <p:spPr>
          <a:xfrm>
            <a:off x="5280660" y="2434590"/>
            <a:ext cx="548640" cy="548640"/>
          </a:xfrm>
          <a:prstGeom prst="ellipse">
            <a:avLst/>
          </a:prstGeom>
          <a:solidFill>
            <a:srgbClr val="222641"/>
          </a:solidFill>
          <a:ln cap="flat" cmpd="sng" w="22225">
            <a:solidFill>
              <a:srgbClr val="3B41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E4E7F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4766310" y="3566160"/>
            <a:ext cx="548640" cy="548640"/>
          </a:xfrm>
          <a:prstGeom prst="ellipse">
            <a:avLst/>
          </a:prstGeom>
          <a:solidFill>
            <a:srgbClr val="222641"/>
          </a:solidFill>
          <a:ln cap="flat" cmpd="sng" w="22225">
            <a:solidFill>
              <a:srgbClr val="3B41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E4E7F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5795010" y="3566160"/>
            <a:ext cx="548640" cy="548640"/>
          </a:xfrm>
          <a:prstGeom prst="ellipse">
            <a:avLst/>
          </a:prstGeom>
          <a:solidFill>
            <a:srgbClr val="222641"/>
          </a:solidFill>
          <a:ln cap="flat" cmpd="sng" w="22225">
            <a:solidFill>
              <a:srgbClr val="3B41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E4E7F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6823710" y="3566160"/>
            <a:ext cx="548640" cy="548640"/>
          </a:xfrm>
          <a:prstGeom prst="ellipse">
            <a:avLst/>
          </a:prstGeom>
          <a:solidFill>
            <a:srgbClr val="222641"/>
          </a:solidFill>
          <a:ln cap="flat" cmpd="sng" w="22225">
            <a:solidFill>
              <a:srgbClr val="3B41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E4E7F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6309360" y="1303020"/>
            <a:ext cx="548640" cy="548640"/>
          </a:xfrm>
          <a:prstGeom prst="ellipse">
            <a:avLst/>
          </a:prstGeom>
          <a:solidFill>
            <a:srgbClr val="FF6B35"/>
          </a:solidFill>
          <a:ln cap="flat" cmpd="sng" w="222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7338060" y="2434590"/>
            <a:ext cx="548640" cy="548640"/>
          </a:xfrm>
          <a:prstGeom prst="ellipse">
            <a:avLst/>
          </a:prstGeom>
          <a:solidFill>
            <a:srgbClr val="222641"/>
          </a:solidFill>
          <a:ln cap="flat" cmpd="sng" w="22225">
            <a:solidFill>
              <a:srgbClr val="3B41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E4E7F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7852410" y="3566160"/>
            <a:ext cx="548640" cy="548640"/>
          </a:xfrm>
          <a:prstGeom prst="ellipse">
            <a:avLst/>
          </a:prstGeom>
          <a:solidFill>
            <a:srgbClr val="222641"/>
          </a:solidFill>
          <a:ln cap="flat" cmpd="sng" w="22225">
            <a:solidFill>
              <a:srgbClr val="3B41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E4E7F3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and blue chat bubble with orange and white text&#10;&#10;AI-generated content may be incorrect." id="74" name="Google Shape;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0144" y="173145"/>
            <a:ext cx="851439" cy="573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What we will cover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548640" y="30175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sz="1100"/>
          </a:p>
        </p:txBody>
      </p:sp>
      <p:sp>
        <p:nvSpPr>
          <p:cNvPr id="82" name="Google Shape;82;p17"/>
          <p:cNvSpPr/>
          <p:nvPr/>
        </p:nvSpPr>
        <p:spPr>
          <a:xfrm>
            <a:off x="582930" y="1241298"/>
            <a:ext cx="315468" cy="31546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582930" y="124129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84" name="Google Shape;84;p17"/>
          <p:cNvSpPr txBox="1"/>
          <p:nvPr/>
        </p:nvSpPr>
        <p:spPr>
          <a:xfrm>
            <a:off x="1062990" y="1200150"/>
            <a:ext cx="72009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What a tree is</a:t>
            </a:r>
            <a:endParaRPr sz="1100"/>
          </a:p>
        </p:txBody>
      </p:sp>
      <p:sp>
        <p:nvSpPr>
          <p:cNvPr id="85" name="Google Shape;85;p17"/>
          <p:cNvSpPr txBox="1"/>
          <p:nvPr/>
        </p:nvSpPr>
        <p:spPr>
          <a:xfrm>
            <a:off x="1062990" y="1433322"/>
            <a:ext cx="7200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Vocabulary, levels, height</a:t>
            </a:r>
            <a:endParaRPr sz="1100"/>
          </a:p>
        </p:txBody>
      </p:sp>
      <p:cxnSp>
        <p:nvCxnSpPr>
          <p:cNvPr id="86" name="Google Shape;86;p17"/>
          <p:cNvCxnSpPr/>
          <p:nvPr/>
        </p:nvCxnSpPr>
        <p:spPr>
          <a:xfrm>
            <a:off x="1062990" y="1721358"/>
            <a:ext cx="7509510" cy="0"/>
          </a:xfrm>
          <a:prstGeom prst="straightConnector1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7"/>
          <p:cNvSpPr/>
          <p:nvPr/>
        </p:nvSpPr>
        <p:spPr>
          <a:xfrm>
            <a:off x="582930" y="1858518"/>
            <a:ext cx="315468" cy="31546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582930" y="185851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89" name="Google Shape;89;p17"/>
          <p:cNvSpPr txBox="1"/>
          <p:nvPr/>
        </p:nvSpPr>
        <p:spPr>
          <a:xfrm>
            <a:off x="1062990" y="1817370"/>
            <a:ext cx="72009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Binary trees</a:t>
            </a:r>
            <a:endParaRPr sz="1100"/>
          </a:p>
        </p:txBody>
      </p:sp>
      <p:sp>
        <p:nvSpPr>
          <p:cNvPr id="90" name="Google Shape;90;p17"/>
          <p:cNvSpPr txBox="1"/>
          <p:nvPr/>
        </p:nvSpPr>
        <p:spPr>
          <a:xfrm>
            <a:off x="1062990" y="2050542"/>
            <a:ext cx="7200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Binary, full, perfect, complete</a:t>
            </a:r>
            <a:endParaRPr sz="1100"/>
          </a:p>
        </p:txBody>
      </p:sp>
      <p:cxnSp>
        <p:nvCxnSpPr>
          <p:cNvPr id="91" name="Google Shape;91;p17"/>
          <p:cNvCxnSpPr/>
          <p:nvPr/>
        </p:nvCxnSpPr>
        <p:spPr>
          <a:xfrm>
            <a:off x="1062990" y="2338578"/>
            <a:ext cx="7509510" cy="0"/>
          </a:xfrm>
          <a:prstGeom prst="straightConnector1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17"/>
          <p:cNvSpPr/>
          <p:nvPr/>
        </p:nvSpPr>
        <p:spPr>
          <a:xfrm>
            <a:off x="582930" y="2475738"/>
            <a:ext cx="315468" cy="31546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582930" y="247573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94" name="Google Shape;94;p17"/>
          <p:cNvSpPr txBox="1"/>
          <p:nvPr/>
        </p:nvSpPr>
        <p:spPr>
          <a:xfrm>
            <a:off x="1062990" y="2434590"/>
            <a:ext cx="72009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Binary search trees</a:t>
            </a:r>
            <a:endParaRPr sz="1100"/>
          </a:p>
        </p:txBody>
      </p:sp>
      <p:sp>
        <p:nvSpPr>
          <p:cNvPr id="95" name="Google Shape;95;p17"/>
          <p:cNvSpPr txBox="1"/>
          <p:nvPr/>
        </p:nvSpPr>
        <p:spPr>
          <a:xfrm>
            <a:off x="1062990" y="2667762"/>
            <a:ext cx="7200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The BST property, search, insert, and delete</a:t>
            </a:r>
            <a:endParaRPr sz="1100"/>
          </a:p>
        </p:txBody>
      </p:sp>
      <p:cxnSp>
        <p:nvCxnSpPr>
          <p:cNvPr id="96" name="Google Shape;96;p17"/>
          <p:cNvCxnSpPr/>
          <p:nvPr/>
        </p:nvCxnSpPr>
        <p:spPr>
          <a:xfrm>
            <a:off x="1062990" y="2955798"/>
            <a:ext cx="7509510" cy="0"/>
          </a:xfrm>
          <a:prstGeom prst="straightConnector1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7"/>
          <p:cNvSpPr/>
          <p:nvPr/>
        </p:nvSpPr>
        <p:spPr>
          <a:xfrm>
            <a:off x="582930" y="3092958"/>
            <a:ext cx="315468" cy="31546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582930" y="309295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99" name="Google Shape;99;p17"/>
          <p:cNvSpPr txBox="1"/>
          <p:nvPr/>
        </p:nvSpPr>
        <p:spPr>
          <a:xfrm>
            <a:off x="1062990" y="3051810"/>
            <a:ext cx="72009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100"/>
          </a:p>
        </p:txBody>
      </p:sp>
      <p:sp>
        <p:nvSpPr>
          <p:cNvPr id="100" name="Google Shape;100;p17"/>
          <p:cNvSpPr txBox="1"/>
          <p:nvPr/>
        </p:nvSpPr>
        <p:spPr>
          <a:xfrm>
            <a:off x="1062990" y="3284982"/>
            <a:ext cx="7200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BST deletion, with two solutions</a:t>
            </a:r>
            <a:endParaRPr sz="1100"/>
          </a:p>
        </p:txBody>
      </p:sp>
      <p:cxnSp>
        <p:nvCxnSpPr>
          <p:cNvPr id="101" name="Google Shape;101;p17"/>
          <p:cNvCxnSpPr/>
          <p:nvPr/>
        </p:nvCxnSpPr>
        <p:spPr>
          <a:xfrm>
            <a:off x="1062990" y="3573018"/>
            <a:ext cx="7509510" cy="0"/>
          </a:xfrm>
          <a:prstGeom prst="straightConnector1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7"/>
          <p:cNvSpPr/>
          <p:nvPr/>
        </p:nvSpPr>
        <p:spPr>
          <a:xfrm>
            <a:off x="582930" y="3710178"/>
            <a:ext cx="315468" cy="31546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582930" y="371017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104" name="Google Shape;104;p17"/>
          <p:cNvSpPr txBox="1"/>
          <p:nvPr/>
        </p:nvSpPr>
        <p:spPr>
          <a:xfrm>
            <a:off x="1062990" y="3669030"/>
            <a:ext cx="72009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Traversals</a:t>
            </a:r>
            <a:endParaRPr sz="1100"/>
          </a:p>
        </p:txBody>
      </p:sp>
      <p:sp>
        <p:nvSpPr>
          <p:cNvPr id="105" name="Google Shape;105;p17"/>
          <p:cNvSpPr txBox="1"/>
          <p:nvPr/>
        </p:nvSpPr>
        <p:spPr>
          <a:xfrm>
            <a:off x="1062990" y="3902202"/>
            <a:ext cx="7200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The idea behind inorder</a:t>
            </a:r>
            <a:endParaRPr sz="1100"/>
          </a:p>
        </p:txBody>
      </p:sp>
      <p:cxnSp>
        <p:nvCxnSpPr>
          <p:cNvPr id="106" name="Google Shape;106;p17"/>
          <p:cNvCxnSpPr/>
          <p:nvPr/>
        </p:nvCxnSpPr>
        <p:spPr>
          <a:xfrm>
            <a:off x="1062990" y="4190238"/>
            <a:ext cx="7509510" cy="0"/>
          </a:xfrm>
          <a:prstGeom prst="straightConnector1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17"/>
          <p:cNvSpPr/>
          <p:nvPr/>
        </p:nvSpPr>
        <p:spPr>
          <a:xfrm>
            <a:off x="582930" y="4327398"/>
            <a:ext cx="315468" cy="31546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582930" y="4327398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sp>
        <p:nvSpPr>
          <p:cNvPr id="109" name="Google Shape;109;p17"/>
          <p:cNvSpPr txBox="1"/>
          <p:nvPr/>
        </p:nvSpPr>
        <p:spPr>
          <a:xfrm>
            <a:off x="1062990" y="4286250"/>
            <a:ext cx="72009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More examples</a:t>
            </a:r>
            <a:endParaRPr sz="1100"/>
          </a:p>
        </p:txBody>
      </p:sp>
      <p:sp>
        <p:nvSpPr>
          <p:cNvPr id="110" name="Google Shape;110;p17"/>
          <p:cNvSpPr txBox="1"/>
          <p:nvPr/>
        </p:nvSpPr>
        <p:spPr>
          <a:xfrm>
            <a:off x="1062990" y="4519422"/>
            <a:ext cx="7200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Sum of leaves and right side view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What is a tree?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514350" y="946404"/>
            <a:ext cx="811507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A tree is a rooted, directed, acyclic structure. Nodes hold a value and references to their children.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514350" y="1405890"/>
            <a:ext cx="4046220" cy="98298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685800" y="1474470"/>
            <a:ext cx="3703320" cy="845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One root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Exactly one node sits at the top.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514350" y="2594610"/>
            <a:ext cx="4046220" cy="98298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685800" y="2663190"/>
            <a:ext cx="3703320" cy="845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One parent each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Every node except the root has exactly one parent.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14350" y="3783330"/>
            <a:ext cx="4046220" cy="98298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685800" y="3851910"/>
            <a:ext cx="3703320" cy="845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No cycles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You can never walk from a node back to itself.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18"/>
          <p:cNvCxnSpPr/>
          <p:nvPr/>
        </p:nvCxnSpPr>
        <p:spPr>
          <a:xfrm flipH="1">
            <a:off x="5829300" y="1961388"/>
            <a:ext cx="891540" cy="99441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18"/>
          <p:cNvCxnSpPr/>
          <p:nvPr/>
        </p:nvCxnSpPr>
        <p:spPr>
          <a:xfrm flipH="1">
            <a:off x="5383530" y="2955798"/>
            <a:ext cx="445770" cy="99441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18"/>
          <p:cNvCxnSpPr/>
          <p:nvPr/>
        </p:nvCxnSpPr>
        <p:spPr>
          <a:xfrm>
            <a:off x="5829300" y="2955798"/>
            <a:ext cx="445770" cy="99441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18"/>
          <p:cNvCxnSpPr/>
          <p:nvPr/>
        </p:nvCxnSpPr>
        <p:spPr>
          <a:xfrm>
            <a:off x="6720840" y="1961388"/>
            <a:ext cx="891540" cy="99441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8"/>
          <p:cNvCxnSpPr/>
          <p:nvPr/>
        </p:nvCxnSpPr>
        <p:spPr>
          <a:xfrm flipH="1">
            <a:off x="7166610" y="2955798"/>
            <a:ext cx="445770" cy="99441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18"/>
          <p:cNvCxnSpPr/>
          <p:nvPr/>
        </p:nvCxnSpPr>
        <p:spPr>
          <a:xfrm>
            <a:off x="7612380" y="2955798"/>
            <a:ext cx="445770" cy="99441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18"/>
          <p:cNvSpPr/>
          <p:nvPr/>
        </p:nvSpPr>
        <p:spPr>
          <a:xfrm>
            <a:off x="5582412" y="270891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5136642" y="370332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028182" y="370332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6919722" y="370332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6473952" y="171450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7365492" y="270891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7811262" y="370332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4800600" y="4457700"/>
            <a:ext cx="3828821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Trees are non-linear: no single "next" element like a list.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Root and children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14350" y="1097280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685800" y="1165860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The node at the top is the </a:t>
            </a:r>
            <a:r>
              <a:rPr b="1" lang="en" sz="1400">
                <a:solidFill>
                  <a:srgbClr val="D2531F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. The successors of a node are its </a:t>
            </a:r>
            <a:r>
              <a:rPr b="1" lang="en" sz="1400">
                <a:solidFill>
                  <a:srgbClr val="D2531F"/>
                </a:solidFill>
                <a:latin typeface="Calibri"/>
                <a:ea typeface="Calibri"/>
                <a:cs typeface="Calibri"/>
                <a:sym typeface="Calibri"/>
              </a:rPr>
              <a:t>children</a:t>
            </a: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514350" y="3034665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685800" y="3103245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In this tree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Here 25 is the root. 2 and 51 are its children; 5 and 11 are children of 2.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19"/>
          <p:cNvCxnSpPr/>
          <p:nvPr/>
        </p:nvCxnSpPr>
        <p:spPr>
          <a:xfrm flipH="1">
            <a:off x="5829300" y="1755648"/>
            <a:ext cx="89154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19"/>
          <p:cNvCxnSpPr/>
          <p:nvPr/>
        </p:nvCxnSpPr>
        <p:spPr>
          <a:xfrm flipH="1">
            <a:off x="538353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19"/>
          <p:cNvCxnSpPr/>
          <p:nvPr/>
        </p:nvCxnSpPr>
        <p:spPr>
          <a:xfrm>
            <a:off x="582930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19"/>
          <p:cNvCxnSpPr/>
          <p:nvPr/>
        </p:nvCxnSpPr>
        <p:spPr>
          <a:xfrm>
            <a:off x="6720840" y="1755648"/>
            <a:ext cx="89154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9"/>
          <p:cNvCxnSpPr/>
          <p:nvPr/>
        </p:nvCxnSpPr>
        <p:spPr>
          <a:xfrm flipH="1">
            <a:off x="716661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19"/>
          <p:cNvCxnSpPr/>
          <p:nvPr/>
        </p:nvCxnSpPr>
        <p:spPr>
          <a:xfrm>
            <a:off x="761238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19"/>
          <p:cNvSpPr/>
          <p:nvPr/>
        </p:nvSpPr>
        <p:spPr>
          <a:xfrm>
            <a:off x="5582412" y="257175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513664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602818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691972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6473952" y="150876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7365492" y="257175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781126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Parent, grandparent, sibling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14350" y="1097280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85800" y="1165860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1400">
                <a:solidFill>
                  <a:srgbClr val="D2531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is a node's direct predecessor. A </a:t>
            </a:r>
            <a:r>
              <a:rPr b="1" lang="en" sz="1400">
                <a:solidFill>
                  <a:srgbClr val="D2531F"/>
                </a:solidFill>
                <a:latin typeface="Calibri"/>
                <a:ea typeface="Calibri"/>
                <a:cs typeface="Calibri"/>
                <a:sym typeface="Calibri"/>
              </a:rPr>
              <a:t>grandparent</a:t>
            </a: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is its parent's parent. Nodes with the same parent are </a:t>
            </a:r>
            <a:r>
              <a:rPr b="1" lang="en" sz="1400">
                <a:solidFill>
                  <a:srgbClr val="D2531F"/>
                </a:solidFill>
                <a:latin typeface="Calibri"/>
                <a:ea typeface="Calibri"/>
                <a:cs typeface="Calibri"/>
                <a:sym typeface="Calibri"/>
              </a:rPr>
              <a:t>siblings</a:t>
            </a: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14350" y="3034665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85800" y="3103245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In this tree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2 is the parent of 5 and 11. 25 is the grandparent of 5, 11, 14, 65. 2 and 51 are siblings. Every node has one parent except the root.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20"/>
          <p:cNvCxnSpPr/>
          <p:nvPr/>
        </p:nvCxnSpPr>
        <p:spPr>
          <a:xfrm flipH="1">
            <a:off x="5829300" y="1755648"/>
            <a:ext cx="89154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20"/>
          <p:cNvCxnSpPr/>
          <p:nvPr/>
        </p:nvCxnSpPr>
        <p:spPr>
          <a:xfrm flipH="1">
            <a:off x="538353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20"/>
          <p:cNvCxnSpPr/>
          <p:nvPr/>
        </p:nvCxnSpPr>
        <p:spPr>
          <a:xfrm>
            <a:off x="582930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20"/>
          <p:cNvCxnSpPr/>
          <p:nvPr/>
        </p:nvCxnSpPr>
        <p:spPr>
          <a:xfrm>
            <a:off x="6720840" y="1755648"/>
            <a:ext cx="89154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20"/>
          <p:cNvCxnSpPr/>
          <p:nvPr/>
        </p:nvCxnSpPr>
        <p:spPr>
          <a:xfrm flipH="1">
            <a:off x="716661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20"/>
          <p:cNvCxnSpPr/>
          <p:nvPr/>
        </p:nvCxnSpPr>
        <p:spPr>
          <a:xfrm>
            <a:off x="761238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20"/>
          <p:cNvSpPr/>
          <p:nvPr/>
        </p:nvSpPr>
        <p:spPr>
          <a:xfrm>
            <a:off x="5582412" y="257175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13664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602818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691972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473952" y="150876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7365492" y="257175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781126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Ancestors and descendants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14350" y="1097280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85800" y="1165860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2531F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D2531F"/>
                </a:solidFill>
                <a:latin typeface="Calibri"/>
                <a:ea typeface="Calibri"/>
                <a:cs typeface="Calibri"/>
                <a:sym typeface="Calibri"/>
              </a:rPr>
              <a:t>Ancestors</a:t>
            </a: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are reached by moving only upward. </a:t>
            </a:r>
            <a:r>
              <a:rPr b="1" lang="en" sz="1400">
                <a:solidFill>
                  <a:srgbClr val="D2531F"/>
                </a:solidFill>
                <a:latin typeface="Calibri"/>
                <a:ea typeface="Calibri"/>
                <a:cs typeface="Calibri"/>
                <a:sym typeface="Calibri"/>
              </a:rPr>
              <a:t>Descendants</a:t>
            </a: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are reached by moving only downward.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14350" y="3034665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85800" y="3103245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In this tree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25 and 51 are ancestors of 14. 14 is a descendant of both.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21"/>
          <p:cNvCxnSpPr/>
          <p:nvPr/>
        </p:nvCxnSpPr>
        <p:spPr>
          <a:xfrm flipH="1">
            <a:off x="5829300" y="1755648"/>
            <a:ext cx="89154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21"/>
          <p:cNvCxnSpPr/>
          <p:nvPr/>
        </p:nvCxnSpPr>
        <p:spPr>
          <a:xfrm flipH="1">
            <a:off x="538353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21"/>
          <p:cNvCxnSpPr/>
          <p:nvPr/>
        </p:nvCxnSpPr>
        <p:spPr>
          <a:xfrm>
            <a:off x="582930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21"/>
          <p:cNvCxnSpPr/>
          <p:nvPr/>
        </p:nvCxnSpPr>
        <p:spPr>
          <a:xfrm>
            <a:off x="6720840" y="1755648"/>
            <a:ext cx="89154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21"/>
          <p:cNvCxnSpPr/>
          <p:nvPr/>
        </p:nvCxnSpPr>
        <p:spPr>
          <a:xfrm flipH="1">
            <a:off x="716661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21"/>
          <p:cNvCxnSpPr/>
          <p:nvPr/>
        </p:nvCxnSpPr>
        <p:spPr>
          <a:xfrm>
            <a:off x="761238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21"/>
          <p:cNvSpPr/>
          <p:nvPr/>
        </p:nvSpPr>
        <p:spPr>
          <a:xfrm>
            <a:off x="5582412" y="257175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13664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02818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919722" y="363474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6473952" y="150876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7365492" y="257175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781126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Leaves and internal nodes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14350" y="1097280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685800" y="1165860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A node with no children is a </a:t>
            </a:r>
            <a:r>
              <a:rPr b="1" lang="en" sz="1400">
                <a:solidFill>
                  <a:srgbClr val="D2531F"/>
                </a:solidFill>
                <a:latin typeface="Calibri"/>
                <a:ea typeface="Calibri"/>
                <a:cs typeface="Calibri"/>
                <a:sym typeface="Calibri"/>
              </a:rPr>
              <a:t>leaf</a:t>
            </a: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(external node). Every other node is </a:t>
            </a:r>
            <a:r>
              <a:rPr b="1" lang="en" sz="1400">
                <a:solidFill>
                  <a:srgbClr val="D2531F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14350" y="3034665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85800" y="3103245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In this tree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Leaves: 5, 11, 14, 65. Internal nodes: 25, 2, 51.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22"/>
          <p:cNvCxnSpPr/>
          <p:nvPr/>
        </p:nvCxnSpPr>
        <p:spPr>
          <a:xfrm flipH="1">
            <a:off x="5829300" y="1755648"/>
            <a:ext cx="89154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22"/>
          <p:cNvCxnSpPr/>
          <p:nvPr/>
        </p:nvCxnSpPr>
        <p:spPr>
          <a:xfrm flipH="1">
            <a:off x="538353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22"/>
          <p:cNvCxnSpPr/>
          <p:nvPr/>
        </p:nvCxnSpPr>
        <p:spPr>
          <a:xfrm>
            <a:off x="582930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22"/>
          <p:cNvCxnSpPr/>
          <p:nvPr/>
        </p:nvCxnSpPr>
        <p:spPr>
          <a:xfrm>
            <a:off x="6720840" y="1755648"/>
            <a:ext cx="89154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22"/>
          <p:cNvCxnSpPr/>
          <p:nvPr/>
        </p:nvCxnSpPr>
        <p:spPr>
          <a:xfrm flipH="1">
            <a:off x="716661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22"/>
          <p:cNvCxnSpPr/>
          <p:nvPr/>
        </p:nvCxnSpPr>
        <p:spPr>
          <a:xfrm>
            <a:off x="761238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22"/>
          <p:cNvSpPr/>
          <p:nvPr/>
        </p:nvSpPr>
        <p:spPr>
          <a:xfrm>
            <a:off x="5582412" y="257175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136642" y="363474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6028182" y="363474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6919722" y="363474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473952" y="150876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7365492" y="257175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7811262" y="363474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Level (depth)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14350" y="1097280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85800" y="1165860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The level of the root is 0. For any other node, </a:t>
            </a:r>
            <a:r>
              <a:rPr b="1" lang="en" sz="1400">
                <a:solidFill>
                  <a:srgbClr val="D2531F"/>
                </a:solidFill>
                <a:latin typeface="Calibri"/>
                <a:ea typeface="Calibri"/>
                <a:cs typeface="Calibri"/>
                <a:sym typeface="Calibri"/>
              </a:rPr>
              <a:t>level = level(parent) + 1</a:t>
            </a: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14350" y="3034665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685800" y="3103245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In this tree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Level 0: 25. Level 1: 2, 51. Level 2: 5, 11, 14, 65.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23"/>
          <p:cNvCxnSpPr/>
          <p:nvPr/>
        </p:nvCxnSpPr>
        <p:spPr>
          <a:xfrm flipH="1">
            <a:off x="5520690" y="1755648"/>
            <a:ext cx="7886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23"/>
          <p:cNvCxnSpPr/>
          <p:nvPr/>
        </p:nvCxnSpPr>
        <p:spPr>
          <a:xfrm flipH="1">
            <a:off x="5126355" y="2818638"/>
            <a:ext cx="394335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23"/>
          <p:cNvCxnSpPr/>
          <p:nvPr/>
        </p:nvCxnSpPr>
        <p:spPr>
          <a:xfrm>
            <a:off x="5520690" y="2818638"/>
            <a:ext cx="394335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23"/>
          <p:cNvCxnSpPr/>
          <p:nvPr/>
        </p:nvCxnSpPr>
        <p:spPr>
          <a:xfrm>
            <a:off x="6309360" y="1755648"/>
            <a:ext cx="7886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23"/>
          <p:cNvCxnSpPr/>
          <p:nvPr/>
        </p:nvCxnSpPr>
        <p:spPr>
          <a:xfrm flipH="1">
            <a:off x="6703695" y="2818638"/>
            <a:ext cx="394335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23"/>
          <p:cNvCxnSpPr/>
          <p:nvPr/>
        </p:nvCxnSpPr>
        <p:spPr>
          <a:xfrm>
            <a:off x="7098030" y="2818638"/>
            <a:ext cx="394335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23"/>
          <p:cNvSpPr/>
          <p:nvPr/>
        </p:nvSpPr>
        <p:spPr>
          <a:xfrm>
            <a:off x="5273802" y="257175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4879467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668137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6456807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6062472" y="150876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6851142" y="257175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7245477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7955280" y="1652778"/>
            <a:ext cx="685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3AB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8C93AB"/>
                </a:solidFill>
                <a:latin typeface="Arial"/>
                <a:ea typeface="Arial"/>
                <a:cs typeface="Arial"/>
                <a:sym typeface="Arial"/>
              </a:rPr>
              <a:t>Level 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7955280" y="2715768"/>
            <a:ext cx="685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3AB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8C93AB"/>
                </a:solidFill>
                <a:latin typeface="Arial"/>
                <a:ea typeface="Arial"/>
                <a:cs typeface="Arial"/>
                <a:sym typeface="Arial"/>
              </a:rPr>
              <a:t>Level 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7955280" y="3778758"/>
            <a:ext cx="685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3AB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8C93AB"/>
                </a:solidFill>
                <a:latin typeface="Arial"/>
                <a:ea typeface="Arial"/>
                <a:cs typeface="Arial"/>
                <a:sym typeface="Arial"/>
              </a:rPr>
              <a:t>Level 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Height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514350" y="1097280"/>
            <a:ext cx="4046220" cy="130302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685800" y="1165860"/>
            <a:ext cx="370332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0-based height (counts edges)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A tree with just the root has height 0. Otherwise height = 1 + max(height of children). The tree shown has height 2.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514350" y="2606040"/>
            <a:ext cx="4046220" cy="130302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685800" y="2674620"/>
            <a:ext cx="370332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1-based height (counts nodes)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A tree with just the root has height 1. Otherwise height = 1 + max(height of children). The same tree has height 3.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514350" y="4114800"/>
            <a:ext cx="4046220" cy="651510"/>
          </a:xfrm>
          <a:prstGeom prst="roundRect">
            <a:avLst>
              <a:gd fmla="val 8421" name="adj"/>
            </a:avLst>
          </a:prstGeom>
          <a:solidFill>
            <a:srgbClr val="FFF0E8"/>
          </a:solidFill>
          <a:ln cap="flat" cmpd="sng" w="9525">
            <a:solidFill>
              <a:srgbClr val="F4C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85800" y="4183380"/>
            <a:ext cx="37033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4420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B34420"/>
                </a:solidFill>
                <a:latin typeface="Calibri"/>
                <a:ea typeface="Calibri"/>
                <a:cs typeface="Calibri"/>
                <a:sym typeface="Calibri"/>
              </a:rPr>
              <a:t>Ask your interviewer which definition they mean.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24"/>
          <p:cNvCxnSpPr/>
          <p:nvPr/>
        </p:nvCxnSpPr>
        <p:spPr>
          <a:xfrm flipH="1">
            <a:off x="5829300" y="1755648"/>
            <a:ext cx="89154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24"/>
          <p:cNvCxnSpPr/>
          <p:nvPr/>
        </p:nvCxnSpPr>
        <p:spPr>
          <a:xfrm flipH="1">
            <a:off x="538353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24"/>
          <p:cNvCxnSpPr/>
          <p:nvPr/>
        </p:nvCxnSpPr>
        <p:spPr>
          <a:xfrm>
            <a:off x="582930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24"/>
          <p:cNvCxnSpPr/>
          <p:nvPr/>
        </p:nvCxnSpPr>
        <p:spPr>
          <a:xfrm>
            <a:off x="6720840" y="1755648"/>
            <a:ext cx="89154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4"/>
          <p:cNvCxnSpPr/>
          <p:nvPr/>
        </p:nvCxnSpPr>
        <p:spPr>
          <a:xfrm flipH="1">
            <a:off x="716661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24"/>
          <p:cNvCxnSpPr/>
          <p:nvPr/>
        </p:nvCxnSpPr>
        <p:spPr>
          <a:xfrm>
            <a:off x="7612380" y="2818638"/>
            <a:ext cx="44577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24"/>
          <p:cNvSpPr/>
          <p:nvPr/>
        </p:nvSpPr>
        <p:spPr>
          <a:xfrm>
            <a:off x="5582412" y="257175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513664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602818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6919722" y="363474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6473952" y="150876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7365492" y="2571750"/>
            <a:ext cx="493776" cy="49377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7811262" y="363474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4800600" y="4423410"/>
            <a:ext cx="3828821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Longest path: 25, 51,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Binary trees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407670" y="1447800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579120" y="1516380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Binary tree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Each node has at most two children, called the </a:t>
            </a:r>
            <a:r>
              <a:rPr b="1" lang="en" sz="1400">
                <a:solidFill>
                  <a:srgbClr val="D2531F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child and the </a:t>
            </a:r>
            <a:r>
              <a:rPr b="1" lang="en" sz="1400">
                <a:solidFill>
                  <a:srgbClr val="D2531F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child.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25"/>
          <p:cNvCxnSpPr/>
          <p:nvPr/>
        </p:nvCxnSpPr>
        <p:spPr>
          <a:xfrm flipH="1">
            <a:off x="6206490" y="1892808"/>
            <a:ext cx="771525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25"/>
          <p:cNvCxnSpPr/>
          <p:nvPr/>
        </p:nvCxnSpPr>
        <p:spPr>
          <a:xfrm flipH="1">
            <a:off x="5692140" y="2955798"/>
            <a:ext cx="51435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25"/>
          <p:cNvCxnSpPr/>
          <p:nvPr/>
        </p:nvCxnSpPr>
        <p:spPr>
          <a:xfrm>
            <a:off x="6206490" y="2955798"/>
            <a:ext cx="514350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25"/>
          <p:cNvCxnSpPr/>
          <p:nvPr/>
        </p:nvCxnSpPr>
        <p:spPr>
          <a:xfrm>
            <a:off x="6978015" y="1892808"/>
            <a:ext cx="771525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25"/>
          <p:cNvSpPr/>
          <p:nvPr/>
        </p:nvSpPr>
        <p:spPr>
          <a:xfrm>
            <a:off x="5959602" y="270891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445252" y="377190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6473952" y="377190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6731127" y="164592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7502652" y="2708910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4800600" y="4457700"/>
            <a:ext cx="3828821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A binary tree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Full, perfect, and complete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514350" y="946404"/>
            <a:ext cx="811507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These three shapes describe binary trees only (at most two children per node).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514350" y="1405890"/>
            <a:ext cx="2567864" cy="3360420"/>
          </a:xfrm>
          <a:prstGeom prst="roundRect">
            <a:avLst>
              <a:gd fmla="val 2137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685800" y="1474470"/>
            <a:ext cx="2224964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Full binary tree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Every node has 0 or 2 children.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26"/>
          <p:cNvCxnSpPr/>
          <p:nvPr/>
        </p:nvCxnSpPr>
        <p:spPr>
          <a:xfrm flipH="1">
            <a:off x="1503388" y="2907792"/>
            <a:ext cx="442341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26"/>
          <p:cNvCxnSpPr/>
          <p:nvPr/>
        </p:nvCxnSpPr>
        <p:spPr>
          <a:xfrm flipH="1">
            <a:off x="1208494" y="3593592"/>
            <a:ext cx="294894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26"/>
          <p:cNvCxnSpPr/>
          <p:nvPr/>
        </p:nvCxnSpPr>
        <p:spPr>
          <a:xfrm>
            <a:off x="1503388" y="3593592"/>
            <a:ext cx="294894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26"/>
          <p:cNvCxnSpPr/>
          <p:nvPr/>
        </p:nvCxnSpPr>
        <p:spPr>
          <a:xfrm>
            <a:off x="1945729" y="2907792"/>
            <a:ext cx="442341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26"/>
          <p:cNvSpPr/>
          <p:nvPr/>
        </p:nvSpPr>
        <p:spPr>
          <a:xfrm>
            <a:off x="1304506" y="33947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1009612" y="40805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1599400" y="40805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1746847" y="27089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2189188" y="33947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3287953" y="1405890"/>
            <a:ext cx="2567864" cy="3360420"/>
          </a:xfrm>
          <a:prstGeom prst="roundRect">
            <a:avLst>
              <a:gd fmla="val 2137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3459403" y="1474470"/>
            <a:ext cx="2224964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Perfect binary tree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Full, and all leaves are on one level. Height h has 2^(h+1) - 1 nodes.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26"/>
          <p:cNvCxnSpPr/>
          <p:nvPr/>
        </p:nvCxnSpPr>
        <p:spPr>
          <a:xfrm flipH="1">
            <a:off x="3982098" y="2907792"/>
            <a:ext cx="589788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26"/>
          <p:cNvCxnSpPr/>
          <p:nvPr/>
        </p:nvCxnSpPr>
        <p:spPr>
          <a:xfrm flipH="1">
            <a:off x="3687204" y="3593592"/>
            <a:ext cx="294894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26"/>
          <p:cNvCxnSpPr/>
          <p:nvPr/>
        </p:nvCxnSpPr>
        <p:spPr>
          <a:xfrm>
            <a:off x="3982098" y="3593592"/>
            <a:ext cx="294894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26"/>
          <p:cNvCxnSpPr/>
          <p:nvPr/>
        </p:nvCxnSpPr>
        <p:spPr>
          <a:xfrm>
            <a:off x="4571886" y="2907792"/>
            <a:ext cx="589788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26"/>
          <p:cNvCxnSpPr/>
          <p:nvPr/>
        </p:nvCxnSpPr>
        <p:spPr>
          <a:xfrm flipH="1">
            <a:off x="4866780" y="3593592"/>
            <a:ext cx="294894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26"/>
          <p:cNvCxnSpPr/>
          <p:nvPr/>
        </p:nvCxnSpPr>
        <p:spPr>
          <a:xfrm>
            <a:off x="5161674" y="3593592"/>
            <a:ext cx="294894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26"/>
          <p:cNvSpPr/>
          <p:nvPr/>
        </p:nvSpPr>
        <p:spPr>
          <a:xfrm>
            <a:off x="3783216" y="33947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3488322" y="40805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4078110" y="40805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4667898" y="40805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4373004" y="27089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4962792" y="33947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5257686" y="40805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6061558" y="1405890"/>
            <a:ext cx="2567863" cy="3360420"/>
          </a:xfrm>
          <a:prstGeom prst="roundRect">
            <a:avLst>
              <a:gd fmla="val 2137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6233008" y="1474470"/>
            <a:ext cx="2224963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Complete binary tree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Every level is full except maybe the last, which fills from the left.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26"/>
          <p:cNvCxnSpPr/>
          <p:nvPr/>
        </p:nvCxnSpPr>
        <p:spPr>
          <a:xfrm flipH="1">
            <a:off x="6903148" y="2907792"/>
            <a:ext cx="589788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26"/>
          <p:cNvCxnSpPr/>
          <p:nvPr/>
        </p:nvCxnSpPr>
        <p:spPr>
          <a:xfrm flipH="1">
            <a:off x="6608255" y="3593592"/>
            <a:ext cx="294894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26"/>
          <p:cNvCxnSpPr/>
          <p:nvPr/>
        </p:nvCxnSpPr>
        <p:spPr>
          <a:xfrm>
            <a:off x="6903149" y="3593592"/>
            <a:ext cx="294894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26"/>
          <p:cNvCxnSpPr/>
          <p:nvPr/>
        </p:nvCxnSpPr>
        <p:spPr>
          <a:xfrm>
            <a:off x="7492937" y="2907792"/>
            <a:ext cx="589788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6"/>
          <p:cNvCxnSpPr/>
          <p:nvPr/>
        </p:nvCxnSpPr>
        <p:spPr>
          <a:xfrm flipH="1">
            <a:off x="7787831" y="3593592"/>
            <a:ext cx="294894" cy="68580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6"/>
          <p:cNvSpPr/>
          <p:nvPr/>
        </p:nvSpPr>
        <p:spPr>
          <a:xfrm>
            <a:off x="6704267" y="33947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6409373" y="40805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6999161" y="40805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7588949" y="40805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7294055" y="27089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7883842" y="3394710"/>
            <a:ext cx="397764" cy="39776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7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Binary search tree (BST)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514350" y="1097280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685800" y="1165860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The BST property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At every node, all values in the left subtree are smaller and all values in the right subtree are larger.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514350" y="3034665"/>
            <a:ext cx="4046220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7"/>
          <p:cNvSpPr txBox="1"/>
          <p:nvPr/>
        </p:nvSpPr>
        <p:spPr>
          <a:xfrm>
            <a:off x="685800" y="3103245"/>
            <a:ext cx="3703320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You can discard half the remaining tree at every step. Inorder traversal gives sorted output.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27"/>
          <p:cNvCxnSpPr/>
          <p:nvPr/>
        </p:nvCxnSpPr>
        <p:spPr>
          <a:xfrm flipH="1">
            <a:off x="6120765" y="1844802"/>
            <a:ext cx="900113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27"/>
          <p:cNvCxnSpPr/>
          <p:nvPr/>
        </p:nvCxnSpPr>
        <p:spPr>
          <a:xfrm flipH="1">
            <a:off x="5520690" y="2907792"/>
            <a:ext cx="600075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27"/>
          <p:cNvCxnSpPr/>
          <p:nvPr/>
        </p:nvCxnSpPr>
        <p:spPr>
          <a:xfrm>
            <a:off x="6120765" y="2907792"/>
            <a:ext cx="600075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27"/>
          <p:cNvCxnSpPr/>
          <p:nvPr/>
        </p:nvCxnSpPr>
        <p:spPr>
          <a:xfrm>
            <a:off x="7020877" y="1844802"/>
            <a:ext cx="900113" cy="10629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27"/>
          <p:cNvSpPr/>
          <p:nvPr/>
        </p:nvSpPr>
        <p:spPr>
          <a:xfrm>
            <a:off x="5253228" y="3703320"/>
            <a:ext cx="534924" cy="53492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7"/>
          <p:cNvSpPr/>
          <p:nvPr/>
        </p:nvSpPr>
        <p:spPr>
          <a:xfrm>
            <a:off x="5853303" y="2640330"/>
            <a:ext cx="534924" cy="53492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6453378" y="3703320"/>
            <a:ext cx="534924" cy="53492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6753416" y="1577340"/>
            <a:ext cx="534924" cy="53492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7"/>
          <p:cNvSpPr/>
          <p:nvPr/>
        </p:nvSpPr>
        <p:spPr>
          <a:xfrm>
            <a:off x="7653528" y="2640330"/>
            <a:ext cx="534924" cy="534924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7"/>
          <p:cNvSpPr txBox="1"/>
          <p:nvPr/>
        </p:nvSpPr>
        <p:spPr>
          <a:xfrm>
            <a:off x="4800600" y="4457700"/>
            <a:ext cx="3828821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A valid BST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Search (key = 14)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514350" y="1097280"/>
            <a:ext cx="4046220" cy="1988820"/>
          </a:xfrm>
          <a:prstGeom prst="roundRect">
            <a:avLst>
              <a:gd fmla="val 2069" name="adj"/>
            </a:avLst>
          </a:prstGeom>
          <a:solidFill>
            <a:srgbClr val="16182B"/>
          </a:solidFill>
          <a:ln cap="flat" cmpd="sng" w="9525">
            <a:solidFill>
              <a:srgbClr val="161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8"/>
          <p:cNvSpPr txBox="1"/>
          <p:nvPr/>
        </p:nvSpPr>
        <p:spPr>
          <a:xfrm>
            <a:off x="685800" y="1275588"/>
            <a:ext cx="3771900" cy="1728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Courier New"/>
              <a:buNone/>
            </a:pP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search(root, key):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100"/>
              <a:buFont typeface="Courier New"/>
              <a:buNone/>
            </a:pP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 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root.val == key: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100"/>
              <a:buFont typeface="Courier New"/>
              <a:buNone/>
            </a:pP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100"/>
              <a:buFont typeface="Courier New"/>
              <a:buNone/>
            </a:pP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key &lt; root.val: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100"/>
              <a:buFont typeface="Courier New"/>
              <a:buNone/>
            </a:pP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search(root.left, key)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100"/>
              <a:buFont typeface="Courier New"/>
              <a:buNone/>
            </a:pP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1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search(root.right, key)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514350" y="3291840"/>
            <a:ext cx="4046220" cy="147447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8"/>
          <p:cNvSpPr txBox="1"/>
          <p:nvPr/>
        </p:nvSpPr>
        <p:spPr>
          <a:xfrm>
            <a:off x="685800" y="3360420"/>
            <a:ext cx="370332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Walkthrough: search(root, 14)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25: go left. 12: go right. 14: found. Each step discards one whole subtree.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4732020" y="1097280"/>
            <a:ext cx="3897401" cy="198882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7" name="Google Shape;377;p28"/>
          <p:cNvCxnSpPr/>
          <p:nvPr/>
        </p:nvCxnSpPr>
        <p:spPr>
          <a:xfrm flipH="1">
            <a:off x="6483554" y="1440180"/>
            <a:ext cx="690086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28"/>
          <p:cNvCxnSpPr/>
          <p:nvPr/>
        </p:nvCxnSpPr>
        <p:spPr>
          <a:xfrm flipH="1">
            <a:off x="5892051" y="1906524"/>
            <a:ext cx="591503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28"/>
          <p:cNvCxnSpPr/>
          <p:nvPr/>
        </p:nvCxnSpPr>
        <p:spPr>
          <a:xfrm flipH="1">
            <a:off x="5497716" y="2372868"/>
            <a:ext cx="394335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28"/>
          <p:cNvCxnSpPr/>
          <p:nvPr/>
        </p:nvCxnSpPr>
        <p:spPr>
          <a:xfrm>
            <a:off x="5892051" y="2372868"/>
            <a:ext cx="394335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28"/>
          <p:cNvCxnSpPr/>
          <p:nvPr/>
        </p:nvCxnSpPr>
        <p:spPr>
          <a:xfrm>
            <a:off x="6483554" y="1906524"/>
            <a:ext cx="591502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28"/>
          <p:cNvCxnSpPr/>
          <p:nvPr/>
        </p:nvCxnSpPr>
        <p:spPr>
          <a:xfrm>
            <a:off x="7173640" y="1440180"/>
            <a:ext cx="690086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28"/>
          <p:cNvSpPr/>
          <p:nvPr/>
        </p:nvSpPr>
        <p:spPr>
          <a:xfrm>
            <a:off x="5326266" y="2667762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5720601" y="2201418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6114936" y="2667762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6312104" y="1735074"/>
            <a:ext cx="342900" cy="342900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6903606" y="2201418"/>
            <a:ext cx="342900" cy="342900"/>
          </a:xfrm>
          <a:prstGeom prst="ellipse">
            <a:avLst/>
          </a:prstGeom>
          <a:solidFill>
            <a:srgbClr val="2A9D8F"/>
          </a:solidFill>
          <a:ln cap="flat" cmpd="sng" w="2857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7002190" y="1268730"/>
            <a:ext cx="342900" cy="342900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7692276" y="1735074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4732020" y="3291840"/>
            <a:ext cx="3897401" cy="147447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8"/>
          <p:cNvSpPr txBox="1"/>
          <p:nvPr/>
        </p:nvSpPr>
        <p:spPr>
          <a:xfrm>
            <a:off x="4903470" y="3360420"/>
            <a:ext cx="3554501" cy="1337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Time complexity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Time: </a:t>
            </a:r>
            <a:r>
              <a:rPr b="1" lang="en" sz="1200">
                <a:solidFill>
                  <a:srgbClr val="2A9D8F"/>
                </a:solidFill>
                <a:latin typeface="Courier New"/>
                <a:ea typeface="Courier New"/>
                <a:cs typeface="Courier New"/>
                <a:sym typeface="Courier New"/>
              </a:rPr>
              <a:t>O(log n)</a:t>
            </a: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on a balanced tree, because every step down throws away half of what is left. </a:t>
            </a:r>
            <a:r>
              <a:rPr b="1" lang="en" sz="12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in the worst case, when the tree is a long chain and each step only removes one node.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665226" y="1172718"/>
            <a:ext cx="8229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9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Insert (key = 15)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1474470" y="1097280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3AB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8C93AB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5611901" y="1097280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3AB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8C93AB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29"/>
          <p:cNvCxnSpPr/>
          <p:nvPr/>
        </p:nvCxnSpPr>
        <p:spPr>
          <a:xfrm flipH="1">
            <a:off x="1525905" y="1543050"/>
            <a:ext cx="1303020" cy="452628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flipH="1">
            <a:off x="874395" y="1995678"/>
            <a:ext cx="651510" cy="452628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>
            <a:off x="1525905" y="1995678"/>
            <a:ext cx="716661" cy="452628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29"/>
          <p:cNvCxnSpPr/>
          <p:nvPr/>
        </p:nvCxnSpPr>
        <p:spPr>
          <a:xfrm>
            <a:off x="2828925" y="1543050"/>
            <a:ext cx="1303020" cy="452628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29"/>
          <p:cNvSpPr/>
          <p:nvPr/>
        </p:nvSpPr>
        <p:spPr>
          <a:xfrm>
            <a:off x="702945" y="2276856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1354455" y="1824228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2071116" y="2276856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9"/>
          <p:cNvSpPr/>
          <p:nvPr/>
        </p:nvSpPr>
        <p:spPr>
          <a:xfrm>
            <a:off x="2657475" y="1371600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3960495" y="1824228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29"/>
          <p:cNvCxnSpPr/>
          <p:nvPr/>
        </p:nvCxnSpPr>
        <p:spPr>
          <a:xfrm flipH="1">
            <a:off x="5663336" y="1543050"/>
            <a:ext cx="1303020" cy="452628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29"/>
          <p:cNvCxnSpPr/>
          <p:nvPr/>
        </p:nvCxnSpPr>
        <p:spPr>
          <a:xfrm flipH="1">
            <a:off x="5011826" y="1995678"/>
            <a:ext cx="651510" cy="452628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29"/>
          <p:cNvCxnSpPr/>
          <p:nvPr/>
        </p:nvCxnSpPr>
        <p:spPr>
          <a:xfrm>
            <a:off x="5663336" y="1995678"/>
            <a:ext cx="716661" cy="452628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29"/>
          <p:cNvCxnSpPr/>
          <p:nvPr/>
        </p:nvCxnSpPr>
        <p:spPr>
          <a:xfrm>
            <a:off x="6379997" y="2448306"/>
            <a:ext cx="586359" cy="452628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29"/>
          <p:cNvCxnSpPr/>
          <p:nvPr/>
        </p:nvCxnSpPr>
        <p:spPr>
          <a:xfrm>
            <a:off x="6966356" y="1543050"/>
            <a:ext cx="1303020" cy="452628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29"/>
          <p:cNvSpPr/>
          <p:nvPr/>
        </p:nvSpPr>
        <p:spPr>
          <a:xfrm>
            <a:off x="4840376" y="2276856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5491886" y="1824228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6208547" y="2276856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9"/>
          <p:cNvSpPr/>
          <p:nvPr/>
        </p:nvSpPr>
        <p:spPr>
          <a:xfrm>
            <a:off x="6794906" y="2729484"/>
            <a:ext cx="342900" cy="342900"/>
          </a:xfrm>
          <a:prstGeom prst="ellipse">
            <a:avLst/>
          </a:prstGeom>
          <a:solidFill>
            <a:srgbClr val="2A9D8F"/>
          </a:solidFill>
          <a:ln cap="flat" cmpd="sng" w="2857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9"/>
          <p:cNvSpPr/>
          <p:nvPr/>
        </p:nvSpPr>
        <p:spPr>
          <a:xfrm>
            <a:off x="6794906" y="1371600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9"/>
          <p:cNvSpPr/>
          <p:nvPr/>
        </p:nvSpPr>
        <p:spPr>
          <a:xfrm>
            <a:off x="8097926" y="1824228"/>
            <a:ext cx="342900" cy="3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9"/>
          <p:cNvSpPr txBox="1"/>
          <p:nvPr/>
        </p:nvSpPr>
        <p:spPr>
          <a:xfrm>
            <a:off x="4228986" y="171450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3AB"/>
              </a:buClr>
              <a:buSzPts val="3000"/>
              <a:buFont typeface="Arial"/>
              <a:buNone/>
            </a:pPr>
            <a:r>
              <a:rPr b="1" lang="en" sz="3000">
                <a:solidFill>
                  <a:srgbClr val="8C93A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9"/>
          <p:cNvSpPr/>
          <p:nvPr/>
        </p:nvSpPr>
        <p:spPr>
          <a:xfrm>
            <a:off x="514350" y="3291851"/>
            <a:ext cx="4326000" cy="1614600"/>
          </a:xfrm>
          <a:prstGeom prst="roundRect">
            <a:avLst>
              <a:gd fmla="val 2791" name="adj"/>
            </a:avLst>
          </a:prstGeom>
          <a:solidFill>
            <a:srgbClr val="16182B"/>
          </a:solidFill>
          <a:ln cap="flat" cmpd="sng" w="9525">
            <a:solidFill>
              <a:srgbClr val="161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9"/>
          <p:cNvSpPr txBox="1"/>
          <p:nvPr/>
        </p:nvSpPr>
        <p:spPr>
          <a:xfrm>
            <a:off x="685800" y="3470148"/>
            <a:ext cx="4046220" cy="1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692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Courier New"/>
              <a:buNone/>
            </a:pP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insert(root, key):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692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692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TreeNode(key)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692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key &lt; root.val: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692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root.left = insert(root.left, key)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692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692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root.right = insert(root.right, key)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692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9"/>
          <p:cNvSpPr/>
          <p:nvPr/>
        </p:nvSpPr>
        <p:spPr>
          <a:xfrm>
            <a:off x="5011825" y="3291851"/>
            <a:ext cx="3617700" cy="161460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9"/>
          <p:cNvSpPr txBox="1"/>
          <p:nvPr/>
        </p:nvSpPr>
        <p:spPr>
          <a:xfrm>
            <a:off x="5212080" y="3360420"/>
            <a:ext cx="3245891" cy="1337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Path and time complexity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Walk down like a search, then attach the key as a leaf: 25 (left), 12 (right), 14 (right), so 15 becomes the right child of 14.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Time: </a:t>
            </a:r>
            <a:r>
              <a:rPr b="1" lang="en" sz="1100">
                <a:solidFill>
                  <a:srgbClr val="2A9D8F"/>
                </a:solidFill>
                <a:latin typeface="Courier New"/>
                <a:ea typeface="Courier New"/>
                <a:cs typeface="Courier New"/>
                <a:sym typeface="Courier New"/>
              </a:rPr>
              <a:t>O(log 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balanced, since each step halves the tree. 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worst case, on a chain.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9"/>
          <p:cNvSpPr txBox="1"/>
          <p:nvPr/>
        </p:nvSpPr>
        <p:spPr>
          <a:xfrm>
            <a:off x="665226" y="3367278"/>
            <a:ext cx="8229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Delete: three cases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0"/>
          <p:cNvSpPr/>
          <p:nvPr/>
        </p:nvSpPr>
        <p:spPr>
          <a:xfrm>
            <a:off x="514350" y="1097280"/>
            <a:ext cx="2567864" cy="2606040"/>
          </a:xfrm>
          <a:prstGeom prst="roundRect">
            <a:avLst>
              <a:gd fmla="val 2137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0"/>
          <p:cNvSpPr txBox="1"/>
          <p:nvPr/>
        </p:nvSpPr>
        <p:spPr>
          <a:xfrm>
            <a:off x="685800" y="1165860"/>
            <a:ext cx="222496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No children (delete 14)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The node is a leaf. Remove it by setting its parent's pointer to null.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30"/>
          <p:cNvCxnSpPr/>
          <p:nvPr/>
        </p:nvCxnSpPr>
        <p:spPr>
          <a:xfrm flipH="1">
            <a:off x="1309649" y="2523744"/>
            <a:ext cx="651510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30"/>
          <p:cNvCxnSpPr/>
          <p:nvPr/>
        </p:nvCxnSpPr>
        <p:spPr>
          <a:xfrm flipH="1">
            <a:off x="983894" y="2990088"/>
            <a:ext cx="325755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7" name="Google Shape;437;p30"/>
          <p:cNvCxnSpPr/>
          <p:nvPr/>
        </p:nvCxnSpPr>
        <p:spPr>
          <a:xfrm>
            <a:off x="1309649" y="2990088"/>
            <a:ext cx="325755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30"/>
          <p:cNvCxnSpPr/>
          <p:nvPr/>
        </p:nvCxnSpPr>
        <p:spPr>
          <a:xfrm>
            <a:off x="1961159" y="2523744"/>
            <a:ext cx="651510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30"/>
          <p:cNvCxnSpPr/>
          <p:nvPr/>
        </p:nvCxnSpPr>
        <p:spPr>
          <a:xfrm flipH="1">
            <a:off x="2286914" y="2990088"/>
            <a:ext cx="325755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30"/>
          <p:cNvSpPr/>
          <p:nvPr/>
        </p:nvSpPr>
        <p:spPr>
          <a:xfrm>
            <a:off x="791870" y="3264408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0"/>
          <p:cNvSpPr/>
          <p:nvPr/>
        </p:nvSpPr>
        <p:spPr>
          <a:xfrm>
            <a:off x="1117625" y="2798064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0"/>
          <p:cNvSpPr/>
          <p:nvPr/>
        </p:nvSpPr>
        <p:spPr>
          <a:xfrm>
            <a:off x="1443380" y="3264408"/>
            <a:ext cx="384048" cy="384048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0"/>
          <p:cNvSpPr/>
          <p:nvPr/>
        </p:nvSpPr>
        <p:spPr>
          <a:xfrm>
            <a:off x="1769135" y="2331720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0"/>
          <p:cNvSpPr/>
          <p:nvPr/>
        </p:nvSpPr>
        <p:spPr>
          <a:xfrm>
            <a:off x="2094890" y="3264408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0"/>
          <p:cNvSpPr/>
          <p:nvPr/>
        </p:nvSpPr>
        <p:spPr>
          <a:xfrm>
            <a:off x="2420645" y="2798064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0"/>
          <p:cNvSpPr/>
          <p:nvPr/>
        </p:nvSpPr>
        <p:spPr>
          <a:xfrm>
            <a:off x="3287953" y="1097280"/>
            <a:ext cx="2567864" cy="2606040"/>
          </a:xfrm>
          <a:prstGeom prst="roundRect">
            <a:avLst>
              <a:gd fmla="val 2137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0"/>
          <p:cNvSpPr txBox="1"/>
          <p:nvPr/>
        </p:nvSpPr>
        <p:spPr>
          <a:xfrm>
            <a:off x="3459403" y="1165860"/>
            <a:ext cx="222496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One child (delete 51)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Point the parent at the node's only child, which takes its place.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p30"/>
          <p:cNvCxnSpPr/>
          <p:nvPr/>
        </p:nvCxnSpPr>
        <p:spPr>
          <a:xfrm flipH="1">
            <a:off x="4083253" y="2523744"/>
            <a:ext cx="651510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30"/>
          <p:cNvCxnSpPr/>
          <p:nvPr/>
        </p:nvCxnSpPr>
        <p:spPr>
          <a:xfrm flipH="1">
            <a:off x="3757499" y="2990088"/>
            <a:ext cx="325755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30"/>
          <p:cNvCxnSpPr/>
          <p:nvPr/>
        </p:nvCxnSpPr>
        <p:spPr>
          <a:xfrm>
            <a:off x="4083254" y="2990088"/>
            <a:ext cx="325755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30"/>
          <p:cNvCxnSpPr/>
          <p:nvPr/>
        </p:nvCxnSpPr>
        <p:spPr>
          <a:xfrm>
            <a:off x="4734764" y="2523744"/>
            <a:ext cx="651510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30"/>
          <p:cNvCxnSpPr/>
          <p:nvPr/>
        </p:nvCxnSpPr>
        <p:spPr>
          <a:xfrm flipH="1">
            <a:off x="5060519" y="2990088"/>
            <a:ext cx="325755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3" name="Google Shape;453;p30"/>
          <p:cNvSpPr/>
          <p:nvPr/>
        </p:nvSpPr>
        <p:spPr>
          <a:xfrm>
            <a:off x="3565474" y="3264408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0"/>
          <p:cNvSpPr/>
          <p:nvPr/>
        </p:nvSpPr>
        <p:spPr>
          <a:xfrm>
            <a:off x="3891230" y="2798064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0"/>
          <p:cNvSpPr/>
          <p:nvPr/>
        </p:nvSpPr>
        <p:spPr>
          <a:xfrm>
            <a:off x="4216985" y="3264408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0"/>
          <p:cNvSpPr/>
          <p:nvPr/>
        </p:nvSpPr>
        <p:spPr>
          <a:xfrm>
            <a:off x="4542740" y="2331720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0"/>
          <p:cNvSpPr/>
          <p:nvPr/>
        </p:nvSpPr>
        <p:spPr>
          <a:xfrm>
            <a:off x="4868494" y="3264408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5194249" y="2798064"/>
            <a:ext cx="384048" cy="384048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0"/>
          <p:cNvSpPr/>
          <p:nvPr/>
        </p:nvSpPr>
        <p:spPr>
          <a:xfrm>
            <a:off x="6061558" y="1097280"/>
            <a:ext cx="2567863" cy="2606040"/>
          </a:xfrm>
          <a:prstGeom prst="roundRect">
            <a:avLst>
              <a:gd fmla="val 2137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0"/>
          <p:cNvSpPr txBox="1"/>
          <p:nvPr/>
        </p:nvSpPr>
        <p:spPr>
          <a:xfrm>
            <a:off x="6233008" y="1165860"/>
            <a:ext cx="2224963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Two children (delete 25)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Copy in the inorder successor (go right once, then left as far as possible: 30), then delete that node below.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" name="Google Shape;461;p30"/>
          <p:cNvCxnSpPr/>
          <p:nvPr/>
        </p:nvCxnSpPr>
        <p:spPr>
          <a:xfrm flipH="1">
            <a:off x="6856857" y="2523744"/>
            <a:ext cx="651510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30"/>
          <p:cNvCxnSpPr/>
          <p:nvPr/>
        </p:nvCxnSpPr>
        <p:spPr>
          <a:xfrm flipH="1">
            <a:off x="6531102" y="2990088"/>
            <a:ext cx="325755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30"/>
          <p:cNvCxnSpPr/>
          <p:nvPr/>
        </p:nvCxnSpPr>
        <p:spPr>
          <a:xfrm>
            <a:off x="6856857" y="2990088"/>
            <a:ext cx="325755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30"/>
          <p:cNvCxnSpPr/>
          <p:nvPr/>
        </p:nvCxnSpPr>
        <p:spPr>
          <a:xfrm>
            <a:off x="7508367" y="2523744"/>
            <a:ext cx="651510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30"/>
          <p:cNvCxnSpPr/>
          <p:nvPr/>
        </p:nvCxnSpPr>
        <p:spPr>
          <a:xfrm flipH="1">
            <a:off x="7834122" y="2990088"/>
            <a:ext cx="325755" cy="466344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p30"/>
          <p:cNvSpPr/>
          <p:nvPr/>
        </p:nvSpPr>
        <p:spPr>
          <a:xfrm>
            <a:off x="6339078" y="3264408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0"/>
          <p:cNvSpPr/>
          <p:nvPr/>
        </p:nvSpPr>
        <p:spPr>
          <a:xfrm>
            <a:off x="6664833" y="2798064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0"/>
          <p:cNvSpPr/>
          <p:nvPr/>
        </p:nvSpPr>
        <p:spPr>
          <a:xfrm>
            <a:off x="6990588" y="3264408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0"/>
          <p:cNvSpPr/>
          <p:nvPr/>
        </p:nvSpPr>
        <p:spPr>
          <a:xfrm>
            <a:off x="7316343" y="2331720"/>
            <a:ext cx="384048" cy="384048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0"/>
          <p:cNvSpPr/>
          <p:nvPr/>
        </p:nvSpPr>
        <p:spPr>
          <a:xfrm>
            <a:off x="7642098" y="3264408"/>
            <a:ext cx="384048" cy="384048"/>
          </a:xfrm>
          <a:prstGeom prst="ellipse">
            <a:avLst/>
          </a:prstGeom>
          <a:solidFill>
            <a:srgbClr val="2A9D8F"/>
          </a:solidFill>
          <a:ln cap="flat" cmpd="sng" w="2857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0"/>
          <p:cNvSpPr/>
          <p:nvPr/>
        </p:nvSpPr>
        <p:spPr>
          <a:xfrm>
            <a:off x="7967853" y="2798064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0"/>
          <p:cNvSpPr/>
          <p:nvPr/>
        </p:nvSpPr>
        <p:spPr>
          <a:xfrm>
            <a:off x="514350" y="3909060"/>
            <a:ext cx="8115071" cy="85725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0"/>
          <p:cNvSpPr txBox="1"/>
          <p:nvPr/>
        </p:nvSpPr>
        <p:spPr>
          <a:xfrm>
            <a:off x="685800" y="3977640"/>
            <a:ext cx="7772171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Time complexity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Delete costs about the same as a search: walk down one path to find the node, and finding the successor is a little more walking down. That is </a:t>
            </a:r>
            <a:r>
              <a:rPr b="1" lang="en" sz="1100">
                <a:solidFill>
                  <a:srgbClr val="2A9D8F"/>
                </a:solidFill>
                <a:latin typeface="Courier New"/>
                <a:ea typeface="Courier New"/>
                <a:cs typeface="Courier New"/>
                <a:sym typeface="Courier New"/>
              </a:rPr>
              <a:t>O(log 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steps on a balanced tree and 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in the worst case, on a chain.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1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Inorder successor and predecessor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1"/>
          <p:cNvSpPr/>
          <p:nvPr/>
        </p:nvSpPr>
        <p:spPr>
          <a:xfrm>
            <a:off x="514350" y="1097280"/>
            <a:ext cx="4046220" cy="930728"/>
          </a:xfrm>
          <a:prstGeom prst="roundRect">
            <a:avLst>
              <a:gd fmla="val 5895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1"/>
          <p:cNvSpPr txBox="1"/>
          <p:nvPr/>
        </p:nvSpPr>
        <p:spPr>
          <a:xfrm>
            <a:off x="685800" y="1165860"/>
            <a:ext cx="3703320" cy="79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Inorder successor (next larger value)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Go right once, then left as far as possible. Deleting 25: go to 51, then 30.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1"/>
          <p:cNvSpPr/>
          <p:nvPr/>
        </p:nvSpPr>
        <p:spPr>
          <a:xfrm>
            <a:off x="514350" y="2233748"/>
            <a:ext cx="4046220" cy="930728"/>
          </a:xfrm>
          <a:prstGeom prst="roundRect">
            <a:avLst>
              <a:gd fmla="val 5895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1"/>
          <p:cNvSpPr txBox="1"/>
          <p:nvPr/>
        </p:nvSpPr>
        <p:spPr>
          <a:xfrm>
            <a:off x="685800" y="2302328"/>
            <a:ext cx="3703320" cy="79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Inorder predecessor (next smaller value)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Go left once, then right as far as possible. Deleting 25: go to 12, then 14, then 20.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1"/>
          <p:cNvSpPr/>
          <p:nvPr/>
        </p:nvSpPr>
        <p:spPr>
          <a:xfrm>
            <a:off x="514350" y="3370217"/>
            <a:ext cx="4046220" cy="1396093"/>
          </a:xfrm>
          <a:prstGeom prst="roundRect">
            <a:avLst>
              <a:gd fmla="val 3930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1"/>
          <p:cNvSpPr txBox="1"/>
          <p:nvPr/>
        </p:nvSpPr>
        <p:spPr>
          <a:xfrm>
            <a:off x="685800" y="3438797"/>
            <a:ext cx="3703320" cy="1258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Either one works for delete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Copy its value into the deleted node, then delete the successor or predecessor from its subtree. It has at most one child.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Time: finding it is one walk down a path, so </a:t>
            </a:r>
            <a:r>
              <a:rPr b="1" lang="en" sz="1100">
                <a:solidFill>
                  <a:srgbClr val="2A9D8F"/>
                </a:solidFill>
                <a:latin typeface="Courier New"/>
                <a:ea typeface="Courier New"/>
                <a:cs typeface="Courier New"/>
                <a:sym typeface="Courier New"/>
              </a:rPr>
              <a:t>O(log 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on a balanced tree and 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in the worst case, on a chain.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p31"/>
          <p:cNvCxnSpPr/>
          <p:nvPr/>
        </p:nvCxnSpPr>
        <p:spPr>
          <a:xfrm flipH="1">
            <a:off x="5692140" y="1515618"/>
            <a:ext cx="1172718" cy="7543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31"/>
          <p:cNvCxnSpPr/>
          <p:nvPr/>
        </p:nvCxnSpPr>
        <p:spPr>
          <a:xfrm flipH="1">
            <a:off x="4992624" y="2269998"/>
            <a:ext cx="699516" cy="7543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" name="Google Shape;488;p31"/>
          <p:cNvCxnSpPr/>
          <p:nvPr/>
        </p:nvCxnSpPr>
        <p:spPr>
          <a:xfrm>
            <a:off x="5692140" y="2269998"/>
            <a:ext cx="699516" cy="7543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31"/>
          <p:cNvCxnSpPr/>
          <p:nvPr/>
        </p:nvCxnSpPr>
        <p:spPr>
          <a:xfrm>
            <a:off x="6391656" y="3024378"/>
            <a:ext cx="411480" cy="7543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31"/>
          <p:cNvCxnSpPr/>
          <p:nvPr/>
        </p:nvCxnSpPr>
        <p:spPr>
          <a:xfrm>
            <a:off x="6864858" y="1515618"/>
            <a:ext cx="1172718" cy="7543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31"/>
          <p:cNvCxnSpPr/>
          <p:nvPr/>
        </p:nvCxnSpPr>
        <p:spPr>
          <a:xfrm flipH="1">
            <a:off x="7626096" y="2269998"/>
            <a:ext cx="411480" cy="7543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31"/>
          <p:cNvCxnSpPr/>
          <p:nvPr/>
        </p:nvCxnSpPr>
        <p:spPr>
          <a:xfrm>
            <a:off x="8037576" y="2269998"/>
            <a:ext cx="411480" cy="7543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p31"/>
          <p:cNvSpPr/>
          <p:nvPr/>
        </p:nvSpPr>
        <p:spPr>
          <a:xfrm>
            <a:off x="4780026" y="2811780"/>
            <a:ext cx="425196" cy="42519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1"/>
          <p:cNvSpPr/>
          <p:nvPr/>
        </p:nvSpPr>
        <p:spPr>
          <a:xfrm>
            <a:off x="5479542" y="2057400"/>
            <a:ext cx="425196" cy="42519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6179058" y="2811780"/>
            <a:ext cx="425196" cy="42519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1"/>
          <p:cNvSpPr/>
          <p:nvPr/>
        </p:nvSpPr>
        <p:spPr>
          <a:xfrm>
            <a:off x="6590538" y="3566160"/>
            <a:ext cx="425196" cy="425196"/>
          </a:xfrm>
          <a:prstGeom prst="ellipse">
            <a:avLst/>
          </a:prstGeom>
          <a:solidFill>
            <a:srgbClr val="2A9D8F"/>
          </a:solidFill>
          <a:ln cap="flat" cmpd="sng" w="2857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6652260" y="1303020"/>
            <a:ext cx="425196" cy="425196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1"/>
          <p:cNvSpPr/>
          <p:nvPr/>
        </p:nvSpPr>
        <p:spPr>
          <a:xfrm>
            <a:off x="7413498" y="2811780"/>
            <a:ext cx="425196" cy="425196"/>
          </a:xfrm>
          <a:prstGeom prst="ellipse">
            <a:avLst/>
          </a:prstGeom>
          <a:solidFill>
            <a:srgbClr val="2A9D8F"/>
          </a:solidFill>
          <a:ln cap="flat" cmpd="sng" w="2857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1"/>
          <p:cNvSpPr/>
          <p:nvPr/>
        </p:nvSpPr>
        <p:spPr>
          <a:xfrm>
            <a:off x="7824978" y="2057400"/>
            <a:ext cx="425196" cy="42519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8236458" y="2811780"/>
            <a:ext cx="425196" cy="42519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1"/>
          <p:cNvSpPr txBox="1"/>
          <p:nvPr/>
        </p:nvSpPr>
        <p:spPr>
          <a:xfrm>
            <a:off x="4800600" y="4423410"/>
            <a:ext cx="3828821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Deleting 25: successor is 30, predecessor is 20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2"/>
          <p:cNvSpPr txBox="1"/>
          <p:nvPr/>
        </p:nvSpPr>
        <p:spPr>
          <a:xfrm>
            <a:off x="514350" y="288036"/>
            <a:ext cx="811507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PROBLEM 1 //  MEDIUM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2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BST Deletion (key = 15): </a:t>
            </a:r>
            <a:r>
              <a:rPr b="1" lang="en" sz="2400">
                <a:solidFill>
                  <a:srgbClr val="1F2333"/>
                </a:solidFill>
              </a:rPr>
              <a:t>Edugator</a:t>
            </a: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 5.4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514350" y="1097280"/>
            <a:ext cx="3360420" cy="930728"/>
          </a:xfrm>
          <a:prstGeom prst="roundRect">
            <a:avLst>
              <a:gd fmla="val 5895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2"/>
          <p:cNvSpPr txBox="1"/>
          <p:nvPr/>
        </p:nvSpPr>
        <p:spPr>
          <a:xfrm>
            <a:off x="685800" y="1165860"/>
            <a:ext cx="3017520" cy="79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Delete the node with the key and return the root. A missing key returns the original root.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514350" y="2233748"/>
            <a:ext cx="3360420" cy="1396093"/>
          </a:xfrm>
          <a:prstGeom prst="roundRect">
            <a:avLst>
              <a:gd fmla="val 3930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2"/>
          <p:cNvSpPr txBox="1"/>
          <p:nvPr/>
        </p:nvSpPr>
        <p:spPr>
          <a:xfrm>
            <a:off x="685800" y="2302328"/>
            <a:ext cx="3017520" cy="1258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Rules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No children: remove it.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One child: replace it with the child.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Two children: replace it with the inorder successor.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514350" y="3835582"/>
            <a:ext cx="3360420" cy="930728"/>
          </a:xfrm>
          <a:prstGeom prst="roundRect">
            <a:avLst>
              <a:gd fmla="val 5895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2"/>
          <p:cNvSpPr txBox="1"/>
          <p:nvPr/>
        </p:nvSpPr>
        <p:spPr>
          <a:xfrm>
            <a:off x="685800" y="3904162"/>
            <a:ext cx="3017520" cy="79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Time complexity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ourier New"/>
              <a:buNone/>
            </a:pPr>
            <a:r>
              <a:rPr b="1" lang="en" sz="1100">
                <a:solidFill>
                  <a:srgbClr val="2A9D8F"/>
                </a:solidFill>
                <a:latin typeface="Courier New"/>
                <a:ea typeface="Courier New"/>
                <a:cs typeface="Courier New"/>
                <a:sym typeface="Courier New"/>
              </a:rPr>
              <a:t>O(log 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if the tree is balanced, 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if it is a chain: we walk down one path to the node, then a bit further to find the successor.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2"/>
          <p:cNvSpPr/>
          <p:nvPr/>
        </p:nvSpPr>
        <p:spPr>
          <a:xfrm>
            <a:off x="4080510" y="1097280"/>
            <a:ext cx="4548911" cy="3669030"/>
          </a:xfrm>
          <a:prstGeom prst="roundRect">
            <a:avLst>
              <a:gd fmla="val 1121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2"/>
          <p:cNvSpPr txBox="1"/>
          <p:nvPr/>
        </p:nvSpPr>
        <p:spPr>
          <a:xfrm>
            <a:off x="4029479" y="1234440"/>
            <a:ext cx="21945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3AB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8C93AB"/>
                </a:solidFill>
                <a:latin typeface="Arial"/>
                <a:ea typeface="Arial"/>
                <a:cs typeface="Arial"/>
                <a:sym typeface="Arial"/>
              </a:rPr>
              <a:t>BEFORE (delete 15)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6303935" y="1234440"/>
            <a:ext cx="21945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3AB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8C93AB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6183516" y="2468880"/>
            <a:ext cx="3429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3AB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8C93A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9" name="Google Shape;519;p32"/>
          <p:cNvCxnSpPr/>
          <p:nvPr/>
        </p:nvCxnSpPr>
        <p:spPr>
          <a:xfrm flipH="1">
            <a:off x="4800319" y="1971675"/>
            <a:ext cx="460858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32"/>
          <p:cNvCxnSpPr/>
          <p:nvPr/>
        </p:nvCxnSpPr>
        <p:spPr>
          <a:xfrm flipH="1">
            <a:off x="4416271" y="2691765"/>
            <a:ext cx="384048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1" name="Google Shape;521;p32"/>
          <p:cNvCxnSpPr/>
          <p:nvPr/>
        </p:nvCxnSpPr>
        <p:spPr>
          <a:xfrm>
            <a:off x="5261177" y="1971675"/>
            <a:ext cx="576072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2" name="Google Shape;522;p32"/>
          <p:cNvCxnSpPr/>
          <p:nvPr/>
        </p:nvCxnSpPr>
        <p:spPr>
          <a:xfrm flipH="1">
            <a:off x="5530010" y="2691765"/>
            <a:ext cx="307238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3" name="Google Shape;523;p32"/>
          <p:cNvCxnSpPr/>
          <p:nvPr/>
        </p:nvCxnSpPr>
        <p:spPr>
          <a:xfrm>
            <a:off x="5530010" y="3411855"/>
            <a:ext cx="230429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32"/>
          <p:cNvSpPr/>
          <p:nvPr/>
        </p:nvSpPr>
        <p:spPr>
          <a:xfrm>
            <a:off x="4227676" y="3223260"/>
            <a:ext cx="377190" cy="37719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4611724" y="2503170"/>
            <a:ext cx="377190" cy="37719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5072582" y="1783080"/>
            <a:ext cx="377190" cy="377190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5341415" y="3223260"/>
            <a:ext cx="377190" cy="377190"/>
          </a:xfrm>
          <a:prstGeom prst="ellipse">
            <a:avLst/>
          </a:prstGeom>
          <a:solidFill>
            <a:srgbClr val="2A9D8F"/>
          </a:solidFill>
          <a:ln cap="flat" cmpd="sng" w="2857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5571844" y="3943350"/>
            <a:ext cx="377190" cy="37719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5648654" y="2503170"/>
            <a:ext cx="377190" cy="37719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0" name="Google Shape;530;p32"/>
          <p:cNvCxnSpPr/>
          <p:nvPr/>
        </p:nvCxnSpPr>
        <p:spPr>
          <a:xfrm flipH="1">
            <a:off x="7074775" y="1971675"/>
            <a:ext cx="460858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32"/>
          <p:cNvCxnSpPr/>
          <p:nvPr/>
        </p:nvCxnSpPr>
        <p:spPr>
          <a:xfrm flipH="1">
            <a:off x="6690727" y="2691765"/>
            <a:ext cx="384048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32"/>
          <p:cNvCxnSpPr/>
          <p:nvPr/>
        </p:nvCxnSpPr>
        <p:spPr>
          <a:xfrm>
            <a:off x="7535632" y="1971675"/>
            <a:ext cx="576072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32"/>
          <p:cNvCxnSpPr/>
          <p:nvPr/>
        </p:nvCxnSpPr>
        <p:spPr>
          <a:xfrm flipH="1">
            <a:off x="7842871" y="2691765"/>
            <a:ext cx="268834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4" name="Google Shape;534;p32"/>
          <p:cNvSpPr/>
          <p:nvPr/>
        </p:nvSpPr>
        <p:spPr>
          <a:xfrm>
            <a:off x="6502132" y="3223260"/>
            <a:ext cx="377190" cy="37719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6886180" y="2503170"/>
            <a:ext cx="377190" cy="37719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2"/>
          <p:cNvSpPr/>
          <p:nvPr/>
        </p:nvSpPr>
        <p:spPr>
          <a:xfrm>
            <a:off x="7347037" y="1783080"/>
            <a:ext cx="377190" cy="377190"/>
          </a:xfrm>
          <a:prstGeom prst="ellipse">
            <a:avLst/>
          </a:prstGeom>
          <a:solidFill>
            <a:srgbClr val="2A9D8F"/>
          </a:solidFill>
          <a:ln cap="flat" cmpd="sng" w="2857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2"/>
          <p:cNvSpPr/>
          <p:nvPr/>
        </p:nvSpPr>
        <p:spPr>
          <a:xfrm>
            <a:off x="7654276" y="3223260"/>
            <a:ext cx="377190" cy="37719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2"/>
          <p:cNvSpPr/>
          <p:nvPr/>
        </p:nvSpPr>
        <p:spPr>
          <a:xfrm>
            <a:off x="7923109" y="2503170"/>
            <a:ext cx="377190" cy="37719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3"/>
          <p:cNvSpPr txBox="1"/>
          <p:nvPr/>
        </p:nvSpPr>
        <p:spPr>
          <a:xfrm>
            <a:off x="514350" y="288036"/>
            <a:ext cx="811507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SOLUTION 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3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Recursive solution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3"/>
          <p:cNvSpPr/>
          <p:nvPr/>
        </p:nvSpPr>
        <p:spPr>
          <a:xfrm>
            <a:off x="514350" y="946399"/>
            <a:ext cx="5521800" cy="4170600"/>
          </a:xfrm>
          <a:prstGeom prst="roundRect">
            <a:avLst>
              <a:gd fmla="val 1121" name="adj"/>
            </a:avLst>
          </a:prstGeom>
          <a:solidFill>
            <a:srgbClr val="16182B"/>
          </a:solidFill>
          <a:ln cap="flat" cmpd="sng" w="9525">
            <a:solidFill>
              <a:srgbClr val="161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3"/>
          <p:cNvSpPr txBox="1"/>
          <p:nvPr/>
        </p:nvSpPr>
        <p:spPr>
          <a:xfrm>
            <a:off x="685800" y="1124713"/>
            <a:ext cx="5212200" cy="3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ourier New"/>
              <a:buNone/>
            </a:pP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delete_node_from_bst(root: TreeNode, key: int) -&gt; TreeNode: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lang="en" sz="900">
                <a:solidFill>
                  <a:srgbClr val="9AA1BA"/>
                </a:solidFill>
                <a:latin typeface="Courier New"/>
                <a:ea typeface="Courier New"/>
                <a:cs typeface="Courier New"/>
                <a:sym typeface="Courier New"/>
              </a:rPr>
              <a:t># Recursive solution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key &lt; root.val: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root.left = delete_node_from_bst(root.left, key)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key &gt; root.val: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root.right = delete_node_from_bst(root.right, key)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root.left: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root.right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root.right: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root.left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min_larger_node = root.right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min_larger_node.left: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min_larger_node = min_larger_node.left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root.val = min_larger_node.val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root.right = delete_node_from_bst(root.right, min_larger_node.val)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166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900"/>
              <a:buFont typeface="Courier New"/>
              <a:buNone/>
            </a:pP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9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9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3"/>
          <p:cNvSpPr/>
          <p:nvPr/>
        </p:nvSpPr>
        <p:spPr>
          <a:xfrm>
            <a:off x="6206490" y="1097280"/>
            <a:ext cx="2422931" cy="1200150"/>
          </a:xfrm>
          <a:prstGeom prst="roundRect">
            <a:avLst>
              <a:gd fmla="val 3429" name="adj"/>
            </a:avLst>
          </a:prstGeom>
          <a:solidFill>
            <a:srgbClr val="16182B"/>
          </a:solidFill>
          <a:ln cap="flat" cmpd="sng" w="9525">
            <a:solidFill>
              <a:srgbClr val="161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3"/>
          <p:cNvSpPr txBox="1"/>
          <p:nvPr/>
        </p:nvSpPr>
        <p:spPr>
          <a:xfrm>
            <a:off x="6377940" y="1275588"/>
            <a:ext cx="2148611" cy="93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909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00"/>
              <a:buFont typeface="Courier New"/>
              <a:buNone/>
            </a:pP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TreeNode: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909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__init__(self, val=0,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909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   left=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909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   right=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909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self.val = val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909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self.left = left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909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self.right = right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6206490" y="2503170"/>
            <a:ext cx="2422931" cy="10287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3"/>
          <p:cNvSpPr txBox="1"/>
          <p:nvPr/>
        </p:nvSpPr>
        <p:spPr>
          <a:xfrm>
            <a:off x="6377940" y="2571750"/>
            <a:ext cx="2080031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F2333"/>
                </a:solidFill>
                <a:latin typeface="Calibri"/>
                <a:ea typeface="Calibri"/>
                <a:cs typeface="Calibri"/>
                <a:sym typeface="Calibri"/>
              </a:rPr>
              <a:t>Example (key = 15)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15 has two children. Its successor is 26: copy 26 up, then delete 26 below. 28 takes its place.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6206490" y="3737610"/>
            <a:ext cx="2422931" cy="10287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3"/>
          <p:cNvSpPr txBox="1"/>
          <p:nvPr/>
        </p:nvSpPr>
        <p:spPr>
          <a:xfrm>
            <a:off x="6377940" y="3806190"/>
            <a:ext cx="2080031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F2333"/>
                </a:solidFill>
                <a:latin typeface="Calibri"/>
                <a:ea typeface="Calibri"/>
                <a:cs typeface="Calibri"/>
                <a:sym typeface="Calibri"/>
              </a:rPr>
              <a:t>Time complexity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ourier New"/>
              <a:buNone/>
            </a:pPr>
            <a:r>
              <a:rPr b="1" lang="en" sz="1100">
                <a:solidFill>
                  <a:srgbClr val="2A9D8F"/>
                </a:solidFill>
                <a:latin typeface="Courier New"/>
                <a:ea typeface="Courier New"/>
                <a:cs typeface="Courier New"/>
                <a:sym typeface="Courier New"/>
              </a:rPr>
              <a:t>O(log 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time if balanced, 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worst case: one walk down the tree. Space: the recursion stack.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685801" y="1049293"/>
            <a:ext cx="82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100"/>
          </a:p>
        </p:txBody>
      </p:sp>
      <p:sp>
        <p:nvSpPr>
          <p:cNvPr id="555" name="Google Shape;555;p33"/>
          <p:cNvSpPr txBox="1"/>
          <p:nvPr/>
        </p:nvSpPr>
        <p:spPr>
          <a:xfrm>
            <a:off x="6357366" y="1172718"/>
            <a:ext cx="8229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4"/>
          <p:cNvSpPr txBox="1"/>
          <p:nvPr/>
        </p:nvSpPr>
        <p:spPr>
          <a:xfrm>
            <a:off x="514350" y="288036"/>
            <a:ext cx="811507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SOLUTION 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4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Iterative solution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4"/>
          <p:cNvSpPr/>
          <p:nvPr/>
        </p:nvSpPr>
        <p:spPr>
          <a:xfrm>
            <a:off x="95975" y="946400"/>
            <a:ext cx="4704600" cy="3182700"/>
          </a:xfrm>
          <a:prstGeom prst="roundRect">
            <a:avLst>
              <a:gd fmla="val 1463" name="adj"/>
            </a:avLst>
          </a:prstGeom>
          <a:solidFill>
            <a:srgbClr val="16182B"/>
          </a:solidFill>
          <a:ln cap="flat" cmpd="sng" w="9525">
            <a:solidFill>
              <a:srgbClr val="161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4"/>
          <p:cNvSpPr txBox="1"/>
          <p:nvPr/>
        </p:nvSpPr>
        <p:spPr>
          <a:xfrm>
            <a:off x="685775" y="1124713"/>
            <a:ext cx="41148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00"/>
              <a:buFont typeface="Courier New"/>
              <a:buNone/>
            </a:pP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delete_node_from_bst(root: TreeNode, key: int) -&gt; TreeNode: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lang="en" sz="800">
                <a:solidFill>
                  <a:srgbClr val="9AA1BA"/>
                </a:solidFill>
                <a:latin typeface="Courier New"/>
                <a:ea typeface="Courier New"/>
                <a:cs typeface="Courier New"/>
                <a:sym typeface="Courier New"/>
              </a:rPr>
              <a:t># Iterative solution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parent =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curr = root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curr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curr.val != key: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parent = curr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key &lt; curr.val: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curr = curr.left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curr = curr.right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curr: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transplant(parent, curr, new_node):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lang="en" sz="800">
                <a:solidFill>
                  <a:srgbClr val="9AA1BA"/>
                </a:solidFill>
                <a:latin typeface="Courier New"/>
                <a:ea typeface="Courier New"/>
                <a:cs typeface="Courier New"/>
                <a:sym typeface="Courier New"/>
              </a:rPr>
              <a:t># Replace curr with new_node in the tree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parent: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new_node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parent.left == curr: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parent.left = new_node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parent.right = new_node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4"/>
          <p:cNvSpPr/>
          <p:nvPr/>
        </p:nvSpPr>
        <p:spPr>
          <a:xfrm>
            <a:off x="5109175" y="946399"/>
            <a:ext cx="3520200" cy="3182700"/>
          </a:xfrm>
          <a:prstGeom prst="roundRect">
            <a:avLst>
              <a:gd fmla="val 1463" name="adj"/>
            </a:avLst>
          </a:prstGeom>
          <a:solidFill>
            <a:srgbClr val="16182B"/>
          </a:solidFill>
          <a:ln cap="flat" cmpd="sng" w="9525">
            <a:solidFill>
              <a:srgbClr val="161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4"/>
          <p:cNvSpPr txBox="1"/>
          <p:nvPr/>
        </p:nvSpPr>
        <p:spPr>
          <a:xfrm>
            <a:off x="5109175" y="1124727"/>
            <a:ext cx="3417300" cy="30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curr.left: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transplant(parent, curr, curr.right)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curr.right: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transplant(parent, curr, curr.left)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succ_parent = curr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succ = curr.right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succ.left: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succ_parent = succ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succ = succ.left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curr.val = succ.val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succ_parent.left == succ: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succ_parent.left = succ.right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succ_parent.right = succ.right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800"/>
              <a:buFont typeface="Courier New"/>
              <a:buNone/>
            </a:pP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8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8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4"/>
          <p:cNvSpPr/>
          <p:nvPr/>
        </p:nvSpPr>
        <p:spPr>
          <a:xfrm>
            <a:off x="514375" y="4364100"/>
            <a:ext cx="8115000" cy="65160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4"/>
          <p:cNvSpPr txBox="1"/>
          <p:nvPr/>
        </p:nvSpPr>
        <p:spPr>
          <a:xfrm>
            <a:off x="685825" y="4432680"/>
            <a:ext cx="777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F2333"/>
                </a:solidFill>
                <a:latin typeface="Calibri"/>
                <a:ea typeface="Calibri"/>
                <a:cs typeface="Calibri"/>
                <a:sym typeface="Calibri"/>
              </a:rPr>
              <a:t>Left finds the node and its parent, right removes it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ourier New"/>
              <a:buNone/>
            </a:pPr>
            <a:r>
              <a:rPr b="1" lang="en" sz="1100">
                <a:solidFill>
                  <a:srgbClr val="2A9D8F"/>
                </a:solidFill>
                <a:latin typeface="Courier New"/>
                <a:ea typeface="Courier New"/>
                <a:cs typeface="Courier New"/>
                <a:sym typeface="Courier New"/>
              </a:rPr>
              <a:t>O(log 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time if balanced, 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worst case: one walk down the tree. </a:t>
            </a:r>
            <a:r>
              <a:rPr b="1" lang="en" sz="1100">
                <a:solidFill>
                  <a:srgbClr val="2A9D8F"/>
                </a:solidFill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extra space, since there is no recursion.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4"/>
          <p:cNvSpPr txBox="1"/>
          <p:nvPr/>
        </p:nvSpPr>
        <p:spPr>
          <a:xfrm>
            <a:off x="685776" y="1021781"/>
            <a:ext cx="82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100"/>
          </a:p>
        </p:txBody>
      </p:sp>
      <p:sp>
        <p:nvSpPr>
          <p:cNvPr id="570" name="Google Shape;570;p34"/>
          <p:cNvSpPr txBox="1"/>
          <p:nvPr/>
        </p:nvSpPr>
        <p:spPr>
          <a:xfrm>
            <a:off x="5260061" y="1021843"/>
            <a:ext cx="82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5"/>
          <p:cNvSpPr txBox="1"/>
          <p:nvPr/>
        </p:nvSpPr>
        <p:spPr>
          <a:xfrm>
            <a:off x="514350" y="288036"/>
            <a:ext cx="811507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TRAVERSALS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5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Visiting every node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5"/>
          <p:cNvSpPr/>
          <p:nvPr/>
        </p:nvSpPr>
        <p:spPr>
          <a:xfrm>
            <a:off x="514350" y="1097280"/>
            <a:ext cx="4046220" cy="881455"/>
          </a:xfrm>
          <a:prstGeom prst="roundRect">
            <a:avLst>
              <a:gd fmla="val 6224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5"/>
          <p:cNvSpPr txBox="1"/>
          <p:nvPr/>
        </p:nvSpPr>
        <p:spPr>
          <a:xfrm>
            <a:off x="685800" y="1165860"/>
            <a:ext cx="3703320" cy="744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Depth-first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Go deep before wide. Three orders: inorder, preorder, postorder.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5"/>
          <p:cNvSpPr/>
          <p:nvPr/>
        </p:nvSpPr>
        <p:spPr>
          <a:xfrm>
            <a:off x="514350" y="2115895"/>
            <a:ext cx="4046220" cy="613186"/>
          </a:xfrm>
          <a:prstGeom prst="roundRect">
            <a:avLst>
              <a:gd fmla="val 8947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5"/>
          <p:cNvSpPr txBox="1"/>
          <p:nvPr/>
        </p:nvSpPr>
        <p:spPr>
          <a:xfrm>
            <a:off x="685800" y="2184475"/>
            <a:ext cx="3703320" cy="476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Breadth-first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Level by level, using a queue.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5"/>
          <p:cNvSpPr/>
          <p:nvPr/>
        </p:nvSpPr>
        <p:spPr>
          <a:xfrm>
            <a:off x="514350" y="2866241"/>
            <a:ext cx="4046220" cy="766482"/>
          </a:xfrm>
          <a:prstGeom prst="roundRect">
            <a:avLst>
              <a:gd fmla="val 715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5"/>
          <p:cNvSpPr txBox="1"/>
          <p:nvPr/>
        </p:nvSpPr>
        <p:spPr>
          <a:xfrm>
            <a:off x="685800" y="2934821"/>
            <a:ext cx="3703320" cy="62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Traversal vs search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A traversal must visit every node. A search may stop early.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5"/>
          <p:cNvSpPr/>
          <p:nvPr/>
        </p:nvSpPr>
        <p:spPr>
          <a:xfrm>
            <a:off x="514350" y="3769883"/>
            <a:ext cx="4046220" cy="996427"/>
          </a:xfrm>
          <a:prstGeom prst="roundRect">
            <a:avLst>
              <a:gd fmla="val 5506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5"/>
          <p:cNvSpPr txBox="1"/>
          <p:nvPr/>
        </p:nvSpPr>
        <p:spPr>
          <a:xfrm>
            <a:off x="685800" y="3838463"/>
            <a:ext cx="3703320" cy="859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Time complexity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Every traversal visits each node once, so it takes </a:t>
            </a: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time. Extra space is the recursion stack (or a queue for level-order).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6" name="Google Shape;586;p35"/>
          <p:cNvCxnSpPr/>
          <p:nvPr/>
        </p:nvCxnSpPr>
        <p:spPr>
          <a:xfrm flipH="1">
            <a:off x="6480810" y="1611630"/>
            <a:ext cx="840105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p35"/>
          <p:cNvCxnSpPr/>
          <p:nvPr/>
        </p:nvCxnSpPr>
        <p:spPr>
          <a:xfrm flipH="1">
            <a:off x="5760720" y="2331720"/>
            <a:ext cx="720090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8" name="Google Shape;588;p35"/>
          <p:cNvCxnSpPr/>
          <p:nvPr/>
        </p:nvCxnSpPr>
        <p:spPr>
          <a:xfrm flipH="1">
            <a:off x="5280660" y="3051810"/>
            <a:ext cx="480060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9" name="Google Shape;589;p35"/>
          <p:cNvCxnSpPr/>
          <p:nvPr/>
        </p:nvCxnSpPr>
        <p:spPr>
          <a:xfrm>
            <a:off x="5760720" y="3051810"/>
            <a:ext cx="480060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0" name="Google Shape;590;p35"/>
          <p:cNvCxnSpPr/>
          <p:nvPr/>
        </p:nvCxnSpPr>
        <p:spPr>
          <a:xfrm>
            <a:off x="6480810" y="2331720"/>
            <a:ext cx="720090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1" name="Google Shape;591;p35"/>
          <p:cNvCxnSpPr/>
          <p:nvPr/>
        </p:nvCxnSpPr>
        <p:spPr>
          <a:xfrm>
            <a:off x="7320915" y="1611630"/>
            <a:ext cx="840105" cy="72009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2" name="Google Shape;592;p35"/>
          <p:cNvSpPr/>
          <p:nvPr/>
        </p:nvSpPr>
        <p:spPr>
          <a:xfrm>
            <a:off x="5040630" y="3531870"/>
            <a:ext cx="480060" cy="48006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5"/>
          <p:cNvSpPr/>
          <p:nvPr/>
        </p:nvSpPr>
        <p:spPr>
          <a:xfrm>
            <a:off x="5520690" y="2811780"/>
            <a:ext cx="480060" cy="48006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5"/>
          <p:cNvSpPr/>
          <p:nvPr/>
        </p:nvSpPr>
        <p:spPr>
          <a:xfrm>
            <a:off x="6000750" y="3531870"/>
            <a:ext cx="480060" cy="48006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5"/>
          <p:cNvSpPr/>
          <p:nvPr/>
        </p:nvSpPr>
        <p:spPr>
          <a:xfrm>
            <a:off x="6240780" y="2091690"/>
            <a:ext cx="480060" cy="48006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5"/>
          <p:cNvSpPr/>
          <p:nvPr/>
        </p:nvSpPr>
        <p:spPr>
          <a:xfrm>
            <a:off x="6960870" y="2811780"/>
            <a:ext cx="480060" cy="48006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5"/>
          <p:cNvSpPr/>
          <p:nvPr/>
        </p:nvSpPr>
        <p:spPr>
          <a:xfrm>
            <a:off x="7080885" y="1371600"/>
            <a:ext cx="480060" cy="48006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5"/>
          <p:cNvSpPr/>
          <p:nvPr/>
        </p:nvSpPr>
        <p:spPr>
          <a:xfrm>
            <a:off x="7920990" y="2091690"/>
            <a:ext cx="480060" cy="48006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5"/>
          <p:cNvSpPr txBox="1"/>
          <p:nvPr/>
        </p:nvSpPr>
        <p:spPr>
          <a:xfrm>
            <a:off x="4800600" y="4457700"/>
            <a:ext cx="3828821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This BST is used for every traversal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6"/>
          <p:cNvSpPr txBox="1"/>
          <p:nvPr/>
        </p:nvSpPr>
        <p:spPr>
          <a:xfrm>
            <a:off x="514350" y="288036"/>
            <a:ext cx="811507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TRAVERSALS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6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Inorder: Left, Node, Right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6"/>
          <p:cNvSpPr/>
          <p:nvPr/>
        </p:nvSpPr>
        <p:spPr>
          <a:xfrm>
            <a:off x="514350" y="1097280"/>
            <a:ext cx="4046220" cy="130302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6"/>
          <p:cNvSpPr txBox="1"/>
          <p:nvPr/>
        </p:nvSpPr>
        <p:spPr>
          <a:xfrm>
            <a:off x="685800" y="1179576"/>
            <a:ext cx="37033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The idea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6"/>
          <p:cNvSpPr txBox="1"/>
          <p:nvPr/>
        </p:nvSpPr>
        <p:spPr>
          <a:xfrm>
            <a:off x="685800" y="1474470"/>
            <a:ext cx="2743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6"/>
          <p:cNvSpPr txBox="1"/>
          <p:nvPr/>
        </p:nvSpPr>
        <p:spPr>
          <a:xfrm>
            <a:off x="1028700" y="1474470"/>
            <a:ext cx="33604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Visit the left subtree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6"/>
          <p:cNvSpPr txBox="1"/>
          <p:nvPr/>
        </p:nvSpPr>
        <p:spPr>
          <a:xfrm>
            <a:off x="685800" y="1762506"/>
            <a:ext cx="2743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6"/>
          <p:cNvSpPr txBox="1"/>
          <p:nvPr/>
        </p:nvSpPr>
        <p:spPr>
          <a:xfrm>
            <a:off x="1028700" y="1762506"/>
            <a:ext cx="33604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Visit the node itself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6"/>
          <p:cNvSpPr txBox="1"/>
          <p:nvPr/>
        </p:nvSpPr>
        <p:spPr>
          <a:xfrm>
            <a:off x="685800" y="2050542"/>
            <a:ext cx="2743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6"/>
          <p:cNvSpPr txBox="1"/>
          <p:nvPr/>
        </p:nvSpPr>
        <p:spPr>
          <a:xfrm>
            <a:off x="1028700" y="2050542"/>
            <a:ext cx="33604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Visit the right subtree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6"/>
          <p:cNvSpPr/>
          <p:nvPr/>
        </p:nvSpPr>
        <p:spPr>
          <a:xfrm>
            <a:off x="514350" y="2606040"/>
            <a:ext cx="404622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6"/>
          <p:cNvSpPr txBox="1"/>
          <p:nvPr/>
        </p:nvSpPr>
        <p:spPr>
          <a:xfrm>
            <a:off x="685800" y="2674620"/>
            <a:ext cx="3703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Time complexity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Courier New"/>
              <a:buNone/>
            </a:pP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time: every node is visited exactly once. The recursion stack uses extra space as deep as the tree is tall.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6"/>
          <p:cNvSpPr/>
          <p:nvPr/>
        </p:nvSpPr>
        <p:spPr>
          <a:xfrm>
            <a:off x="514350" y="3771900"/>
            <a:ext cx="4046220" cy="99441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6"/>
          <p:cNvSpPr txBox="1"/>
          <p:nvPr/>
        </p:nvSpPr>
        <p:spPr>
          <a:xfrm>
            <a:off x="685800" y="3840480"/>
            <a:ext cx="370332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Learn the rest on your own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Preorder (Node, Left, Right), postorder (Left, Right, Node), and level-order work the same way with a different visiting order.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9" name="Google Shape;619;p36"/>
          <p:cNvCxnSpPr/>
          <p:nvPr/>
        </p:nvCxnSpPr>
        <p:spPr>
          <a:xfrm flipH="1">
            <a:off x="6497955" y="1481328"/>
            <a:ext cx="780097" cy="630936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36"/>
          <p:cNvCxnSpPr/>
          <p:nvPr/>
        </p:nvCxnSpPr>
        <p:spPr>
          <a:xfrm flipH="1">
            <a:off x="5829300" y="2112264"/>
            <a:ext cx="668655" cy="630936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36"/>
          <p:cNvCxnSpPr/>
          <p:nvPr/>
        </p:nvCxnSpPr>
        <p:spPr>
          <a:xfrm flipH="1">
            <a:off x="5383530" y="2743200"/>
            <a:ext cx="445770" cy="630936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36"/>
          <p:cNvCxnSpPr/>
          <p:nvPr/>
        </p:nvCxnSpPr>
        <p:spPr>
          <a:xfrm>
            <a:off x="5829300" y="2743200"/>
            <a:ext cx="445770" cy="630936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36"/>
          <p:cNvCxnSpPr/>
          <p:nvPr/>
        </p:nvCxnSpPr>
        <p:spPr>
          <a:xfrm>
            <a:off x="6497955" y="2112264"/>
            <a:ext cx="668655" cy="630936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36"/>
          <p:cNvCxnSpPr/>
          <p:nvPr/>
        </p:nvCxnSpPr>
        <p:spPr>
          <a:xfrm>
            <a:off x="7278052" y="1481328"/>
            <a:ext cx="780098" cy="630936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36"/>
          <p:cNvSpPr/>
          <p:nvPr/>
        </p:nvSpPr>
        <p:spPr>
          <a:xfrm>
            <a:off x="5170932" y="3161538"/>
            <a:ext cx="425196" cy="42519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6"/>
          <p:cNvSpPr/>
          <p:nvPr/>
        </p:nvSpPr>
        <p:spPr>
          <a:xfrm>
            <a:off x="5616702" y="2530602"/>
            <a:ext cx="425196" cy="42519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6"/>
          <p:cNvSpPr/>
          <p:nvPr/>
        </p:nvSpPr>
        <p:spPr>
          <a:xfrm>
            <a:off x="6062472" y="3161538"/>
            <a:ext cx="425196" cy="42519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6"/>
          <p:cNvSpPr/>
          <p:nvPr/>
        </p:nvSpPr>
        <p:spPr>
          <a:xfrm>
            <a:off x="6285357" y="1899666"/>
            <a:ext cx="425196" cy="42519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6"/>
          <p:cNvSpPr/>
          <p:nvPr/>
        </p:nvSpPr>
        <p:spPr>
          <a:xfrm>
            <a:off x="6954012" y="2530602"/>
            <a:ext cx="425196" cy="42519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6"/>
          <p:cNvSpPr/>
          <p:nvPr/>
        </p:nvSpPr>
        <p:spPr>
          <a:xfrm>
            <a:off x="7065454" y="1268730"/>
            <a:ext cx="425196" cy="42519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6"/>
          <p:cNvSpPr/>
          <p:nvPr/>
        </p:nvSpPr>
        <p:spPr>
          <a:xfrm>
            <a:off x="7845552" y="1899666"/>
            <a:ext cx="425196" cy="42519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6"/>
          <p:cNvSpPr/>
          <p:nvPr/>
        </p:nvSpPr>
        <p:spPr>
          <a:xfrm>
            <a:off x="4800600" y="3703320"/>
            <a:ext cx="3828821" cy="106299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6"/>
          <p:cNvSpPr txBox="1"/>
          <p:nvPr/>
        </p:nvSpPr>
        <p:spPr>
          <a:xfrm>
            <a:off x="4972050" y="3771900"/>
            <a:ext cx="3485921" cy="92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F2333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500"/>
              <a:buFont typeface="Calibri"/>
              <a:buNone/>
            </a:pPr>
            <a:r>
              <a:rPr lang="en" sz="15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2 5 6 12 14 25 51 (sorted)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7"/>
          <p:cNvSpPr txBox="1"/>
          <p:nvPr/>
        </p:nvSpPr>
        <p:spPr>
          <a:xfrm>
            <a:off x="514350" y="288036"/>
            <a:ext cx="811507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PROBLEM 2 //  EASY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7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Sum of Leaves: Edugator 5.7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7"/>
          <p:cNvSpPr/>
          <p:nvPr/>
        </p:nvSpPr>
        <p:spPr>
          <a:xfrm>
            <a:off x="514350" y="1097280"/>
            <a:ext cx="8115071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7"/>
          <p:cNvSpPr txBox="1"/>
          <p:nvPr/>
        </p:nvSpPr>
        <p:spPr>
          <a:xfrm>
            <a:off x="685800" y="1165860"/>
            <a:ext cx="7772171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Given a tree of integer values, return the sum of all leaf node values. A leaf is a node with no children.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Constraints: 1 &lt;= count(nodes) &lt;= 10, and every value is an integer.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7"/>
          <p:cNvSpPr/>
          <p:nvPr/>
        </p:nvSpPr>
        <p:spPr>
          <a:xfrm>
            <a:off x="514350" y="2263140"/>
            <a:ext cx="2567864" cy="250317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7"/>
          <p:cNvSpPr txBox="1"/>
          <p:nvPr/>
        </p:nvSpPr>
        <p:spPr>
          <a:xfrm>
            <a:off x="685800" y="2331720"/>
            <a:ext cx="2224964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F2333"/>
                </a:solidFill>
                <a:latin typeface="Calibri"/>
                <a:ea typeface="Calibri"/>
                <a:cs typeface="Calibri"/>
                <a:sym typeface="Calibri"/>
              </a:rPr>
              <a:t>Example 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5" name="Google Shape;645;p37"/>
          <p:cNvCxnSpPr/>
          <p:nvPr/>
        </p:nvCxnSpPr>
        <p:spPr>
          <a:xfrm flipH="1">
            <a:off x="1455382" y="2763774"/>
            <a:ext cx="514350" cy="4114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37"/>
          <p:cNvCxnSpPr/>
          <p:nvPr/>
        </p:nvCxnSpPr>
        <p:spPr>
          <a:xfrm flipH="1">
            <a:off x="1112482" y="3175254"/>
            <a:ext cx="342900" cy="4114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37"/>
          <p:cNvCxnSpPr/>
          <p:nvPr/>
        </p:nvCxnSpPr>
        <p:spPr>
          <a:xfrm>
            <a:off x="1455382" y="3175254"/>
            <a:ext cx="342900" cy="4114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37"/>
          <p:cNvCxnSpPr/>
          <p:nvPr/>
        </p:nvCxnSpPr>
        <p:spPr>
          <a:xfrm>
            <a:off x="1969732" y="2763774"/>
            <a:ext cx="514350" cy="4114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9" name="Google Shape;649;p37"/>
          <p:cNvSpPr/>
          <p:nvPr/>
        </p:nvSpPr>
        <p:spPr>
          <a:xfrm>
            <a:off x="1811998" y="2606040"/>
            <a:ext cx="315468" cy="31546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7"/>
          <p:cNvSpPr/>
          <p:nvPr/>
        </p:nvSpPr>
        <p:spPr>
          <a:xfrm>
            <a:off x="2326348" y="3017520"/>
            <a:ext cx="315468" cy="315468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7"/>
          <p:cNvSpPr/>
          <p:nvPr/>
        </p:nvSpPr>
        <p:spPr>
          <a:xfrm>
            <a:off x="954748" y="3429000"/>
            <a:ext cx="315468" cy="315468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7"/>
          <p:cNvSpPr/>
          <p:nvPr/>
        </p:nvSpPr>
        <p:spPr>
          <a:xfrm>
            <a:off x="1640548" y="3429000"/>
            <a:ext cx="315468" cy="315468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7"/>
          <p:cNvSpPr/>
          <p:nvPr/>
        </p:nvSpPr>
        <p:spPr>
          <a:xfrm>
            <a:off x="1297648" y="3017520"/>
            <a:ext cx="315468" cy="31546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7"/>
          <p:cNvSpPr txBox="1"/>
          <p:nvPr/>
        </p:nvSpPr>
        <p:spPr>
          <a:xfrm>
            <a:off x="685800" y="4183380"/>
            <a:ext cx="2224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Output: 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Leaves 4, -5, 3: 4 + (-5) + 3 = 2.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7"/>
          <p:cNvSpPr/>
          <p:nvPr/>
        </p:nvSpPr>
        <p:spPr>
          <a:xfrm>
            <a:off x="3287953" y="2263140"/>
            <a:ext cx="2567864" cy="250317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7"/>
          <p:cNvSpPr txBox="1"/>
          <p:nvPr/>
        </p:nvSpPr>
        <p:spPr>
          <a:xfrm>
            <a:off x="3459403" y="2331720"/>
            <a:ext cx="2224964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F2333"/>
                </a:solidFill>
                <a:latin typeface="Calibri"/>
                <a:ea typeface="Calibri"/>
                <a:cs typeface="Calibri"/>
                <a:sym typeface="Calibri"/>
              </a:rPr>
              <a:t>Example 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7" name="Google Shape;657;p37"/>
          <p:cNvCxnSpPr/>
          <p:nvPr/>
        </p:nvCxnSpPr>
        <p:spPr>
          <a:xfrm>
            <a:off x="4057536" y="2763774"/>
            <a:ext cx="342900" cy="4114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8" name="Google Shape;658;p37"/>
          <p:cNvCxnSpPr/>
          <p:nvPr/>
        </p:nvCxnSpPr>
        <p:spPr>
          <a:xfrm>
            <a:off x="4400436" y="3175254"/>
            <a:ext cx="342900" cy="4114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9" name="Google Shape;659;p37"/>
          <p:cNvCxnSpPr/>
          <p:nvPr/>
        </p:nvCxnSpPr>
        <p:spPr>
          <a:xfrm>
            <a:off x="4743336" y="3586734"/>
            <a:ext cx="342900" cy="41148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0" name="Google Shape;660;p37"/>
          <p:cNvSpPr/>
          <p:nvPr/>
        </p:nvSpPr>
        <p:spPr>
          <a:xfrm>
            <a:off x="4585602" y="3429000"/>
            <a:ext cx="315468" cy="31546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7"/>
          <p:cNvSpPr/>
          <p:nvPr/>
        </p:nvSpPr>
        <p:spPr>
          <a:xfrm>
            <a:off x="4242702" y="3017520"/>
            <a:ext cx="315468" cy="31546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3899802" y="2606040"/>
            <a:ext cx="315468" cy="31546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7"/>
          <p:cNvSpPr/>
          <p:nvPr/>
        </p:nvSpPr>
        <p:spPr>
          <a:xfrm>
            <a:off x="4928502" y="3840480"/>
            <a:ext cx="315468" cy="315468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7"/>
          <p:cNvSpPr txBox="1"/>
          <p:nvPr/>
        </p:nvSpPr>
        <p:spPr>
          <a:xfrm>
            <a:off x="3459403" y="4183380"/>
            <a:ext cx="2224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Output: 7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The only leaf is 7.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7"/>
          <p:cNvSpPr/>
          <p:nvPr/>
        </p:nvSpPr>
        <p:spPr>
          <a:xfrm>
            <a:off x="6061558" y="2263140"/>
            <a:ext cx="2567863" cy="250317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7"/>
          <p:cNvSpPr txBox="1"/>
          <p:nvPr/>
        </p:nvSpPr>
        <p:spPr>
          <a:xfrm>
            <a:off x="6233008" y="2331720"/>
            <a:ext cx="2224963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F2333"/>
                </a:solidFill>
                <a:latin typeface="Calibri"/>
                <a:ea typeface="Calibri"/>
                <a:cs typeface="Calibri"/>
                <a:sym typeface="Calibri"/>
              </a:rPr>
              <a:t>Example 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7"/>
          <p:cNvSpPr/>
          <p:nvPr/>
        </p:nvSpPr>
        <p:spPr>
          <a:xfrm>
            <a:off x="7139749" y="3017520"/>
            <a:ext cx="411480" cy="411480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7"/>
          <p:cNvSpPr txBox="1"/>
          <p:nvPr/>
        </p:nvSpPr>
        <p:spPr>
          <a:xfrm>
            <a:off x="6233008" y="4183380"/>
            <a:ext cx="222496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Output: 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The root is also a leaf.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8"/>
          <p:cNvSpPr txBox="1"/>
          <p:nvPr/>
        </p:nvSpPr>
        <p:spPr>
          <a:xfrm>
            <a:off x="514350" y="288036"/>
            <a:ext cx="811507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SOLUTION 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8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Recurse on both sides, add the leaves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8"/>
          <p:cNvSpPr/>
          <p:nvPr/>
        </p:nvSpPr>
        <p:spPr>
          <a:xfrm>
            <a:off x="514350" y="1097275"/>
            <a:ext cx="5221800" cy="3942600"/>
          </a:xfrm>
          <a:prstGeom prst="roundRect">
            <a:avLst>
              <a:gd fmla="val 1121" name="adj"/>
            </a:avLst>
          </a:prstGeom>
          <a:solidFill>
            <a:srgbClr val="16182B"/>
          </a:solidFill>
          <a:ln cap="flat" cmpd="sng" w="9525">
            <a:solidFill>
              <a:srgbClr val="161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8"/>
          <p:cNvSpPr txBox="1"/>
          <p:nvPr/>
        </p:nvSpPr>
        <p:spPr>
          <a:xfrm>
            <a:off x="685800" y="1275588"/>
            <a:ext cx="4937760" cy="3408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Courier New"/>
              <a:buNone/>
            </a:pP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TreeNode: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__init__(self, value):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self.value = value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self.left =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self.right =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Courier New"/>
              <a:buNone/>
            </a:pP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sum_of_leaves(root: TreeNode) -&gt; int: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"""Recursive solution"""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root.left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root.right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root.value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sum_of_leaves(root.left) + sum_of_leaves(root.right)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8"/>
          <p:cNvSpPr/>
          <p:nvPr/>
        </p:nvSpPr>
        <p:spPr>
          <a:xfrm>
            <a:off x="5932170" y="1097280"/>
            <a:ext cx="2697251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8"/>
          <p:cNvSpPr txBox="1"/>
          <p:nvPr/>
        </p:nvSpPr>
        <p:spPr>
          <a:xfrm>
            <a:off x="6103620" y="1165860"/>
            <a:ext cx="2354351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No node: return 0. A leaf: return its value. Otherwise, add up the leaves in the left and right subtrees.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8"/>
          <p:cNvSpPr/>
          <p:nvPr/>
        </p:nvSpPr>
        <p:spPr>
          <a:xfrm>
            <a:off x="5932170" y="3034665"/>
            <a:ext cx="2697251" cy="1731645"/>
          </a:xfrm>
          <a:prstGeom prst="roundRect">
            <a:avLst>
              <a:gd fmla="val 3168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8"/>
          <p:cNvSpPr txBox="1"/>
          <p:nvPr/>
        </p:nvSpPr>
        <p:spPr>
          <a:xfrm>
            <a:off x="6103620" y="3103245"/>
            <a:ext cx="2354351" cy="1594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Time complexity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Courier New"/>
              <a:buNone/>
            </a:pP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time: every node is visited once. Extra space is the recursion stack, as deep as the tree is tall.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8"/>
          <p:cNvSpPr txBox="1"/>
          <p:nvPr/>
        </p:nvSpPr>
        <p:spPr>
          <a:xfrm>
            <a:off x="665226" y="1172718"/>
            <a:ext cx="8229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9"/>
          <p:cNvSpPr txBox="1"/>
          <p:nvPr/>
        </p:nvSpPr>
        <p:spPr>
          <a:xfrm>
            <a:off x="514350" y="288036"/>
            <a:ext cx="811507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PROBLEM 3 //  MEDIUM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9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Binary Tree Right Side View: Edugator 5.3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9"/>
          <p:cNvSpPr/>
          <p:nvPr/>
        </p:nvSpPr>
        <p:spPr>
          <a:xfrm>
            <a:off x="514350" y="1097280"/>
            <a:ext cx="4046220" cy="144018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9"/>
          <p:cNvSpPr txBox="1"/>
          <p:nvPr/>
        </p:nvSpPr>
        <p:spPr>
          <a:xfrm>
            <a:off x="685800" y="1165860"/>
            <a:ext cx="370332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Stand on the right side. Return the values you can see, top to bottom. An empty tree returns [].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9"/>
          <p:cNvSpPr/>
          <p:nvPr/>
        </p:nvSpPr>
        <p:spPr>
          <a:xfrm>
            <a:off x="514350" y="2743200"/>
            <a:ext cx="4046220" cy="202311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9"/>
          <p:cNvSpPr txBox="1"/>
          <p:nvPr/>
        </p:nvSpPr>
        <p:spPr>
          <a:xfrm>
            <a:off x="685800" y="2811780"/>
            <a:ext cx="370332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Example 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4" name="Google Shape;694;p39"/>
          <p:cNvCxnSpPr/>
          <p:nvPr/>
        </p:nvCxnSpPr>
        <p:spPr>
          <a:xfrm>
            <a:off x="2194560" y="3343275"/>
            <a:ext cx="685800" cy="58293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5" name="Google Shape;695;p39"/>
          <p:cNvSpPr/>
          <p:nvPr/>
        </p:nvSpPr>
        <p:spPr>
          <a:xfrm>
            <a:off x="2005965" y="3154680"/>
            <a:ext cx="377190" cy="377190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9"/>
          <p:cNvSpPr/>
          <p:nvPr/>
        </p:nvSpPr>
        <p:spPr>
          <a:xfrm>
            <a:off x="2691765" y="3737610"/>
            <a:ext cx="377190" cy="377190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9"/>
          <p:cNvSpPr txBox="1"/>
          <p:nvPr/>
        </p:nvSpPr>
        <p:spPr>
          <a:xfrm>
            <a:off x="514350" y="4354830"/>
            <a:ext cx="40462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Input: root = [1,null,3]     Output: [1,3]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4800600" y="1097280"/>
            <a:ext cx="3828821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3AB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8C93AB"/>
                </a:solidFill>
                <a:latin typeface="Arial"/>
                <a:ea typeface="Arial"/>
                <a:cs typeface="Arial"/>
                <a:sym typeface="Arial"/>
              </a:rPr>
              <a:t>EXAMPLE 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9" name="Google Shape;699;p39"/>
          <p:cNvCxnSpPr/>
          <p:nvPr/>
        </p:nvCxnSpPr>
        <p:spPr>
          <a:xfrm flipH="1">
            <a:off x="5943486" y="1697355"/>
            <a:ext cx="514350" cy="78867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39"/>
          <p:cNvCxnSpPr/>
          <p:nvPr/>
        </p:nvCxnSpPr>
        <p:spPr>
          <a:xfrm>
            <a:off x="5943486" y="2486025"/>
            <a:ext cx="514350" cy="78867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39"/>
          <p:cNvCxnSpPr/>
          <p:nvPr/>
        </p:nvCxnSpPr>
        <p:spPr>
          <a:xfrm>
            <a:off x="6457836" y="1697355"/>
            <a:ext cx="514350" cy="78867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39"/>
          <p:cNvCxnSpPr/>
          <p:nvPr/>
        </p:nvCxnSpPr>
        <p:spPr>
          <a:xfrm>
            <a:off x="6972186" y="2486025"/>
            <a:ext cx="514350" cy="788670"/>
          </a:xfrm>
          <a:prstGeom prst="straightConnector1">
            <a:avLst/>
          </a:prstGeom>
          <a:noFill/>
          <a:ln cap="flat" cmpd="sng" w="19050">
            <a:solidFill>
              <a:srgbClr val="8C93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3" name="Google Shape;703;p39"/>
          <p:cNvSpPr/>
          <p:nvPr/>
        </p:nvSpPr>
        <p:spPr>
          <a:xfrm>
            <a:off x="6234951" y="1474470"/>
            <a:ext cx="445770" cy="445770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9"/>
          <p:cNvSpPr/>
          <p:nvPr/>
        </p:nvSpPr>
        <p:spPr>
          <a:xfrm>
            <a:off x="5720601" y="2263140"/>
            <a:ext cx="445770" cy="44577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9"/>
          <p:cNvSpPr/>
          <p:nvPr/>
        </p:nvSpPr>
        <p:spPr>
          <a:xfrm>
            <a:off x="6749301" y="2263140"/>
            <a:ext cx="445770" cy="445770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9"/>
          <p:cNvSpPr/>
          <p:nvPr/>
        </p:nvSpPr>
        <p:spPr>
          <a:xfrm>
            <a:off x="7263651" y="3051810"/>
            <a:ext cx="445770" cy="445770"/>
          </a:xfrm>
          <a:prstGeom prst="ellipse">
            <a:avLst/>
          </a:prstGeom>
          <a:solidFill>
            <a:srgbClr val="FF6B35"/>
          </a:solidFill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9"/>
          <p:cNvSpPr/>
          <p:nvPr/>
        </p:nvSpPr>
        <p:spPr>
          <a:xfrm>
            <a:off x="6234951" y="3051810"/>
            <a:ext cx="445770" cy="44577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F2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9"/>
          <p:cNvSpPr/>
          <p:nvPr/>
        </p:nvSpPr>
        <p:spPr>
          <a:xfrm>
            <a:off x="4800600" y="3737610"/>
            <a:ext cx="3828821" cy="10287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9"/>
          <p:cNvSpPr txBox="1"/>
          <p:nvPr/>
        </p:nvSpPr>
        <p:spPr>
          <a:xfrm>
            <a:off x="4972050" y="3806190"/>
            <a:ext cx="3485921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Input: root = [1,2,3,null,5,null,4]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Output: [1,3,4]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0"/>
          <p:cNvSpPr txBox="1"/>
          <p:nvPr/>
        </p:nvSpPr>
        <p:spPr>
          <a:xfrm>
            <a:off x="514350" y="288036"/>
            <a:ext cx="811507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SOLUTION 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0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Level-order: keep the last node of each level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0"/>
          <p:cNvSpPr/>
          <p:nvPr/>
        </p:nvSpPr>
        <p:spPr>
          <a:xfrm>
            <a:off x="514350" y="946399"/>
            <a:ext cx="5161500" cy="4146600"/>
          </a:xfrm>
          <a:prstGeom prst="roundRect">
            <a:avLst>
              <a:gd fmla="val 1121" name="adj"/>
            </a:avLst>
          </a:prstGeom>
          <a:solidFill>
            <a:srgbClr val="16182B"/>
          </a:solidFill>
          <a:ln cap="flat" cmpd="sng" w="9525">
            <a:solidFill>
              <a:srgbClr val="161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40"/>
          <p:cNvSpPr txBox="1"/>
          <p:nvPr/>
        </p:nvSpPr>
        <p:spPr>
          <a:xfrm>
            <a:off x="685800" y="1124713"/>
            <a:ext cx="4869300" cy="3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Courier New"/>
              <a:buNone/>
            </a:pP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rightSideView(root: Optional[TreeNode]) -&gt; List[int]: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root: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[]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result = []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queue = [root]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queue: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level_size = len(queue)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i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range(level_size):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node = queue.pop(0)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i == level_size - 1: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  result.append(node.val)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node.left: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  queue.append(node.left)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node.right: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  queue.append(node.right)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4E7F3"/>
              </a:buClr>
              <a:buSzPts val="1000"/>
              <a:buFont typeface="Courier New"/>
              <a:buNone/>
            </a:pP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b="1" lang="en" sz="10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E4E7F3"/>
                </a:solidFill>
                <a:latin typeface="Courier New"/>
                <a:ea typeface="Courier New"/>
                <a:cs typeface="Courier New"/>
                <a:sym typeface="Courier New"/>
              </a:rPr>
              <a:t> result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0"/>
          <p:cNvSpPr/>
          <p:nvPr/>
        </p:nvSpPr>
        <p:spPr>
          <a:xfrm>
            <a:off x="5863590" y="1097280"/>
            <a:ext cx="2765831" cy="1598441"/>
          </a:xfrm>
          <a:prstGeom prst="roundRect">
            <a:avLst>
              <a:gd fmla="val 3432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40"/>
          <p:cNvSpPr txBox="1"/>
          <p:nvPr/>
        </p:nvSpPr>
        <p:spPr>
          <a:xfrm>
            <a:off x="6035040" y="1165860"/>
            <a:ext cx="2422931" cy="1461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Read the level size before the loop. The last node processed on each level is the one you see from the right.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0"/>
          <p:cNvSpPr/>
          <p:nvPr/>
        </p:nvSpPr>
        <p:spPr>
          <a:xfrm>
            <a:off x="5863590" y="2901461"/>
            <a:ext cx="2765831" cy="1864849"/>
          </a:xfrm>
          <a:prstGeom prst="roundRect">
            <a:avLst>
              <a:gd fmla="val 2942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0"/>
          <p:cNvSpPr txBox="1"/>
          <p:nvPr/>
        </p:nvSpPr>
        <p:spPr>
          <a:xfrm>
            <a:off x="6035040" y="2970041"/>
            <a:ext cx="2422931" cy="1727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Time complexity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Courier New"/>
              <a:buNone/>
            </a:pPr>
            <a:r>
              <a:rPr b="1" lang="en" sz="1100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time: every node is visited once. The queue holds at most one level of the tree at a time.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Tip: use deque instead of pop(0), which is slow on a list.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0"/>
          <p:cNvSpPr txBox="1"/>
          <p:nvPr/>
        </p:nvSpPr>
        <p:spPr>
          <a:xfrm>
            <a:off x="685801" y="1001293"/>
            <a:ext cx="82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1"/>
          <p:cNvSpPr txBox="1"/>
          <p:nvPr/>
        </p:nvSpPr>
        <p:spPr>
          <a:xfrm>
            <a:off x="514350" y="288036"/>
            <a:ext cx="811507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YOUR TURN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1"/>
          <p:cNvSpPr txBox="1"/>
          <p:nvPr/>
        </p:nvSpPr>
        <p:spPr>
          <a:xfrm>
            <a:off x="514350" y="48006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Practice for the rest of class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1"/>
          <p:cNvSpPr txBox="1"/>
          <p:nvPr/>
        </p:nvSpPr>
        <p:spPr>
          <a:xfrm>
            <a:off x="548640" y="994410"/>
            <a:ext cx="78867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Work down the list in order. Do not skip ahead until the easy ones feel boring.</a:t>
            </a:r>
            <a:endParaRPr sz="1100"/>
          </a:p>
        </p:txBody>
      </p:sp>
      <p:sp>
        <p:nvSpPr>
          <p:cNvPr id="732" name="Google Shape;732;p41"/>
          <p:cNvSpPr/>
          <p:nvPr/>
        </p:nvSpPr>
        <p:spPr>
          <a:xfrm>
            <a:off x="548640" y="1405890"/>
            <a:ext cx="4011930" cy="267462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41"/>
          <p:cNvSpPr/>
          <p:nvPr/>
        </p:nvSpPr>
        <p:spPr>
          <a:xfrm>
            <a:off x="4697730" y="1405890"/>
            <a:ext cx="4011930" cy="267462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41"/>
          <p:cNvSpPr/>
          <p:nvPr/>
        </p:nvSpPr>
        <p:spPr>
          <a:xfrm>
            <a:off x="754380" y="1611630"/>
            <a:ext cx="685800" cy="233172"/>
          </a:xfrm>
          <a:prstGeom prst="roundRect">
            <a:avLst>
              <a:gd fmla="val 30000" name="adj"/>
            </a:avLst>
          </a:prstGeom>
          <a:solidFill>
            <a:srgbClr val="E6F4F1"/>
          </a:solidFill>
          <a:ln cap="flat" cmpd="sng" w="9525">
            <a:solidFill>
              <a:srgbClr val="9FD3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41"/>
          <p:cNvSpPr txBox="1"/>
          <p:nvPr/>
        </p:nvSpPr>
        <p:spPr>
          <a:xfrm>
            <a:off x="754380" y="1611630"/>
            <a:ext cx="6858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6E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1F7A6E"/>
                </a:solidFill>
                <a:latin typeface="Calibri"/>
                <a:ea typeface="Calibri"/>
                <a:cs typeface="Calibri"/>
                <a:sym typeface="Calibri"/>
              </a:rPr>
              <a:t>EASY</a:t>
            </a:r>
            <a:endParaRPr sz="1100"/>
          </a:p>
        </p:txBody>
      </p:sp>
      <p:sp>
        <p:nvSpPr>
          <p:cNvPr id="736" name="Google Shape;736;p41"/>
          <p:cNvSpPr txBox="1"/>
          <p:nvPr/>
        </p:nvSpPr>
        <p:spPr>
          <a:xfrm>
            <a:off x="754380" y="2023110"/>
            <a:ext cx="36004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Height of Tree</a:t>
            </a:r>
            <a:endParaRPr sz="1100"/>
          </a:p>
        </p:txBody>
      </p:sp>
      <p:sp>
        <p:nvSpPr>
          <p:cNvPr id="737" name="Google Shape;737;p41"/>
          <p:cNvSpPr txBox="1"/>
          <p:nvPr/>
        </p:nvSpPr>
        <p:spPr>
          <a:xfrm>
            <a:off x="754380" y="2269998"/>
            <a:ext cx="360045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Edges on the longest root-to-leaf path. A single node is 0. Hint: 1 + max of the two subtrees.</a:t>
            </a:r>
            <a:endParaRPr sz="1100"/>
          </a:p>
        </p:txBody>
      </p:sp>
      <p:sp>
        <p:nvSpPr>
          <p:cNvPr id="738" name="Google Shape;738;p41"/>
          <p:cNvSpPr txBox="1"/>
          <p:nvPr/>
        </p:nvSpPr>
        <p:spPr>
          <a:xfrm>
            <a:off x="754380" y="2914650"/>
            <a:ext cx="36004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Inorder Traversal</a:t>
            </a:r>
            <a:endParaRPr sz="1100"/>
          </a:p>
        </p:txBody>
      </p:sp>
      <p:sp>
        <p:nvSpPr>
          <p:cNvPr id="739" name="Google Shape;739;p41"/>
          <p:cNvSpPr txBox="1"/>
          <p:nvPr/>
        </p:nvSpPr>
        <p:spPr>
          <a:xfrm>
            <a:off x="754380" y="3161538"/>
            <a:ext cx="360045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Return the node values in inorder order: left, root, right.</a:t>
            </a:r>
            <a:endParaRPr sz="1100"/>
          </a:p>
        </p:txBody>
      </p:sp>
      <p:sp>
        <p:nvSpPr>
          <p:cNvPr id="740" name="Google Shape;740;p41"/>
          <p:cNvSpPr/>
          <p:nvPr/>
        </p:nvSpPr>
        <p:spPr>
          <a:xfrm>
            <a:off x="4903470" y="1611630"/>
            <a:ext cx="685800" cy="233172"/>
          </a:xfrm>
          <a:prstGeom prst="roundRect">
            <a:avLst>
              <a:gd fmla="val 30000" name="adj"/>
            </a:avLst>
          </a:prstGeom>
          <a:solidFill>
            <a:srgbClr val="FFEFE8"/>
          </a:solidFill>
          <a:ln cap="flat" cmpd="sng" w="9525">
            <a:solidFill>
              <a:srgbClr val="F4C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41"/>
          <p:cNvSpPr txBox="1"/>
          <p:nvPr/>
        </p:nvSpPr>
        <p:spPr>
          <a:xfrm>
            <a:off x="4903470" y="1611630"/>
            <a:ext cx="6858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420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B34420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1100"/>
          </a:p>
        </p:txBody>
      </p:sp>
      <p:sp>
        <p:nvSpPr>
          <p:cNvPr id="742" name="Google Shape;742;p41"/>
          <p:cNvSpPr txBox="1"/>
          <p:nvPr/>
        </p:nvSpPr>
        <p:spPr>
          <a:xfrm>
            <a:off x="4903470" y="2023110"/>
            <a:ext cx="36004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1F2333"/>
                </a:solidFill>
                <a:latin typeface="Arial"/>
                <a:ea typeface="Arial"/>
                <a:cs typeface="Arial"/>
                <a:sym typeface="Arial"/>
              </a:rPr>
              <a:t>Size of Directory</a:t>
            </a:r>
            <a:endParaRPr sz="1100"/>
          </a:p>
        </p:txBody>
      </p:sp>
      <p:sp>
        <p:nvSpPr>
          <p:cNvPr id="743" name="Google Shape;743;p41"/>
          <p:cNvSpPr txBox="1"/>
          <p:nvPr/>
        </p:nvSpPr>
        <p:spPr>
          <a:xfrm>
            <a:off x="4903470" y="2269998"/>
            <a:ext cx="360045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Total bytes under a named directory. Find it, then sum every file beneath it. Missing or empty gives 0.</a:t>
            </a:r>
            <a:endParaRPr sz="1100"/>
          </a:p>
        </p:txBody>
      </p:sp>
      <p:sp>
        <p:nvSpPr>
          <p:cNvPr id="744" name="Google Shape;744;p41"/>
          <p:cNvSpPr txBox="1"/>
          <p:nvPr/>
        </p:nvSpPr>
        <p:spPr>
          <a:xfrm>
            <a:off x="4903470" y="3051810"/>
            <a:ext cx="3600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333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F2333"/>
                </a:solidFill>
                <a:latin typeface="Calibri"/>
                <a:ea typeface="Calibri"/>
                <a:cs typeface="Calibri"/>
                <a:sym typeface="Calibri"/>
              </a:rPr>
              <a:t>How to practice: </a:t>
            </a:r>
            <a:r>
              <a:rPr lang="en" sz="11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25 minutes per problem. Say your approach first, then state time and space.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2B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2"/>
          <p:cNvSpPr txBox="1"/>
          <p:nvPr/>
        </p:nvSpPr>
        <p:spPr>
          <a:xfrm>
            <a:off x="514350" y="493776"/>
            <a:ext cx="8115071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TAKEAWAYS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2"/>
          <p:cNvSpPr txBox="1"/>
          <p:nvPr/>
        </p:nvSpPr>
        <p:spPr>
          <a:xfrm>
            <a:off x="514350" y="720090"/>
            <a:ext cx="8115071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to remember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2"/>
          <p:cNvSpPr/>
          <p:nvPr/>
        </p:nvSpPr>
        <p:spPr>
          <a:xfrm>
            <a:off x="925830" y="1721358"/>
            <a:ext cx="96012" cy="301752"/>
          </a:xfrm>
          <a:prstGeom prst="roundRect">
            <a:avLst>
              <a:gd fmla="val 50000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2"/>
          <p:cNvSpPr txBox="1"/>
          <p:nvPr/>
        </p:nvSpPr>
        <p:spPr>
          <a:xfrm>
            <a:off x="1200150" y="1680210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Vocabulary. </a:t>
            </a:r>
            <a:r>
              <a:rPr lang="en" sz="1400">
                <a:solidFill>
                  <a:srgbClr val="E4E7F3"/>
                </a:solidFill>
                <a:latin typeface="Calibri"/>
                <a:ea typeface="Calibri"/>
                <a:cs typeface="Calibri"/>
                <a:sym typeface="Calibri"/>
              </a:rPr>
              <a:t>Root, parent, child, leaf, subtree, level, height.</a:t>
            </a:r>
            <a:endParaRPr sz="1100"/>
          </a:p>
        </p:txBody>
      </p:sp>
      <p:sp>
        <p:nvSpPr>
          <p:cNvPr id="754" name="Google Shape;754;p42"/>
          <p:cNvSpPr/>
          <p:nvPr/>
        </p:nvSpPr>
        <p:spPr>
          <a:xfrm>
            <a:off x="925830" y="2420874"/>
            <a:ext cx="96012" cy="301752"/>
          </a:xfrm>
          <a:prstGeom prst="roundRect">
            <a:avLst>
              <a:gd fmla="val 50000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42"/>
          <p:cNvSpPr txBox="1"/>
          <p:nvPr/>
        </p:nvSpPr>
        <p:spPr>
          <a:xfrm>
            <a:off x="1200150" y="2379726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BST property. </a:t>
            </a:r>
            <a:r>
              <a:rPr lang="en" sz="1400">
                <a:solidFill>
                  <a:srgbClr val="E4E7F3"/>
                </a:solidFill>
                <a:latin typeface="Calibri"/>
                <a:ea typeface="Calibri"/>
                <a:cs typeface="Calibri"/>
                <a:sym typeface="Calibri"/>
              </a:rPr>
              <a:t>Left is smaller, right is larger, at every node.</a:t>
            </a:r>
            <a:endParaRPr sz="1100"/>
          </a:p>
        </p:txBody>
      </p:sp>
      <p:sp>
        <p:nvSpPr>
          <p:cNvPr id="756" name="Google Shape;756;p42"/>
          <p:cNvSpPr/>
          <p:nvPr/>
        </p:nvSpPr>
        <p:spPr>
          <a:xfrm>
            <a:off x="925830" y="3120390"/>
            <a:ext cx="96012" cy="301752"/>
          </a:xfrm>
          <a:prstGeom prst="roundRect">
            <a:avLst>
              <a:gd fmla="val 50000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42"/>
          <p:cNvSpPr txBox="1"/>
          <p:nvPr/>
        </p:nvSpPr>
        <p:spPr>
          <a:xfrm>
            <a:off x="1200150" y="3079242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 costs. </a:t>
            </a:r>
            <a:r>
              <a:rPr lang="en" sz="1400">
                <a:solidFill>
                  <a:srgbClr val="E4E7F3"/>
                </a:solidFill>
                <a:latin typeface="Calibri"/>
                <a:ea typeface="Calibri"/>
                <a:cs typeface="Calibri"/>
                <a:sym typeface="Calibri"/>
              </a:rPr>
              <a:t>Search, insert, and delete take O(log n) on a balanced tree and O(n) on a skewed one.</a:t>
            </a:r>
            <a:endParaRPr sz="1100"/>
          </a:p>
        </p:txBody>
      </p:sp>
      <p:sp>
        <p:nvSpPr>
          <p:cNvPr id="758" name="Google Shape;758;p42"/>
          <p:cNvSpPr/>
          <p:nvPr/>
        </p:nvSpPr>
        <p:spPr>
          <a:xfrm>
            <a:off x="925830" y="3819906"/>
            <a:ext cx="96012" cy="301752"/>
          </a:xfrm>
          <a:prstGeom prst="roundRect">
            <a:avLst>
              <a:gd fmla="val 50000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42"/>
          <p:cNvSpPr txBox="1"/>
          <p:nvPr/>
        </p:nvSpPr>
        <p:spPr>
          <a:xfrm>
            <a:off x="1200150" y="3778758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Traversals. </a:t>
            </a:r>
            <a:r>
              <a:rPr lang="en" sz="1400">
                <a:solidFill>
                  <a:srgbClr val="E4E7F3"/>
                </a:solidFill>
                <a:latin typeface="Calibri"/>
                <a:ea typeface="Calibri"/>
                <a:cs typeface="Calibri"/>
                <a:sym typeface="Calibri"/>
              </a:rPr>
              <a:t>Inorder on a BST gives sorted order, in O(n) time. Learn preorder, postorder, and level-order on your own.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