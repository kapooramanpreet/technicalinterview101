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Lst>
  <p:sldSz cx="12192000" cy="6858000"/>
  <p:notesSz cx="6858000" cy="12192000"/>
  <p:embeddedFontLst>
    <p:embeddedFont>
      <p:font typeface="Roboto Mono" panose="00000009000000000000" pitchFamily="49"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a8dc1gvnWo7L58gcU/3khe05Ty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9AF13E-CE95-4EE6-9974-679B0C551024}" v="1512" dt="2026-10-20T16:40:17.164"/>
    <p1510:client id="{50248182-E5BF-C74B-807C-AD6CA159145E}" v="212" dt="2026-10-21T14:21:22.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414" autoAdjust="0"/>
  </p:normalViewPr>
  <p:slideViewPr>
    <p:cSldViewPr snapToGrid="0">
      <p:cViewPr varScale="1">
        <p:scale>
          <a:sx n="49" d="100"/>
          <a:sy n="49" d="100"/>
        </p:scale>
        <p:origin x="72"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customschemas.google.com/relationships/presentationmetadata" Target="meta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6111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6111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1580813"/>
            <a:ext cx="2971800" cy="611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1: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Welcome to module two, strings!</a:t>
            </a:r>
          </a:p>
          <a:p>
            <a:pPr marL="0" lvl="0" indent="0" algn="l" rtl="0">
              <a:spcBef>
                <a:spcPts val="0"/>
              </a:spcBef>
              <a:spcAft>
                <a:spcPts val="0"/>
              </a:spcAft>
              <a:buNone/>
            </a:pPr>
            <a:r>
              <a:rPr lang="en-US" dirty="0"/>
              <a:t>- My name is Isabelle Gomez and I am a Sophomore majoring in Computer Science</a:t>
            </a:r>
          </a:p>
          <a:p>
            <a:pPr marL="0" lvl="0" indent="0" algn="l" rtl="0">
              <a:spcBef>
                <a:spcPts val="0"/>
              </a:spcBef>
              <a:spcAft>
                <a:spcPts val="0"/>
              </a:spcAft>
              <a:buNone/>
            </a:pPr>
            <a:r>
              <a:rPr lang="en-US" dirty="0"/>
              <a:t>- Last time: arrays, operation costs</a:t>
            </a:r>
          </a:p>
          <a:p>
            <a:pPr marL="0" lvl="0" indent="0" algn="l" rtl="0">
              <a:spcBef>
                <a:spcPts val="0"/>
              </a:spcBef>
              <a:spcAft>
                <a:spcPts val="0"/>
              </a:spcAft>
              <a:buNone/>
            </a:pPr>
            <a:r>
              <a:rPr lang="en-US" dirty="0"/>
              <a:t>- Strings are arrays of characters with one big difference, they cannot be edited in place; which we will get into later</a:t>
            </a:r>
            <a:endParaRPr dirty="0"/>
          </a:p>
        </p:txBody>
      </p:sp>
      <p:sp>
        <p:nvSpPr>
          <p:cNvPr id="27" name="Google Shape;27;p1: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p2: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Today we will be going over…</a:t>
            </a:r>
          </a:p>
          <a:p>
            <a:pPr marL="228600" lvl="0" indent="-228600" algn="l" rtl="0">
              <a:spcBef>
                <a:spcPts val="0"/>
              </a:spcBef>
              <a:spcAft>
                <a:spcPts val="0"/>
              </a:spcAft>
              <a:buAutoNum type="arabicParenR"/>
            </a:pPr>
            <a:r>
              <a:rPr lang="en-US" dirty="0"/>
              <a:t>How to define a string</a:t>
            </a:r>
          </a:p>
          <a:p>
            <a:pPr marL="228600" lvl="0" indent="-228600" algn="l" rtl="0">
              <a:spcBef>
                <a:spcPts val="0"/>
              </a:spcBef>
              <a:spcAft>
                <a:spcPts val="0"/>
              </a:spcAft>
              <a:buAutoNum type="arabicParenR"/>
            </a:pPr>
            <a:r>
              <a:rPr lang="en-US" dirty="0"/>
              <a:t>Common operations when working with strings</a:t>
            </a:r>
          </a:p>
          <a:p>
            <a:pPr marL="228600" lvl="0" indent="-228600" algn="l" rtl="0">
              <a:spcBef>
                <a:spcPts val="0"/>
              </a:spcBef>
              <a:spcAft>
                <a:spcPts val="0"/>
              </a:spcAft>
              <a:buAutoNum type="arabicParenR"/>
            </a:pPr>
            <a:r>
              <a:rPr lang="en-US" dirty="0"/>
              <a:t>Cost and complexity of these operations</a:t>
            </a:r>
          </a:p>
          <a:p>
            <a:pPr marL="228600" lvl="0" indent="-228600" algn="l" rtl="0">
              <a:spcBef>
                <a:spcPts val="0"/>
              </a:spcBef>
              <a:spcAft>
                <a:spcPts val="0"/>
              </a:spcAft>
              <a:buAutoNum type="arabicParenR"/>
            </a:pPr>
            <a:r>
              <a:rPr lang="en-US" dirty="0"/>
              <a:t>Worked examples and common patterns when approaching string-related problems</a:t>
            </a:r>
          </a:p>
          <a:p>
            <a:pPr marL="228600" lvl="0" indent="-228600" algn="l" rtl="0">
              <a:spcBef>
                <a:spcPts val="0"/>
              </a:spcBef>
              <a:spcAft>
                <a:spcPts val="0"/>
              </a:spcAft>
              <a:buAutoNum type="arabicParenR"/>
            </a:pPr>
            <a:r>
              <a:rPr lang="en-US" dirty="0"/>
              <a:t>What we will learn about next lesson</a:t>
            </a:r>
            <a:endParaRPr dirty="0"/>
          </a:p>
        </p:txBody>
      </p:sp>
      <p:sp>
        <p:nvSpPr>
          <p:cNvPr id="50" name="Google Shape;50;p2: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a:t>
            </a:r>
            <a:endParaRPr dirty="0"/>
          </a:p>
          <a:p>
            <a:pPr marL="0" lvl="0" indent="0" algn="l" rtl="0">
              <a:spcBef>
                <a:spcPts val="0"/>
              </a:spcBef>
              <a:spcAft>
                <a:spcPts val="0"/>
              </a:spcAft>
              <a:buNone/>
            </a:pPr>
            <a:r>
              <a:rPr lang="en-US" dirty="0"/>
              <a:t>A string is an *immutable sequence of characters, stored one after another like an array. Each character has a position number called an index.</a:t>
            </a:r>
            <a:endParaRPr dirty="0"/>
          </a:p>
          <a:p>
            <a:pPr marL="0" lvl="0" indent="0" algn="l" rtl="0">
              <a:spcBef>
                <a:spcPts val="0"/>
              </a:spcBef>
              <a:spcAft>
                <a:spcPts val="0"/>
              </a:spcAft>
              <a:buNone/>
            </a:pPr>
            <a:r>
              <a:rPr lang="en-US" dirty="0"/>
              <a:t>*immutable: cannot change the string once you’ve defined it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 Similarly to an array: every character has an index, and indexes start at zero.</a:t>
            </a:r>
            <a:endParaRPr dirty="0"/>
          </a:p>
          <a:p>
            <a:pPr marL="0" lvl="0" indent="0" algn="l" rtl="0">
              <a:spcBef>
                <a:spcPts val="0"/>
              </a:spcBef>
              <a:spcAft>
                <a:spcPts val="0"/>
              </a:spcAft>
              <a:buNone/>
            </a:pPr>
            <a:r>
              <a:rPr lang="en-US" dirty="0"/>
              <a:t>- accessing a character from the index –1 gives the last character in that string</a:t>
            </a:r>
            <a:br>
              <a:rPr lang="en-US" dirty="0"/>
            </a:br>
            <a:r>
              <a:rPr lang="en-US" dirty="0"/>
              <a:t>ASK: What is s[-1] for the word python? [take two guesses] It is n. Negative indexes count from the back.</a:t>
            </a:r>
            <a:endParaRPr dirty="0"/>
          </a:p>
        </p:txBody>
      </p:sp>
      <p:sp>
        <p:nvSpPr>
          <p:cNvPr id="66" name="Google Shape;66;p3: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4: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indent="0"/>
            <a:r>
              <a:rPr lang="en-US" dirty="0"/>
              <a:t>SAY: Python strings are immutable. You cannot assign to a position. Every change builds a new string.</a:t>
            </a:r>
            <a:br>
              <a:rPr lang="en-US" dirty="0"/>
            </a:br>
            <a:r>
              <a:rPr lang="en-US" dirty="0"/>
              <a:t>Left: you are trying to assign s[0] a new value, which you can’t do</a:t>
            </a:r>
          </a:p>
          <a:p>
            <a:pPr marL="0" indent="0"/>
            <a:r>
              <a:rPr lang="en-US" dirty="0"/>
              <a:t>Right: you want to build a new string and point s to it</a:t>
            </a:r>
          </a:p>
        </p:txBody>
      </p:sp>
      <p:sp>
        <p:nvSpPr>
          <p:cNvPr id="112" name="Google Shape;112;p4: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Three tools. </a:t>
            </a:r>
            <a:endParaRPr dirty="0"/>
          </a:p>
          <a:p>
            <a:pPr marL="0" indent="0"/>
            <a:r>
              <a:rPr lang="en-US" dirty="0"/>
              <a:t>Index: gets character from string at a given index (explain examples)</a:t>
            </a:r>
          </a:p>
          <a:p>
            <a:pPr marL="0" indent="0"/>
            <a:r>
              <a:rPr lang="en-US" dirty="0"/>
              <a:t>Slice: returns substring from range of characters of a string (ex). The time complexity is O(k)</a:t>
            </a:r>
          </a:p>
          <a:p>
            <a:pPr marL="0" indent="0"/>
            <a:r>
              <a:rPr lang="en-US" dirty="0"/>
              <a:t>Step: returns a string that captured at different steps traversing a string, and a negative step goes backward. (ex)</a:t>
            </a:r>
            <a:endParaRPr dirty="0"/>
          </a:p>
        </p:txBody>
      </p:sp>
      <p:sp>
        <p:nvSpPr>
          <p:cNvPr id="134" name="Google Shape;134;p5: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h423b657ec3993948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h423b657ec3993948_0_33:notes"/>
          <p:cNvSpPr txBox="1">
            <a:spLocks noGrp="1"/>
          </p:cNvSpPr>
          <p:nvPr>
            <p:ph type="body" idx="1"/>
          </p:nvPr>
        </p:nvSpPr>
        <p:spPr>
          <a:xfrm>
            <a:off x="685800" y="4400550"/>
            <a:ext cx="5486400" cy="3600300"/>
          </a:xfrm>
          <a:prstGeom prst="rect">
            <a:avLst/>
          </a:prstGeom>
          <a:noFill/>
          <a:ln>
            <a:noFill/>
          </a:ln>
        </p:spPr>
        <p:txBody>
          <a:bodyPr spcFirstLastPara="1" wrap="square" lIns="91425" tIns="45700" rIns="91425" bIns="45700" anchor="t" anchorCtr="0">
            <a:noAutofit/>
          </a:bodyPr>
          <a:lstStyle/>
          <a:p>
            <a:pPr marL="171450" indent="-171450">
              <a:buFont typeface="Calibri"/>
              <a:buChar char="-"/>
            </a:pPr>
            <a:r>
              <a:rPr lang="en-US" b="1" dirty="0"/>
              <a:t>Join</a:t>
            </a:r>
            <a:r>
              <a:rPr lang="en-US" dirty="0"/>
              <a:t>: glues strings with a separator. -&gt; O(k) where k # characters in result</a:t>
            </a:r>
          </a:p>
          <a:p>
            <a:pPr marL="171450" indent="-171450">
              <a:buFont typeface="Calibri"/>
              <a:buChar char="-"/>
            </a:pPr>
            <a:r>
              <a:rPr lang="en-US" b="1" dirty="0"/>
              <a:t>Length</a:t>
            </a:r>
            <a:r>
              <a:rPr lang="en-US" dirty="0"/>
              <a:t>: Python stores the length of a string -&gt; O(1)</a:t>
            </a:r>
          </a:p>
          <a:p>
            <a:pPr marL="171450" indent="-171450">
              <a:buFont typeface="Calibri"/>
              <a:buChar char="-"/>
            </a:pPr>
            <a:r>
              <a:rPr lang="en-US" b="1" dirty="0"/>
              <a:t>Compare</a:t>
            </a:r>
            <a:r>
              <a:rPr lang="en-US" dirty="0"/>
              <a:t>: s == t checks equality, s &lt; t checks order -&gt; O(k) where k characters are checked up to the first difference in characters</a:t>
            </a:r>
          </a:p>
          <a:p>
            <a:pPr marL="171450" indent="-171450">
              <a:buFont typeface="Calibri"/>
              <a:buChar char="-"/>
            </a:pPr>
            <a:r>
              <a:rPr lang="en-US" b="1" dirty="0"/>
              <a:t>Concatenation</a:t>
            </a:r>
            <a:r>
              <a:rPr lang="en-US" dirty="0"/>
              <a:t>: operation that makes a new string combining the strings on the left and the right side of the + operation -&gt; O(n + m), length of two strings</a:t>
            </a:r>
          </a:p>
          <a:p>
            <a:pPr marL="171450" indent="-171450">
              <a:buFont typeface="Calibri"/>
              <a:buChar char="-"/>
            </a:pPr>
            <a:r>
              <a:rPr lang="en-US" b="1" dirty="0"/>
              <a:t>Search</a:t>
            </a:r>
            <a:r>
              <a:rPr lang="en-US" dirty="0"/>
              <a:t>: looks for a substring -&gt; O(n + m), n = length string s and t is the length of the substring that we are searching for</a:t>
            </a:r>
          </a:p>
          <a:p>
            <a:pPr marL="628650" lvl="1" indent="-171450">
              <a:buFont typeface="Calibri"/>
              <a:buChar char="-"/>
            </a:pPr>
            <a:r>
              <a:rPr lang="en-US" b="1" dirty="0"/>
              <a:t>In</a:t>
            </a:r>
            <a:r>
              <a:rPr lang="en-US" dirty="0"/>
              <a:t>: membership test to see if a substring exists within a specified string</a:t>
            </a:r>
          </a:p>
          <a:p>
            <a:pPr marL="628650" lvl="1" indent="-171450">
              <a:buFont typeface="Calibri"/>
              <a:buChar char="-"/>
            </a:pPr>
            <a:r>
              <a:rPr lang="en-US" b="1" dirty="0"/>
              <a:t>find</a:t>
            </a:r>
            <a:r>
              <a:rPr lang="en-US" dirty="0"/>
              <a:t> searches for first occurrence of a character and returns the index; -1 not found</a:t>
            </a:r>
          </a:p>
          <a:p>
            <a:pPr marL="311150" indent="-171450">
              <a:buFont typeface="Calibri"/>
              <a:buChar char="-"/>
            </a:pPr>
            <a:endParaRPr lang="en-US" dirty="0">
              <a:solidFill>
                <a:srgbClr val="444444"/>
              </a:solidFill>
            </a:endParaRPr>
          </a:p>
          <a:p>
            <a:pPr marL="311150" indent="-171450">
              <a:buFont typeface="Calibri"/>
              <a:buChar char="-"/>
            </a:pPr>
            <a:endParaRPr lang="en-US" dirty="0">
              <a:solidFill>
                <a:srgbClr val="444444"/>
              </a:solidFill>
            </a:endParaRPr>
          </a:p>
          <a:p>
            <a:pPr marL="171450" indent="-171450">
              <a:buFont typeface="Calibri"/>
              <a:buChar char="-"/>
            </a:pPr>
            <a:endParaRPr lang="en-US" dirty="0"/>
          </a:p>
        </p:txBody>
      </p:sp>
      <p:sp>
        <p:nvSpPr>
          <p:cNvPr id="161" name="Google Shape;161;h423b657ec3993948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6: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a:t>
            </a:r>
            <a:endParaRPr dirty="0"/>
          </a:p>
          <a:p>
            <a:pPr marL="0" lvl="0" indent="0" algn="l" rtl="0">
              <a:spcBef>
                <a:spcPts val="0"/>
              </a:spcBef>
              <a:spcAft>
                <a:spcPts val="0"/>
              </a:spcAft>
              <a:buNone/>
            </a:pPr>
            <a:r>
              <a:rPr lang="en-US" dirty="0"/>
              <a:t>Here are some more useful tools to help you define a string. </a:t>
            </a:r>
            <a:endParaRPr dirty="0"/>
          </a:p>
          <a:p>
            <a:pPr marL="0" lvl="0" indent="0" algn="l" rtl="0">
              <a:spcBef>
                <a:spcPts val="0"/>
              </a:spcBef>
              <a:spcAft>
                <a:spcPts val="0"/>
              </a:spcAft>
              <a:buNone/>
            </a:pPr>
            <a:r>
              <a:rPr lang="en-US" dirty="0"/>
              <a:t>- If you are trying to create a string with a variable {ex} use the f and the brackets as shown above</a:t>
            </a:r>
            <a:endParaRPr dirty="0"/>
          </a:p>
          <a:p>
            <a:pPr marL="0" lvl="0" indent="0" algn="l" rtl="0">
              <a:spcBef>
                <a:spcPts val="0"/>
              </a:spcBef>
              <a:spcAft>
                <a:spcPts val="0"/>
              </a:spcAft>
              <a:buNone/>
            </a:pPr>
            <a:r>
              <a:rPr lang="en-US" dirty="0"/>
              <a:t>- You can also convert any data type into string with the str() function</a:t>
            </a:r>
            <a:endParaRPr dirty="0"/>
          </a:p>
          <a:p>
            <a:pPr marL="0" lvl="0" indent="0" algn="l" rtl="0">
              <a:spcBef>
                <a:spcPts val="0"/>
              </a:spcBef>
              <a:spcAft>
                <a:spcPts val="0"/>
              </a:spcAft>
              <a:buNone/>
            </a:pPr>
            <a:r>
              <a:rPr lang="en-US" dirty="0"/>
              <a:t>- Create tab with \t. </a:t>
            </a:r>
            <a:endParaRPr dirty="0"/>
          </a:p>
        </p:txBody>
      </p:sp>
      <p:sp>
        <p:nvSpPr>
          <p:cNvPr id="207" name="Google Shape;207;p6: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a:t>
            </a:r>
            <a:endParaRPr dirty="0"/>
          </a:p>
          <a:p>
            <a:pPr marL="0" lvl="0" indent="0" algn="l" rtl="0">
              <a:spcBef>
                <a:spcPts val="0"/>
              </a:spcBef>
              <a:spcAft>
                <a:spcPts val="0"/>
              </a:spcAft>
              <a:buNone/>
            </a:pPr>
            <a:r>
              <a:rPr lang="en-US" dirty="0"/>
              <a:t>More useful operations</a:t>
            </a:r>
            <a:endParaRPr dirty="0"/>
          </a:p>
          <a:p>
            <a:pPr marL="0" lvl="0" indent="0" algn="l" rtl="0">
              <a:spcBef>
                <a:spcPts val="0"/>
              </a:spcBef>
              <a:spcAft>
                <a:spcPts val="0"/>
              </a:spcAft>
              <a:buNone/>
            </a:pPr>
            <a:r>
              <a:rPr lang="en-US" dirty="0"/>
              <a:t>- </a:t>
            </a:r>
            <a:r>
              <a:rPr lang="en-US" b="1" dirty="0"/>
              <a:t>Multiplication/</a:t>
            </a:r>
            <a:r>
              <a:rPr lang="en-US" b="1" dirty="0" err="1"/>
              <a:t>Astrisk</a:t>
            </a:r>
            <a:r>
              <a:rPr lang="en-US" dirty="0"/>
              <a:t>: repeat a string or character n many times except if n is negative or 0</a:t>
            </a:r>
            <a:endParaRPr dirty="0"/>
          </a:p>
          <a:p>
            <a:pPr marL="0" lvl="0" indent="0" algn="l" rtl="0">
              <a:spcBef>
                <a:spcPts val="0"/>
              </a:spcBef>
              <a:spcAft>
                <a:spcPts val="0"/>
              </a:spcAft>
              <a:buNone/>
            </a:pPr>
            <a:r>
              <a:rPr lang="en-US" dirty="0"/>
              <a:t>More functions below there</a:t>
            </a:r>
            <a:endParaRPr dirty="0"/>
          </a:p>
        </p:txBody>
      </p:sp>
      <p:sp>
        <p:nvSpPr>
          <p:cNvPr id="225" name="Google Shape;225;p7: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8: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8: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a:t>
            </a:r>
            <a:r>
              <a:rPr lang="en-US" b="1" dirty="0"/>
              <a:t>Here are some important functions</a:t>
            </a:r>
            <a:endParaRPr b="1" dirty="0"/>
          </a:p>
          <a:p>
            <a:pPr marL="457200" lvl="0" indent="-317500" algn="l" rtl="0">
              <a:spcBef>
                <a:spcPts val="0"/>
              </a:spcBef>
              <a:spcAft>
                <a:spcPts val="0"/>
              </a:spcAft>
              <a:buSzPts val="1400"/>
              <a:buChar char="-"/>
            </a:pPr>
            <a:r>
              <a:rPr lang="en-US" b="1" dirty="0"/>
              <a:t>Strip</a:t>
            </a:r>
            <a:r>
              <a:rPr lang="en-US" b="0" dirty="0"/>
              <a:t>: </a:t>
            </a:r>
            <a:r>
              <a:rPr lang="en-US" dirty="0"/>
              <a:t>cleans whitespaces</a:t>
            </a:r>
            <a:endParaRPr dirty="0"/>
          </a:p>
          <a:p>
            <a:pPr indent="-317500">
              <a:buChar char="-"/>
            </a:pPr>
            <a:r>
              <a:rPr lang="en-US" b="1" dirty="0"/>
              <a:t>lower</a:t>
            </a:r>
            <a:r>
              <a:rPr lang="en-US" dirty="0"/>
              <a:t> makes all characters in the string lowercase</a:t>
            </a:r>
          </a:p>
          <a:p>
            <a:pPr indent="-317500">
              <a:buChar char="-"/>
            </a:pPr>
            <a:r>
              <a:rPr lang="en-US" b="1" dirty="0"/>
              <a:t>Split</a:t>
            </a:r>
            <a:r>
              <a:rPr lang="en-US" dirty="0"/>
              <a:t>: breaks up text into a list of words</a:t>
            </a:r>
          </a:p>
          <a:p>
            <a:pPr indent="-317500">
              <a:buChar char="-"/>
            </a:pPr>
            <a:r>
              <a:rPr lang="en-US" b="1" dirty="0" err="1"/>
              <a:t>isalnum</a:t>
            </a:r>
            <a:r>
              <a:rPr lang="en-US" dirty="0"/>
              <a:t> checks all characters are either letters or digits</a:t>
            </a:r>
          </a:p>
          <a:p>
            <a:pPr indent="-317500">
              <a:buChar char="-"/>
            </a:pPr>
            <a:endParaRPr lang="en-US" dirty="0"/>
          </a:p>
          <a:p>
            <a:pPr marL="139700" indent="0"/>
            <a:r>
              <a:rPr lang="en-US" dirty="0"/>
              <a:t>And al these methods return a new value so the original string is never touched</a:t>
            </a:r>
          </a:p>
        </p:txBody>
      </p:sp>
      <p:sp>
        <p:nvSpPr>
          <p:cNvPr id="248" name="Google Shape;248;p8: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h63c0e6991457cadf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h63c0e6991457cadf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r>
              <a:rPr lang="en-US"/>
              <a:t>SAY: Here is our first problem we will work on together, the classic Palindrome problem</a:t>
            </a:r>
          </a:p>
          <a:p>
            <a:pPr marL="228600">
              <a:buAutoNum type="arabicParenR"/>
            </a:pPr>
            <a:r>
              <a:rPr lang="en-US" dirty="0"/>
              <a:t>Read the question</a:t>
            </a:r>
          </a:p>
          <a:p>
            <a:pPr marL="1143000" lvl="1">
              <a:buFont typeface="Courier New"/>
              <a:buChar char="o"/>
            </a:pPr>
            <a:r>
              <a:rPr lang="en-US" dirty="0"/>
              <a:t>Unlike most palindrome questions, we ignore spaces, </a:t>
            </a:r>
            <a:r>
              <a:rPr lang="en-US"/>
              <a:t>punctuation</a:t>
            </a:r>
            <a:r>
              <a:rPr lang="en-US" dirty="0"/>
              <a:t> and </a:t>
            </a:r>
            <a:r>
              <a:rPr lang="en-US"/>
              <a:t>capitalization</a:t>
            </a:r>
            <a:endParaRPr lang="en-US" dirty="0"/>
          </a:p>
          <a:p>
            <a:pPr marL="228600">
              <a:buAutoNum type="arabicParenR"/>
            </a:pPr>
            <a:r>
              <a:rPr lang="en-US" dirty="0"/>
              <a:t>Go through racecar example</a:t>
            </a:r>
          </a:p>
          <a:p>
            <a:pPr marL="0" indent="0">
              <a:buNone/>
            </a:pPr>
            <a:endParaRPr lang="en-US" dirty="0"/>
          </a:p>
          <a:p>
            <a:pPr marL="0" indent="0">
              <a:buNone/>
            </a:pPr>
            <a:r>
              <a:rPr lang="en-US" dirty="0"/>
              <a:t>It is important to note that an empty string is considered to be a valid Palindrome, which may help you create your solution</a:t>
            </a:r>
          </a:p>
        </p:txBody>
      </p:sp>
      <p:sp>
        <p:nvSpPr>
          <p:cNvPr id="309" name="Google Shape;309;h63c0e6991457cadf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h63c0e6991457cadf_0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h63c0e6991457cadf_0_2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r>
              <a:rPr lang="en-US" dirty="0"/>
              <a:t>SAY: Five minutes, feel free to ask us for help and work with your neighbors.</a:t>
            </a:r>
          </a:p>
          <a:p>
            <a:pPr marL="0" indent="0"/>
            <a:r>
              <a:rPr lang="en-US" dirty="0"/>
              <a:t>5 mins: Does anyone want to share their solution?</a:t>
            </a:r>
            <a:endParaRPr dirty="0"/>
          </a:p>
        </p:txBody>
      </p:sp>
      <p:sp>
        <p:nvSpPr>
          <p:cNvPr id="338" name="Google Shape;338;h63c0e6991457cadf_0_2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h63c0e6991457cadf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h63c0e6991457cadf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SAY: </a:t>
            </a:r>
            <a:endParaRPr/>
          </a:p>
          <a:p>
            <a:pPr marL="457200" lvl="0" indent="-317500" algn="l" rtl="0">
              <a:spcBef>
                <a:spcPts val="0"/>
              </a:spcBef>
              <a:spcAft>
                <a:spcPts val="0"/>
              </a:spcAft>
              <a:buSzPts val="1400"/>
              <a:buChar char="-"/>
            </a:pPr>
            <a:r>
              <a:rPr lang="en-US"/>
              <a:t>we want to approach this problem is a </a:t>
            </a:r>
            <a:r>
              <a:rPr lang="en-US" b="1"/>
              <a:t>two pointer solution</a:t>
            </a:r>
            <a:endParaRPr b="1"/>
          </a:p>
          <a:p>
            <a:pPr marL="457200" lvl="0" indent="-317500" algn="l" rtl="0">
              <a:spcBef>
                <a:spcPts val="0"/>
              </a:spcBef>
              <a:spcAft>
                <a:spcPts val="0"/>
              </a:spcAft>
              <a:buSzPts val="1400"/>
              <a:buChar char="-"/>
            </a:pPr>
            <a:r>
              <a:rPr lang="en-US"/>
              <a:t>first, we want to make all the values that are letters lowercase so we can make sure we are comparing just the characters themselves, skipping any that aren’t characters</a:t>
            </a:r>
            <a:endParaRPr/>
          </a:p>
          <a:p>
            <a:pPr marL="457200" lvl="0" indent="-317500" algn="l" rtl="0">
              <a:spcBef>
                <a:spcPts val="0"/>
              </a:spcBef>
              <a:spcAft>
                <a:spcPts val="0"/>
              </a:spcAft>
              <a:buSzPts val="1400"/>
              <a:buChar char="-"/>
            </a:pPr>
            <a:r>
              <a:rPr lang="en-US"/>
              <a:t>then we create the two pointers</a:t>
            </a:r>
            <a:endParaRPr/>
          </a:p>
          <a:p>
            <a:pPr marL="457200" lvl="0" indent="-317500" algn="l" rtl="0">
              <a:spcBef>
                <a:spcPts val="0"/>
              </a:spcBef>
              <a:spcAft>
                <a:spcPts val="0"/>
              </a:spcAft>
              <a:buSzPts val="1400"/>
              <a:buChar char="-"/>
            </a:pPr>
            <a:r>
              <a:rPr lang="en-US"/>
              <a:t>then we check if the left pointer is equal to the right pointer and continue to traverse the string from both sides until we reach the middle which is when left &lt; right</a:t>
            </a:r>
            <a:endParaRPr/>
          </a:p>
          <a:p>
            <a:pPr marL="0" lvl="0" indent="0" algn="l" rtl="0">
              <a:spcBef>
                <a:spcPts val="0"/>
              </a:spcBef>
              <a:spcAft>
                <a:spcPts val="0"/>
              </a:spcAft>
              <a:buNone/>
            </a:pPr>
            <a:endParaRPr/>
          </a:p>
          <a:p>
            <a:pPr marL="0" lvl="0" indent="0" algn="l" rtl="0">
              <a:spcBef>
                <a:spcPts val="0"/>
              </a:spcBef>
              <a:spcAft>
                <a:spcPts val="0"/>
              </a:spcAft>
              <a:buNone/>
            </a:pPr>
            <a:r>
              <a:rPr lang="en-US"/>
              <a:t>ASK: Why is the empty string fine without a special case? [the loop never runs, so we return True]</a:t>
            </a:r>
            <a:endParaRPr/>
          </a:p>
        </p:txBody>
      </p:sp>
      <p:sp>
        <p:nvSpPr>
          <p:cNvPr id="359" name="Google Shape;359;h63c0e6991457cadf_0_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h63c0e6991457cadf_0_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h63c0e6991457cadf_0_2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r>
              <a:rPr lang="en-US" dirty="0"/>
              <a:t>SAY: Second problem. This one is about turning strings into numbers and back.</a:t>
            </a:r>
          </a:p>
          <a:p>
            <a:pPr marL="228600">
              <a:buAutoNum type="arabicParenR"/>
            </a:pPr>
            <a:r>
              <a:rPr lang="en-US" dirty="0"/>
              <a:t>Read question</a:t>
            </a:r>
          </a:p>
          <a:p>
            <a:pPr marL="228600">
              <a:buAutoNum type="arabicParenR"/>
            </a:pPr>
            <a:r>
              <a:rPr lang="en-US" dirty="0"/>
              <a:t>Go through example 1</a:t>
            </a:r>
          </a:p>
          <a:p>
            <a:pPr marL="0" indent="0"/>
            <a:endParaRPr lang="en-US" dirty="0"/>
          </a:p>
          <a:p>
            <a:pPr marL="0" indent="0"/>
            <a:r>
              <a:rPr lang="en-US" dirty="0"/>
              <a:t>ASK: What does a complex number look like as a string? [real part, a plus sign, imaginary part, then </a:t>
            </a:r>
            <a:r>
              <a:rPr lang="en-US" dirty="0" err="1"/>
              <a:t>i</a:t>
            </a:r>
            <a:endParaRPr dirty="0"/>
          </a:p>
        </p:txBody>
      </p:sp>
      <p:sp>
        <p:nvSpPr>
          <p:cNvPr id="388" name="Google Shape;388;h63c0e6991457cadf_0_2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h63c0e6991457cadf_0_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h63c0e6991457cadf_0_3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r>
              <a:rPr lang="en-US" dirty="0"/>
              <a:t>SAY: Five minutes, feel free to ask us for help and work with your neighbors.</a:t>
            </a:r>
          </a:p>
          <a:p>
            <a:pPr marL="0" indent="0"/>
            <a:r>
              <a:rPr lang="en-US" dirty="0"/>
              <a:t>5 mins: Does anyone want to share their solution?</a:t>
            </a: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414" name="Google Shape;414;h63c0e6991457cadf_0_3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h63c0e6991457cadf_0_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h63c0e6991457cadf_0_3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a:t>
            </a:r>
            <a:endParaRPr dirty="0"/>
          </a:p>
          <a:p>
            <a:pPr marL="457200" lvl="0" indent="-317500" algn="l" rtl="0">
              <a:spcBef>
                <a:spcPts val="0"/>
              </a:spcBef>
              <a:spcAft>
                <a:spcPts val="0"/>
              </a:spcAft>
              <a:buSzPts val="1400"/>
              <a:buChar char="-"/>
            </a:pPr>
            <a:r>
              <a:rPr lang="en-US" dirty="0"/>
              <a:t>split and parse solution</a:t>
            </a:r>
            <a:endParaRPr dirty="0"/>
          </a:p>
          <a:p>
            <a:pPr marL="457200" lvl="0" indent="-317500" algn="l" rtl="0">
              <a:spcBef>
                <a:spcPts val="0"/>
              </a:spcBef>
              <a:spcAft>
                <a:spcPts val="0"/>
              </a:spcAft>
              <a:buSzPts val="1400"/>
              <a:buChar char="-"/>
            </a:pPr>
            <a:r>
              <a:rPr lang="en-US" dirty="0"/>
              <a:t>.split() function divides the a string wherever it sees the “+” character with the spaces around it and creates a list</a:t>
            </a:r>
            <a:endParaRPr dirty="0"/>
          </a:p>
          <a:p>
            <a:pPr marL="457200" lvl="0" indent="-317500" algn="l" rtl="0">
              <a:spcBef>
                <a:spcPts val="0"/>
              </a:spcBef>
              <a:spcAft>
                <a:spcPts val="0"/>
              </a:spcAft>
              <a:buSzPts val="1400"/>
              <a:buChar char="-"/>
            </a:pPr>
            <a:r>
              <a:rPr lang="en-US" sz="1300" dirty="0">
                <a:latin typeface="Courier New"/>
                <a:ea typeface="Courier New"/>
                <a:cs typeface="Courier New"/>
                <a:sym typeface="Courier New"/>
              </a:rPr>
              <a:t>x = "2 + 3i"</a:t>
            </a:r>
            <a:endParaRPr sz="1300" dirty="0"/>
          </a:p>
          <a:p>
            <a:pPr marL="457200" lvl="0" indent="-317500" algn="l" rtl="0">
              <a:spcBef>
                <a:spcPts val="0"/>
              </a:spcBef>
              <a:spcAft>
                <a:spcPts val="0"/>
              </a:spcAft>
              <a:buSzPts val="1400"/>
              <a:buChar char="-"/>
            </a:pPr>
            <a:r>
              <a:rPr lang="en-US" sz="1300" dirty="0">
                <a:latin typeface="Courier New"/>
                <a:ea typeface="Courier New"/>
                <a:cs typeface="Courier New"/>
                <a:sym typeface="Courier New"/>
              </a:rPr>
              <a:t>y = "1 + 4i"</a:t>
            </a:r>
            <a:endParaRPr dirty="0"/>
          </a:p>
          <a:p>
            <a:pPr marL="457200" lvl="0" indent="-317500" algn="l" rtl="0">
              <a:spcBef>
                <a:spcPts val="0"/>
              </a:spcBef>
              <a:spcAft>
                <a:spcPts val="0"/>
              </a:spcAft>
              <a:buSzPts val="1400"/>
              <a:buChar char="-"/>
            </a:pPr>
            <a:r>
              <a:rPr lang="en-US" dirty="0"/>
              <a:t>and </a:t>
            </a:r>
            <a:r>
              <a:rPr lang="en-US" dirty="0" err="1"/>
              <a:t>parts_x</a:t>
            </a:r>
            <a:r>
              <a:rPr lang="en-US" dirty="0"/>
              <a:t> and </a:t>
            </a:r>
            <a:r>
              <a:rPr lang="en-US" dirty="0" err="1"/>
              <a:t>parts_y</a:t>
            </a:r>
            <a:r>
              <a:rPr lang="en-US" dirty="0"/>
              <a:t> store the values on both sides of the addition sign for x and y in lists </a:t>
            </a:r>
            <a:r>
              <a:rPr lang="en-US" dirty="0" err="1"/>
              <a:t>parts_x</a:t>
            </a:r>
            <a:r>
              <a:rPr lang="en-US" dirty="0"/>
              <a:t> and </a:t>
            </a:r>
            <a:r>
              <a:rPr lang="en-US" dirty="0" err="1"/>
              <a:t>parts_y</a:t>
            </a:r>
            <a:r>
              <a:rPr lang="en-US" dirty="0"/>
              <a:t> respectively </a:t>
            </a:r>
            <a:endParaRPr dirty="0"/>
          </a:p>
          <a:p>
            <a:pPr marL="914400" lvl="1" indent="-317500" algn="l" rtl="0">
              <a:spcBef>
                <a:spcPts val="0"/>
              </a:spcBef>
              <a:spcAft>
                <a:spcPts val="0"/>
              </a:spcAft>
              <a:buSzPts val="1400"/>
              <a:buChar char="-"/>
            </a:pPr>
            <a:r>
              <a:rPr lang="en-US" dirty="0" err="1"/>
              <a:t>parts_x</a:t>
            </a:r>
            <a:r>
              <a:rPr lang="en-US" dirty="0"/>
              <a:t> = [“2”, “3i”]</a:t>
            </a:r>
            <a:endParaRPr dirty="0"/>
          </a:p>
          <a:p>
            <a:pPr marL="914400" lvl="1" indent="-317500" algn="l" rtl="0">
              <a:spcBef>
                <a:spcPts val="0"/>
              </a:spcBef>
              <a:spcAft>
                <a:spcPts val="0"/>
              </a:spcAft>
              <a:buSzPts val="1400"/>
              <a:buChar char="-"/>
            </a:pPr>
            <a:r>
              <a:rPr lang="en-US" dirty="0" err="1"/>
              <a:t>parts_y</a:t>
            </a:r>
            <a:r>
              <a:rPr lang="en-US" dirty="0"/>
              <a:t> = [“1”, “4i”]</a:t>
            </a:r>
            <a:endParaRPr dirty="0"/>
          </a:p>
          <a:p>
            <a:pPr marL="457200" lvl="0" indent="-317500" algn="l" rtl="0">
              <a:spcBef>
                <a:spcPts val="0"/>
              </a:spcBef>
              <a:spcAft>
                <a:spcPts val="0"/>
              </a:spcAft>
              <a:buSzPts val="1400"/>
              <a:buChar char="-"/>
            </a:pPr>
            <a:r>
              <a:rPr lang="en-US" b="1" dirty="0"/>
              <a:t>a</a:t>
            </a:r>
            <a:r>
              <a:rPr lang="en-US" dirty="0"/>
              <a:t> int with first value in </a:t>
            </a:r>
            <a:r>
              <a:rPr lang="en-US" dirty="0" err="1"/>
              <a:t>parts_x</a:t>
            </a:r>
            <a:r>
              <a:rPr lang="en-US" dirty="0"/>
              <a:t> = 2</a:t>
            </a:r>
            <a:endParaRPr dirty="0"/>
          </a:p>
          <a:p>
            <a:pPr marL="457200" lvl="0" indent="-317500" algn="l" rtl="0">
              <a:spcBef>
                <a:spcPts val="0"/>
              </a:spcBef>
              <a:spcAft>
                <a:spcPts val="0"/>
              </a:spcAft>
              <a:buSzPts val="1400"/>
              <a:buChar char="-"/>
            </a:pPr>
            <a:r>
              <a:rPr lang="en-US" b="1" dirty="0"/>
              <a:t>b</a:t>
            </a:r>
            <a:r>
              <a:rPr lang="en-US" dirty="0"/>
              <a:t> isolates int in front of </a:t>
            </a:r>
            <a:r>
              <a:rPr lang="en-US" dirty="0" err="1"/>
              <a:t>i</a:t>
            </a:r>
            <a:r>
              <a:rPr lang="en-US" dirty="0"/>
              <a:t> = 3</a:t>
            </a:r>
            <a:endParaRPr dirty="0"/>
          </a:p>
          <a:p>
            <a:pPr marL="457200" lvl="0" indent="-317500" algn="l" rtl="0">
              <a:spcBef>
                <a:spcPts val="0"/>
              </a:spcBef>
              <a:spcAft>
                <a:spcPts val="0"/>
              </a:spcAft>
              <a:buSzPts val="1400"/>
              <a:buChar char="-"/>
            </a:pPr>
            <a:r>
              <a:rPr lang="en-US" dirty="0"/>
              <a:t>similarly:</a:t>
            </a:r>
            <a:endParaRPr dirty="0"/>
          </a:p>
          <a:p>
            <a:pPr marL="457200" lvl="0" indent="-317500" algn="l" rtl="0">
              <a:spcBef>
                <a:spcPts val="0"/>
              </a:spcBef>
              <a:spcAft>
                <a:spcPts val="0"/>
              </a:spcAft>
              <a:buSzPts val="1400"/>
              <a:buChar char="-"/>
            </a:pPr>
            <a:r>
              <a:rPr lang="en-US" b="1" dirty="0"/>
              <a:t>c </a:t>
            </a:r>
            <a:r>
              <a:rPr lang="en-US" dirty="0"/>
              <a:t>int = 1</a:t>
            </a:r>
            <a:endParaRPr dirty="0"/>
          </a:p>
          <a:p>
            <a:pPr marL="457200" lvl="0" indent="-317500" algn="l" rtl="0">
              <a:spcBef>
                <a:spcPts val="0"/>
              </a:spcBef>
              <a:spcAft>
                <a:spcPts val="0"/>
              </a:spcAft>
              <a:buSzPts val="1400"/>
              <a:buChar char="-"/>
            </a:pPr>
            <a:r>
              <a:rPr lang="en-US" b="1" dirty="0"/>
              <a:t>d</a:t>
            </a:r>
            <a:r>
              <a:rPr lang="en-US" dirty="0"/>
              <a:t> int = 4</a:t>
            </a:r>
            <a:endParaRPr dirty="0"/>
          </a:p>
          <a:p>
            <a:pPr marL="457200" lvl="0" indent="-317500" algn="l" rtl="0">
              <a:lnSpc>
                <a:spcPct val="115000"/>
              </a:lnSpc>
              <a:spcBef>
                <a:spcPts val="0"/>
              </a:spcBef>
              <a:spcAft>
                <a:spcPts val="0"/>
              </a:spcAft>
              <a:buSzPts val="1400"/>
              <a:buChar char="-"/>
            </a:pPr>
            <a:r>
              <a:rPr lang="en-US" dirty="0"/>
              <a:t>the </a:t>
            </a:r>
            <a:r>
              <a:rPr lang="en-US" b="1" dirty="0"/>
              <a:t>real</a:t>
            </a:r>
            <a:r>
              <a:rPr lang="en-US" dirty="0"/>
              <a:t> formula comes from multiplying two complex numbers:</a:t>
            </a:r>
            <a:endParaRPr dirty="0"/>
          </a:p>
          <a:p>
            <a:pPr marL="457200" lvl="0" indent="-317500" algn="l" rtl="0">
              <a:lnSpc>
                <a:spcPct val="115000"/>
              </a:lnSpc>
              <a:spcBef>
                <a:spcPts val="0"/>
              </a:spcBef>
              <a:spcAft>
                <a:spcPts val="0"/>
              </a:spcAft>
              <a:buSzPts val="1400"/>
              <a:buChar char="-"/>
            </a:pPr>
            <a:r>
              <a:rPr lang="en-US" dirty="0"/>
              <a:t>(</a:t>
            </a:r>
            <a:r>
              <a:rPr lang="en-US" dirty="0" err="1"/>
              <a:t>a+bi</a:t>
            </a:r>
            <a:r>
              <a:rPr lang="en-US" dirty="0"/>
              <a:t>)(</a:t>
            </a:r>
            <a:r>
              <a:rPr lang="en-US" dirty="0" err="1"/>
              <a:t>c+di</a:t>
            </a:r>
            <a:r>
              <a:rPr lang="en-US" dirty="0"/>
              <a:t>) = ac+adi+bci+bdi^2 </a:t>
            </a:r>
            <a:endParaRPr dirty="0"/>
          </a:p>
          <a:p>
            <a:pPr marL="457200" lvl="0" indent="-317500" algn="l" rtl="0">
              <a:lnSpc>
                <a:spcPct val="115000"/>
              </a:lnSpc>
              <a:spcBef>
                <a:spcPts val="0"/>
              </a:spcBef>
              <a:spcAft>
                <a:spcPts val="0"/>
              </a:spcAft>
              <a:buSzPts val="1400"/>
              <a:buChar char="-"/>
            </a:pPr>
            <a:r>
              <a:rPr lang="en-US" dirty="0"/>
              <a:t>Since (i^2=-1), the last term becomes (-bd) -&gt; </a:t>
            </a:r>
            <a:r>
              <a:rPr lang="en-US" b="1" dirty="0"/>
              <a:t>ac-bd</a:t>
            </a:r>
            <a:endParaRPr b="1" dirty="0"/>
          </a:p>
          <a:p>
            <a:pPr marL="457200" lvl="0" indent="-317500" algn="l" rtl="0">
              <a:spcBef>
                <a:spcPts val="0"/>
              </a:spcBef>
              <a:spcAft>
                <a:spcPts val="0"/>
              </a:spcAft>
              <a:buSzPts val="1400"/>
              <a:buChar char="-"/>
            </a:pPr>
            <a:r>
              <a:rPr lang="en-US" b="1" dirty="0" err="1"/>
              <a:t>imag</a:t>
            </a:r>
            <a:r>
              <a:rPr lang="en-US" dirty="0"/>
              <a:t> = (ad + </a:t>
            </a:r>
            <a:r>
              <a:rPr lang="en-US" dirty="0" err="1"/>
              <a:t>bc</a:t>
            </a:r>
            <a:r>
              <a:rPr lang="en-US" dirty="0"/>
              <a:t>)I ; leftover</a:t>
            </a:r>
          </a:p>
          <a:p>
            <a:pPr marL="457200" lvl="0" indent="-317500" algn="l" rtl="0">
              <a:spcBef>
                <a:spcPts val="0"/>
              </a:spcBef>
              <a:spcAft>
                <a:spcPts val="0"/>
              </a:spcAft>
              <a:buSzPts val="1400"/>
              <a:buChar char="-"/>
            </a:pPr>
            <a:r>
              <a:rPr lang="en-US" dirty="0"/>
              <a:t>So now you’re basically using the result of these two equations to output a new string</a:t>
            </a:r>
          </a:p>
          <a:p>
            <a:pPr marL="914400" lvl="1" indent="-317500" algn="l" rtl="0">
              <a:spcBef>
                <a:spcPts val="0"/>
              </a:spcBef>
              <a:spcAft>
                <a:spcPts val="0"/>
              </a:spcAft>
              <a:buSzPts val="1400"/>
              <a:buChar char="-"/>
            </a:pPr>
            <a:r>
              <a:rPr lang="en-US" dirty="0"/>
              <a:t>When tackling equation-based problems like this, try to think of patterns within these operations that can help you break down the question into a more formulaic approach</a:t>
            </a:r>
            <a:endParaRPr dirty="0"/>
          </a:p>
          <a:p>
            <a:pPr marL="457200" lvl="0" indent="-317500" algn="l" rtl="0">
              <a:spcBef>
                <a:spcPts val="0"/>
              </a:spcBef>
              <a:spcAft>
                <a:spcPts val="0"/>
              </a:spcAft>
              <a:buSzPts val="1400"/>
              <a:buChar char="-"/>
            </a:pPr>
            <a:r>
              <a:rPr lang="en-US" dirty="0"/>
              <a:t>then we use out </a:t>
            </a:r>
            <a:r>
              <a:rPr lang="en-US" b="1" dirty="0"/>
              <a:t>f-string tool </a:t>
            </a:r>
            <a:r>
              <a:rPr lang="en-US" dirty="0"/>
              <a:t>from earlier to return our solution</a:t>
            </a:r>
          </a:p>
          <a:p>
            <a:pPr indent="-317500">
              <a:buChar char="-"/>
            </a:pPr>
            <a:r>
              <a:rPr lang="en-US" b="1" dirty="0"/>
              <a:t>Time and space complexity</a:t>
            </a:r>
            <a:r>
              <a:rPr lang="en-US" dirty="0"/>
              <a:t>: </a:t>
            </a:r>
            <a:r>
              <a:rPr lang="en-US" dirty="0" err="1"/>
              <a:t>bc</a:t>
            </a:r>
            <a:r>
              <a:rPr lang="en-US" dirty="0"/>
              <a:t> split and replace operations</a:t>
            </a:r>
          </a:p>
          <a:p>
            <a:pPr marL="1200150" lvl="1" indent="-317500">
              <a:buChar char="-"/>
            </a:pPr>
            <a:r>
              <a:rPr lang="en-US" dirty="0"/>
              <a:t>Split creates a new string, which requires space to be made in memory, and scanning the strings of this plus operator which increases the time complexity</a:t>
            </a:r>
          </a:p>
          <a:p>
            <a:pPr marL="1200150" lvl="1" indent="-317500">
              <a:buChar char="-"/>
            </a:pPr>
            <a:r>
              <a:rPr lang="en-US" dirty="0"/>
              <a:t>Replace also scans the string for "I", contributing to the time complexity and creates a new string in memory</a:t>
            </a:r>
          </a:p>
        </p:txBody>
      </p:sp>
      <p:sp>
        <p:nvSpPr>
          <p:cNvPr id="440" name="Google Shape;440;h63c0e6991457cadf_0_3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h63c0e6991457cadf_0_3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h63c0e6991457cadf_0_3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SAY: Last problem, and the hard one. Read the statement slowly, especially the two notes about wildcards and empty substrings.</a:t>
            </a:r>
            <a:br>
              <a:rPr lang="en-US"/>
            </a:br>
            <a:br>
              <a:rPr lang="en-US"/>
            </a:br>
            <a:r>
              <a:rPr lang="en-US"/>
              <a:t>ASK: In example three, why is the answer zero? [an empty substring matches **]</a:t>
            </a:r>
            <a:br>
              <a:rPr lang="en-US"/>
            </a:br>
            <a:br>
              <a:rPr lang="en-US"/>
            </a:br>
            <a:r>
              <a:rPr lang="en-US"/>
              <a:t>NOTE: Example four's expected output is 6, the length of ompute.</a:t>
            </a:r>
            <a:endParaRPr/>
          </a:p>
        </p:txBody>
      </p:sp>
      <p:sp>
        <p:nvSpPr>
          <p:cNvPr id="467" name="Google Shape;467;h63c0e6991457cadf_0_3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h63c0e6991457cadf_0_4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h63c0e6991457cadf_0_4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r>
              <a:rPr lang="en-US" dirty="0"/>
              <a:t>SAY: Five minutes, feel free to ask us for help and work with your neighbors.</a:t>
            </a:r>
          </a:p>
          <a:p>
            <a:pPr marL="0" indent="0"/>
            <a:r>
              <a:rPr lang="en-US" dirty="0"/>
              <a:t>5 mins: Does anyone want to share their solution?</a:t>
            </a:r>
          </a:p>
        </p:txBody>
      </p:sp>
      <p:sp>
        <p:nvSpPr>
          <p:cNvPr id="491" name="Google Shape;491;h63c0e6991457cadf_0_4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h63c0e6991457cadf_0_4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h63c0e6991457cadf_0_4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SAY:</a:t>
            </a:r>
            <a:endParaRPr/>
          </a:p>
          <a:p>
            <a:pPr marL="457200" lvl="0" indent="-298450" algn="l" rtl="0">
              <a:spcBef>
                <a:spcPts val="0"/>
              </a:spcBef>
              <a:spcAft>
                <a:spcPts val="0"/>
              </a:spcAft>
              <a:buSzPts val="1100"/>
              <a:buFont typeface="Arial"/>
              <a:buChar char="-"/>
            </a:pPr>
            <a:r>
              <a:rPr lang="en-US" sz="1100">
                <a:latin typeface="Arial"/>
                <a:ea typeface="Arial"/>
                <a:cs typeface="Arial"/>
                <a:sym typeface="Arial"/>
              </a:rPr>
              <a:t>s = “alliterations”, p = “a*i*s”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US" sz="1100">
                <a:latin typeface="Arial"/>
                <a:ea typeface="Arial"/>
                <a:cs typeface="Arial"/>
                <a:sym typeface="Arial"/>
              </a:rPr>
              <a:t>splits the string into parts where it sees “*”</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US" sz="1100">
                <a:latin typeface="Arial"/>
                <a:ea typeface="Arial"/>
                <a:cs typeface="Arial"/>
                <a:sym typeface="Arial"/>
              </a:rPr>
              <a:t>in this case, a = “a”, b = “i”, c = “s”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US" sz="1100">
                <a:latin typeface="Arial"/>
                <a:ea typeface="Arial"/>
                <a:cs typeface="Arial"/>
                <a:sym typeface="Arial"/>
              </a:rPr>
              <a:t>nothing was found yet, so out best is best = -1</a:t>
            </a: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r>
              <a:rPr lang="en-US" sz="1100">
                <a:latin typeface="Arial"/>
                <a:ea typeface="Arial"/>
                <a:cs typeface="Arial"/>
                <a:sym typeface="Arial"/>
              </a:rPr>
              <a:t>first check:</a:t>
            </a:r>
            <a:endParaRPr sz="1100">
              <a:latin typeface="Arial"/>
              <a:ea typeface="Arial"/>
              <a:cs typeface="Arial"/>
              <a:sym typeface="Arial"/>
            </a:endParaRPr>
          </a:p>
          <a:p>
            <a:pPr marL="0" lvl="0" indent="0" algn="l" rtl="0">
              <a:spcBef>
                <a:spcPts val="0"/>
              </a:spcBef>
              <a:spcAft>
                <a:spcPts val="0"/>
              </a:spcAft>
              <a:buNone/>
            </a:pPr>
            <a:r>
              <a:rPr lang="en-US" sz="1100">
                <a:solidFill>
                  <a:srgbClr val="188038"/>
                </a:solidFill>
                <a:latin typeface="Roboto Mono"/>
                <a:ea typeface="Roboto Mono"/>
                <a:cs typeface="Roboto Mono"/>
                <a:sym typeface="Roboto Mono"/>
              </a:rPr>
              <a:t>s.startswith("a", i)</a:t>
            </a:r>
            <a:r>
              <a:rPr lang="en-US" sz="1100">
                <a:latin typeface="Arial"/>
                <a:ea typeface="Arial"/>
                <a:cs typeface="Arial"/>
                <a:sym typeface="Arial"/>
              </a:rPr>
              <a:t> checks whether </a:t>
            </a:r>
            <a:r>
              <a:rPr lang="en-US" sz="1100">
                <a:solidFill>
                  <a:srgbClr val="188038"/>
                </a:solidFill>
                <a:latin typeface="Roboto Mono"/>
                <a:ea typeface="Roboto Mono"/>
                <a:cs typeface="Roboto Mono"/>
                <a:sym typeface="Roboto Mono"/>
              </a:rPr>
              <a:t>s</a:t>
            </a:r>
            <a:r>
              <a:rPr lang="en-US" sz="1100">
                <a:latin typeface="Arial"/>
                <a:ea typeface="Arial"/>
                <a:cs typeface="Arial"/>
                <a:sym typeface="Arial"/>
              </a:rPr>
              <a:t> has </a:t>
            </a:r>
            <a:r>
              <a:rPr lang="en-US" sz="1100">
                <a:solidFill>
                  <a:srgbClr val="188038"/>
                </a:solidFill>
                <a:latin typeface="Roboto Mono"/>
                <a:ea typeface="Roboto Mono"/>
                <a:cs typeface="Roboto Mono"/>
                <a:sym typeface="Roboto Mono"/>
              </a:rPr>
              <a:t>"a"</a:t>
            </a:r>
            <a:r>
              <a:rPr lang="en-US" sz="1100">
                <a:latin typeface="Arial"/>
                <a:ea typeface="Arial"/>
                <a:cs typeface="Arial"/>
                <a:sym typeface="Arial"/>
              </a:rPr>
              <a:t> at position </a:t>
            </a:r>
            <a:r>
              <a:rPr lang="en-US" sz="1100">
                <a:solidFill>
                  <a:srgbClr val="188038"/>
                </a:solidFill>
                <a:latin typeface="Roboto Mono"/>
                <a:ea typeface="Roboto Mono"/>
                <a:cs typeface="Roboto Mono"/>
                <a:sym typeface="Roboto Mono"/>
              </a:rPr>
              <a:t>i</a:t>
            </a:r>
            <a:r>
              <a:rPr lang="en-US" sz="1100">
                <a:latin typeface="Arial"/>
                <a:ea typeface="Arial"/>
                <a:cs typeface="Arial"/>
                <a:sym typeface="Arial"/>
              </a:rPr>
              <a:t>. If not, </a:t>
            </a:r>
            <a:r>
              <a:rPr lang="en-US" sz="1100">
                <a:solidFill>
                  <a:srgbClr val="188038"/>
                </a:solidFill>
                <a:latin typeface="Roboto Mono"/>
                <a:ea typeface="Roboto Mono"/>
                <a:cs typeface="Roboto Mono"/>
                <a:sym typeface="Roboto Mono"/>
              </a:rPr>
              <a:t>continue</a:t>
            </a:r>
            <a:r>
              <a:rPr lang="en-US" sz="1100">
                <a:latin typeface="Arial"/>
                <a:ea typeface="Arial"/>
                <a:cs typeface="Arial"/>
                <a:sym typeface="Arial"/>
              </a:rPr>
              <a:t> skips to the next </a:t>
            </a:r>
            <a:r>
              <a:rPr lang="en-US" sz="1100">
                <a:solidFill>
                  <a:srgbClr val="188038"/>
                </a:solidFill>
                <a:latin typeface="Roboto Mono"/>
                <a:ea typeface="Roboto Mono"/>
                <a:cs typeface="Roboto Mono"/>
                <a:sym typeface="Roboto Mono"/>
              </a:rPr>
              <a:t>i</a:t>
            </a:r>
            <a:r>
              <a:rPr lang="en-US" sz="1100">
                <a:latin typeface="Arial"/>
                <a:ea typeface="Arial"/>
                <a:cs typeface="Arial"/>
                <a:sym typeface="Arial"/>
              </a:rPr>
              <a:t>.</a:t>
            </a:r>
            <a:endParaRPr sz="1100">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i = 0</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s[0]</a:t>
            </a:r>
            <a:r>
              <a:rPr lang="en-US" sz="1100">
                <a:latin typeface="Arial"/>
                <a:ea typeface="Arial"/>
                <a:cs typeface="Arial"/>
                <a:sym typeface="Arial"/>
              </a:rPr>
              <a:t> is </a:t>
            </a:r>
            <a:r>
              <a:rPr lang="en-US" sz="1100">
                <a:solidFill>
                  <a:srgbClr val="188038"/>
                </a:solidFill>
                <a:latin typeface="Roboto Mono"/>
                <a:ea typeface="Roboto Mono"/>
                <a:cs typeface="Roboto Mono"/>
                <a:sym typeface="Roboto Mono"/>
              </a:rPr>
              <a:t>a</a:t>
            </a:r>
            <a:r>
              <a:rPr lang="en-US" sz="1100">
                <a:latin typeface="Arial"/>
                <a:ea typeface="Arial"/>
                <a:cs typeface="Arial"/>
                <a:sym typeface="Arial"/>
              </a:rPr>
              <a:t>, so we keep going.</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i = 1</a:t>
            </a:r>
            <a:r>
              <a:rPr lang="en-US" sz="1100">
                <a:latin typeface="Arial"/>
                <a:ea typeface="Arial"/>
                <a:cs typeface="Arial"/>
                <a:sym typeface="Arial"/>
              </a:rPr>
              <a:t> to </a:t>
            </a:r>
            <a:r>
              <a:rPr lang="en-US" sz="1100">
                <a:solidFill>
                  <a:srgbClr val="188038"/>
                </a:solidFill>
                <a:latin typeface="Roboto Mono"/>
                <a:ea typeface="Roboto Mono"/>
                <a:cs typeface="Roboto Mono"/>
                <a:sym typeface="Roboto Mono"/>
              </a:rPr>
              <a:t>6</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l, l, i, t, e, r</a:t>
            </a:r>
            <a:r>
              <a:rPr lang="en-US" sz="1100">
                <a:latin typeface="Arial"/>
                <a:ea typeface="Arial"/>
                <a:cs typeface="Arial"/>
                <a:sym typeface="Arial"/>
              </a:rPr>
              <a:t>. None is </a:t>
            </a:r>
            <a:r>
              <a:rPr lang="en-US" sz="1100">
                <a:solidFill>
                  <a:srgbClr val="188038"/>
                </a:solidFill>
                <a:latin typeface="Roboto Mono"/>
                <a:ea typeface="Roboto Mono"/>
                <a:cs typeface="Roboto Mono"/>
                <a:sym typeface="Roboto Mono"/>
              </a:rPr>
              <a:t>a</a:t>
            </a:r>
            <a:r>
              <a:rPr lang="en-US" sz="1100">
                <a:latin typeface="Arial"/>
                <a:ea typeface="Arial"/>
                <a:cs typeface="Arial"/>
                <a:sym typeface="Arial"/>
              </a:rPr>
              <a:t>, so each one is skipped.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i = 7</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s[7]</a:t>
            </a:r>
            <a:r>
              <a:rPr lang="en-US" sz="1100">
                <a:latin typeface="Arial"/>
                <a:ea typeface="Arial"/>
                <a:cs typeface="Arial"/>
                <a:sym typeface="Arial"/>
              </a:rPr>
              <a:t> is </a:t>
            </a:r>
            <a:r>
              <a:rPr lang="en-US" sz="1100">
                <a:solidFill>
                  <a:srgbClr val="188038"/>
                </a:solidFill>
                <a:latin typeface="Roboto Mono"/>
                <a:ea typeface="Roboto Mono"/>
                <a:cs typeface="Roboto Mono"/>
                <a:sym typeface="Roboto Mono"/>
              </a:rPr>
              <a:t>a</a:t>
            </a:r>
            <a:r>
              <a:rPr lang="en-US" sz="1100">
                <a:latin typeface="Arial"/>
                <a:ea typeface="Arial"/>
                <a:cs typeface="Arial"/>
                <a:sym typeface="Arial"/>
              </a:rPr>
              <a:t>, so we keep going.</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i = 8</a:t>
            </a:r>
            <a:r>
              <a:rPr lang="en-US" sz="1100">
                <a:latin typeface="Arial"/>
                <a:ea typeface="Arial"/>
                <a:cs typeface="Arial"/>
                <a:sym typeface="Arial"/>
              </a:rPr>
              <a:t> to </a:t>
            </a:r>
            <a:r>
              <a:rPr lang="en-US" sz="1100">
                <a:solidFill>
                  <a:srgbClr val="188038"/>
                </a:solidFill>
                <a:latin typeface="Roboto Mono"/>
                <a:ea typeface="Roboto Mono"/>
                <a:cs typeface="Roboto Mono"/>
                <a:sym typeface="Roboto Mono"/>
              </a:rPr>
              <a:t>13</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t, i, o, n, s</a:t>
            </a:r>
            <a:r>
              <a:rPr lang="en-US" sz="1100">
                <a:latin typeface="Arial"/>
                <a:ea typeface="Arial"/>
                <a:cs typeface="Arial"/>
                <a:sym typeface="Arial"/>
              </a:rPr>
              <a:t>, then the end. All skipped.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Only </a:t>
            </a:r>
            <a:r>
              <a:rPr lang="en-US" sz="1100">
                <a:solidFill>
                  <a:srgbClr val="188038"/>
                </a:solidFill>
                <a:latin typeface="Roboto Mono"/>
                <a:ea typeface="Roboto Mono"/>
                <a:cs typeface="Roboto Mono"/>
                <a:sym typeface="Roboto Mono"/>
              </a:rPr>
              <a:t>i = 0</a:t>
            </a:r>
            <a:r>
              <a:rPr lang="en-US" sz="1100">
                <a:latin typeface="Arial"/>
                <a:ea typeface="Arial"/>
                <a:cs typeface="Arial"/>
                <a:sym typeface="Arial"/>
              </a:rPr>
              <a:t> and </a:t>
            </a:r>
            <a:r>
              <a:rPr lang="en-US" sz="1100">
                <a:solidFill>
                  <a:srgbClr val="188038"/>
                </a:solidFill>
                <a:latin typeface="Roboto Mono"/>
                <a:ea typeface="Roboto Mono"/>
                <a:cs typeface="Roboto Mono"/>
                <a:sym typeface="Roboto Mono"/>
              </a:rPr>
              <a:t>i = 7</a:t>
            </a:r>
            <a:r>
              <a:rPr lang="en-US" sz="1100">
                <a:latin typeface="Arial"/>
                <a:ea typeface="Arial"/>
                <a:cs typeface="Arial"/>
                <a:sym typeface="Arial"/>
              </a:rPr>
              <a:t> reach the rest of the code.</a:t>
            </a:r>
            <a:endParaRPr sz="1100">
              <a:latin typeface="Arial"/>
              <a:ea typeface="Arial"/>
              <a:cs typeface="Arial"/>
              <a:sym typeface="Arial"/>
            </a:endParaRPr>
          </a:p>
          <a:p>
            <a:pPr marL="0" lvl="0" indent="0" algn="l" rtl="0">
              <a:lnSpc>
                <a:spcPct val="115000"/>
              </a:lnSpc>
              <a:spcBef>
                <a:spcPts val="1200"/>
              </a:spcBef>
              <a:spcAft>
                <a:spcPts val="0"/>
              </a:spcAft>
              <a:buNone/>
            </a:pPr>
            <a:r>
              <a:rPr lang="en-US" sz="1100">
                <a:latin typeface="Arial"/>
                <a:ea typeface="Arial"/>
                <a:cs typeface="Arial"/>
                <a:sym typeface="Arial"/>
              </a:rPr>
              <a:t>second check: find b after a</a:t>
            </a:r>
            <a:endParaRPr sz="1100">
              <a:latin typeface="Arial"/>
              <a:ea typeface="Arial"/>
              <a:cs typeface="Arial"/>
              <a:sym typeface="Arial"/>
            </a:endParaRPr>
          </a:p>
          <a:p>
            <a:pPr marL="0" lvl="0" indent="0" algn="l" rtl="0">
              <a:spcBef>
                <a:spcPts val="1200"/>
              </a:spcBef>
              <a:spcAft>
                <a:spcPts val="0"/>
              </a:spcAft>
              <a:buNone/>
            </a:pPr>
            <a:br>
              <a:rPr lang="en-US"/>
            </a:br>
            <a:br>
              <a:rPr lang="en-US"/>
            </a:br>
            <a:r>
              <a:rPr lang="en-US"/>
              <a:t>NOTE: Worst case is quadratic. Precomputing next-occurrence arrays for the middle and suffix brings it to linear, if students ask.</a:t>
            </a:r>
            <a:br>
              <a:rPr lang="en-US"/>
            </a:br>
            <a:br>
              <a:rPr lang="en-US"/>
            </a:br>
            <a:r>
              <a:rPr lang="en-US"/>
              <a:t>ASK: Why can we break as soon as a find fails? [later starts only search a smaller part of s]</a:t>
            </a:r>
            <a:endParaRPr/>
          </a:p>
        </p:txBody>
      </p:sp>
      <p:sp>
        <p:nvSpPr>
          <p:cNvPr id="521" name="Google Shape;521;h63c0e6991457cadf_0_4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22: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p22: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indent="0"/>
            <a:r>
              <a:rPr lang="en-US"/>
              <a:t>SAY: </a:t>
            </a:r>
          </a:p>
          <a:p>
            <a:pPr marL="171450" indent="-171450">
              <a:buFont typeface="Calibri"/>
              <a:buChar char="-"/>
            </a:pPr>
            <a:r>
              <a:rPr lang="en-US" dirty="0"/>
              <a:t>Strings are </a:t>
            </a:r>
            <a:r>
              <a:rPr lang="en-US" dirty="0" err="1"/>
              <a:t>immu</a:t>
            </a:r>
            <a:r>
              <a:rPr lang="en-US"/>
              <a:t>table sequences</a:t>
            </a:r>
            <a:endParaRPr lang="en-US" dirty="0"/>
          </a:p>
          <a:p>
            <a:pPr marL="171450" indent="-171450">
              <a:buFont typeface="Calibri"/>
              <a:buChar char="-"/>
            </a:pPr>
            <a:r>
              <a:rPr lang="en-US"/>
              <a:t>Important operations went over when working with strings like how to access from a specific index and split</a:t>
            </a:r>
            <a:endParaRPr lang="en-US">
              <a:solidFill>
                <a:srgbClr val="444444"/>
              </a:solidFill>
            </a:endParaRPr>
          </a:p>
          <a:p>
            <a:pPr marL="171450" indent="-171450">
              <a:buFont typeface="Calibri"/>
              <a:buChar char="-"/>
            </a:pPr>
            <a:r>
              <a:rPr lang="en-US"/>
              <a:t>Think of these patterns as signs to help guide your interviewer to their destination</a:t>
            </a:r>
            <a:endParaRPr lang="en-US">
              <a:solidFill>
                <a:srgbClr val="444444"/>
              </a:solidFill>
            </a:endParaRPr>
          </a:p>
          <a:p>
            <a:pPr lvl="1">
              <a:buFont typeface="Courier New"/>
              <a:buChar char="o"/>
            </a:pPr>
            <a:r>
              <a:rPr lang="en-US" b="1"/>
              <a:t>You don't </a:t>
            </a:r>
            <a:r>
              <a:rPr lang="en-US"/>
              <a:t>want to simply say "I'm using the sliding window pattern", they might not know what that means</a:t>
            </a:r>
            <a:endParaRPr lang="en-US">
              <a:solidFill>
                <a:srgbClr val="444444"/>
              </a:solidFill>
            </a:endParaRPr>
          </a:p>
          <a:p>
            <a:pPr lvl="1">
              <a:buFont typeface="Courier New"/>
              <a:buChar char="o"/>
            </a:pPr>
            <a:r>
              <a:rPr lang="en-US" b="1"/>
              <a:t>You might say </a:t>
            </a:r>
            <a:r>
              <a:rPr lang="en-US"/>
              <a:t>"I'm using a solution where I am using two pointers to traverse from the left and right side of the string to see if the characters on both sides of the string match" like we did with the palindrome example</a:t>
            </a:r>
            <a:endParaRPr lang="en-US">
              <a:solidFill>
                <a:srgbClr val="444444"/>
              </a:solidFill>
            </a:endParaRPr>
          </a:p>
          <a:p>
            <a:pPr marL="171450" indent="-171450">
              <a:buFont typeface="Calibri"/>
              <a:buChar char="-"/>
            </a:pPr>
            <a:r>
              <a:rPr lang="en-US" b="1"/>
              <a:t>What you tell the interviewer: identify solution, explain it, run through your solution, explain time complexity</a:t>
            </a:r>
            <a:endParaRPr lang="en-US"/>
          </a:p>
        </p:txBody>
      </p:sp>
      <p:sp>
        <p:nvSpPr>
          <p:cNvPr id="575" name="Google Shape;575;p22: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h63c0e6991457cadf_0_5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h63c0e6991457cadf_0_5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SAY: Here are the three problems you should complete on </a:t>
            </a:r>
            <a:r>
              <a:rPr lang="en-US" dirty="0" err="1"/>
              <a:t>Edugator</a:t>
            </a:r>
            <a:r>
              <a:rPr lang="en-US" dirty="0"/>
              <a:t> before next session</a:t>
            </a:r>
            <a:br>
              <a:rPr lang="en-US" dirty="0"/>
            </a:br>
            <a:r>
              <a:rPr lang="en-US" dirty="0"/>
              <a:t>And next lesson we will talk about hash tables</a:t>
            </a:r>
            <a:endParaRPr dirty="0"/>
          </a:p>
        </p:txBody>
      </p:sp>
      <p:sp>
        <p:nvSpPr>
          <p:cNvPr id="589" name="Google Shape;589;h63c0e6991457cadf_0_5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23: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23: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SAY: Four things to leave with. Immutable sequences, the built-in toolbox, two pointers and windows, and build with list plus join.</a:t>
            </a:r>
            <a:br>
              <a:rPr lang="en-US"/>
            </a:br>
            <a:br>
              <a:rPr lang="en-US"/>
            </a:br>
            <a:r>
              <a:rPr lang="en-US"/>
              <a:t>CUE: Do not re-teach. Ten seconds per line, then move to practice.</a:t>
            </a:r>
            <a:endParaRPr/>
          </a:p>
        </p:txBody>
      </p:sp>
      <p:sp>
        <p:nvSpPr>
          <p:cNvPr id="608" name="Google Shape;608;p23:notes"/>
          <p:cNvSpPr txBox="1">
            <a:spLocks noGrp="1"/>
          </p:cNvSpPr>
          <p:nvPr>
            <p:ph type="sldNum" idx="12"/>
          </p:nvPr>
        </p:nvSpPr>
        <p:spPr>
          <a:xfrm>
            <a:off x="3884613" y="11580813"/>
            <a:ext cx="2971800" cy="6111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DARK">
  <p:cSld name="TITLE_DARK">
    <p:bg>
      <p:bgPr>
        <a:solidFill>
          <a:schemeClr val="dk2"/>
        </a:solidFill>
        <a:effectLst/>
      </p:bgPr>
    </p:bg>
    <p:spTree>
      <p:nvGrpSpPr>
        <p:cNvPr id="1" name="Shape 10"/>
        <p:cNvGrpSpPr/>
        <p:nvPr/>
      </p:nvGrpSpPr>
      <p:grpSpPr>
        <a:xfrm>
          <a:off x="0" y="0"/>
          <a:ext cx="0" cy="0"/>
          <a:chOff x="0" y="0"/>
          <a:chExt cx="0" cy="0"/>
        </a:xfrm>
      </p:grpSpPr>
      <p:sp>
        <p:nvSpPr>
          <p:cNvPr id="11" name="Google Shape;11;p25"/>
          <p:cNvSpPr txBox="1">
            <a:spLocks noGrp="1"/>
          </p:cNvSpPr>
          <p:nvPr>
            <p:ph type="body" idx="1"/>
          </p:nvPr>
        </p:nvSpPr>
        <p:spPr>
          <a:xfrm>
            <a:off x="822960" y="1371600"/>
            <a:ext cx="8229600" cy="3200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accent1"/>
              </a:buClr>
              <a:buSzPts val="1400"/>
              <a:buFont typeface="Arial"/>
              <a:buNone/>
              <a:defRPr sz="1400" b="1"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title"/>
          </p:nvPr>
        </p:nvSpPr>
        <p:spPr>
          <a:xfrm>
            <a:off x="822960" y="1828800"/>
            <a:ext cx="10058400" cy="109728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5"/>
          <p:cNvSpPr txBox="1">
            <a:spLocks noGrp="1"/>
          </p:cNvSpPr>
          <p:nvPr>
            <p:ph type="body" idx="2"/>
          </p:nvPr>
        </p:nvSpPr>
        <p:spPr>
          <a:xfrm>
            <a:off x="822960" y="3017520"/>
            <a:ext cx="9144000" cy="4572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lt2"/>
              </a:buClr>
              <a:buSzPts val="2000"/>
              <a:buFont typeface="Arial"/>
              <a:buNone/>
              <a:defRPr sz="2000" b="0" i="0" u="none" strike="noStrike" cap="none">
                <a:solidFill>
                  <a:schemeClr val="lt2"/>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_LIGHT">
  <p:cSld name="CONTENT_LIGHT">
    <p:bg>
      <p:bgPr>
        <a:solidFill>
          <a:schemeClr val="lt2"/>
        </a:solidFill>
        <a:effectLst/>
      </p:bgPr>
    </p:bg>
    <p:spTree>
      <p:nvGrpSpPr>
        <p:cNvPr id="1" name="Shape 14"/>
        <p:cNvGrpSpPr/>
        <p:nvPr/>
      </p:nvGrpSpPr>
      <p:grpSpPr>
        <a:xfrm>
          <a:off x="0" y="0"/>
          <a:ext cx="0" cy="0"/>
          <a:chOff x="0" y="0"/>
          <a:chExt cx="0" cy="0"/>
        </a:xfrm>
      </p:grpSpPr>
      <p:sp>
        <p:nvSpPr>
          <p:cNvPr id="15" name="Google Shape;15;p26"/>
          <p:cNvSpPr txBox="1">
            <a:spLocks noGrp="1"/>
          </p:cNvSpPr>
          <p:nvPr>
            <p:ph type="body" idx="1"/>
          </p:nvPr>
        </p:nvSpPr>
        <p:spPr>
          <a:xfrm>
            <a:off x="640080" y="457200"/>
            <a:ext cx="8229600" cy="2743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Clr>
                <a:schemeClr val="accent1"/>
              </a:buClr>
              <a:buSzPts val="1200"/>
              <a:buFont typeface="Arial"/>
              <a:buNone/>
              <a:defRPr sz="1200" b="1"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26"/>
          <p:cNvSpPr txBox="1">
            <a:spLocks noGrp="1"/>
          </p:cNvSpPr>
          <p:nvPr>
            <p:ph type="title"/>
          </p:nvPr>
        </p:nvSpPr>
        <p:spPr>
          <a:xfrm>
            <a:off x="640080" y="777240"/>
            <a:ext cx="10908792" cy="64008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_DARK">
  <p:cSld name="CONTENT_DARK">
    <p:bg>
      <p:bgPr>
        <a:solidFill>
          <a:schemeClr val="dk2"/>
        </a:solidFill>
        <a:effectLst/>
      </p:bgPr>
    </p:bg>
    <p:spTree>
      <p:nvGrpSpPr>
        <p:cNvPr id="1" name="Shape 17"/>
        <p:cNvGrpSpPr/>
        <p:nvPr/>
      </p:nvGrpSpPr>
      <p:grpSpPr>
        <a:xfrm>
          <a:off x="0" y="0"/>
          <a:ext cx="0" cy="0"/>
          <a:chOff x="0" y="0"/>
          <a:chExt cx="0" cy="0"/>
        </a:xfrm>
      </p:grpSpPr>
      <p:sp>
        <p:nvSpPr>
          <p:cNvPr id="18" name="Google Shape;18;p27"/>
          <p:cNvSpPr txBox="1">
            <a:spLocks noGrp="1"/>
          </p:cNvSpPr>
          <p:nvPr>
            <p:ph type="body" idx="1"/>
          </p:nvPr>
        </p:nvSpPr>
        <p:spPr>
          <a:xfrm>
            <a:off x="640080" y="457200"/>
            <a:ext cx="8229600" cy="2743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Clr>
                <a:schemeClr val="accent1"/>
              </a:buClr>
              <a:buSzPts val="1200"/>
              <a:buFont typeface="Arial"/>
              <a:buNone/>
              <a:defRPr sz="1200" b="1"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27"/>
          <p:cNvSpPr txBox="1">
            <a:spLocks noGrp="1"/>
          </p:cNvSpPr>
          <p:nvPr>
            <p:ph type="title"/>
          </p:nvPr>
        </p:nvSpPr>
        <p:spPr>
          <a:xfrm>
            <a:off x="640080" y="777240"/>
            <a:ext cx="10908792" cy="64008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3200"/>
              <a:buFont typeface="Arial"/>
              <a:buNone/>
              <a:defRPr sz="32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6F7FB"/>
        </a:solidFill>
        <a:effectLst/>
      </p:bgPr>
    </p:bg>
    <p:spTree>
      <p:nvGrpSpPr>
        <p:cNvPr id="1" name="Shape 21"/>
        <p:cNvGrpSpPr/>
        <p:nvPr/>
      </p:nvGrpSpPr>
      <p:grpSpPr>
        <a:xfrm>
          <a:off x="0" y="0"/>
          <a:ext cx="0" cy="0"/>
          <a:chOff x="0" y="0"/>
          <a:chExt cx="0" cy="0"/>
        </a:xfrm>
      </p:grpSpPr>
      <p:sp>
        <p:nvSpPr>
          <p:cNvPr id="22" name="Google Shape;22;h423b657ec3993948_0_85"/>
          <p:cNvSpPr txBox="1">
            <a:spLocks noGrp="1"/>
          </p:cNvSpPr>
          <p:nvPr>
            <p:ph type="title"/>
          </p:nvPr>
        </p:nvSpPr>
        <p:spPr>
          <a:xfrm>
            <a:off x="812800" y="406400"/>
            <a:ext cx="10566300" cy="530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F2233"/>
              </a:buClr>
              <a:buSzPts val="3900"/>
              <a:buFont typeface="Arial"/>
              <a:buNone/>
              <a:defRPr sz="3900">
                <a:solidFill>
                  <a:srgbClr val="1F2233"/>
                </a:solidFill>
                <a:latin typeface="Arial"/>
                <a:ea typeface="Arial"/>
                <a:cs typeface="Arial"/>
                <a:sym typeface="Arial"/>
              </a:defRPr>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23" name="Google Shape;23;h423b657ec3993948_0_85"/>
          <p:cNvSpPr txBox="1">
            <a:spLocks noGrp="1"/>
          </p:cNvSpPr>
          <p:nvPr>
            <p:ph type="body" idx="1"/>
          </p:nvPr>
        </p:nvSpPr>
        <p:spPr>
          <a:xfrm>
            <a:off x="812800" y="1242020"/>
            <a:ext cx="10566300" cy="4803300"/>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00"/>
              </a:spcBef>
              <a:spcAft>
                <a:spcPts val="0"/>
              </a:spcAft>
              <a:buClr>
                <a:srgbClr val="1F2233"/>
              </a:buClr>
              <a:buSzPts val="1600"/>
              <a:buNone/>
              <a:defRPr sz="1600">
                <a:solidFill>
                  <a:srgbClr val="1F2233"/>
                </a:solidFill>
                <a:latin typeface="Courier New"/>
                <a:ea typeface="Courier New"/>
                <a:cs typeface="Courier New"/>
                <a:sym typeface="Courier New"/>
              </a:defRPr>
            </a:lvl1pPr>
            <a:lvl2pPr marL="914400" lvl="1" indent="-349250" algn="l">
              <a:spcBef>
                <a:spcPts val="400"/>
              </a:spcBef>
              <a:spcAft>
                <a:spcPts val="0"/>
              </a:spcAft>
              <a:buClr>
                <a:schemeClr val="dk1"/>
              </a:buClr>
              <a:buSzPts val="1900"/>
              <a:buChar char="○"/>
              <a:defRPr sz="1900"/>
            </a:lvl2pPr>
            <a:lvl3pPr marL="1371600" lvl="2" indent="-349250" algn="l">
              <a:spcBef>
                <a:spcPts val="400"/>
              </a:spcBef>
              <a:spcAft>
                <a:spcPts val="0"/>
              </a:spcAft>
              <a:buClr>
                <a:schemeClr val="dk1"/>
              </a:buClr>
              <a:buSzPts val="1900"/>
              <a:buChar char="■"/>
              <a:defRPr sz="1900"/>
            </a:lvl3pPr>
            <a:lvl4pPr marL="1828800" lvl="3" indent="-349250" algn="l">
              <a:spcBef>
                <a:spcPts val="400"/>
              </a:spcBef>
              <a:spcAft>
                <a:spcPts val="0"/>
              </a:spcAft>
              <a:buClr>
                <a:schemeClr val="dk1"/>
              </a:buClr>
              <a:buSzPts val="1900"/>
              <a:buChar char="●"/>
              <a:defRPr sz="1900"/>
            </a:lvl4pPr>
            <a:lvl5pPr marL="2286000" lvl="4" indent="-349250" algn="l">
              <a:spcBef>
                <a:spcPts val="400"/>
              </a:spcBef>
              <a:spcAft>
                <a:spcPts val="0"/>
              </a:spcAft>
              <a:buClr>
                <a:schemeClr val="dk1"/>
              </a:buClr>
              <a:buSzPts val="1900"/>
              <a:buChar char="○"/>
              <a:defRPr sz="1900"/>
            </a:lvl5pPr>
            <a:lvl6pPr marL="2743200" lvl="5" indent="-349250" algn="l">
              <a:spcBef>
                <a:spcPts val="400"/>
              </a:spcBef>
              <a:spcAft>
                <a:spcPts val="0"/>
              </a:spcAft>
              <a:buClr>
                <a:schemeClr val="dk1"/>
              </a:buClr>
              <a:buSzPts val="1900"/>
              <a:buChar char="■"/>
              <a:defRPr sz="1900"/>
            </a:lvl6pPr>
            <a:lvl7pPr marL="3200400" lvl="6" indent="-349250" algn="l">
              <a:spcBef>
                <a:spcPts val="400"/>
              </a:spcBef>
              <a:spcAft>
                <a:spcPts val="0"/>
              </a:spcAft>
              <a:buClr>
                <a:schemeClr val="dk1"/>
              </a:buClr>
              <a:buSzPts val="1900"/>
              <a:buChar char="●"/>
              <a:defRPr sz="1900"/>
            </a:lvl7pPr>
            <a:lvl8pPr marL="3657600" lvl="7" indent="-349250" algn="l">
              <a:spcBef>
                <a:spcPts val="400"/>
              </a:spcBef>
              <a:spcAft>
                <a:spcPts val="0"/>
              </a:spcAft>
              <a:buClr>
                <a:schemeClr val="dk1"/>
              </a:buClr>
              <a:buSzPts val="1900"/>
              <a:buChar char="○"/>
              <a:defRPr sz="1900"/>
            </a:lvl8pPr>
            <a:lvl9pPr marL="4114800" lvl="8" indent="-349250" algn="l">
              <a:spcBef>
                <a:spcPts val="400"/>
              </a:spcBef>
              <a:spcAft>
                <a:spcPts val="0"/>
              </a:spcAft>
              <a:buClr>
                <a:schemeClr val="dk1"/>
              </a:buClr>
              <a:buSzPts val="1900"/>
              <a:buChar char="■"/>
              <a:defRPr sz="19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qgnDbQ1aM54"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qgnDbQ1aM5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youtube.com/watch?v=qgnDbQ1aM54"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1"/>
          <p:cNvSpPr txBox="1">
            <a:spLocks noGrp="1"/>
          </p:cNvSpPr>
          <p:nvPr>
            <p:ph type="title"/>
          </p:nvPr>
        </p:nvSpPr>
        <p:spPr>
          <a:xfrm>
            <a:off x="822960" y="2489200"/>
            <a:ext cx="10058400" cy="10972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5400"/>
              <a:buFont typeface="Arial"/>
              <a:buNone/>
            </a:pPr>
            <a:r>
              <a:rPr lang="en-US" sz="5400" b="1">
                <a:solidFill>
                  <a:schemeClr val="lt1"/>
                </a:solidFill>
              </a:rPr>
              <a:t>Strings</a:t>
            </a:r>
            <a:endParaRPr sz="5400"/>
          </a:p>
        </p:txBody>
      </p:sp>
      <p:sp>
        <p:nvSpPr>
          <p:cNvPr id="30" name="Google Shape;30;p1"/>
          <p:cNvSpPr/>
          <p:nvPr/>
        </p:nvSpPr>
        <p:spPr>
          <a:xfrm>
            <a:off x="822960" y="4160520"/>
            <a:ext cx="658368" cy="658368"/>
          </a:xfrm>
          <a:prstGeom prst="roundRect">
            <a:avLst>
              <a:gd name="adj" fmla="val 6944"/>
            </a:avLst>
          </a:prstGeom>
          <a:solidFill>
            <a:schemeClr val="accent6"/>
          </a:solidFill>
          <a:ln w="9525" cap="flat" cmpd="sng">
            <a:solidFill>
              <a:schemeClr val="accent5">
                <a:alpha val="50196"/>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s</a:t>
            </a:r>
            <a:endParaRPr sz="2200" b="0" i="0" u="none" strike="noStrike" cap="none">
              <a:solidFill>
                <a:schemeClr val="dk1"/>
              </a:solidFill>
              <a:latin typeface="Calibri"/>
              <a:ea typeface="Calibri"/>
              <a:cs typeface="Calibri"/>
              <a:sym typeface="Calibri"/>
            </a:endParaRPr>
          </a:p>
        </p:txBody>
      </p:sp>
      <p:sp>
        <p:nvSpPr>
          <p:cNvPr id="31" name="Google Shape;31;p1"/>
          <p:cNvSpPr txBox="1"/>
          <p:nvPr/>
        </p:nvSpPr>
        <p:spPr>
          <a:xfrm>
            <a:off x="822960"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32" name="Google Shape;32;p1"/>
          <p:cNvSpPr/>
          <p:nvPr/>
        </p:nvSpPr>
        <p:spPr>
          <a:xfrm>
            <a:off x="1591056" y="4160520"/>
            <a:ext cx="658368" cy="658368"/>
          </a:xfrm>
          <a:prstGeom prst="roundRect">
            <a:avLst>
              <a:gd name="adj" fmla="val 6944"/>
            </a:avLst>
          </a:prstGeom>
          <a:solidFill>
            <a:schemeClr val="accent6"/>
          </a:solidFill>
          <a:ln w="9525" cap="flat" cmpd="sng">
            <a:solidFill>
              <a:schemeClr val="accent5">
                <a:alpha val="50196"/>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t</a:t>
            </a:r>
            <a:endParaRPr sz="2200" b="0" i="0" u="none" strike="noStrike" cap="none">
              <a:solidFill>
                <a:schemeClr val="dk1"/>
              </a:solidFill>
              <a:latin typeface="Calibri"/>
              <a:ea typeface="Calibri"/>
              <a:cs typeface="Calibri"/>
              <a:sym typeface="Calibri"/>
            </a:endParaRPr>
          </a:p>
        </p:txBody>
      </p:sp>
      <p:sp>
        <p:nvSpPr>
          <p:cNvPr id="33" name="Google Shape;33;p1"/>
          <p:cNvSpPr txBox="1"/>
          <p:nvPr/>
        </p:nvSpPr>
        <p:spPr>
          <a:xfrm>
            <a:off x="1591056"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1</a:t>
            </a:r>
            <a:endParaRPr sz="1100" b="0" i="0" u="none" strike="noStrike" cap="none">
              <a:solidFill>
                <a:schemeClr val="dk1"/>
              </a:solidFill>
              <a:latin typeface="Calibri"/>
              <a:ea typeface="Calibri"/>
              <a:cs typeface="Calibri"/>
              <a:sym typeface="Calibri"/>
            </a:endParaRPr>
          </a:p>
        </p:txBody>
      </p:sp>
      <p:sp>
        <p:nvSpPr>
          <p:cNvPr id="34" name="Google Shape;34;p1"/>
          <p:cNvSpPr/>
          <p:nvPr/>
        </p:nvSpPr>
        <p:spPr>
          <a:xfrm>
            <a:off x="2359152" y="4160520"/>
            <a:ext cx="658368" cy="658368"/>
          </a:xfrm>
          <a:prstGeom prst="roundRect">
            <a:avLst>
              <a:gd name="adj" fmla="val 6944"/>
            </a:avLst>
          </a:prstGeom>
          <a:solidFill>
            <a:schemeClr val="accent6"/>
          </a:solidFill>
          <a:ln w="9525" cap="flat" cmpd="sng">
            <a:solidFill>
              <a:schemeClr val="accent5">
                <a:alpha val="50196"/>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r</a:t>
            </a:r>
            <a:endParaRPr sz="2200" b="0" i="0" u="none" strike="noStrike" cap="none">
              <a:solidFill>
                <a:schemeClr val="dk1"/>
              </a:solidFill>
              <a:latin typeface="Calibri"/>
              <a:ea typeface="Calibri"/>
              <a:cs typeface="Calibri"/>
              <a:sym typeface="Calibri"/>
            </a:endParaRPr>
          </a:p>
        </p:txBody>
      </p:sp>
      <p:sp>
        <p:nvSpPr>
          <p:cNvPr id="35" name="Google Shape;35;p1"/>
          <p:cNvSpPr txBox="1"/>
          <p:nvPr/>
        </p:nvSpPr>
        <p:spPr>
          <a:xfrm>
            <a:off x="2359152"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2</a:t>
            </a:r>
            <a:endParaRPr sz="1100" b="0" i="0" u="none" strike="noStrike" cap="none">
              <a:solidFill>
                <a:schemeClr val="dk1"/>
              </a:solidFill>
              <a:latin typeface="Calibri"/>
              <a:ea typeface="Calibri"/>
              <a:cs typeface="Calibri"/>
              <a:sym typeface="Calibri"/>
            </a:endParaRPr>
          </a:p>
        </p:txBody>
      </p:sp>
      <p:sp>
        <p:nvSpPr>
          <p:cNvPr id="36" name="Google Shape;36;p1"/>
          <p:cNvSpPr/>
          <p:nvPr/>
        </p:nvSpPr>
        <p:spPr>
          <a:xfrm>
            <a:off x="3127248" y="4160520"/>
            <a:ext cx="658368" cy="658368"/>
          </a:xfrm>
          <a:prstGeom prst="roundRect">
            <a:avLst>
              <a:gd name="adj" fmla="val 6944"/>
            </a:avLst>
          </a:prstGeom>
          <a:solidFill>
            <a:schemeClr val="accent6"/>
          </a:solidFill>
          <a:ln w="9525" cap="flat" cmpd="sng">
            <a:solidFill>
              <a:schemeClr val="accent5">
                <a:alpha val="50196"/>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i</a:t>
            </a:r>
            <a:endParaRPr sz="2200" b="0" i="0" u="none" strike="noStrike" cap="none">
              <a:solidFill>
                <a:schemeClr val="dk1"/>
              </a:solidFill>
              <a:latin typeface="Calibri"/>
              <a:ea typeface="Calibri"/>
              <a:cs typeface="Calibri"/>
              <a:sym typeface="Calibri"/>
            </a:endParaRPr>
          </a:p>
        </p:txBody>
      </p:sp>
      <p:sp>
        <p:nvSpPr>
          <p:cNvPr id="37" name="Google Shape;37;p1"/>
          <p:cNvSpPr txBox="1"/>
          <p:nvPr/>
        </p:nvSpPr>
        <p:spPr>
          <a:xfrm>
            <a:off x="3127248"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3</a:t>
            </a:r>
            <a:endParaRPr sz="1100" b="0" i="0" u="none" strike="noStrike" cap="none">
              <a:solidFill>
                <a:schemeClr val="dk1"/>
              </a:solidFill>
              <a:latin typeface="Calibri"/>
              <a:ea typeface="Calibri"/>
              <a:cs typeface="Calibri"/>
              <a:sym typeface="Calibri"/>
            </a:endParaRPr>
          </a:p>
        </p:txBody>
      </p:sp>
      <p:sp>
        <p:nvSpPr>
          <p:cNvPr id="38" name="Google Shape;38;p1"/>
          <p:cNvSpPr/>
          <p:nvPr/>
        </p:nvSpPr>
        <p:spPr>
          <a:xfrm>
            <a:off x="3895344" y="4160520"/>
            <a:ext cx="658368" cy="658368"/>
          </a:xfrm>
          <a:prstGeom prst="roundRect">
            <a:avLst>
              <a:gd name="adj" fmla="val 6944"/>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n</a:t>
            </a:r>
            <a:endParaRPr sz="2200" b="0" i="0" u="none" strike="noStrike" cap="none">
              <a:solidFill>
                <a:schemeClr val="dk1"/>
              </a:solidFill>
              <a:latin typeface="Calibri"/>
              <a:ea typeface="Calibri"/>
              <a:cs typeface="Calibri"/>
              <a:sym typeface="Calibri"/>
            </a:endParaRPr>
          </a:p>
        </p:txBody>
      </p:sp>
      <p:sp>
        <p:nvSpPr>
          <p:cNvPr id="39" name="Google Shape;39;p1"/>
          <p:cNvSpPr txBox="1"/>
          <p:nvPr/>
        </p:nvSpPr>
        <p:spPr>
          <a:xfrm>
            <a:off x="3895344"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4</a:t>
            </a:r>
            <a:endParaRPr sz="1100" b="0" i="0" u="none" strike="noStrike" cap="none">
              <a:solidFill>
                <a:schemeClr val="dk1"/>
              </a:solidFill>
              <a:latin typeface="Calibri"/>
              <a:ea typeface="Calibri"/>
              <a:cs typeface="Calibri"/>
              <a:sym typeface="Calibri"/>
            </a:endParaRPr>
          </a:p>
        </p:txBody>
      </p:sp>
      <p:sp>
        <p:nvSpPr>
          <p:cNvPr id="40" name="Google Shape;40;p1"/>
          <p:cNvSpPr/>
          <p:nvPr/>
        </p:nvSpPr>
        <p:spPr>
          <a:xfrm>
            <a:off x="4663440" y="4160520"/>
            <a:ext cx="658368" cy="658368"/>
          </a:xfrm>
          <a:prstGeom prst="roundRect">
            <a:avLst>
              <a:gd name="adj" fmla="val 6944"/>
            </a:avLst>
          </a:prstGeom>
          <a:solidFill>
            <a:schemeClr val="accent6"/>
          </a:solidFill>
          <a:ln w="9525" cap="flat" cmpd="sng">
            <a:solidFill>
              <a:schemeClr val="accent5">
                <a:alpha val="50196"/>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g</a:t>
            </a:r>
            <a:endParaRPr sz="2200" b="0" i="0" u="none" strike="noStrike" cap="none">
              <a:solidFill>
                <a:schemeClr val="dk1"/>
              </a:solidFill>
              <a:latin typeface="Calibri"/>
              <a:ea typeface="Calibri"/>
              <a:cs typeface="Calibri"/>
              <a:sym typeface="Calibri"/>
            </a:endParaRPr>
          </a:p>
        </p:txBody>
      </p:sp>
      <p:sp>
        <p:nvSpPr>
          <p:cNvPr id="41" name="Google Shape;41;p1"/>
          <p:cNvSpPr txBox="1"/>
          <p:nvPr/>
        </p:nvSpPr>
        <p:spPr>
          <a:xfrm>
            <a:off x="4663440"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5</a:t>
            </a:r>
            <a:endParaRPr sz="1100" b="0" i="0" u="none" strike="noStrike" cap="none">
              <a:solidFill>
                <a:schemeClr val="dk1"/>
              </a:solidFill>
              <a:latin typeface="Calibri"/>
              <a:ea typeface="Calibri"/>
              <a:cs typeface="Calibri"/>
              <a:sym typeface="Calibri"/>
            </a:endParaRPr>
          </a:p>
        </p:txBody>
      </p:sp>
      <p:sp>
        <p:nvSpPr>
          <p:cNvPr id="42" name="Google Shape;42;p1"/>
          <p:cNvSpPr/>
          <p:nvPr/>
        </p:nvSpPr>
        <p:spPr>
          <a:xfrm>
            <a:off x="5431536" y="4160520"/>
            <a:ext cx="658368" cy="658368"/>
          </a:xfrm>
          <a:prstGeom prst="roundRect">
            <a:avLst>
              <a:gd name="adj" fmla="val 6944"/>
            </a:avLst>
          </a:prstGeom>
          <a:solidFill>
            <a:schemeClr val="accent6"/>
          </a:solidFill>
          <a:ln w="9525" cap="flat" cmpd="sng">
            <a:solidFill>
              <a:schemeClr val="accent5">
                <a:alpha val="50196"/>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s</a:t>
            </a:r>
            <a:endParaRPr sz="2200" b="0" i="0" u="none" strike="noStrike" cap="none">
              <a:solidFill>
                <a:schemeClr val="dk1"/>
              </a:solidFill>
              <a:latin typeface="Calibri"/>
              <a:ea typeface="Calibri"/>
              <a:cs typeface="Calibri"/>
              <a:sym typeface="Calibri"/>
            </a:endParaRPr>
          </a:p>
        </p:txBody>
      </p:sp>
      <p:sp>
        <p:nvSpPr>
          <p:cNvPr id="43" name="Google Shape;43;p1"/>
          <p:cNvSpPr txBox="1"/>
          <p:nvPr/>
        </p:nvSpPr>
        <p:spPr>
          <a:xfrm>
            <a:off x="5431536" y="4910328"/>
            <a:ext cx="658368"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4"/>
              </a:buClr>
              <a:buSzPts val="1100"/>
              <a:buFont typeface="Courier New"/>
              <a:buNone/>
            </a:pPr>
            <a:r>
              <a:rPr lang="en-US" sz="1100" b="0" i="0" u="none" strike="noStrike" cap="none">
                <a:solidFill>
                  <a:schemeClr val="accent4"/>
                </a:solidFill>
                <a:latin typeface="Courier New"/>
                <a:ea typeface="Courier New"/>
                <a:cs typeface="Courier New"/>
                <a:sym typeface="Courier New"/>
              </a:rPr>
              <a:t>6</a:t>
            </a:r>
            <a:endParaRPr sz="1100" b="0" i="0" u="none" strike="noStrike" cap="none">
              <a:solidFill>
                <a:schemeClr val="dk1"/>
              </a:solidFill>
              <a:latin typeface="Calibri"/>
              <a:ea typeface="Calibri"/>
              <a:cs typeface="Calibri"/>
              <a:sym typeface="Calibri"/>
            </a:endParaRPr>
          </a:p>
        </p:txBody>
      </p:sp>
      <p:sp>
        <p:nvSpPr>
          <p:cNvPr id="44" name="Google Shape;44;p1"/>
          <p:cNvSpPr txBox="1"/>
          <p:nvPr/>
        </p:nvSpPr>
        <p:spPr>
          <a:xfrm>
            <a:off x="822960" y="1234440"/>
            <a:ext cx="8229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6B35"/>
              </a:buClr>
              <a:buSzPts val="1300"/>
              <a:buFont typeface="Calibri"/>
              <a:buNone/>
            </a:pPr>
            <a:r>
              <a:rPr lang="en-US" sz="1300" b="1" i="0" u="none" strike="noStrike" cap="none">
                <a:solidFill>
                  <a:srgbClr val="FF6B35"/>
                </a:solidFill>
                <a:latin typeface="Calibri"/>
                <a:ea typeface="Calibri"/>
                <a:cs typeface="Calibri"/>
                <a:sym typeface="Calibri"/>
              </a:rPr>
              <a:t>MODULE </a:t>
            </a:r>
            <a:r>
              <a:rPr lang="en-US" sz="1300" b="1">
                <a:solidFill>
                  <a:srgbClr val="FF6B35"/>
                </a:solidFill>
                <a:latin typeface="Calibri"/>
                <a:ea typeface="Calibri"/>
                <a:cs typeface="Calibri"/>
                <a:sym typeface="Calibri"/>
              </a:rPr>
              <a:t>2</a:t>
            </a:r>
            <a:r>
              <a:rPr lang="en-US" sz="1300" b="1" i="0" u="none" strike="noStrike" cap="none">
                <a:solidFill>
                  <a:srgbClr val="FF6B35"/>
                </a:solidFill>
                <a:latin typeface="Calibri"/>
                <a:ea typeface="Calibri"/>
                <a:cs typeface="Calibri"/>
                <a:sym typeface="Calibri"/>
              </a:rPr>
              <a:t>   //   </a:t>
            </a:r>
            <a:r>
              <a:rPr lang="en-US" sz="1300" b="1">
                <a:solidFill>
                  <a:srgbClr val="FF6B35"/>
                </a:solidFill>
                <a:latin typeface="Calibri"/>
                <a:ea typeface="Calibri"/>
                <a:cs typeface="Calibri"/>
                <a:sym typeface="Calibri"/>
              </a:rPr>
              <a:t>Strings</a:t>
            </a:r>
            <a:endParaRPr sz="1300" b="0" i="0" u="none" strike="noStrike" cap="none">
              <a:solidFill>
                <a:srgbClr val="1F2333"/>
              </a:solidFill>
              <a:latin typeface="Calibri"/>
              <a:ea typeface="Calibri"/>
              <a:cs typeface="Calibri"/>
              <a:sym typeface="Calibri"/>
            </a:endParaRPr>
          </a:p>
        </p:txBody>
      </p:sp>
      <p:pic>
        <p:nvPicPr>
          <p:cNvPr id="45" name="Google Shape;45;p1" descr="A white and blue chat bubble with orange and white text&#10;&#10;Description automatically generated"/>
          <p:cNvPicPr preferRelativeResize="0"/>
          <p:nvPr/>
        </p:nvPicPr>
        <p:blipFill rotWithShape="1">
          <a:blip r:embed="rId3">
            <a:alphaModFix/>
          </a:blip>
          <a:srcRect/>
          <a:stretch/>
        </p:blipFill>
        <p:spPr>
          <a:xfrm>
            <a:off x="10633652" y="257061"/>
            <a:ext cx="1459571" cy="977391"/>
          </a:xfrm>
          <a:prstGeom prst="rect">
            <a:avLst/>
          </a:prstGeom>
          <a:noFill/>
          <a:ln>
            <a:noFill/>
          </a:ln>
        </p:spPr>
      </p:pic>
      <p:sp>
        <p:nvSpPr>
          <p:cNvPr id="46" name="Google Shape;46;p1"/>
          <p:cNvSpPr txBox="1"/>
          <p:nvPr/>
        </p:nvSpPr>
        <p:spPr>
          <a:xfrm>
            <a:off x="822960" y="5797296"/>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E94AE"/>
              </a:buClr>
              <a:buSzPts val="1300"/>
              <a:buFont typeface="Calibri"/>
              <a:buNone/>
            </a:pPr>
            <a:r>
              <a:rPr lang="en-US" sz="2400">
                <a:solidFill>
                  <a:srgbClr val="FFFFFF"/>
                </a:solidFill>
                <a:latin typeface="Calibri"/>
                <a:ea typeface="Calibri"/>
                <a:cs typeface="Calibri"/>
                <a:sym typeface="Calibri"/>
              </a:rPr>
              <a:t>By: Isabelle Gomez</a:t>
            </a:r>
            <a:endParaRPr sz="240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2"/>
          <p:cNvSpPr txBox="1">
            <a:spLocks noGrp="1"/>
          </p:cNvSpPr>
          <p:nvPr>
            <p:ph type="title"/>
          </p:nvPr>
        </p:nvSpPr>
        <p:spPr>
          <a:xfrm>
            <a:off x="640080" y="777240"/>
            <a:ext cx="10908792" cy="6400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200"/>
              <a:buFont typeface="Arial"/>
              <a:buNone/>
            </a:pPr>
            <a:r>
              <a:rPr lang="en-US" sz="3200" b="1">
                <a:solidFill>
                  <a:schemeClr val="dk1"/>
                </a:solidFill>
              </a:rPr>
              <a:t>What we will cover</a:t>
            </a:r>
            <a:endParaRPr sz="3200"/>
          </a:p>
        </p:txBody>
      </p:sp>
      <p:sp>
        <p:nvSpPr>
          <p:cNvPr id="53" name="Google Shape;53;p2"/>
          <p:cNvSpPr/>
          <p:nvPr/>
        </p:nvSpPr>
        <p:spPr>
          <a:xfrm>
            <a:off x="640080" y="1645920"/>
            <a:ext cx="457200" cy="4572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1</a:t>
            </a:r>
            <a:endParaRPr sz="1800" b="0" i="0" u="none" strike="noStrike" cap="none">
              <a:solidFill>
                <a:schemeClr val="dk1"/>
              </a:solidFill>
              <a:latin typeface="Calibri"/>
              <a:ea typeface="Calibri"/>
              <a:cs typeface="Calibri"/>
              <a:sym typeface="Calibri"/>
            </a:endParaRPr>
          </a:p>
        </p:txBody>
      </p:sp>
      <p:sp>
        <p:nvSpPr>
          <p:cNvPr id="54" name="Google Shape;54;p2"/>
          <p:cNvSpPr txBox="1"/>
          <p:nvPr/>
        </p:nvSpPr>
        <p:spPr>
          <a:xfrm>
            <a:off x="1371600" y="1729232"/>
            <a:ext cx="53035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dk1"/>
                </a:solidFill>
                <a:latin typeface="Calibri"/>
                <a:ea typeface="Calibri"/>
                <a:cs typeface="Calibri"/>
                <a:sym typeface="Calibri"/>
              </a:rPr>
              <a:t>Defining a string</a:t>
            </a:r>
            <a:endParaRPr sz="1800">
              <a:solidFill>
                <a:schemeClr val="dk1"/>
              </a:solidFill>
              <a:latin typeface="Calibri"/>
              <a:ea typeface="Calibri"/>
              <a:cs typeface="Calibri"/>
              <a:sym typeface="Calibri"/>
            </a:endParaRPr>
          </a:p>
        </p:txBody>
      </p:sp>
      <p:sp>
        <p:nvSpPr>
          <p:cNvPr id="55" name="Google Shape;55;p2"/>
          <p:cNvSpPr/>
          <p:nvPr/>
        </p:nvSpPr>
        <p:spPr>
          <a:xfrm>
            <a:off x="640080" y="2542032"/>
            <a:ext cx="457200" cy="4572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56" name="Google Shape;56;p2"/>
          <p:cNvSpPr txBox="1"/>
          <p:nvPr/>
        </p:nvSpPr>
        <p:spPr>
          <a:xfrm>
            <a:off x="1371600" y="2625344"/>
            <a:ext cx="53035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String operations</a:t>
            </a:r>
            <a:endParaRPr sz="1800">
              <a:solidFill>
                <a:schemeClr val="dk1"/>
              </a:solidFill>
              <a:latin typeface="Calibri"/>
              <a:ea typeface="Calibri"/>
              <a:cs typeface="Calibri"/>
              <a:sym typeface="Calibri"/>
            </a:endParaRPr>
          </a:p>
        </p:txBody>
      </p:sp>
      <p:sp>
        <p:nvSpPr>
          <p:cNvPr id="57" name="Google Shape;57;p2"/>
          <p:cNvSpPr/>
          <p:nvPr/>
        </p:nvSpPr>
        <p:spPr>
          <a:xfrm>
            <a:off x="640080" y="3438144"/>
            <a:ext cx="457200" cy="4572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58" name="Google Shape;58;p2"/>
          <p:cNvSpPr txBox="1"/>
          <p:nvPr/>
        </p:nvSpPr>
        <p:spPr>
          <a:xfrm>
            <a:off x="1371600" y="3419856"/>
            <a:ext cx="53035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Cost and complexity</a:t>
            </a:r>
            <a:endParaRPr sz="1800">
              <a:solidFill>
                <a:schemeClr val="dk1"/>
              </a:solidFill>
              <a:latin typeface="Calibri"/>
              <a:ea typeface="Calibri"/>
              <a:cs typeface="Calibri"/>
              <a:sym typeface="Calibri"/>
            </a:endParaRPr>
          </a:p>
        </p:txBody>
      </p:sp>
      <p:sp>
        <p:nvSpPr>
          <p:cNvPr id="59" name="Google Shape;59;p2"/>
          <p:cNvSpPr/>
          <p:nvPr/>
        </p:nvSpPr>
        <p:spPr>
          <a:xfrm>
            <a:off x="640080" y="4334256"/>
            <a:ext cx="457200" cy="4572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60" name="Google Shape;60;p2"/>
          <p:cNvSpPr txBox="1"/>
          <p:nvPr/>
        </p:nvSpPr>
        <p:spPr>
          <a:xfrm>
            <a:off x="1371600" y="4315968"/>
            <a:ext cx="53035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a:solidFill>
                  <a:schemeClr val="dk1"/>
                </a:solidFill>
                <a:latin typeface="Calibri"/>
                <a:ea typeface="Calibri"/>
                <a:cs typeface="Calibri"/>
                <a:sym typeface="Calibri"/>
              </a:rPr>
              <a:t>Patterns and worked examples</a:t>
            </a:r>
            <a:endParaRPr sz="1800">
              <a:solidFill>
                <a:schemeClr val="dk1"/>
              </a:solidFill>
              <a:latin typeface="Calibri"/>
              <a:ea typeface="Calibri"/>
              <a:cs typeface="Calibri"/>
              <a:sym typeface="Calibri"/>
            </a:endParaRPr>
          </a:p>
        </p:txBody>
      </p:sp>
      <p:sp>
        <p:nvSpPr>
          <p:cNvPr id="61" name="Google Shape;61;p2"/>
          <p:cNvSpPr/>
          <p:nvPr/>
        </p:nvSpPr>
        <p:spPr>
          <a:xfrm>
            <a:off x="640080" y="5230368"/>
            <a:ext cx="457200" cy="4572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62" name="Google Shape;62;p2"/>
          <p:cNvSpPr txBox="1"/>
          <p:nvPr/>
        </p:nvSpPr>
        <p:spPr>
          <a:xfrm>
            <a:off x="1371600" y="5212080"/>
            <a:ext cx="530352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a:solidFill>
                  <a:schemeClr val="dk1"/>
                </a:solidFill>
                <a:latin typeface="Calibri"/>
                <a:ea typeface="Calibri"/>
                <a:cs typeface="Calibri"/>
                <a:sym typeface="Calibri"/>
              </a:rPr>
              <a:t>Summary and next steps</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635258" y="753127"/>
            <a:ext cx="4774209" cy="66419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200"/>
              <a:buFont typeface="Arial"/>
              <a:buNone/>
            </a:pPr>
            <a:r>
              <a:rPr lang="en-US" sz="3200" b="1">
                <a:solidFill>
                  <a:schemeClr val="dk1"/>
                </a:solidFill>
              </a:rPr>
              <a:t>What is a string?</a:t>
            </a:r>
            <a:endParaRPr sz="3200"/>
          </a:p>
        </p:txBody>
      </p:sp>
      <p:sp>
        <p:nvSpPr>
          <p:cNvPr id="69" name="Google Shape;69;p3"/>
          <p:cNvSpPr txBox="1"/>
          <p:nvPr/>
        </p:nvSpPr>
        <p:spPr>
          <a:xfrm>
            <a:off x="625612" y="1600200"/>
            <a:ext cx="5683748" cy="52336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accent5"/>
                </a:solidFill>
                <a:latin typeface="Calibri"/>
                <a:ea typeface="Calibri"/>
                <a:cs typeface="Calibri"/>
                <a:sym typeface="Calibri"/>
              </a:rPr>
              <a:t>A string is an *immutable sequence of characters, stored one after another like an array. Each character has a position number called an index.</a:t>
            </a:r>
            <a:endParaRPr sz="1400">
              <a:solidFill>
                <a:schemeClr val="dk1"/>
              </a:solidFill>
              <a:latin typeface="Calibri"/>
              <a:ea typeface="Calibri"/>
              <a:cs typeface="Calibri"/>
              <a:sym typeface="Calibri"/>
            </a:endParaRPr>
          </a:p>
          <a:p>
            <a:pPr marL="0" marR="0" lvl="0" indent="0" algn="l" rtl="0">
              <a:lnSpc>
                <a:spcPct val="120000"/>
              </a:lnSpc>
              <a:spcBef>
                <a:spcPts val="0"/>
              </a:spcBef>
              <a:spcAft>
                <a:spcPts val="0"/>
              </a:spcAft>
              <a:buClr>
                <a:schemeClr val="dk1"/>
              </a:buClr>
              <a:buSzPts val="1600"/>
              <a:buFont typeface="Calibri"/>
              <a:buNone/>
            </a:pPr>
            <a:endParaRPr sz="1600">
              <a:solidFill>
                <a:schemeClr val="accent5"/>
              </a:solidFill>
              <a:latin typeface="Calibri"/>
              <a:ea typeface="Calibri"/>
              <a:cs typeface="Calibri"/>
              <a:sym typeface="Calibri"/>
            </a:endParaRPr>
          </a:p>
        </p:txBody>
      </p:sp>
      <p:sp>
        <p:nvSpPr>
          <p:cNvPr id="70" name="Google Shape;70;p3"/>
          <p:cNvSpPr/>
          <p:nvPr/>
        </p:nvSpPr>
        <p:spPr>
          <a:xfrm>
            <a:off x="625612" y="3705004"/>
            <a:ext cx="201168" cy="201168"/>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txBox="1"/>
          <p:nvPr/>
        </p:nvSpPr>
        <p:spPr>
          <a:xfrm>
            <a:off x="1027446" y="3659786"/>
            <a:ext cx="5303520" cy="31089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a:solidFill>
                  <a:schemeClr val="dk1"/>
                </a:solidFill>
                <a:latin typeface="Calibri"/>
                <a:ea typeface="Calibri"/>
                <a:cs typeface="Calibri"/>
                <a:sym typeface="Calibri"/>
              </a:rPr>
              <a:t>Indexes start at 0</a:t>
            </a:r>
            <a:endParaRPr sz="1800">
              <a:solidFill>
                <a:schemeClr val="dk1"/>
              </a:solidFill>
              <a:latin typeface="Calibri"/>
              <a:ea typeface="Calibri"/>
              <a:cs typeface="Calibri"/>
              <a:sym typeface="Calibri"/>
            </a:endParaRPr>
          </a:p>
        </p:txBody>
      </p:sp>
      <p:sp>
        <p:nvSpPr>
          <p:cNvPr id="72" name="Google Shape;72;p3"/>
          <p:cNvSpPr txBox="1"/>
          <p:nvPr/>
        </p:nvSpPr>
        <p:spPr>
          <a:xfrm>
            <a:off x="986806" y="4025546"/>
            <a:ext cx="53035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The first character is s[0], not s[1].</a:t>
            </a:r>
            <a:endParaRPr sz="1400">
              <a:solidFill>
                <a:schemeClr val="dk1"/>
              </a:solidFill>
              <a:latin typeface="Calibri"/>
              <a:ea typeface="Calibri"/>
              <a:cs typeface="Calibri"/>
              <a:sym typeface="Calibri"/>
            </a:endParaRPr>
          </a:p>
        </p:txBody>
      </p:sp>
      <p:sp>
        <p:nvSpPr>
          <p:cNvPr id="73" name="Google Shape;73;p3"/>
          <p:cNvSpPr/>
          <p:nvPr/>
        </p:nvSpPr>
        <p:spPr>
          <a:xfrm>
            <a:off x="624069" y="4530473"/>
            <a:ext cx="201168" cy="201168"/>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txBox="1"/>
          <p:nvPr/>
        </p:nvSpPr>
        <p:spPr>
          <a:xfrm>
            <a:off x="1021080" y="4475609"/>
            <a:ext cx="5303520" cy="31089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a:solidFill>
                  <a:schemeClr val="dk1"/>
                </a:solidFill>
                <a:latin typeface="Calibri"/>
                <a:ea typeface="Calibri"/>
                <a:cs typeface="Calibri"/>
                <a:sym typeface="Calibri"/>
              </a:rPr>
              <a:t>Negative indexes count from the end</a:t>
            </a:r>
            <a:endParaRPr sz="1800">
              <a:solidFill>
                <a:schemeClr val="dk1"/>
              </a:solidFill>
              <a:latin typeface="Calibri"/>
              <a:ea typeface="Calibri"/>
              <a:cs typeface="Calibri"/>
              <a:sym typeface="Calibri"/>
            </a:endParaRPr>
          </a:p>
        </p:txBody>
      </p:sp>
      <p:sp>
        <p:nvSpPr>
          <p:cNvPr id="75" name="Google Shape;75;p3"/>
          <p:cNvSpPr txBox="1"/>
          <p:nvPr/>
        </p:nvSpPr>
        <p:spPr>
          <a:xfrm>
            <a:off x="1021080" y="4841369"/>
            <a:ext cx="5303520" cy="502920"/>
          </a:xfrm>
          <a:prstGeom prst="rect">
            <a:avLst/>
          </a:prstGeom>
          <a:noFill/>
          <a:ln>
            <a:noFill/>
          </a:ln>
        </p:spPr>
        <p:txBody>
          <a:bodyPr spcFirstLastPara="1" wrap="square" lIns="0" tIns="0" rIns="0" bIns="0" anchor="t" anchorCtr="0">
            <a:noAutofit/>
          </a:bodyPr>
          <a:lstStyle/>
          <a:p>
            <a:pPr>
              <a:buClr>
                <a:schemeClr val="accent5"/>
              </a:buClr>
              <a:buSzPts val="1400"/>
              <a:buFont typeface="Calibri"/>
            </a:pPr>
            <a:r>
              <a:rPr lang="en-US" sz="1400">
                <a:solidFill>
                  <a:schemeClr val="accent5"/>
                </a:solidFill>
                <a:latin typeface="Calibri"/>
                <a:ea typeface="Calibri"/>
                <a:cs typeface="Calibri"/>
                <a:sym typeface="Calibri"/>
              </a:rPr>
              <a:t>s[-1] </a:t>
            </a:r>
            <a:r>
              <a:rPr lang="en-US">
                <a:solidFill>
                  <a:schemeClr val="accent5"/>
                </a:solidFill>
                <a:latin typeface="Calibri"/>
                <a:ea typeface="Calibri"/>
                <a:cs typeface="Calibri"/>
                <a:sym typeface="Calibri"/>
              </a:rPr>
              <a:t>is </a:t>
            </a:r>
            <a:r>
              <a:rPr lang="en-US" sz="1400">
                <a:solidFill>
                  <a:schemeClr val="accent5"/>
                </a:solidFill>
                <a:latin typeface="Calibri"/>
                <a:ea typeface="Calibri"/>
                <a:cs typeface="Calibri"/>
                <a:sym typeface="Calibri"/>
              </a:rPr>
              <a:t>the last character, s[-2] the one before.</a:t>
            </a:r>
            <a:endParaRPr lang="en-US" sz="1400">
              <a:solidFill>
                <a:schemeClr val="accent5"/>
              </a:solidFill>
              <a:latin typeface="Calibri"/>
              <a:ea typeface="Calibri"/>
              <a:cs typeface="Calibri"/>
            </a:endParaRPr>
          </a:p>
        </p:txBody>
      </p:sp>
      <p:sp>
        <p:nvSpPr>
          <p:cNvPr id="76" name="Google Shape;76;p3"/>
          <p:cNvSpPr/>
          <p:nvPr/>
        </p:nvSpPr>
        <p:spPr>
          <a:xfrm>
            <a:off x="640080" y="5317873"/>
            <a:ext cx="201168" cy="201168"/>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txBox="1"/>
          <p:nvPr/>
        </p:nvSpPr>
        <p:spPr>
          <a:xfrm>
            <a:off x="1051560" y="5263009"/>
            <a:ext cx="5303520" cy="31089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a:solidFill>
                  <a:schemeClr val="dk1"/>
                </a:solidFill>
                <a:latin typeface="Calibri"/>
                <a:ea typeface="Calibri"/>
                <a:cs typeface="Calibri"/>
                <a:sym typeface="Calibri"/>
              </a:rPr>
              <a:t>len(s) gives the length</a:t>
            </a:r>
            <a:endParaRPr sz="1800">
              <a:solidFill>
                <a:schemeClr val="dk1"/>
              </a:solidFill>
              <a:latin typeface="Calibri"/>
              <a:ea typeface="Calibri"/>
              <a:cs typeface="Calibri"/>
              <a:sym typeface="Calibri"/>
            </a:endParaRPr>
          </a:p>
        </p:txBody>
      </p:sp>
      <p:sp>
        <p:nvSpPr>
          <p:cNvPr id="78" name="Google Shape;78;p3"/>
          <p:cNvSpPr txBox="1"/>
          <p:nvPr/>
        </p:nvSpPr>
        <p:spPr>
          <a:xfrm>
            <a:off x="1051560" y="5628769"/>
            <a:ext cx="53035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Python stores it, so there is no counting involved.</a:t>
            </a:r>
            <a:endParaRPr sz="1400">
              <a:solidFill>
                <a:schemeClr val="dk1"/>
              </a:solidFill>
              <a:latin typeface="Calibri"/>
              <a:ea typeface="Calibri"/>
              <a:cs typeface="Calibri"/>
              <a:sym typeface="Calibri"/>
            </a:endParaRPr>
          </a:p>
        </p:txBody>
      </p:sp>
      <p:sp>
        <p:nvSpPr>
          <p:cNvPr id="79" name="Google Shape;79;p3"/>
          <p:cNvSpPr/>
          <p:nvPr/>
        </p:nvSpPr>
        <p:spPr>
          <a:xfrm>
            <a:off x="6583680" y="1600200"/>
            <a:ext cx="4967935" cy="45720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txBox="1"/>
          <p:nvPr/>
        </p:nvSpPr>
        <p:spPr>
          <a:xfrm>
            <a:off x="6949440" y="1920240"/>
            <a:ext cx="41148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ourier New"/>
              <a:buNone/>
            </a:pPr>
            <a:r>
              <a:rPr lang="en-US" sz="1800" b="1">
                <a:solidFill>
                  <a:schemeClr val="dk1"/>
                </a:solidFill>
                <a:latin typeface="Courier New"/>
                <a:ea typeface="Courier New"/>
                <a:cs typeface="Courier New"/>
                <a:sym typeface="Courier New"/>
              </a:rPr>
              <a:t>s = "python"</a:t>
            </a:r>
            <a:endParaRPr sz="1800">
              <a:solidFill>
                <a:schemeClr val="dk1"/>
              </a:solidFill>
              <a:latin typeface="Calibri"/>
              <a:ea typeface="Calibri"/>
              <a:cs typeface="Calibri"/>
              <a:sym typeface="Calibri"/>
            </a:endParaRPr>
          </a:p>
        </p:txBody>
      </p:sp>
      <p:sp>
        <p:nvSpPr>
          <p:cNvPr id="81" name="Google Shape;81;p3"/>
          <p:cNvSpPr/>
          <p:nvPr/>
        </p:nvSpPr>
        <p:spPr>
          <a:xfrm>
            <a:off x="7028536" y="2560320"/>
            <a:ext cx="603504" cy="603504"/>
          </a:xfrm>
          <a:prstGeom prst="roundRect">
            <a:avLst>
              <a:gd name="adj" fmla="val 7576"/>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a:solidFill>
                  <a:schemeClr val="lt1"/>
                </a:solidFill>
                <a:latin typeface="Calibri"/>
                <a:ea typeface="Calibri"/>
                <a:cs typeface="Calibri"/>
                <a:sym typeface="Calibri"/>
              </a:rPr>
              <a:t>p</a:t>
            </a:r>
            <a:endParaRPr sz="2200">
              <a:solidFill>
                <a:schemeClr val="dk1"/>
              </a:solidFill>
              <a:latin typeface="Calibri"/>
              <a:ea typeface="Calibri"/>
              <a:cs typeface="Calibri"/>
              <a:sym typeface="Calibri"/>
            </a:endParaRPr>
          </a:p>
        </p:txBody>
      </p:sp>
      <p:sp>
        <p:nvSpPr>
          <p:cNvPr id="82" name="Google Shape;82;p3"/>
          <p:cNvSpPr txBox="1"/>
          <p:nvPr/>
        </p:nvSpPr>
        <p:spPr>
          <a:xfrm>
            <a:off x="7028536" y="3255264"/>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0</a:t>
            </a:r>
            <a:endParaRPr sz="1100">
              <a:solidFill>
                <a:schemeClr val="dk1"/>
              </a:solidFill>
              <a:latin typeface="Calibri"/>
              <a:ea typeface="Calibri"/>
              <a:cs typeface="Calibri"/>
              <a:sym typeface="Calibri"/>
            </a:endParaRPr>
          </a:p>
        </p:txBody>
      </p:sp>
      <p:sp>
        <p:nvSpPr>
          <p:cNvPr id="83" name="Google Shape;83;p3"/>
          <p:cNvSpPr/>
          <p:nvPr/>
        </p:nvSpPr>
        <p:spPr>
          <a:xfrm>
            <a:off x="7723480" y="2560320"/>
            <a:ext cx="603504" cy="603504"/>
          </a:xfrm>
          <a:prstGeom prst="roundRect">
            <a:avLst>
              <a:gd name="adj" fmla="val 7576"/>
            </a:avLst>
          </a:prstGeom>
          <a:solidFill>
            <a:schemeClr val="lt1"/>
          </a:solidFill>
          <a:ln w="9525" cap="flat" cmpd="sng">
            <a:solidFill>
              <a:schemeClr val="accent4">
                <a:alpha val="600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2200"/>
              <a:buFont typeface="Calibri"/>
              <a:buNone/>
            </a:pPr>
            <a:r>
              <a:rPr lang="en-US" sz="2200" b="1">
                <a:solidFill>
                  <a:schemeClr val="dk1"/>
                </a:solidFill>
                <a:latin typeface="Calibri"/>
                <a:ea typeface="Calibri"/>
                <a:cs typeface="Calibri"/>
                <a:sym typeface="Calibri"/>
              </a:rPr>
              <a:t>y</a:t>
            </a:r>
            <a:endParaRPr sz="2200">
              <a:solidFill>
                <a:schemeClr val="dk1"/>
              </a:solidFill>
              <a:latin typeface="Calibri"/>
              <a:ea typeface="Calibri"/>
              <a:cs typeface="Calibri"/>
              <a:sym typeface="Calibri"/>
            </a:endParaRPr>
          </a:p>
        </p:txBody>
      </p:sp>
      <p:sp>
        <p:nvSpPr>
          <p:cNvPr id="84" name="Google Shape;84;p3"/>
          <p:cNvSpPr txBox="1"/>
          <p:nvPr/>
        </p:nvSpPr>
        <p:spPr>
          <a:xfrm>
            <a:off x="7723480" y="3255264"/>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1</a:t>
            </a:r>
            <a:endParaRPr sz="1100">
              <a:solidFill>
                <a:schemeClr val="dk1"/>
              </a:solidFill>
              <a:latin typeface="Calibri"/>
              <a:ea typeface="Calibri"/>
              <a:cs typeface="Calibri"/>
              <a:sym typeface="Calibri"/>
            </a:endParaRPr>
          </a:p>
        </p:txBody>
      </p:sp>
      <p:sp>
        <p:nvSpPr>
          <p:cNvPr id="85" name="Google Shape;85;p3"/>
          <p:cNvSpPr/>
          <p:nvPr/>
        </p:nvSpPr>
        <p:spPr>
          <a:xfrm>
            <a:off x="8418424" y="2560320"/>
            <a:ext cx="603504" cy="603504"/>
          </a:xfrm>
          <a:prstGeom prst="roundRect">
            <a:avLst>
              <a:gd name="adj" fmla="val 7576"/>
            </a:avLst>
          </a:prstGeom>
          <a:solidFill>
            <a:schemeClr val="lt1"/>
          </a:solidFill>
          <a:ln w="9525" cap="flat" cmpd="sng">
            <a:solidFill>
              <a:schemeClr val="accent4">
                <a:alpha val="600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2200"/>
              <a:buFont typeface="Calibri"/>
              <a:buNone/>
            </a:pPr>
            <a:r>
              <a:rPr lang="en-US" sz="2200" b="1">
                <a:solidFill>
                  <a:schemeClr val="dk1"/>
                </a:solidFill>
                <a:latin typeface="Calibri"/>
                <a:ea typeface="Calibri"/>
                <a:cs typeface="Calibri"/>
                <a:sym typeface="Calibri"/>
              </a:rPr>
              <a:t>t</a:t>
            </a:r>
            <a:endParaRPr sz="2200">
              <a:solidFill>
                <a:schemeClr val="dk1"/>
              </a:solidFill>
              <a:latin typeface="Calibri"/>
              <a:ea typeface="Calibri"/>
              <a:cs typeface="Calibri"/>
              <a:sym typeface="Calibri"/>
            </a:endParaRPr>
          </a:p>
        </p:txBody>
      </p:sp>
      <p:sp>
        <p:nvSpPr>
          <p:cNvPr id="86" name="Google Shape;86;p3"/>
          <p:cNvSpPr txBox="1"/>
          <p:nvPr/>
        </p:nvSpPr>
        <p:spPr>
          <a:xfrm>
            <a:off x="8418424" y="3255264"/>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2</a:t>
            </a:r>
            <a:endParaRPr sz="1100">
              <a:solidFill>
                <a:schemeClr val="dk1"/>
              </a:solidFill>
              <a:latin typeface="Calibri"/>
              <a:ea typeface="Calibri"/>
              <a:cs typeface="Calibri"/>
              <a:sym typeface="Calibri"/>
            </a:endParaRPr>
          </a:p>
        </p:txBody>
      </p:sp>
      <p:sp>
        <p:nvSpPr>
          <p:cNvPr id="87" name="Google Shape;87;p3"/>
          <p:cNvSpPr/>
          <p:nvPr/>
        </p:nvSpPr>
        <p:spPr>
          <a:xfrm>
            <a:off x="9113368" y="2560320"/>
            <a:ext cx="603504" cy="603504"/>
          </a:xfrm>
          <a:prstGeom prst="roundRect">
            <a:avLst>
              <a:gd name="adj" fmla="val 7576"/>
            </a:avLst>
          </a:prstGeom>
          <a:solidFill>
            <a:schemeClr val="lt1"/>
          </a:solidFill>
          <a:ln w="9525" cap="flat" cmpd="sng">
            <a:solidFill>
              <a:schemeClr val="accent4">
                <a:alpha val="600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2200"/>
              <a:buFont typeface="Calibri"/>
              <a:buNone/>
            </a:pPr>
            <a:r>
              <a:rPr lang="en-US" sz="2200" b="1">
                <a:solidFill>
                  <a:schemeClr val="dk1"/>
                </a:solidFill>
                <a:latin typeface="Calibri"/>
                <a:ea typeface="Calibri"/>
                <a:cs typeface="Calibri"/>
                <a:sym typeface="Calibri"/>
              </a:rPr>
              <a:t>h</a:t>
            </a:r>
            <a:endParaRPr sz="2200">
              <a:solidFill>
                <a:schemeClr val="dk1"/>
              </a:solidFill>
              <a:latin typeface="Calibri"/>
              <a:ea typeface="Calibri"/>
              <a:cs typeface="Calibri"/>
              <a:sym typeface="Calibri"/>
            </a:endParaRPr>
          </a:p>
        </p:txBody>
      </p:sp>
      <p:sp>
        <p:nvSpPr>
          <p:cNvPr id="88" name="Google Shape;88;p3"/>
          <p:cNvSpPr txBox="1"/>
          <p:nvPr/>
        </p:nvSpPr>
        <p:spPr>
          <a:xfrm>
            <a:off x="9113368" y="3255264"/>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3</a:t>
            </a:r>
            <a:endParaRPr sz="1100">
              <a:solidFill>
                <a:schemeClr val="dk1"/>
              </a:solidFill>
              <a:latin typeface="Calibri"/>
              <a:ea typeface="Calibri"/>
              <a:cs typeface="Calibri"/>
              <a:sym typeface="Calibri"/>
            </a:endParaRPr>
          </a:p>
        </p:txBody>
      </p:sp>
      <p:sp>
        <p:nvSpPr>
          <p:cNvPr id="89" name="Google Shape;89;p3"/>
          <p:cNvSpPr/>
          <p:nvPr/>
        </p:nvSpPr>
        <p:spPr>
          <a:xfrm>
            <a:off x="9808312" y="2560320"/>
            <a:ext cx="603504" cy="603504"/>
          </a:xfrm>
          <a:prstGeom prst="roundRect">
            <a:avLst>
              <a:gd name="adj" fmla="val 7576"/>
            </a:avLst>
          </a:prstGeom>
          <a:solidFill>
            <a:schemeClr val="lt1"/>
          </a:solidFill>
          <a:ln w="9525" cap="flat" cmpd="sng">
            <a:solidFill>
              <a:schemeClr val="accent4">
                <a:alpha val="600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2200"/>
              <a:buFont typeface="Calibri"/>
              <a:buNone/>
            </a:pPr>
            <a:r>
              <a:rPr lang="en-US" sz="2200" b="1">
                <a:solidFill>
                  <a:schemeClr val="dk1"/>
                </a:solidFill>
                <a:latin typeface="Calibri"/>
                <a:ea typeface="Calibri"/>
                <a:cs typeface="Calibri"/>
                <a:sym typeface="Calibri"/>
              </a:rPr>
              <a:t>o</a:t>
            </a:r>
            <a:endParaRPr sz="2200">
              <a:solidFill>
                <a:schemeClr val="dk1"/>
              </a:solidFill>
              <a:latin typeface="Calibri"/>
              <a:ea typeface="Calibri"/>
              <a:cs typeface="Calibri"/>
              <a:sym typeface="Calibri"/>
            </a:endParaRPr>
          </a:p>
        </p:txBody>
      </p:sp>
      <p:sp>
        <p:nvSpPr>
          <p:cNvPr id="90" name="Google Shape;90;p3"/>
          <p:cNvSpPr txBox="1"/>
          <p:nvPr/>
        </p:nvSpPr>
        <p:spPr>
          <a:xfrm>
            <a:off x="9808312" y="3255264"/>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4</a:t>
            </a:r>
            <a:endParaRPr sz="1100">
              <a:solidFill>
                <a:schemeClr val="dk1"/>
              </a:solidFill>
              <a:latin typeface="Calibri"/>
              <a:ea typeface="Calibri"/>
              <a:cs typeface="Calibri"/>
              <a:sym typeface="Calibri"/>
            </a:endParaRPr>
          </a:p>
        </p:txBody>
      </p:sp>
      <p:sp>
        <p:nvSpPr>
          <p:cNvPr id="91" name="Google Shape;91;p3"/>
          <p:cNvSpPr/>
          <p:nvPr/>
        </p:nvSpPr>
        <p:spPr>
          <a:xfrm>
            <a:off x="10503256" y="2560320"/>
            <a:ext cx="603504" cy="603504"/>
          </a:xfrm>
          <a:prstGeom prst="roundRect">
            <a:avLst>
              <a:gd name="adj" fmla="val 7576"/>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lt1"/>
              </a:buClr>
              <a:buSzPts val="2200"/>
              <a:buFont typeface="Calibri"/>
              <a:buNone/>
            </a:pPr>
            <a:r>
              <a:rPr lang="en-US" sz="2200" b="1">
                <a:solidFill>
                  <a:schemeClr val="lt1"/>
                </a:solidFill>
                <a:latin typeface="Calibri"/>
                <a:ea typeface="Calibri"/>
                <a:cs typeface="Calibri"/>
                <a:sym typeface="Calibri"/>
              </a:rPr>
              <a:t>n</a:t>
            </a:r>
            <a:endParaRPr sz="2200">
              <a:solidFill>
                <a:schemeClr val="dk1"/>
              </a:solidFill>
              <a:latin typeface="Calibri"/>
              <a:ea typeface="Calibri"/>
              <a:cs typeface="Calibri"/>
              <a:sym typeface="Calibri"/>
            </a:endParaRPr>
          </a:p>
        </p:txBody>
      </p:sp>
      <p:sp>
        <p:nvSpPr>
          <p:cNvPr id="92" name="Google Shape;92;p3"/>
          <p:cNvSpPr txBox="1"/>
          <p:nvPr/>
        </p:nvSpPr>
        <p:spPr>
          <a:xfrm>
            <a:off x="10503256" y="3255264"/>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5</a:t>
            </a:r>
            <a:endParaRPr sz="1100">
              <a:solidFill>
                <a:schemeClr val="dk1"/>
              </a:solidFill>
              <a:latin typeface="Calibri"/>
              <a:ea typeface="Calibri"/>
              <a:cs typeface="Calibri"/>
              <a:sym typeface="Calibri"/>
            </a:endParaRPr>
          </a:p>
        </p:txBody>
      </p:sp>
      <p:sp>
        <p:nvSpPr>
          <p:cNvPr id="93" name="Google Shape;93;p3"/>
          <p:cNvSpPr txBox="1"/>
          <p:nvPr/>
        </p:nvSpPr>
        <p:spPr>
          <a:xfrm>
            <a:off x="7028536" y="3474720"/>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100"/>
              <a:buFont typeface="Courier New"/>
              <a:buNone/>
            </a:pPr>
            <a:r>
              <a:rPr lang="en-US" sz="1100" b="1">
                <a:solidFill>
                  <a:schemeClr val="accent2"/>
                </a:solidFill>
                <a:latin typeface="Courier New"/>
                <a:ea typeface="Courier New"/>
                <a:cs typeface="Courier New"/>
                <a:sym typeface="Courier New"/>
              </a:rPr>
              <a:t>-6</a:t>
            </a:r>
            <a:endParaRPr sz="1100">
              <a:solidFill>
                <a:schemeClr val="dk1"/>
              </a:solidFill>
              <a:latin typeface="Calibri"/>
              <a:ea typeface="Calibri"/>
              <a:cs typeface="Calibri"/>
              <a:sym typeface="Calibri"/>
            </a:endParaRPr>
          </a:p>
        </p:txBody>
      </p:sp>
      <p:sp>
        <p:nvSpPr>
          <p:cNvPr id="94" name="Google Shape;94;p3"/>
          <p:cNvSpPr txBox="1"/>
          <p:nvPr/>
        </p:nvSpPr>
        <p:spPr>
          <a:xfrm>
            <a:off x="7723480" y="3474720"/>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100"/>
              <a:buFont typeface="Courier New"/>
              <a:buNone/>
            </a:pPr>
            <a:r>
              <a:rPr lang="en-US" sz="1100" b="1">
                <a:solidFill>
                  <a:schemeClr val="accent2"/>
                </a:solidFill>
                <a:latin typeface="Courier New"/>
                <a:ea typeface="Courier New"/>
                <a:cs typeface="Courier New"/>
                <a:sym typeface="Courier New"/>
              </a:rPr>
              <a:t>-5</a:t>
            </a:r>
            <a:endParaRPr sz="1100">
              <a:solidFill>
                <a:schemeClr val="dk1"/>
              </a:solidFill>
              <a:latin typeface="Calibri"/>
              <a:ea typeface="Calibri"/>
              <a:cs typeface="Calibri"/>
              <a:sym typeface="Calibri"/>
            </a:endParaRPr>
          </a:p>
        </p:txBody>
      </p:sp>
      <p:sp>
        <p:nvSpPr>
          <p:cNvPr id="95" name="Google Shape;95;p3"/>
          <p:cNvSpPr txBox="1"/>
          <p:nvPr/>
        </p:nvSpPr>
        <p:spPr>
          <a:xfrm>
            <a:off x="8418424" y="3474720"/>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100"/>
              <a:buFont typeface="Courier New"/>
              <a:buNone/>
            </a:pPr>
            <a:r>
              <a:rPr lang="en-US" sz="1100" b="1">
                <a:solidFill>
                  <a:schemeClr val="accent2"/>
                </a:solidFill>
                <a:latin typeface="Courier New"/>
                <a:ea typeface="Courier New"/>
                <a:cs typeface="Courier New"/>
                <a:sym typeface="Courier New"/>
              </a:rPr>
              <a:t>-4</a:t>
            </a:r>
            <a:endParaRPr sz="1100">
              <a:solidFill>
                <a:schemeClr val="dk1"/>
              </a:solidFill>
              <a:latin typeface="Calibri"/>
              <a:ea typeface="Calibri"/>
              <a:cs typeface="Calibri"/>
              <a:sym typeface="Calibri"/>
            </a:endParaRPr>
          </a:p>
        </p:txBody>
      </p:sp>
      <p:sp>
        <p:nvSpPr>
          <p:cNvPr id="96" name="Google Shape;96;p3"/>
          <p:cNvSpPr txBox="1"/>
          <p:nvPr/>
        </p:nvSpPr>
        <p:spPr>
          <a:xfrm>
            <a:off x="9113368" y="3474720"/>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100"/>
              <a:buFont typeface="Courier New"/>
              <a:buNone/>
            </a:pPr>
            <a:r>
              <a:rPr lang="en-US" sz="1100" b="1">
                <a:solidFill>
                  <a:schemeClr val="accent2"/>
                </a:solidFill>
                <a:latin typeface="Courier New"/>
                <a:ea typeface="Courier New"/>
                <a:cs typeface="Courier New"/>
                <a:sym typeface="Courier New"/>
              </a:rPr>
              <a:t>-3</a:t>
            </a:r>
            <a:endParaRPr sz="1100">
              <a:solidFill>
                <a:schemeClr val="dk1"/>
              </a:solidFill>
              <a:latin typeface="Calibri"/>
              <a:ea typeface="Calibri"/>
              <a:cs typeface="Calibri"/>
              <a:sym typeface="Calibri"/>
            </a:endParaRPr>
          </a:p>
        </p:txBody>
      </p:sp>
      <p:sp>
        <p:nvSpPr>
          <p:cNvPr id="97" name="Google Shape;97;p3"/>
          <p:cNvSpPr txBox="1"/>
          <p:nvPr/>
        </p:nvSpPr>
        <p:spPr>
          <a:xfrm>
            <a:off x="9808312" y="3474720"/>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100"/>
              <a:buFont typeface="Courier New"/>
              <a:buNone/>
            </a:pPr>
            <a:r>
              <a:rPr lang="en-US" sz="1100" b="1">
                <a:solidFill>
                  <a:schemeClr val="accent2"/>
                </a:solidFill>
                <a:latin typeface="Courier New"/>
                <a:ea typeface="Courier New"/>
                <a:cs typeface="Courier New"/>
                <a:sym typeface="Courier New"/>
              </a:rPr>
              <a:t>-2</a:t>
            </a:r>
            <a:endParaRPr sz="1100">
              <a:solidFill>
                <a:schemeClr val="dk1"/>
              </a:solidFill>
              <a:latin typeface="Calibri"/>
              <a:ea typeface="Calibri"/>
              <a:cs typeface="Calibri"/>
              <a:sym typeface="Calibri"/>
            </a:endParaRPr>
          </a:p>
        </p:txBody>
      </p:sp>
      <p:sp>
        <p:nvSpPr>
          <p:cNvPr id="98" name="Google Shape;98;p3"/>
          <p:cNvSpPr txBox="1"/>
          <p:nvPr/>
        </p:nvSpPr>
        <p:spPr>
          <a:xfrm>
            <a:off x="10503256" y="3474720"/>
            <a:ext cx="603504" cy="20116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1100"/>
              <a:buFont typeface="Courier New"/>
              <a:buNone/>
            </a:pPr>
            <a:r>
              <a:rPr lang="en-US" sz="1100" b="1">
                <a:solidFill>
                  <a:schemeClr val="accent2"/>
                </a:solidFill>
                <a:latin typeface="Courier New"/>
                <a:ea typeface="Courier New"/>
                <a:cs typeface="Courier New"/>
                <a:sym typeface="Courier New"/>
              </a:rPr>
              <a:t>-1</a:t>
            </a:r>
            <a:endParaRPr sz="1100">
              <a:solidFill>
                <a:schemeClr val="dk1"/>
              </a:solidFill>
              <a:latin typeface="Calibri"/>
              <a:ea typeface="Calibri"/>
              <a:cs typeface="Calibri"/>
              <a:sym typeface="Calibri"/>
            </a:endParaRPr>
          </a:p>
        </p:txBody>
      </p:sp>
      <p:sp>
        <p:nvSpPr>
          <p:cNvPr id="99" name="Google Shape;99;p3"/>
          <p:cNvSpPr txBox="1"/>
          <p:nvPr/>
        </p:nvSpPr>
        <p:spPr>
          <a:xfrm>
            <a:off x="6949440" y="3794760"/>
            <a:ext cx="420624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200" i="1">
                <a:solidFill>
                  <a:schemeClr val="accent5"/>
                </a:solidFill>
                <a:latin typeface="Calibri"/>
                <a:ea typeface="Calibri"/>
                <a:cs typeface="Calibri"/>
                <a:sym typeface="Calibri"/>
              </a:rPr>
              <a:t>grey: from the front   teal: from the back</a:t>
            </a:r>
            <a:endParaRPr sz="1200">
              <a:solidFill>
                <a:schemeClr val="dk1"/>
              </a:solidFill>
              <a:latin typeface="Calibri"/>
              <a:ea typeface="Calibri"/>
              <a:cs typeface="Calibri"/>
              <a:sym typeface="Calibri"/>
            </a:endParaRPr>
          </a:p>
        </p:txBody>
      </p:sp>
      <p:sp>
        <p:nvSpPr>
          <p:cNvPr id="100" name="Google Shape;100;p3"/>
          <p:cNvSpPr txBox="1"/>
          <p:nvPr/>
        </p:nvSpPr>
        <p:spPr>
          <a:xfrm>
            <a:off x="6949440" y="443484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600"/>
              <a:buFont typeface="Courier New"/>
              <a:buNone/>
            </a:pPr>
            <a:r>
              <a:rPr lang="en-US" sz="1600" b="1">
                <a:solidFill>
                  <a:schemeClr val="accent3"/>
                </a:solidFill>
                <a:latin typeface="Courier New"/>
                <a:ea typeface="Courier New"/>
                <a:cs typeface="Courier New"/>
                <a:sym typeface="Courier New"/>
              </a:rPr>
              <a:t>s[0]   gives back  'p'</a:t>
            </a:r>
            <a:endParaRPr sz="1600">
              <a:solidFill>
                <a:schemeClr val="dk1"/>
              </a:solidFill>
              <a:latin typeface="Calibri"/>
              <a:ea typeface="Calibri"/>
              <a:cs typeface="Calibri"/>
              <a:sym typeface="Calibri"/>
            </a:endParaRPr>
          </a:p>
        </p:txBody>
      </p:sp>
      <p:sp>
        <p:nvSpPr>
          <p:cNvPr id="101" name="Google Shape;101;p3"/>
          <p:cNvSpPr txBox="1"/>
          <p:nvPr/>
        </p:nvSpPr>
        <p:spPr>
          <a:xfrm>
            <a:off x="6949440" y="484632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600"/>
              <a:buFont typeface="Courier New"/>
              <a:buNone/>
            </a:pPr>
            <a:r>
              <a:rPr lang="en-US" sz="1600" b="1">
                <a:solidFill>
                  <a:schemeClr val="accent3"/>
                </a:solidFill>
                <a:latin typeface="Courier New"/>
                <a:ea typeface="Courier New"/>
                <a:cs typeface="Courier New"/>
                <a:sym typeface="Courier New"/>
              </a:rPr>
              <a:t>s[-1]  gives back  'n'</a:t>
            </a:r>
            <a:endParaRPr sz="1600">
              <a:solidFill>
                <a:schemeClr val="dk1"/>
              </a:solidFill>
              <a:latin typeface="Calibri"/>
              <a:ea typeface="Calibri"/>
              <a:cs typeface="Calibri"/>
              <a:sym typeface="Calibri"/>
            </a:endParaRPr>
          </a:p>
        </p:txBody>
      </p:sp>
      <p:sp>
        <p:nvSpPr>
          <p:cNvPr id="102" name="Google Shape;102;p3"/>
          <p:cNvSpPr txBox="1"/>
          <p:nvPr/>
        </p:nvSpPr>
        <p:spPr>
          <a:xfrm>
            <a:off x="6949440" y="5440680"/>
            <a:ext cx="42062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len(s) is 6, so the last valid index is 5.</a:t>
            </a:r>
            <a:endParaRPr sz="1400">
              <a:solidFill>
                <a:schemeClr val="dk1"/>
              </a:solidFill>
              <a:latin typeface="Calibri"/>
              <a:ea typeface="Calibri"/>
              <a:cs typeface="Calibri"/>
              <a:sym typeface="Calibri"/>
            </a:endParaRPr>
          </a:p>
        </p:txBody>
      </p:sp>
      <p:sp>
        <p:nvSpPr>
          <p:cNvPr id="103" name="Google Shape;103;p3"/>
          <p:cNvSpPr/>
          <p:nvPr/>
        </p:nvSpPr>
        <p:spPr>
          <a:xfrm>
            <a:off x="625612" y="2998113"/>
            <a:ext cx="201168" cy="201168"/>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txBox="1"/>
          <p:nvPr/>
        </p:nvSpPr>
        <p:spPr>
          <a:xfrm>
            <a:off x="976646" y="2938425"/>
            <a:ext cx="5303520" cy="31089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Strings are immutable!</a:t>
            </a:r>
            <a:endParaRPr sz="1800">
              <a:solidFill>
                <a:schemeClr val="dk1"/>
              </a:solidFill>
              <a:latin typeface="Calibri"/>
              <a:ea typeface="Calibri"/>
              <a:cs typeface="Calibri"/>
              <a:sym typeface="Calibri"/>
            </a:endParaRPr>
          </a:p>
        </p:txBody>
      </p:sp>
      <p:sp>
        <p:nvSpPr>
          <p:cNvPr id="105" name="Google Shape;105;p3"/>
          <p:cNvSpPr txBox="1"/>
          <p:nvPr/>
        </p:nvSpPr>
        <p:spPr>
          <a:xfrm>
            <a:off x="986806" y="3283865"/>
            <a:ext cx="5303520" cy="502920"/>
          </a:xfrm>
          <a:prstGeom prst="rect">
            <a:avLst/>
          </a:prstGeom>
          <a:noFill/>
          <a:ln>
            <a:noFill/>
          </a:ln>
        </p:spPr>
        <p:txBody>
          <a:bodyPr spcFirstLastPara="1" wrap="square" lIns="0" tIns="0" rIns="0" bIns="0" anchor="t" anchorCtr="0">
            <a:noAutofit/>
          </a:bodyPr>
          <a:lstStyle/>
          <a:p>
            <a:r>
              <a:rPr lang="en-US" dirty="0">
                <a:solidFill>
                  <a:schemeClr val="accent5"/>
                </a:solidFill>
                <a:latin typeface="Calibri"/>
                <a:ea typeface="Calibri"/>
                <a:cs typeface="Calibri"/>
                <a:sym typeface="Calibri"/>
              </a:rPr>
              <a:t>To make s = "</a:t>
            </a:r>
            <a:r>
              <a:rPr lang="en-US" dirty="0" err="1">
                <a:solidFill>
                  <a:schemeClr val="accent5"/>
                </a:solidFill>
                <a:latin typeface="Calibri"/>
                <a:ea typeface="Calibri"/>
                <a:cs typeface="Calibri"/>
                <a:sym typeface="Calibri"/>
              </a:rPr>
              <a:t>pyxhon</a:t>
            </a:r>
            <a:r>
              <a:rPr lang="en-US" dirty="0">
                <a:solidFill>
                  <a:schemeClr val="accent5"/>
                </a:solidFill>
                <a:latin typeface="Calibri"/>
                <a:ea typeface="Calibri"/>
                <a:cs typeface="Calibri"/>
                <a:sym typeface="Calibri"/>
              </a:rPr>
              <a:t>", CANNOT</a:t>
            </a:r>
            <a:r>
              <a:rPr lang="en-US" sz="1400" dirty="0">
                <a:solidFill>
                  <a:schemeClr val="accent5"/>
                </a:solidFill>
                <a:latin typeface="Calibri"/>
                <a:ea typeface="Calibri"/>
                <a:cs typeface="Calibri"/>
                <a:sym typeface="Calibri"/>
              </a:rPr>
              <a:t> write s[2] = "x"</a:t>
            </a:r>
            <a:endParaRPr sz="1800" dirty="0">
              <a:solidFill>
                <a:schemeClr val="accent5"/>
              </a:solidFill>
              <a:latin typeface="Calibri"/>
              <a:ea typeface="Calibri"/>
              <a:cs typeface="Calibri"/>
              <a:sym typeface="Calibri"/>
            </a:endParaRPr>
          </a:p>
        </p:txBody>
      </p:sp>
      <p:sp>
        <p:nvSpPr>
          <p:cNvPr id="106" name="Google Shape;106;p3"/>
          <p:cNvSpPr txBox="1"/>
          <p:nvPr/>
        </p:nvSpPr>
        <p:spPr>
          <a:xfrm>
            <a:off x="986806" y="2632467"/>
            <a:ext cx="53035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chemeClr val="accent5"/>
                </a:solidFill>
                <a:latin typeface="Calibri"/>
                <a:ea typeface="Calibri"/>
                <a:cs typeface="Calibri"/>
                <a:sym typeface="Calibri"/>
              </a:rPr>
              <a:t>s= "</a:t>
            </a:r>
            <a:r>
              <a:rPr lang="en-US">
                <a:solidFill>
                  <a:schemeClr val="accent5"/>
                </a:solidFill>
                <a:latin typeface="Calibri"/>
                <a:ea typeface="Calibri"/>
                <a:cs typeface="Calibri"/>
                <a:sym typeface="Calibri"/>
              </a:rPr>
              <a:t>python</a:t>
            </a:r>
            <a:r>
              <a:rPr lang="en-US" sz="1400">
                <a:solidFill>
                  <a:schemeClr val="accent5"/>
                </a:solidFill>
                <a:latin typeface="Calibri"/>
                <a:ea typeface="Calibri"/>
                <a:cs typeface="Calibri"/>
                <a:sym typeface="Calibri"/>
              </a:rPr>
              <a:t>"</a:t>
            </a:r>
            <a:endParaRPr>
              <a:solidFill>
                <a:schemeClr val="accent5"/>
              </a:solidFill>
            </a:endParaRPr>
          </a:p>
        </p:txBody>
      </p:sp>
      <p:sp>
        <p:nvSpPr>
          <p:cNvPr id="107" name="Google Shape;107;p3"/>
          <p:cNvSpPr/>
          <p:nvPr/>
        </p:nvSpPr>
        <p:spPr>
          <a:xfrm>
            <a:off x="640080" y="2361183"/>
            <a:ext cx="201168" cy="201168"/>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txBox="1"/>
          <p:nvPr/>
        </p:nvSpPr>
        <p:spPr>
          <a:xfrm>
            <a:off x="986806" y="2307347"/>
            <a:ext cx="5303520" cy="31089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Creating strings:</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640080" y="777240"/>
            <a:ext cx="10908792" cy="6400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200"/>
              <a:buFont typeface="Arial"/>
              <a:buNone/>
            </a:pPr>
            <a:r>
              <a:rPr lang="en-US" sz="3200" b="1">
                <a:solidFill>
                  <a:schemeClr val="dk1"/>
                </a:solidFill>
              </a:rPr>
              <a:t>Strings cannot be changed in place</a:t>
            </a:r>
            <a:endParaRPr sz="3200"/>
          </a:p>
        </p:txBody>
      </p:sp>
      <p:sp>
        <p:nvSpPr>
          <p:cNvPr id="115" name="Google Shape;115;p4"/>
          <p:cNvSpPr/>
          <p:nvPr/>
        </p:nvSpPr>
        <p:spPr>
          <a:xfrm>
            <a:off x="640080" y="1417320"/>
            <a:ext cx="5303520" cy="3161489"/>
          </a:xfrm>
          <a:prstGeom prst="roundRect">
            <a:avLst>
              <a:gd name="adj" fmla="val 16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txBox="1"/>
          <p:nvPr/>
        </p:nvSpPr>
        <p:spPr>
          <a:xfrm>
            <a:off x="914400" y="1607010"/>
            <a:ext cx="47548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dirty="0">
                <a:solidFill>
                  <a:schemeClr val="dk1"/>
                </a:solidFill>
                <a:latin typeface="Calibri"/>
                <a:ea typeface="Calibri"/>
                <a:cs typeface="Calibri"/>
                <a:sym typeface="Calibri"/>
              </a:rPr>
              <a:t>What you might try</a:t>
            </a:r>
            <a:endParaRPr sz="2000" dirty="0">
              <a:solidFill>
                <a:schemeClr val="dk1"/>
              </a:solidFill>
              <a:latin typeface="Calibri"/>
              <a:ea typeface="Calibri"/>
              <a:cs typeface="Calibri"/>
              <a:sym typeface="Calibri"/>
            </a:endParaRPr>
          </a:p>
        </p:txBody>
      </p:sp>
      <p:sp>
        <p:nvSpPr>
          <p:cNvPr id="118" name="Google Shape;118;p4"/>
          <p:cNvSpPr/>
          <p:nvPr/>
        </p:nvSpPr>
        <p:spPr>
          <a:xfrm>
            <a:off x="914400" y="2201370"/>
            <a:ext cx="4754880" cy="1097280"/>
          </a:xfrm>
          <a:prstGeom prst="roundRect">
            <a:avLst>
              <a:gd name="adj" fmla="val 5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txBox="1"/>
          <p:nvPr/>
        </p:nvSpPr>
        <p:spPr>
          <a:xfrm>
            <a:off x="1188720" y="2475690"/>
            <a:ext cx="4206240" cy="640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 = "python"</a:t>
            </a:r>
            <a:endParaRPr sz="1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s[0] = "P"</a:t>
            </a:r>
            <a:endParaRPr sz="1400">
              <a:solidFill>
                <a:schemeClr val="dk1"/>
              </a:solidFill>
              <a:latin typeface="Calibri"/>
              <a:ea typeface="Calibri"/>
              <a:cs typeface="Calibri"/>
              <a:sym typeface="Calibri"/>
            </a:endParaRPr>
          </a:p>
        </p:txBody>
      </p:sp>
      <p:sp>
        <p:nvSpPr>
          <p:cNvPr id="120" name="Google Shape;120;p4"/>
          <p:cNvSpPr/>
          <p:nvPr/>
        </p:nvSpPr>
        <p:spPr>
          <a:xfrm>
            <a:off x="914400" y="3527250"/>
            <a:ext cx="4754880" cy="822960"/>
          </a:xfrm>
          <a:prstGeom prst="roundRect">
            <a:avLst>
              <a:gd name="adj" fmla="val 5556"/>
            </a:avLst>
          </a:prstGeom>
          <a:solidFill>
            <a:schemeClr val="accent1">
              <a:alpha val="12157"/>
            </a:schemeClr>
          </a:solidFill>
          <a:ln w="9525" cap="flat" cmpd="sng">
            <a:solidFill>
              <a:schemeClr val="accent1">
                <a:alpha val="4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txBox="1"/>
          <p:nvPr/>
        </p:nvSpPr>
        <p:spPr>
          <a:xfrm>
            <a:off x="1097280" y="3527250"/>
            <a:ext cx="438912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TypeError: 'str' object does not support item assignment</a:t>
            </a:r>
            <a:endParaRPr sz="1400">
              <a:solidFill>
                <a:schemeClr val="dk1"/>
              </a:solidFill>
              <a:latin typeface="Calibri"/>
              <a:ea typeface="Calibri"/>
              <a:cs typeface="Calibri"/>
              <a:sym typeface="Calibri"/>
            </a:endParaRPr>
          </a:p>
        </p:txBody>
      </p:sp>
      <p:sp>
        <p:nvSpPr>
          <p:cNvPr id="122" name="Google Shape;122;p4"/>
          <p:cNvSpPr/>
          <p:nvPr/>
        </p:nvSpPr>
        <p:spPr>
          <a:xfrm>
            <a:off x="6248095" y="1417320"/>
            <a:ext cx="5303520" cy="3161490"/>
          </a:xfrm>
          <a:prstGeom prst="roundRect">
            <a:avLst>
              <a:gd name="adj" fmla="val 16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txBox="1"/>
          <p:nvPr/>
        </p:nvSpPr>
        <p:spPr>
          <a:xfrm>
            <a:off x="6522415" y="1607010"/>
            <a:ext cx="47548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dirty="0">
                <a:solidFill>
                  <a:schemeClr val="dk1"/>
                </a:solidFill>
                <a:latin typeface="Calibri"/>
                <a:ea typeface="Calibri"/>
                <a:cs typeface="Calibri"/>
                <a:sym typeface="Calibri"/>
              </a:rPr>
              <a:t>What actually works</a:t>
            </a:r>
            <a:endParaRPr sz="2000" dirty="0">
              <a:solidFill>
                <a:schemeClr val="dk1"/>
              </a:solidFill>
              <a:latin typeface="Calibri"/>
              <a:ea typeface="Calibri"/>
              <a:cs typeface="Calibri"/>
              <a:sym typeface="Calibri"/>
            </a:endParaRPr>
          </a:p>
        </p:txBody>
      </p:sp>
      <p:sp>
        <p:nvSpPr>
          <p:cNvPr id="125" name="Google Shape;125;p4"/>
          <p:cNvSpPr/>
          <p:nvPr/>
        </p:nvSpPr>
        <p:spPr>
          <a:xfrm>
            <a:off x="6522415" y="2201370"/>
            <a:ext cx="4754880" cy="1097280"/>
          </a:xfrm>
          <a:prstGeom prst="roundRect">
            <a:avLst>
              <a:gd name="adj" fmla="val 5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txBox="1"/>
          <p:nvPr/>
        </p:nvSpPr>
        <p:spPr>
          <a:xfrm>
            <a:off x="6796735" y="2475690"/>
            <a:ext cx="4206240" cy="640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 = "python"</a:t>
            </a:r>
            <a:endParaRPr sz="1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 = "P" + s[1:]</a:t>
            </a:r>
            <a:endParaRPr sz="1400">
              <a:solidFill>
                <a:schemeClr val="dk1"/>
              </a:solidFill>
              <a:latin typeface="Calibri"/>
              <a:ea typeface="Calibri"/>
              <a:cs typeface="Calibri"/>
              <a:sym typeface="Calibri"/>
            </a:endParaRPr>
          </a:p>
        </p:txBody>
      </p:sp>
      <p:sp>
        <p:nvSpPr>
          <p:cNvPr id="127" name="Google Shape;127;p4"/>
          <p:cNvSpPr/>
          <p:nvPr/>
        </p:nvSpPr>
        <p:spPr>
          <a:xfrm>
            <a:off x="6522415" y="3527250"/>
            <a:ext cx="4754880" cy="822960"/>
          </a:xfrm>
          <a:prstGeom prst="roundRect">
            <a:avLst>
              <a:gd name="adj" fmla="val 5556"/>
            </a:avLst>
          </a:prstGeom>
          <a:solidFill>
            <a:schemeClr val="accent2">
              <a:alpha val="12157"/>
            </a:schemeClr>
          </a:solidFill>
          <a:ln w="9525" cap="flat" cmpd="sng">
            <a:solidFill>
              <a:schemeClr val="accent2">
                <a:alpha val="45098"/>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txBox="1"/>
          <p:nvPr/>
        </p:nvSpPr>
        <p:spPr>
          <a:xfrm>
            <a:off x="6705295" y="3527250"/>
            <a:ext cx="438912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 is now 'Python'. The original string was never modified.</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p:bldP spid="118" grpId="0" animBg="1"/>
      <p:bldP spid="119" grpId="0"/>
      <p:bldP spid="120" grpId="0" animBg="1"/>
      <p:bldP spid="121" grpId="0"/>
      <p:bldP spid="122" grpId="0" animBg="1"/>
      <p:bldP spid="123" grpId="0"/>
      <p:bldP spid="125" grpId="0" animBg="1"/>
      <p:bldP spid="126" grpId="0"/>
      <p:bldP spid="127" grpId="0" animBg="1"/>
      <p:bldP spid="1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txBox="1">
            <a:spLocks noGrp="1"/>
          </p:cNvSpPr>
          <p:nvPr>
            <p:ph type="title"/>
          </p:nvPr>
        </p:nvSpPr>
        <p:spPr>
          <a:xfrm>
            <a:off x="640080" y="777240"/>
            <a:ext cx="10908792" cy="6400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200"/>
              <a:buFont typeface="Arial"/>
              <a:buNone/>
            </a:pPr>
            <a:r>
              <a:rPr lang="en-US" sz="3200" b="1">
                <a:solidFill>
                  <a:schemeClr val="dk1"/>
                </a:solidFill>
              </a:rPr>
              <a:t>Indexing and slicing</a:t>
            </a:r>
            <a:endParaRPr sz="3200"/>
          </a:p>
        </p:txBody>
      </p:sp>
      <p:sp>
        <p:nvSpPr>
          <p:cNvPr id="137" name="Google Shape;137;p5"/>
          <p:cNvSpPr/>
          <p:nvPr/>
        </p:nvSpPr>
        <p:spPr>
          <a:xfrm>
            <a:off x="640075" y="1600200"/>
            <a:ext cx="3456300" cy="3337500"/>
          </a:xfrm>
          <a:prstGeom prst="roundRect">
            <a:avLst>
              <a:gd name="adj" fmla="val 164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txBox="1"/>
          <p:nvPr/>
        </p:nvSpPr>
        <p:spPr>
          <a:xfrm>
            <a:off x="896112" y="1801368"/>
            <a:ext cx="2999232"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Index</a:t>
            </a:r>
            <a:endParaRPr sz="2000">
              <a:solidFill>
                <a:schemeClr val="dk1"/>
              </a:solidFill>
              <a:latin typeface="Calibri"/>
              <a:ea typeface="Calibri"/>
              <a:cs typeface="Calibri"/>
              <a:sym typeface="Calibri"/>
            </a:endParaRPr>
          </a:p>
        </p:txBody>
      </p:sp>
      <p:sp>
        <p:nvSpPr>
          <p:cNvPr id="139" name="Google Shape;139;p5"/>
          <p:cNvSpPr txBox="1"/>
          <p:nvPr/>
        </p:nvSpPr>
        <p:spPr>
          <a:xfrm>
            <a:off x="896112" y="2240280"/>
            <a:ext cx="29992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s[i]</a:t>
            </a:r>
            <a:endParaRPr sz="1400">
              <a:solidFill>
                <a:schemeClr val="dk1"/>
              </a:solidFill>
              <a:latin typeface="Calibri"/>
              <a:ea typeface="Calibri"/>
              <a:cs typeface="Calibri"/>
              <a:sym typeface="Calibri"/>
            </a:endParaRPr>
          </a:p>
        </p:txBody>
      </p:sp>
      <p:sp>
        <p:nvSpPr>
          <p:cNvPr id="140" name="Google Shape;140;p5"/>
          <p:cNvSpPr/>
          <p:nvPr/>
        </p:nvSpPr>
        <p:spPr>
          <a:xfrm>
            <a:off x="896112" y="2697480"/>
            <a:ext cx="2944368" cy="1188720"/>
          </a:xfrm>
          <a:prstGeom prst="roundRect">
            <a:avLst>
              <a:gd name="adj" fmla="val 4615"/>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txBox="1"/>
          <p:nvPr/>
        </p:nvSpPr>
        <p:spPr>
          <a:xfrm>
            <a:off x="1170432" y="2971800"/>
            <a:ext cx="2395728" cy="7315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    </a:t>
            </a:r>
            <a:r>
              <a:rPr lang="en-US" sz="1400">
                <a:solidFill>
                  <a:schemeClr val="accent4"/>
                </a:solidFill>
                <a:latin typeface="Courier New"/>
                <a:ea typeface="Courier New"/>
                <a:cs typeface="Courier New"/>
                <a:sym typeface="Courier New"/>
              </a:rPr>
              <a:t># 'y'</a:t>
            </a:r>
            <a:endParaRPr sz="1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   </a:t>
            </a:r>
            <a:r>
              <a:rPr lang="en-US" sz="1400">
                <a:solidFill>
                  <a:schemeClr val="accent4"/>
                </a:solidFill>
                <a:latin typeface="Courier New"/>
                <a:ea typeface="Courier New"/>
                <a:cs typeface="Courier New"/>
                <a:sym typeface="Courier New"/>
              </a:rPr>
              <a:t># 'n'</a:t>
            </a:r>
            <a:endParaRPr sz="1400">
              <a:solidFill>
                <a:schemeClr val="dk1"/>
              </a:solidFill>
              <a:latin typeface="Calibri"/>
              <a:ea typeface="Calibri"/>
              <a:cs typeface="Calibri"/>
              <a:sym typeface="Calibri"/>
            </a:endParaRPr>
          </a:p>
        </p:txBody>
      </p:sp>
      <p:sp>
        <p:nvSpPr>
          <p:cNvPr id="142" name="Google Shape;142;p5"/>
          <p:cNvSpPr/>
          <p:nvPr/>
        </p:nvSpPr>
        <p:spPr>
          <a:xfrm>
            <a:off x="4367632" y="1600200"/>
            <a:ext cx="3456432" cy="3337560"/>
          </a:xfrm>
          <a:prstGeom prst="roundRect">
            <a:avLst>
              <a:gd name="adj" fmla="val 164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txBox="1"/>
          <p:nvPr/>
        </p:nvSpPr>
        <p:spPr>
          <a:xfrm>
            <a:off x="4623664" y="1801368"/>
            <a:ext cx="299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Slice</a:t>
            </a:r>
            <a:endParaRPr sz="2000">
              <a:solidFill>
                <a:schemeClr val="dk1"/>
              </a:solidFill>
              <a:latin typeface="Calibri"/>
              <a:ea typeface="Calibri"/>
              <a:cs typeface="Calibri"/>
              <a:sym typeface="Calibri"/>
            </a:endParaRPr>
          </a:p>
        </p:txBody>
      </p:sp>
      <p:sp>
        <p:nvSpPr>
          <p:cNvPr id="144" name="Google Shape;144;p5"/>
          <p:cNvSpPr txBox="1"/>
          <p:nvPr/>
        </p:nvSpPr>
        <p:spPr>
          <a:xfrm>
            <a:off x="4623664" y="2240280"/>
            <a:ext cx="29992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s[start:stop]</a:t>
            </a:r>
            <a:endParaRPr sz="1400">
              <a:solidFill>
                <a:schemeClr val="dk1"/>
              </a:solidFill>
              <a:latin typeface="Calibri"/>
              <a:ea typeface="Calibri"/>
              <a:cs typeface="Calibri"/>
              <a:sym typeface="Calibri"/>
            </a:endParaRPr>
          </a:p>
        </p:txBody>
      </p:sp>
      <p:sp>
        <p:nvSpPr>
          <p:cNvPr id="145" name="Google Shape;145;p5"/>
          <p:cNvSpPr/>
          <p:nvPr/>
        </p:nvSpPr>
        <p:spPr>
          <a:xfrm>
            <a:off x="4623664" y="2697480"/>
            <a:ext cx="2944368" cy="1188720"/>
          </a:xfrm>
          <a:prstGeom prst="roundRect">
            <a:avLst>
              <a:gd name="adj" fmla="val 4615"/>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txBox="1"/>
          <p:nvPr/>
        </p:nvSpPr>
        <p:spPr>
          <a:xfrm>
            <a:off x="4897984" y="2971800"/>
            <a:ext cx="2395728" cy="7315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s[1:4]   </a:t>
            </a:r>
            <a:r>
              <a:rPr lang="en-US" sz="1400">
                <a:solidFill>
                  <a:schemeClr val="accent4"/>
                </a:solidFill>
                <a:latin typeface="Courier New"/>
                <a:ea typeface="Courier New"/>
                <a:cs typeface="Courier New"/>
                <a:sym typeface="Courier New"/>
              </a:rPr>
              <a:t># 'yth'</a:t>
            </a:r>
            <a:endParaRPr sz="1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s[:2]    </a:t>
            </a:r>
            <a:r>
              <a:rPr lang="en-US" sz="1400">
                <a:solidFill>
                  <a:schemeClr val="accent4"/>
                </a:solidFill>
                <a:latin typeface="Courier New"/>
                <a:ea typeface="Courier New"/>
                <a:cs typeface="Courier New"/>
                <a:sym typeface="Courier New"/>
              </a:rPr>
              <a:t># 'py'</a:t>
            </a:r>
            <a:endParaRPr sz="1400">
              <a:solidFill>
                <a:schemeClr val="dk1"/>
              </a:solidFill>
              <a:latin typeface="Calibri"/>
              <a:ea typeface="Calibri"/>
              <a:cs typeface="Calibri"/>
              <a:sym typeface="Calibri"/>
            </a:endParaRPr>
          </a:p>
        </p:txBody>
      </p:sp>
      <p:sp>
        <p:nvSpPr>
          <p:cNvPr id="147" name="Google Shape;147;p5"/>
          <p:cNvSpPr txBox="1"/>
          <p:nvPr/>
        </p:nvSpPr>
        <p:spPr>
          <a:xfrm>
            <a:off x="4623664" y="4087368"/>
            <a:ext cx="2944368"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k = # characters in generated slice</a:t>
            </a:r>
            <a:endParaRPr>
              <a:solidFill>
                <a:schemeClr val="accent5"/>
              </a:solidFill>
              <a:latin typeface="Calibri"/>
              <a:ea typeface="Calibri"/>
              <a:cs typeface="Calibri"/>
              <a:sym typeface="Calibri"/>
            </a:endParaRPr>
          </a:p>
        </p:txBody>
      </p:sp>
      <p:sp>
        <p:nvSpPr>
          <p:cNvPr id="148" name="Google Shape;148;p5"/>
          <p:cNvSpPr/>
          <p:nvPr/>
        </p:nvSpPr>
        <p:spPr>
          <a:xfrm>
            <a:off x="8095183" y="1600200"/>
            <a:ext cx="3456432" cy="3337560"/>
          </a:xfrm>
          <a:prstGeom prst="roundRect">
            <a:avLst>
              <a:gd name="adj" fmla="val 164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txBox="1"/>
          <p:nvPr/>
        </p:nvSpPr>
        <p:spPr>
          <a:xfrm>
            <a:off x="8351215" y="1801368"/>
            <a:ext cx="2999232"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Step</a:t>
            </a:r>
            <a:endParaRPr sz="2000">
              <a:solidFill>
                <a:schemeClr val="dk1"/>
              </a:solidFill>
              <a:latin typeface="Calibri"/>
              <a:ea typeface="Calibri"/>
              <a:cs typeface="Calibri"/>
              <a:sym typeface="Calibri"/>
            </a:endParaRPr>
          </a:p>
        </p:txBody>
      </p:sp>
      <p:sp>
        <p:nvSpPr>
          <p:cNvPr id="150" name="Google Shape;150;p5"/>
          <p:cNvSpPr txBox="1"/>
          <p:nvPr/>
        </p:nvSpPr>
        <p:spPr>
          <a:xfrm>
            <a:off x="8351215" y="2240280"/>
            <a:ext cx="2999232"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s[start:stop:step]</a:t>
            </a:r>
            <a:endParaRPr sz="1400">
              <a:solidFill>
                <a:schemeClr val="dk1"/>
              </a:solidFill>
              <a:latin typeface="Calibri"/>
              <a:ea typeface="Calibri"/>
              <a:cs typeface="Calibri"/>
              <a:sym typeface="Calibri"/>
            </a:endParaRPr>
          </a:p>
        </p:txBody>
      </p:sp>
      <p:sp>
        <p:nvSpPr>
          <p:cNvPr id="151" name="Google Shape;151;p5"/>
          <p:cNvSpPr/>
          <p:nvPr/>
        </p:nvSpPr>
        <p:spPr>
          <a:xfrm>
            <a:off x="8351215" y="2697480"/>
            <a:ext cx="2944368" cy="1188720"/>
          </a:xfrm>
          <a:prstGeom prst="roundRect">
            <a:avLst>
              <a:gd name="adj" fmla="val 4615"/>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txBox="1"/>
          <p:nvPr/>
        </p:nvSpPr>
        <p:spPr>
          <a:xfrm>
            <a:off x="8625535" y="2971800"/>
            <a:ext cx="2395728" cy="7315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s[::2]   </a:t>
            </a:r>
            <a:r>
              <a:rPr lang="en-US" sz="1400">
                <a:solidFill>
                  <a:schemeClr val="accent4"/>
                </a:solidFill>
                <a:latin typeface="Courier New"/>
                <a:ea typeface="Courier New"/>
                <a:cs typeface="Courier New"/>
                <a:sym typeface="Courier New"/>
              </a:rPr>
              <a:t># 'pto'</a:t>
            </a:r>
            <a:endParaRPr sz="1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  </a:t>
            </a:r>
            <a:r>
              <a:rPr lang="en-US" sz="1400">
                <a:solidFill>
                  <a:schemeClr val="accent4"/>
                </a:solidFill>
                <a:latin typeface="Courier New"/>
                <a:ea typeface="Courier New"/>
                <a:cs typeface="Courier New"/>
                <a:sym typeface="Courier New"/>
              </a:rPr>
              <a:t># 'nohtyp'</a:t>
            </a:r>
            <a:endParaRPr sz="1400">
              <a:solidFill>
                <a:schemeClr val="dk1"/>
              </a:solidFill>
              <a:latin typeface="Calibri"/>
              <a:ea typeface="Calibri"/>
              <a:cs typeface="Calibri"/>
              <a:sym typeface="Calibri"/>
            </a:endParaRPr>
          </a:p>
        </p:txBody>
      </p:sp>
      <p:sp>
        <p:nvSpPr>
          <p:cNvPr id="153" name="Google Shape;153;p5"/>
          <p:cNvSpPr txBox="1"/>
          <p:nvPr/>
        </p:nvSpPr>
        <p:spPr>
          <a:xfrm>
            <a:off x="3436285" y="1783200"/>
            <a:ext cx="5172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ourier New"/>
              <a:buNone/>
            </a:pPr>
            <a:r>
              <a:rPr lang="en-US" b="1">
                <a:solidFill>
                  <a:schemeClr val="accent2"/>
                </a:solidFill>
                <a:latin typeface="Courier New"/>
                <a:ea typeface="Courier New"/>
                <a:cs typeface="Courier New"/>
                <a:sym typeface="Courier New"/>
              </a:rPr>
              <a:t>O(1)</a:t>
            </a:r>
            <a:endParaRPr sz="1400">
              <a:solidFill>
                <a:schemeClr val="dk1"/>
              </a:solidFill>
              <a:latin typeface="Calibri"/>
              <a:ea typeface="Calibri"/>
              <a:cs typeface="Calibri"/>
              <a:sym typeface="Calibri"/>
            </a:endParaRPr>
          </a:p>
        </p:txBody>
      </p:sp>
      <p:sp>
        <p:nvSpPr>
          <p:cNvPr id="154" name="Google Shape;154;p5"/>
          <p:cNvSpPr txBox="1"/>
          <p:nvPr/>
        </p:nvSpPr>
        <p:spPr>
          <a:xfrm>
            <a:off x="7162377" y="1801400"/>
            <a:ext cx="5172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ourier New"/>
              <a:buNone/>
            </a:pPr>
            <a:r>
              <a:rPr lang="en-US" b="1">
                <a:solidFill>
                  <a:schemeClr val="accent2"/>
                </a:solidFill>
                <a:latin typeface="Courier New"/>
                <a:ea typeface="Courier New"/>
                <a:cs typeface="Courier New"/>
                <a:sym typeface="Courier New"/>
              </a:rPr>
              <a:t>O(k)</a:t>
            </a:r>
            <a:endParaRPr sz="1400">
              <a:solidFill>
                <a:schemeClr val="dk1"/>
              </a:solidFill>
              <a:latin typeface="Calibri"/>
              <a:ea typeface="Calibri"/>
              <a:cs typeface="Calibri"/>
              <a:sym typeface="Calibri"/>
            </a:endParaRPr>
          </a:p>
        </p:txBody>
      </p:sp>
      <p:sp>
        <p:nvSpPr>
          <p:cNvPr id="155" name="Google Shape;155;p5"/>
          <p:cNvSpPr txBox="1"/>
          <p:nvPr/>
        </p:nvSpPr>
        <p:spPr>
          <a:xfrm>
            <a:off x="896039" y="4069068"/>
            <a:ext cx="294450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Extracts character at a given index of a string.</a:t>
            </a:r>
            <a:endParaRPr>
              <a:solidFill>
                <a:schemeClr val="accent5"/>
              </a:solidFill>
              <a:latin typeface="Calibri"/>
              <a:ea typeface="Calibri"/>
              <a:cs typeface="Calibri"/>
              <a:sym typeface="Calibri"/>
            </a:endParaRPr>
          </a:p>
          <a:p>
            <a:pPr marL="0" marR="0" lvl="0" indent="0" algn="l" rtl="0">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Negatives extract from the back</a:t>
            </a:r>
            <a:endParaRPr>
              <a:solidFill>
                <a:schemeClr val="accent5"/>
              </a:solidFill>
              <a:latin typeface="Calibri"/>
              <a:ea typeface="Calibri"/>
              <a:cs typeface="Calibri"/>
              <a:sym typeface="Calibri"/>
            </a:endParaRPr>
          </a:p>
        </p:txBody>
      </p:sp>
      <p:sp>
        <p:nvSpPr>
          <p:cNvPr id="156" name="Google Shape;156;p5"/>
          <p:cNvSpPr txBox="1"/>
          <p:nvPr/>
        </p:nvSpPr>
        <p:spPr>
          <a:xfrm>
            <a:off x="10833250" y="1801375"/>
            <a:ext cx="5172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ourier New"/>
              <a:buNone/>
            </a:pPr>
            <a:r>
              <a:rPr lang="en-US" b="1">
                <a:solidFill>
                  <a:schemeClr val="accent2"/>
                </a:solidFill>
                <a:latin typeface="Courier New"/>
                <a:ea typeface="Courier New"/>
                <a:cs typeface="Courier New"/>
                <a:sym typeface="Courier New"/>
              </a:rPr>
              <a:t>O(k)</a:t>
            </a:r>
            <a:endParaRPr sz="1400">
              <a:solidFill>
                <a:schemeClr val="dk1"/>
              </a:solidFill>
              <a:latin typeface="Calibri"/>
              <a:ea typeface="Calibri"/>
              <a:cs typeface="Calibri"/>
              <a:sym typeface="Calibri"/>
            </a:endParaRPr>
          </a:p>
        </p:txBody>
      </p:sp>
      <p:sp>
        <p:nvSpPr>
          <p:cNvPr id="157" name="Google Shape;157;p5"/>
          <p:cNvSpPr txBox="1"/>
          <p:nvPr/>
        </p:nvSpPr>
        <p:spPr>
          <a:xfrm>
            <a:off x="8351152" y="4069068"/>
            <a:ext cx="294450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k = # length of resulting substring</a:t>
            </a:r>
            <a:endParaRPr>
              <a:solidFill>
                <a:schemeClr val="accent5"/>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p:bldP spid="139" grpId="0"/>
      <p:bldP spid="140" grpId="0" animBg="1"/>
      <p:bldP spid="141" grpId="0"/>
      <p:bldP spid="142" grpId="0" animBg="1"/>
      <p:bldP spid="143" grpId="0"/>
      <p:bldP spid="144" grpId="0"/>
      <p:bldP spid="145" grpId="0" animBg="1"/>
      <p:bldP spid="146" grpId="0"/>
      <p:bldP spid="147" grpId="0"/>
      <p:bldP spid="148" grpId="0" animBg="1"/>
      <p:bldP spid="149" grpId="0"/>
      <p:bldP spid="150" grpId="0"/>
      <p:bldP spid="151" grpId="0" animBg="1"/>
      <p:bldP spid="152" grpId="0"/>
      <p:bldP spid="153" grpId="0"/>
      <p:bldP spid="154" grpId="0"/>
      <p:bldP spid="155" grpId="0"/>
      <p:bldP spid="156" grpId="0"/>
      <p:bldP spid="15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Shape 162"/>
        <p:cNvGrpSpPr/>
        <p:nvPr/>
      </p:nvGrpSpPr>
      <p:grpSpPr>
        <a:xfrm>
          <a:off x="0" y="0"/>
          <a:ext cx="0" cy="0"/>
          <a:chOff x="0" y="0"/>
          <a:chExt cx="0" cy="0"/>
        </a:xfrm>
      </p:grpSpPr>
      <p:sp>
        <p:nvSpPr>
          <p:cNvPr id="163" name="Google Shape;163;h423b657ec3993948_0_33"/>
          <p:cNvSpPr txBox="1">
            <a:spLocks noGrp="1"/>
          </p:cNvSpPr>
          <p:nvPr>
            <p:ph type="title"/>
          </p:nvPr>
        </p:nvSpPr>
        <p:spPr>
          <a:xfrm>
            <a:off x="812800" y="406400"/>
            <a:ext cx="10883100" cy="55650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F2233"/>
              </a:buClr>
              <a:buSzPct val="100000"/>
              <a:buFont typeface="Arial"/>
              <a:buNone/>
            </a:pPr>
            <a:r>
              <a:rPr lang="en-US" sz="3900" b="1" i="0">
                <a:solidFill>
                  <a:srgbClr val="1F2233"/>
                </a:solidFill>
                <a:latin typeface="Arial"/>
                <a:ea typeface="Arial"/>
                <a:cs typeface="Arial"/>
                <a:sym typeface="Arial"/>
              </a:rPr>
              <a:t>String operations and time complexity</a:t>
            </a:r>
            <a:endParaRPr sz="3900"/>
          </a:p>
        </p:txBody>
      </p:sp>
      <p:sp>
        <p:nvSpPr>
          <p:cNvPr id="164" name="Google Shape;164;h423b657ec3993948_0_33"/>
          <p:cNvSpPr/>
          <p:nvPr/>
        </p:nvSpPr>
        <p:spPr>
          <a:xfrm>
            <a:off x="819150" y="1121370"/>
            <a:ext cx="3374100" cy="2370900"/>
          </a:xfrm>
          <a:prstGeom prst="roundRect">
            <a:avLst>
              <a:gd name="adj" fmla="val 3482"/>
            </a:avLst>
          </a:prstGeom>
          <a:solidFill>
            <a:srgbClr val="FFFFFF"/>
          </a:solidFill>
          <a:ln w="16925" cap="flat" cmpd="sng">
            <a:solidFill>
              <a:srgbClr val="D8DB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h423b657ec3993948_0_33"/>
          <p:cNvSpPr/>
          <p:nvPr/>
        </p:nvSpPr>
        <p:spPr>
          <a:xfrm>
            <a:off x="1028700" y="1318220"/>
            <a:ext cx="6264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F2233"/>
              </a:buClr>
              <a:buSzPts val="2000"/>
              <a:buFont typeface="Arial"/>
              <a:buNone/>
            </a:pPr>
            <a:r>
              <a:rPr lang="en-US" sz="2000" b="1" i="0" u="none" strike="noStrike" cap="none">
                <a:solidFill>
                  <a:srgbClr val="1F2233"/>
                </a:solidFill>
                <a:latin typeface="Arial"/>
                <a:ea typeface="Arial"/>
                <a:cs typeface="Arial"/>
                <a:sym typeface="Arial"/>
              </a:rPr>
              <a:t>Join</a:t>
            </a:r>
            <a:endParaRPr sz="2000" b="0" i="0" u="none" strike="noStrike" cap="none">
              <a:solidFill>
                <a:schemeClr val="dk1"/>
              </a:solidFill>
              <a:latin typeface="Courier New"/>
              <a:ea typeface="Courier New"/>
              <a:cs typeface="Courier New"/>
              <a:sym typeface="Courier New"/>
            </a:endParaRPr>
          </a:p>
        </p:txBody>
      </p:sp>
      <p:sp>
        <p:nvSpPr>
          <p:cNvPr id="166" name="Google Shape;166;h423b657ec3993948_0_33"/>
          <p:cNvSpPr/>
          <p:nvPr/>
        </p:nvSpPr>
        <p:spPr>
          <a:xfrm>
            <a:off x="3471386" y="1346150"/>
            <a:ext cx="512100" cy="2745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O(k)</a:t>
            </a:r>
            <a:endParaRPr sz="1500" b="0" i="0" u="none" strike="noStrike" cap="none">
              <a:solidFill>
                <a:schemeClr val="dk1"/>
              </a:solidFill>
              <a:latin typeface="Courier New"/>
              <a:ea typeface="Courier New"/>
              <a:cs typeface="Courier New"/>
              <a:sym typeface="Courier New"/>
            </a:endParaRPr>
          </a:p>
        </p:txBody>
      </p:sp>
      <p:sp>
        <p:nvSpPr>
          <p:cNvPr id="167" name="Google Shape;167;h423b657ec3993948_0_33"/>
          <p:cNvSpPr/>
          <p:nvPr/>
        </p:nvSpPr>
        <p:spPr>
          <a:xfrm>
            <a:off x="1028700" y="1711920"/>
            <a:ext cx="3043500" cy="274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sep.join(parts)</a:t>
            </a:r>
            <a:endParaRPr sz="1500" b="0" i="0" u="none" strike="noStrike" cap="none">
              <a:solidFill>
                <a:schemeClr val="dk1"/>
              </a:solidFill>
              <a:latin typeface="Courier New"/>
              <a:ea typeface="Courier New"/>
              <a:cs typeface="Courier New"/>
              <a:sym typeface="Courier New"/>
            </a:endParaRPr>
          </a:p>
        </p:txBody>
      </p:sp>
      <p:sp>
        <p:nvSpPr>
          <p:cNvPr id="168" name="Google Shape;168;h423b657ec3993948_0_33"/>
          <p:cNvSpPr/>
          <p:nvPr/>
        </p:nvSpPr>
        <p:spPr>
          <a:xfrm>
            <a:off x="1028700" y="2049711"/>
            <a:ext cx="2954700" cy="711300"/>
          </a:xfrm>
          <a:prstGeom prst="roundRect">
            <a:avLst>
              <a:gd name="adj" fmla="val 8929"/>
            </a:avLst>
          </a:prstGeom>
          <a:solidFill>
            <a:srgbClr val="1B1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h423b657ec3993948_0_33"/>
          <p:cNvSpPr/>
          <p:nvPr/>
        </p:nvSpPr>
        <p:spPr>
          <a:xfrm>
            <a:off x="1181100" y="2176711"/>
            <a:ext cx="27297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"-".join(["a","b"]) </a:t>
            </a:r>
            <a:r>
              <a:rPr lang="en-US" sz="1200" b="0" i="0" u="none" strike="noStrike" cap="none">
                <a:solidFill>
                  <a:srgbClr val="8A8FA3"/>
                </a:solidFill>
                <a:latin typeface="Courier New"/>
                <a:ea typeface="Courier New"/>
                <a:cs typeface="Courier New"/>
                <a:sym typeface="Courier New"/>
              </a:rPr>
              <a:t># 'a-b'</a:t>
            </a:r>
            <a:endParaRPr sz="1200" b="0" i="0" u="none" strike="noStrike" cap="none">
              <a:solidFill>
                <a:schemeClr val="dk1"/>
              </a:solidFill>
              <a:latin typeface="Courier New"/>
              <a:ea typeface="Courier New"/>
              <a:cs typeface="Courier New"/>
              <a:sym typeface="Courier New"/>
            </a:endParaRPr>
          </a:p>
        </p:txBody>
      </p:sp>
      <p:sp>
        <p:nvSpPr>
          <p:cNvPr id="170" name="Google Shape;170;h423b657ec3993948_0_33"/>
          <p:cNvSpPr/>
          <p:nvPr/>
        </p:nvSpPr>
        <p:spPr>
          <a:xfrm>
            <a:off x="1181100" y="2405311"/>
            <a:ext cx="27297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"".join(["a","b"]) </a:t>
            </a:r>
            <a:r>
              <a:rPr lang="en-US" sz="1200" b="0" i="0" u="none" strike="noStrike" cap="none">
                <a:solidFill>
                  <a:srgbClr val="8A8FA3"/>
                </a:solidFill>
                <a:latin typeface="Courier New"/>
                <a:ea typeface="Courier New"/>
                <a:cs typeface="Courier New"/>
                <a:sym typeface="Courier New"/>
              </a:rPr>
              <a:t># 'ab'</a:t>
            </a:r>
            <a:endParaRPr sz="1200" b="0" i="0" u="none" strike="noStrike" cap="none">
              <a:solidFill>
                <a:schemeClr val="dk1"/>
              </a:solidFill>
              <a:latin typeface="Courier New"/>
              <a:ea typeface="Courier New"/>
              <a:cs typeface="Courier New"/>
              <a:sym typeface="Courier New"/>
            </a:endParaRPr>
          </a:p>
        </p:txBody>
      </p:sp>
      <p:sp>
        <p:nvSpPr>
          <p:cNvPr id="171" name="Google Shape;171;h423b657ec3993948_0_33"/>
          <p:cNvSpPr/>
          <p:nvPr/>
        </p:nvSpPr>
        <p:spPr>
          <a:xfrm>
            <a:off x="1028700" y="2849811"/>
            <a:ext cx="3043500" cy="2484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A6070"/>
              </a:buClr>
              <a:buSzPts val="1300"/>
              <a:buFont typeface="Arial"/>
              <a:buNone/>
            </a:pPr>
            <a:r>
              <a:rPr lang="en-US" sz="1300" b="0" i="0" u="none" strike="noStrike" cap="none">
                <a:solidFill>
                  <a:srgbClr val="5A6070"/>
                </a:solidFill>
                <a:latin typeface="Arial"/>
                <a:ea typeface="Arial"/>
                <a:cs typeface="Arial"/>
                <a:sym typeface="Arial"/>
              </a:rPr>
              <a:t>k = # characters in the resulting string</a:t>
            </a:r>
            <a:endParaRPr sz="1300" b="0" i="0" u="none" strike="noStrike" cap="none">
              <a:solidFill>
                <a:schemeClr val="dk1"/>
              </a:solidFill>
              <a:latin typeface="Courier New"/>
              <a:ea typeface="Courier New"/>
              <a:cs typeface="Courier New"/>
              <a:sym typeface="Courier New"/>
            </a:endParaRPr>
          </a:p>
        </p:txBody>
      </p:sp>
      <p:sp>
        <p:nvSpPr>
          <p:cNvPr id="172" name="Google Shape;172;h423b657ec3993948_0_33"/>
          <p:cNvSpPr/>
          <p:nvPr/>
        </p:nvSpPr>
        <p:spPr>
          <a:xfrm>
            <a:off x="4408984" y="1121370"/>
            <a:ext cx="3374100" cy="2370900"/>
          </a:xfrm>
          <a:prstGeom prst="roundRect">
            <a:avLst>
              <a:gd name="adj" fmla="val 3482"/>
            </a:avLst>
          </a:prstGeom>
          <a:solidFill>
            <a:srgbClr val="FFFFFF"/>
          </a:solidFill>
          <a:ln w="16925" cap="flat" cmpd="sng">
            <a:solidFill>
              <a:srgbClr val="D8DB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h423b657ec3993948_0_33"/>
          <p:cNvSpPr/>
          <p:nvPr/>
        </p:nvSpPr>
        <p:spPr>
          <a:xfrm>
            <a:off x="4618534" y="1318220"/>
            <a:ext cx="10155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F2233"/>
              </a:buClr>
              <a:buSzPts val="2000"/>
              <a:buFont typeface="Arial"/>
              <a:buNone/>
            </a:pPr>
            <a:r>
              <a:rPr lang="en-US" sz="2000" b="1" i="0" u="none" strike="noStrike" cap="none">
                <a:solidFill>
                  <a:srgbClr val="1F2233"/>
                </a:solidFill>
                <a:latin typeface="Arial"/>
                <a:ea typeface="Arial"/>
                <a:cs typeface="Arial"/>
                <a:sym typeface="Arial"/>
              </a:rPr>
              <a:t>Length</a:t>
            </a:r>
            <a:endParaRPr sz="2000" b="0" i="0" u="none" strike="noStrike" cap="none">
              <a:solidFill>
                <a:schemeClr val="dk1"/>
              </a:solidFill>
              <a:latin typeface="Courier New"/>
              <a:ea typeface="Courier New"/>
              <a:cs typeface="Courier New"/>
              <a:sym typeface="Courier New"/>
            </a:endParaRPr>
          </a:p>
        </p:txBody>
      </p:sp>
      <p:sp>
        <p:nvSpPr>
          <p:cNvPr id="174" name="Google Shape;174;h423b657ec3993948_0_33"/>
          <p:cNvSpPr/>
          <p:nvPr/>
        </p:nvSpPr>
        <p:spPr>
          <a:xfrm>
            <a:off x="7061269" y="1346150"/>
            <a:ext cx="512100" cy="2745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O(1)</a:t>
            </a:r>
            <a:endParaRPr sz="1500" b="0" i="0" u="none" strike="noStrike" cap="none">
              <a:solidFill>
                <a:schemeClr val="dk1"/>
              </a:solidFill>
              <a:latin typeface="Courier New"/>
              <a:ea typeface="Courier New"/>
              <a:cs typeface="Courier New"/>
              <a:sym typeface="Courier New"/>
            </a:endParaRPr>
          </a:p>
        </p:txBody>
      </p:sp>
      <p:sp>
        <p:nvSpPr>
          <p:cNvPr id="175" name="Google Shape;175;h423b657ec3993948_0_33"/>
          <p:cNvSpPr/>
          <p:nvPr/>
        </p:nvSpPr>
        <p:spPr>
          <a:xfrm>
            <a:off x="4618534" y="1711920"/>
            <a:ext cx="3043500" cy="274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len(s)</a:t>
            </a:r>
            <a:endParaRPr sz="1500" b="0" i="0" u="none" strike="noStrike" cap="none">
              <a:solidFill>
                <a:schemeClr val="dk1"/>
              </a:solidFill>
              <a:latin typeface="Courier New"/>
              <a:ea typeface="Courier New"/>
              <a:cs typeface="Courier New"/>
              <a:sym typeface="Courier New"/>
            </a:endParaRPr>
          </a:p>
        </p:txBody>
      </p:sp>
      <p:sp>
        <p:nvSpPr>
          <p:cNvPr id="176" name="Google Shape;176;h423b657ec3993948_0_33"/>
          <p:cNvSpPr/>
          <p:nvPr/>
        </p:nvSpPr>
        <p:spPr>
          <a:xfrm>
            <a:off x="4618534" y="2049711"/>
            <a:ext cx="2954700" cy="711300"/>
          </a:xfrm>
          <a:prstGeom prst="roundRect">
            <a:avLst>
              <a:gd name="adj" fmla="val 8929"/>
            </a:avLst>
          </a:prstGeom>
          <a:solidFill>
            <a:srgbClr val="1B1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h423b657ec3993948_0_33"/>
          <p:cNvSpPr/>
          <p:nvPr/>
        </p:nvSpPr>
        <p:spPr>
          <a:xfrm>
            <a:off x="4770934" y="2176711"/>
            <a:ext cx="27297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len("python") </a:t>
            </a:r>
            <a:r>
              <a:rPr lang="en-US" sz="1200" b="0" i="0" u="none" strike="noStrike" cap="none">
                <a:solidFill>
                  <a:srgbClr val="8A8FA3"/>
                </a:solidFill>
                <a:latin typeface="Courier New"/>
                <a:ea typeface="Courier New"/>
                <a:cs typeface="Courier New"/>
                <a:sym typeface="Courier New"/>
              </a:rPr>
              <a:t># 6</a:t>
            </a:r>
            <a:endParaRPr sz="1200" b="0" i="0" u="none" strike="noStrike" cap="none">
              <a:solidFill>
                <a:schemeClr val="dk1"/>
              </a:solidFill>
              <a:latin typeface="Courier New"/>
              <a:ea typeface="Courier New"/>
              <a:cs typeface="Courier New"/>
              <a:sym typeface="Courier New"/>
            </a:endParaRPr>
          </a:p>
        </p:txBody>
      </p:sp>
      <p:sp>
        <p:nvSpPr>
          <p:cNvPr id="178" name="Google Shape;178;h423b657ec3993948_0_33"/>
          <p:cNvSpPr/>
          <p:nvPr/>
        </p:nvSpPr>
        <p:spPr>
          <a:xfrm>
            <a:off x="4770934" y="2405311"/>
            <a:ext cx="27297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len("") </a:t>
            </a:r>
            <a:r>
              <a:rPr lang="en-US" sz="1200" b="0" i="0" u="none" strike="noStrike" cap="none">
                <a:solidFill>
                  <a:srgbClr val="8A8FA3"/>
                </a:solidFill>
                <a:latin typeface="Courier New"/>
                <a:ea typeface="Courier New"/>
                <a:cs typeface="Courier New"/>
                <a:sym typeface="Courier New"/>
              </a:rPr>
              <a:t># 0</a:t>
            </a:r>
            <a:endParaRPr sz="1200" b="0" i="0" u="none" strike="noStrike" cap="none">
              <a:solidFill>
                <a:schemeClr val="dk1"/>
              </a:solidFill>
              <a:latin typeface="Courier New"/>
              <a:ea typeface="Courier New"/>
              <a:cs typeface="Courier New"/>
              <a:sym typeface="Courier New"/>
            </a:endParaRPr>
          </a:p>
        </p:txBody>
      </p:sp>
      <p:sp>
        <p:nvSpPr>
          <p:cNvPr id="179" name="Google Shape;179;h423b657ec3993948_0_33"/>
          <p:cNvSpPr/>
          <p:nvPr/>
        </p:nvSpPr>
        <p:spPr>
          <a:xfrm>
            <a:off x="4618534" y="2849811"/>
            <a:ext cx="3043500" cy="4713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A6070"/>
              </a:buClr>
              <a:buSzPts val="1300"/>
              <a:buFont typeface="Arial"/>
              <a:buNone/>
            </a:pPr>
            <a:r>
              <a:rPr lang="en-US" sz="1300" b="0" i="0" u="none" strike="noStrike" cap="none">
                <a:solidFill>
                  <a:srgbClr val="5A6070"/>
                </a:solidFill>
                <a:latin typeface="Arial"/>
                <a:ea typeface="Arial"/>
                <a:cs typeface="Arial"/>
                <a:sym typeface="Arial"/>
              </a:rPr>
              <a:t>Python stores the length, so it is never counted</a:t>
            </a:r>
            <a:endParaRPr sz="1300" b="0" i="0" u="none" strike="noStrike" cap="none">
              <a:solidFill>
                <a:schemeClr val="dk1"/>
              </a:solidFill>
              <a:latin typeface="Courier New"/>
              <a:ea typeface="Courier New"/>
              <a:cs typeface="Courier New"/>
              <a:sym typeface="Courier New"/>
            </a:endParaRPr>
          </a:p>
        </p:txBody>
      </p:sp>
      <p:sp>
        <p:nvSpPr>
          <p:cNvPr id="180" name="Google Shape;180;h423b657ec3993948_0_33"/>
          <p:cNvSpPr/>
          <p:nvPr/>
        </p:nvSpPr>
        <p:spPr>
          <a:xfrm>
            <a:off x="7998867" y="1121370"/>
            <a:ext cx="3374100" cy="2370900"/>
          </a:xfrm>
          <a:prstGeom prst="roundRect">
            <a:avLst>
              <a:gd name="adj" fmla="val 3482"/>
            </a:avLst>
          </a:prstGeom>
          <a:solidFill>
            <a:srgbClr val="FFFFFF"/>
          </a:solidFill>
          <a:ln w="16925" cap="flat" cmpd="sng">
            <a:solidFill>
              <a:srgbClr val="D8DB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h423b657ec3993948_0_33"/>
          <p:cNvSpPr/>
          <p:nvPr/>
        </p:nvSpPr>
        <p:spPr>
          <a:xfrm>
            <a:off x="8208417" y="1318220"/>
            <a:ext cx="13212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F2233"/>
              </a:buClr>
              <a:buSzPts val="2000"/>
              <a:buFont typeface="Arial"/>
              <a:buNone/>
            </a:pPr>
            <a:r>
              <a:rPr lang="en-US" sz="2000" b="1" i="0" u="none" strike="noStrike" cap="none">
                <a:solidFill>
                  <a:srgbClr val="1F2233"/>
                </a:solidFill>
                <a:latin typeface="Arial"/>
                <a:ea typeface="Arial"/>
                <a:cs typeface="Arial"/>
                <a:sym typeface="Arial"/>
              </a:rPr>
              <a:t>Compare</a:t>
            </a:r>
            <a:endParaRPr sz="2000" b="0" i="0" u="none" strike="noStrike" cap="none">
              <a:solidFill>
                <a:schemeClr val="dk1"/>
              </a:solidFill>
              <a:latin typeface="Courier New"/>
              <a:ea typeface="Courier New"/>
              <a:cs typeface="Courier New"/>
              <a:sym typeface="Courier New"/>
            </a:endParaRPr>
          </a:p>
        </p:txBody>
      </p:sp>
      <p:sp>
        <p:nvSpPr>
          <p:cNvPr id="182" name="Google Shape;182;h423b657ec3993948_0_33"/>
          <p:cNvSpPr/>
          <p:nvPr/>
        </p:nvSpPr>
        <p:spPr>
          <a:xfrm>
            <a:off x="10651153" y="1346150"/>
            <a:ext cx="512100" cy="2745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O(k)</a:t>
            </a:r>
            <a:endParaRPr sz="1500" b="0" i="0" u="none" strike="noStrike" cap="none">
              <a:solidFill>
                <a:schemeClr val="dk1"/>
              </a:solidFill>
              <a:latin typeface="Courier New"/>
              <a:ea typeface="Courier New"/>
              <a:cs typeface="Courier New"/>
              <a:sym typeface="Courier New"/>
            </a:endParaRPr>
          </a:p>
        </p:txBody>
      </p:sp>
      <p:sp>
        <p:nvSpPr>
          <p:cNvPr id="183" name="Google Shape;183;h423b657ec3993948_0_33"/>
          <p:cNvSpPr/>
          <p:nvPr/>
        </p:nvSpPr>
        <p:spPr>
          <a:xfrm>
            <a:off x="8208417" y="1711920"/>
            <a:ext cx="3043500" cy="274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s == t, s &lt; t</a:t>
            </a:r>
            <a:endParaRPr sz="1500" b="0" i="0" u="none" strike="noStrike" cap="none">
              <a:solidFill>
                <a:schemeClr val="dk1"/>
              </a:solidFill>
              <a:latin typeface="Courier New"/>
              <a:ea typeface="Courier New"/>
              <a:cs typeface="Courier New"/>
              <a:sym typeface="Courier New"/>
            </a:endParaRPr>
          </a:p>
        </p:txBody>
      </p:sp>
      <p:sp>
        <p:nvSpPr>
          <p:cNvPr id="184" name="Google Shape;184;h423b657ec3993948_0_33"/>
          <p:cNvSpPr/>
          <p:nvPr/>
        </p:nvSpPr>
        <p:spPr>
          <a:xfrm>
            <a:off x="8208417" y="2049711"/>
            <a:ext cx="2954700" cy="711300"/>
          </a:xfrm>
          <a:prstGeom prst="roundRect">
            <a:avLst>
              <a:gd name="adj" fmla="val 8929"/>
            </a:avLst>
          </a:prstGeom>
          <a:solidFill>
            <a:srgbClr val="1B1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h423b657ec3993948_0_33"/>
          <p:cNvSpPr/>
          <p:nvPr/>
        </p:nvSpPr>
        <p:spPr>
          <a:xfrm>
            <a:off x="8360817" y="2176711"/>
            <a:ext cx="27297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"abc" == "abd" </a:t>
            </a:r>
            <a:r>
              <a:rPr lang="en-US" sz="1200" b="0" i="0" u="none" strike="noStrike" cap="none">
                <a:solidFill>
                  <a:srgbClr val="8A8FA3"/>
                </a:solidFill>
                <a:latin typeface="Courier New"/>
                <a:ea typeface="Courier New"/>
                <a:cs typeface="Courier New"/>
                <a:sym typeface="Courier New"/>
              </a:rPr>
              <a:t># False</a:t>
            </a:r>
            <a:endParaRPr sz="1200" b="0" i="0" u="none" strike="noStrike" cap="none">
              <a:solidFill>
                <a:schemeClr val="dk1"/>
              </a:solidFill>
              <a:latin typeface="Courier New"/>
              <a:ea typeface="Courier New"/>
              <a:cs typeface="Courier New"/>
              <a:sym typeface="Courier New"/>
            </a:endParaRPr>
          </a:p>
        </p:txBody>
      </p:sp>
      <p:sp>
        <p:nvSpPr>
          <p:cNvPr id="186" name="Google Shape;186;h423b657ec3993948_0_33"/>
          <p:cNvSpPr/>
          <p:nvPr/>
        </p:nvSpPr>
        <p:spPr>
          <a:xfrm>
            <a:off x="8360817" y="2405311"/>
            <a:ext cx="27297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"abc" &lt; "abd" </a:t>
            </a:r>
            <a:r>
              <a:rPr lang="en-US" sz="1200" b="0" i="0" u="none" strike="noStrike" cap="none">
                <a:solidFill>
                  <a:srgbClr val="8A8FA3"/>
                </a:solidFill>
                <a:latin typeface="Courier New"/>
                <a:ea typeface="Courier New"/>
                <a:cs typeface="Courier New"/>
                <a:sym typeface="Courier New"/>
              </a:rPr>
              <a:t># True</a:t>
            </a:r>
            <a:endParaRPr sz="1200" b="0" i="0" u="none" strike="noStrike" cap="none">
              <a:solidFill>
                <a:schemeClr val="dk1"/>
              </a:solidFill>
              <a:latin typeface="Courier New"/>
              <a:ea typeface="Courier New"/>
              <a:cs typeface="Courier New"/>
              <a:sym typeface="Courier New"/>
            </a:endParaRPr>
          </a:p>
        </p:txBody>
      </p:sp>
      <p:sp>
        <p:nvSpPr>
          <p:cNvPr id="187" name="Google Shape;187;h423b657ec3993948_0_33"/>
          <p:cNvSpPr/>
          <p:nvPr/>
        </p:nvSpPr>
        <p:spPr>
          <a:xfrm>
            <a:off x="8208417" y="2849811"/>
            <a:ext cx="3043500" cy="4713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A6070"/>
              </a:buClr>
              <a:buSzPts val="1300"/>
              <a:buFont typeface="Arial"/>
              <a:buNone/>
            </a:pPr>
            <a:r>
              <a:rPr lang="en-US" sz="1300" b="0" i="0" u="none" strike="noStrike" cap="none">
                <a:solidFill>
                  <a:srgbClr val="5A6070"/>
                </a:solidFill>
                <a:latin typeface="Arial"/>
                <a:ea typeface="Arial"/>
                <a:cs typeface="Arial"/>
                <a:sym typeface="Arial"/>
              </a:rPr>
              <a:t>k = # characters checked, up to the first difference</a:t>
            </a:r>
            <a:endParaRPr sz="1300" b="0" i="0" u="none" strike="noStrike" cap="none">
              <a:solidFill>
                <a:schemeClr val="dk1"/>
              </a:solidFill>
              <a:latin typeface="Courier New"/>
              <a:ea typeface="Courier New"/>
              <a:cs typeface="Courier New"/>
              <a:sym typeface="Courier New"/>
            </a:endParaRPr>
          </a:p>
        </p:txBody>
      </p:sp>
      <p:sp>
        <p:nvSpPr>
          <p:cNvPr id="188" name="Google Shape;188;h423b657ec3993948_0_33"/>
          <p:cNvSpPr/>
          <p:nvPr/>
        </p:nvSpPr>
        <p:spPr>
          <a:xfrm>
            <a:off x="819150" y="3682851"/>
            <a:ext cx="3390900" cy="2370900"/>
          </a:xfrm>
          <a:prstGeom prst="roundRect">
            <a:avLst>
              <a:gd name="adj" fmla="val 3482"/>
            </a:avLst>
          </a:prstGeom>
          <a:solidFill>
            <a:srgbClr val="FFFFFF"/>
          </a:solidFill>
          <a:ln w="16925" cap="flat" cmpd="sng">
            <a:solidFill>
              <a:srgbClr val="D8DB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h423b657ec3993948_0_33"/>
          <p:cNvSpPr/>
          <p:nvPr/>
        </p:nvSpPr>
        <p:spPr>
          <a:xfrm>
            <a:off x="1028700" y="3879701"/>
            <a:ext cx="19413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F2233"/>
              </a:buClr>
              <a:buSzPts val="2000"/>
              <a:buFont typeface="Arial"/>
              <a:buNone/>
            </a:pPr>
            <a:r>
              <a:rPr lang="en-US" sz="2000" b="1" i="0" u="none" strike="noStrike" cap="none">
                <a:solidFill>
                  <a:srgbClr val="1F2233"/>
                </a:solidFill>
                <a:latin typeface="Arial"/>
                <a:ea typeface="Arial"/>
                <a:cs typeface="Arial"/>
                <a:sym typeface="Arial"/>
              </a:rPr>
              <a:t>Concatenation</a:t>
            </a:r>
            <a:endParaRPr sz="2000" b="0" i="0" u="none" strike="noStrike" cap="none">
              <a:solidFill>
                <a:schemeClr val="dk1"/>
              </a:solidFill>
              <a:latin typeface="Courier New"/>
              <a:ea typeface="Courier New"/>
              <a:cs typeface="Courier New"/>
              <a:sym typeface="Courier New"/>
            </a:endParaRPr>
          </a:p>
        </p:txBody>
      </p:sp>
      <p:sp>
        <p:nvSpPr>
          <p:cNvPr id="190" name="Google Shape;190;h423b657ec3993948_0_33"/>
          <p:cNvSpPr/>
          <p:nvPr/>
        </p:nvSpPr>
        <p:spPr>
          <a:xfrm>
            <a:off x="2976205" y="3907631"/>
            <a:ext cx="1024500" cy="2745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O(n + m)</a:t>
            </a:r>
            <a:endParaRPr sz="1500" b="0" i="0" u="none" strike="noStrike" cap="none">
              <a:solidFill>
                <a:schemeClr val="dk1"/>
              </a:solidFill>
              <a:latin typeface="Courier New"/>
              <a:ea typeface="Courier New"/>
              <a:cs typeface="Courier New"/>
              <a:sym typeface="Courier New"/>
            </a:endParaRPr>
          </a:p>
        </p:txBody>
      </p:sp>
      <p:sp>
        <p:nvSpPr>
          <p:cNvPr id="191" name="Google Shape;191;h423b657ec3993948_0_33"/>
          <p:cNvSpPr/>
          <p:nvPr/>
        </p:nvSpPr>
        <p:spPr>
          <a:xfrm>
            <a:off x="1028700" y="4273401"/>
            <a:ext cx="3060900" cy="274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s + t</a:t>
            </a:r>
            <a:endParaRPr sz="1500" b="0" i="0" u="none" strike="noStrike" cap="none">
              <a:solidFill>
                <a:schemeClr val="dk1"/>
              </a:solidFill>
              <a:latin typeface="Courier New"/>
              <a:ea typeface="Courier New"/>
              <a:cs typeface="Courier New"/>
              <a:sym typeface="Courier New"/>
            </a:endParaRPr>
          </a:p>
        </p:txBody>
      </p:sp>
      <p:sp>
        <p:nvSpPr>
          <p:cNvPr id="192" name="Google Shape;192;h423b657ec3993948_0_33"/>
          <p:cNvSpPr/>
          <p:nvPr/>
        </p:nvSpPr>
        <p:spPr>
          <a:xfrm>
            <a:off x="1028700" y="4611191"/>
            <a:ext cx="2972100" cy="711300"/>
          </a:xfrm>
          <a:prstGeom prst="roundRect">
            <a:avLst>
              <a:gd name="adj" fmla="val 8929"/>
            </a:avLst>
          </a:prstGeom>
          <a:solidFill>
            <a:srgbClr val="1B1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h423b657ec3993948_0_33"/>
          <p:cNvSpPr/>
          <p:nvPr/>
        </p:nvSpPr>
        <p:spPr>
          <a:xfrm>
            <a:off x="1181100" y="4738191"/>
            <a:ext cx="27471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"py" + "thon" </a:t>
            </a:r>
            <a:r>
              <a:rPr lang="en-US" sz="1200" b="0" i="0" u="none" strike="noStrike" cap="none">
                <a:solidFill>
                  <a:srgbClr val="8A8FA3"/>
                </a:solidFill>
                <a:latin typeface="Courier New"/>
                <a:ea typeface="Courier New"/>
                <a:cs typeface="Courier New"/>
                <a:sym typeface="Courier New"/>
              </a:rPr>
              <a:t># 'python'</a:t>
            </a:r>
            <a:endParaRPr sz="1200" b="0" i="0" u="none" strike="noStrike" cap="none">
              <a:solidFill>
                <a:schemeClr val="dk1"/>
              </a:solidFill>
              <a:latin typeface="Courier New"/>
              <a:ea typeface="Courier New"/>
              <a:cs typeface="Courier New"/>
              <a:sym typeface="Courier New"/>
            </a:endParaRPr>
          </a:p>
        </p:txBody>
      </p:sp>
      <p:sp>
        <p:nvSpPr>
          <p:cNvPr id="194" name="Google Shape;194;h423b657ec3993948_0_33"/>
          <p:cNvSpPr/>
          <p:nvPr/>
        </p:nvSpPr>
        <p:spPr>
          <a:xfrm>
            <a:off x="1181100" y="4966791"/>
            <a:ext cx="27471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s += "!" </a:t>
            </a:r>
            <a:r>
              <a:rPr lang="en-US" sz="1200" b="0" i="0" u="none" strike="noStrike" cap="none">
                <a:solidFill>
                  <a:srgbClr val="8A8FA3"/>
                </a:solidFill>
                <a:latin typeface="Courier New"/>
                <a:ea typeface="Courier New"/>
                <a:cs typeface="Courier New"/>
                <a:sym typeface="Courier New"/>
              </a:rPr>
              <a:t># new string</a:t>
            </a:r>
            <a:endParaRPr sz="1200" b="0" i="0" u="none" strike="noStrike" cap="none">
              <a:solidFill>
                <a:schemeClr val="dk1"/>
              </a:solidFill>
              <a:latin typeface="Courier New"/>
              <a:ea typeface="Courier New"/>
              <a:cs typeface="Courier New"/>
              <a:sym typeface="Courier New"/>
            </a:endParaRPr>
          </a:p>
        </p:txBody>
      </p:sp>
      <p:sp>
        <p:nvSpPr>
          <p:cNvPr id="195" name="Google Shape;195;h423b657ec3993948_0_33"/>
          <p:cNvSpPr/>
          <p:nvPr/>
        </p:nvSpPr>
        <p:spPr>
          <a:xfrm>
            <a:off x="1028700" y="5411291"/>
            <a:ext cx="3060900" cy="4713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A6070"/>
              </a:buClr>
              <a:buSzPts val="1300"/>
              <a:buFont typeface="Arial"/>
              <a:buNone/>
            </a:pPr>
            <a:r>
              <a:rPr lang="en-US" sz="1300" b="0" i="0" u="none" strike="noStrike" cap="none">
                <a:solidFill>
                  <a:srgbClr val="5A6070"/>
                </a:solidFill>
                <a:latin typeface="Arial"/>
                <a:ea typeface="Arial"/>
                <a:cs typeface="Arial"/>
                <a:sym typeface="Arial"/>
              </a:rPr>
              <a:t>n, m = lengths of both. Strings are immutable, so a copy is made</a:t>
            </a:r>
            <a:endParaRPr sz="1300" b="0" i="0" u="none" strike="noStrike" cap="none">
              <a:solidFill>
                <a:schemeClr val="dk1"/>
              </a:solidFill>
              <a:latin typeface="Courier New"/>
              <a:ea typeface="Courier New"/>
              <a:cs typeface="Courier New"/>
              <a:sym typeface="Courier New"/>
            </a:endParaRPr>
          </a:p>
        </p:txBody>
      </p:sp>
      <p:sp>
        <p:nvSpPr>
          <p:cNvPr id="196" name="Google Shape;196;h423b657ec3993948_0_33"/>
          <p:cNvSpPr/>
          <p:nvPr/>
        </p:nvSpPr>
        <p:spPr>
          <a:xfrm>
            <a:off x="4425950" y="3682851"/>
            <a:ext cx="3390900" cy="2370900"/>
          </a:xfrm>
          <a:prstGeom prst="roundRect">
            <a:avLst>
              <a:gd name="adj" fmla="val 3482"/>
            </a:avLst>
          </a:prstGeom>
          <a:solidFill>
            <a:srgbClr val="FFFFFF"/>
          </a:solidFill>
          <a:ln w="16925" cap="flat" cmpd="sng">
            <a:solidFill>
              <a:srgbClr val="D8DB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h423b657ec3993948_0_33"/>
          <p:cNvSpPr/>
          <p:nvPr/>
        </p:nvSpPr>
        <p:spPr>
          <a:xfrm>
            <a:off x="4635500" y="3879701"/>
            <a:ext cx="1016700" cy="33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F2233"/>
              </a:buClr>
              <a:buSzPts val="2000"/>
              <a:buFont typeface="Arial"/>
              <a:buNone/>
            </a:pPr>
            <a:r>
              <a:rPr lang="en-US" sz="2000" b="1" i="0" u="none" strike="noStrike" cap="none">
                <a:solidFill>
                  <a:srgbClr val="1F2233"/>
                </a:solidFill>
                <a:latin typeface="Arial"/>
                <a:ea typeface="Arial"/>
                <a:cs typeface="Arial"/>
                <a:sym typeface="Arial"/>
              </a:rPr>
              <a:t>Search</a:t>
            </a:r>
            <a:endParaRPr sz="2000" b="0" i="0" u="none" strike="noStrike" cap="none">
              <a:solidFill>
                <a:schemeClr val="dk1"/>
              </a:solidFill>
              <a:latin typeface="Courier New"/>
              <a:ea typeface="Courier New"/>
              <a:cs typeface="Courier New"/>
              <a:sym typeface="Courier New"/>
            </a:endParaRPr>
          </a:p>
        </p:txBody>
      </p:sp>
      <p:sp>
        <p:nvSpPr>
          <p:cNvPr id="198" name="Google Shape;198;h423b657ec3993948_0_33"/>
          <p:cNvSpPr/>
          <p:nvPr/>
        </p:nvSpPr>
        <p:spPr>
          <a:xfrm>
            <a:off x="6583005" y="3907631"/>
            <a:ext cx="1024500" cy="2745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O(n + m)</a:t>
            </a:r>
            <a:endParaRPr sz="1500" b="0" i="0" u="none" strike="noStrike" cap="none">
              <a:solidFill>
                <a:schemeClr val="dk1"/>
              </a:solidFill>
              <a:latin typeface="Courier New"/>
              <a:ea typeface="Courier New"/>
              <a:cs typeface="Courier New"/>
              <a:sym typeface="Courier New"/>
            </a:endParaRPr>
          </a:p>
        </p:txBody>
      </p:sp>
      <p:sp>
        <p:nvSpPr>
          <p:cNvPr id="199" name="Google Shape;199;h423b657ec3993948_0_33"/>
          <p:cNvSpPr/>
          <p:nvPr/>
        </p:nvSpPr>
        <p:spPr>
          <a:xfrm>
            <a:off x="4635500" y="4273401"/>
            <a:ext cx="3060900" cy="274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9B8A"/>
              </a:buClr>
              <a:buSzPts val="1500"/>
              <a:buFont typeface="Courier New"/>
              <a:buNone/>
            </a:pPr>
            <a:r>
              <a:rPr lang="en-US" sz="1500" b="1" i="0" u="none" strike="noStrike" cap="none">
                <a:solidFill>
                  <a:srgbClr val="3F9B8A"/>
                </a:solidFill>
                <a:latin typeface="Courier New"/>
                <a:ea typeface="Courier New"/>
                <a:cs typeface="Courier New"/>
                <a:sym typeface="Courier New"/>
              </a:rPr>
              <a:t>t in s, s.find(t)</a:t>
            </a:r>
            <a:endParaRPr sz="1500" b="0" i="0" u="none" strike="noStrike" cap="none">
              <a:solidFill>
                <a:schemeClr val="dk1"/>
              </a:solidFill>
              <a:latin typeface="Courier New"/>
              <a:ea typeface="Courier New"/>
              <a:cs typeface="Courier New"/>
              <a:sym typeface="Courier New"/>
            </a:endParaRPr>
          </a:p>
        </p:txBody>
      </p:sp>
      <p:sp>
        <p:nvSpPr>
          <p:cNvPr id="200" name="Google Shape;200;h423b657ec3993948_0_33"/>
          <p:cNvSpPr/>
          <p:nvPr/>
        </p:nvSpPr>
        <p:spPr>
          <a:xfrm>
            <a:off x="4635500" y="4611191"/>
            <a:ext cx="2972100" cy="711300"/>
          </a:xfrm>
          <a:prstGeom prst="roundRect">
            <a:avLst>
              <a:gd name="adj" fmla="val 8929"/>
            </a:avLst>
          </a:prstGeom>
          <a:solidFill>
            <a:srgbClr val="1B1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h423b657ec3993948_0_33"/>
          <p:cNvSpPr/>
          <p:nvPr/>
        </p:nvSpPr>
        <p:spPr>
          <a:xfrm>
            <a:off x="4787900" y="4738191"/>
            <a:ext cx="27471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"yth" in "python" </a:t>
            </a:r>
            <a:r>
              <a:rPr lang="en-US" sz="1200" b="0" i="0" u="none" strike="noStrike" cap="none">
                <a:solidFill>
                  <a:srgbClr val="8A8FA3"/>
                </a:solidFill>
                <a:latin typeface="Courier New"/>
                <a:ea typeface="Courier New"/>
                <a:cs typeface="Courier New"/>
                <a:sym typeface="Courier New"/>
              </a:rPr>
              <a:t># True</a:t>
            </a:r>
            <a:endParaRPr sz="1200" b="0" i="0" u="none" strike="noStrike" cap="none">
              <a:solidFill>
                <a:schemeClr val="dk1"/>
              </a:solidFill>
              <a:latin typeface="Courier New"/>
              <a:ea typeface="Courier New"/>
              <a:cs typeface="Courier New"/>
              <a:sym typeface="Courier New"/>
            </a:endParaRPr>
          </a:p>
        </p:txBody>
      </p:sp>
      <p:sp>
        <p:nvSpPr>
          <p:cNvPr id="202" name="Google Shape;202;h423b657ec3993948_0_33"/>
          <p:cNvSpPr/>
          <p:nvPr/>
        </p:nvSpPr>
        <p:spPr>
          <a:xfrm>
            <a:off x="4787900" y="4966791"/>
            <a:ext cx="2747100" cy="254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E6E8F0"/>
              </a:buClr>
              <a:buSzPts val="1200"/>
              <a:buFont typeface="Courier New"/>
              <a:buNone/>
            </a:pPr>
            <a:r>
              <a:rPr lang="en-US" sz="1200" b="0" i="0" u="none" strike="noStrike" cap="none">
                <a:solidFill>
                  <a:srgbClr val="E6E8F0"/>
                </a:solidFill>
                <a:latin typeface="Courier New"/>
                <a:ea typeface="Courier New"/>
                <a:cs typeface="Courier New"/>
                <a:sym typeface="Courier New"/>
              </a:rPr>
              <a:t>"python".find("h") </a:t>
            </a:r>
            <a:r>
              <a:rPr lang="en-US" sz="1200" b="0" i="0" u="none" strike="noStrike" cap="none">
                <a:solidFill>
                  <a:srgbClr val="8A8FA3"/>
                </a:solidFill>
                <a:latin typeface="Courier New"/>
                <a:ea typeface="Courier New"/>
                <a:cs typeface="Courier New"/>
                <a:sym typeface="Courier New"/>
              </a:rPr>
              <a:t># 3</a:t>
            </a:r>
            <a:endParaRPr sz="1200" b="0" i="0" u="none" strike="noStrike" cap="none">
              <a:solidFill>
                <a:schemeClr val="dk1"/>
              </a:solidFill>
              <a:latin typeface="Courier New"/>
              <a:ea typeface="Courier New"/>
              <a:cs typeface="Courier New"/>
              <a:sym typeface="Courier New"/>
            </a:endParaRPr>
          </a:p>
        </p:txBody>
      </p:sp>
      <p:sp>
        <p:nvSpPr>
          <p:cNvPr id="203" name="Google Shape;203;h423b657ec3993948_0_33"/>
          <p:cNvSpPr/>
          <p:nvPr/>
        </p:nvSpPr>
        <p:spPr>
          <a:xfrm>
            <a:off x="4635500" y="5411291"/>
            <a:ext cx="3060900" cy="4713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A6070"/>
              </a:buClr>
              <a:buSzPts val="1300"/>
              <a:buFont typeface="Arial"/>
              <a:buNone/>
            </a:pPr>
            <a:r>
              <a:rPr lang="en-US" sz="1300" b="0" i="0" u="none" strike="noStrike" cap="none">
                <a:solidFill>
                  <a:srgbClr val="5A6070"/>
                </a:solidFill>
                <a:latin typeface="Arial"/>
                <a:ea typeface="Arial"/>
                <a:cs typeface="Arial"/>
                <a:sym typeface="Arial"/>
              </a:rPr>
              <a:t>n = len(s), m = len(t). find returns the first index, or -1</a:t>
            </a:r>
            <a:endParaRPr sz="1300" b="0" i="0" u="none" strike="noStrike" cap="none">
              <a:solidFill>
                <a:schemeClr val="dk1"/>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8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9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9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8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9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9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65" grpId="0"/>
      <p:bldP spid="166" grpId="0"/>
      <p:bldP spid="167" grpId="0"/>
      <p:bldP spid="168" grpId="0" animBg="1"/>
      <p:bldP spid="169" grpId="0"/>
      <p:bldP spid="170" grpId="0"/>
      <p:bldP spid="171" grpId="0"/>
      <p:bldP spid="172" grpId="0" animBg="1"/>
      <p:bldP spid="173" grpId="0"/>
      <p:bldP spid="174" grpId="0"/>
      <p:bldP spid="175" grpId="0"/>
      <p:bldP spid="176" grpId="0" animBg="1"/>
      <p:bldP spid="177" grpId="0"/>
      <p:bldP spid="178" grpId="0"/>
      <p:bldP spid="179" grpId="0"/>
      <p:bldP spid="180" grpId="0" animBg="1"/>
      <p:bldP spid="181" grpId="0"/>
      <p:bldP spid="182" grpId="0"/>
      <p:bldP spid="183" grpId="0"/>
      <p:bldP spid="184" grpId="0" animBg="1"/>
      <p:bldP spid="185" grpId="0"/>
      <p:bldP spid="186" grpId="0"/>
      <p:bldP spid="187" grpId="0"/>
      <p:bldP spid="188" grpId="0" animBg="1"/>
      <p:bldP spid="189" grpId="0"/>
      <p:bldP spid="190" grpId="0"/>
      <p:bldP spid="191" grpId="0"/>
      <p:bldP spid="192" grpId="0" animBg="1"/>
      <p:bldP spid="193" grpId="0"/>
      <p:bldP spid="194" grpId="0"/>
      <p:bldP spid="195" grpId="0"/>
      <p:bldP spid="196" grpId="0" animBg="1"/>
      <p:bldP spid="197" grpId="0"/>
      <p:bldP spid="198" grpId="0"/>
      <p:bldP spid="199" grpId="0"/>
      <p:bldP spid="200" grpId="0" animBg="1"/>
      <p:bldP spid="201" grpId="0"/>
      <p:bldP spid="202" grpId="0"/>
      <p:bldP spid="2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6"/>
          <p:cNvSpPr txBox="1"/>
          <p:nvPr/>
        </p:nvSpPr>
        <p:spPr>
          <a:xfrm>
            <a:off x="548640" y="685800"/>
            <a:ext cx="54864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F63"/>
              </a:buClr>
              <a:buSzPts val="3000"/>
              <a:buFont typeface="Arial"/>
              <a:buNone/>
            </a:pPr>
            <a:r>
              <a:rPr lang="en-US" sz="3000" b="1">
                <a:solidFill>
                  <a:srgbClr val="3A3F63"/>
                </a:solidFill>
                <a:latin typeface="Arial"/>
                <a:ea typeface="Arial"/>
                <a:cs typeface="Arial"/>
                <a:sym typeface="Arial"/>
              </a:rPr>
              <a:t>Defining a string</a:t>
            </a:r>
            <a:endParaRPr sz="3000">
              <a:solidFill>
                <a:schemeClr val="dk1"/>
              </a:solidFill>
              <a:latin typeface="Calibri"/>
              <a:ea typeface="Calibri"/>
              <a:cs typeface="Calibri"/>
              <a:sym typeface="Calibri"/>
            </a:endParaRPr>
          </a:p>
        </p:txBody>
      </p:sp>
      <p:sp>
        <p:nvSpPr>
          <p:cNvPr id="210" name="Google Shape;210;p6"/>
          <p:cNvSpPr txBox="1"/>
          <p:nvPr/>
        </p:nvSpPr>
        <p:spPr>
          <a:xfrm>
            <a:off x="548641" y="1497330"/>
            <a:ext cx="4480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Formatted string literals (f-strings) allow you to interpolate values into your strings and format them as needed.</a:t>
            </a:r>
            <a:endParaRPr sz="1400">
              <a:solidFill>
                <a:schemeClr val="dk1"/>
              </a:solidFill>
              <a:latin typeface="Calibri"/>
              <a:ea typeface="Calibri"/>
              <a:cs typeface="Calibri"/>
              <a:sym typeface="Calibri"/>
            </a:endParaRPr>
          </a:p>
        </p:txBody>
      </p:sp>
      <p:sp>
        <p:nvSpPr>
          <p:cNvPr id="211" name="Google Shape;211;p6"/>
          <p:cNvSpPr txBox="1"/>
          <p:nvPr/>
        </p:nvSpPr>
        <p:spPr>
          <a:xfrm>
            <a:off x="548641" y="1414780"/>
            <a:ext cx="51206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F63"/>
              </a:buClr>
              <a:buSzPts val="1450"/>
              <a:buFont typeface="Arial"/>
              <a:buNone/>
            </a:pPr>
            <a:r>
              <a:rPr lang="en-US" sz="1450" b="1">
                <a:solidFill>
                  <a:srgbClr val="3A3F63"/>
                </a:solidFill>
                <a:latin typeface="Arial"/>
                <a:ea typeface="Arial"/>
                <a:cs typeface="Arial"/>
                <a:sym typeface="Arial"/>
              </a:rPr>
              <a:t>Formatted String Literals:</a:t>
            </a:r>
            <a:endParaRPr sz="1450">
              <a:solidFill>
                <a:schemeClr val="dk1"/>
              </a:solidFill>
              <a:latin typeface="Calibri"/>
              <a:ea typeface="Calibri"/>
              <a:cs typeface="Calibri"/>
              <a:sym typeface="Calibri"/>
            </a:endParaRPr>
          </a:p>
        </p:txBody>
      </p:sp>
      <p:sp>
        <p:nvSpPr>
          <p:cNvPr id="212" name="Google Shape;212;p6"/>
          <p:cNvSpPr/>
          <p:nvPr/>
        </p:nvSpPr>
        <p:spPr>
          <a:xfrm>
            <a:off x="548641" y="2240280"/>
            <a:ext cx="4480560" cy="1188720"/>
          </a:xfrm>
          <a:prstGeom prst="roundRect">
            <a:avLst>
              <a:gd name="adj" fmla="val 6154"/>
            </a:avLst>
          </a:prstGeom>
          <a:solidFill>
            <a:srgbClr val="1F2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6"/>
          <p:cNvSpPr txBox="1"/>
          <p:nvPr/>
        </p:nvSpPr>
        <p:spPr>
          <a:xfrm>
            <a:off x="731521" y="2240280"/>
            <a:ext cx="4114800" cy="118872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name = ”Isabelle”</a:t>
            </a:r>
            <a:endParaRPr/>
          </a:p>
          <a:p>
            <a:pPr marL="0" marR="0" lvl="0" indent="0" algn="l" rtl="0">
              <a:lnSpc>
                <a:spcPct val="115000"/>
              </a:lnSpc>
              <a:spcBef>
                <a:spcPts val="0"/>
              </a:spcBef>
              <a:spcAft>
                <a:spcPts val="0"/>
              </a:spcAft>
              <a:buClr>
                <a:schemeClr val="dk1"/>
              </a:buClr>
              <a:buSzPts val="1250"/>
              <a:buFont typeface="Calibri"/>
              <a:buNone/>
            </a:pPr>
            <a:endParaRPr sz="1250">
              <a:solidFill>
                <a:srgbClr val="E8EAF6"/>
              </a:solidFill>
              <a:latin typeface="Courier New"/>
              <a:ea typeface="Courier New"/>
              <a:cs typeface="Courier New"/>
              <a:sym typeface="Courier New"/>
            </a:endParaRPr>
          </a:p>
          <a:p>
            <a:pPr marL="0" marR="0" lvl="0" indent="0" algn="l" rtl="0">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f”Hello, {name}!”</a:t>
            </a:r>
            <a:endParaRPr/>
          </a:p>
          <a:p>
            <a:pPr marL="0" marR="0" lvl="0" indent="0" algn="l" rtl="0">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‘Hello, Isabelle!’</a:t>
            </a:r>
            <a:endParaRPr sz="1250">
              <a:solidFill>
                <a:schemeClr val="dk1"/>
              </a:solidFill>
              <a:latin typeface="Calibri"/>
              <a:ea typeface="Calibri"/>
              <a:cs typeface="Calibri"/>
              <a:sym typeface="Calibri"/>
            </a:endParaRPr>
          </a:p>
        </p:txBody>
      </p:sp>
      <p:sp>
        <p:nvSpPr>
          <p:cNvPr id="214" name="Google Shape;214;p6"/>
          <p:cNvSpPr txBox="1"/>
          <p:nvPr/>
        </p:nvSpPr>
        <p:spPr>
          <a:xfrm>
            <a:off x="548640" y="3713480"/>
            <a:ext cx="4480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You can convert other data types into strings:</a:t>
            </a:r>
            <a:endParaRPr sz="1400">
              <a:solidFill>
                <a:schemeClr val="dk1"/>
              </a:solidFill>
              <a:latin typeface="Calibri"/>
              <a:ea typeface="Calibri"/>
              <a:cs typeface="Calibri"/>
              <a:sym typeface="Calibri"/>
            </a:endParaRPr>
          </a:p>
        </p:txBody>
      </p:sp>
      <p:sp>
        <p:nvSpPr>
          <p:cNvPr id="215" name="Google Shape;215;p6"/>
          <p:cNvSpPr txBox="1"/>
          <p:nvPr/>
        </p:nvSpPr>
        <p:spPr>
          <a:xfrm>
            <a:off x="548640" y="3713480"/>
            <a:ext cx="51206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F63"/>
              </a:buClr>
              <a:buSzPts val="1450"/>
              <a:buFont typeface="Arial"/>
              <a:buNone/>
            </a:pPr>
            <a:r>
              <a:rPr lang="en-US" sz="1450" b="1">
                <a:solidFill>
                  <a:srgbClr val="3A3F63"/>
                </a:solidFill>
                <a:latin typeface="Arial"/>
                <a:ea typeface="Arial"/>
                <a:cs typeface="Arial"/>
                <a:sym typeface="Arial"/>
              </a:rPr>
              <a:t>Built-in str() Function:</a:t>
            </a:r>
            <a:endParaRPr sz="1450">
              <a:solidFill>
                <a:schemeClr val="dk1"/>
              </a:solidFill>
              <a:latin typeface="Calibri"/>
              <a:ea typeface="Calibri"/>
              <a:cs typeface="Calibri"/>
              <a:sym typeface="Calibri"/>
            </a:endParaRPr>
          </a:p>
        </p:txBody>
      </p:sp>
      <p:sp>
        <p:nvSpPr>
          <p:cNvPr id="216" name="Google Shape;216;p6"/>
          <p:cNvSpPr/>
          <p:nvPr/>
        </p:nvSpPr>
        <p:spPr>
          <a:xfrm>
            <a:off x="548640" y="4347210"/>
            <a:ext cx="4480560" cy="2053590"/>
          </a:xfrm>
          <a:prstGeom prst="roundRect">
            <a:avLst>
              <a:gd name="adj" fmla="val 6154"/>
            </a:avLst>
          </a:prstGeom>
          <a:solidFill>
            <a:srgbClr val="1F2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6"/>
          <p:cNvSpPr txBox="1"/>
          <p:nvPr/>
        </p:nvSpPr>
        <p:spPr>
          <a:xfrm>
            <a:off x="731520" y="4206557"/>
            <a:ext cx="4114800" cy="232664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 # ’’ </a:t>
            </a:r>
            <a:endParaRPr/>
          </a:p>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str(42) # '42’ </a:t>
            </a:r>
            <a:endParaRPr/>
          </a:p>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str(3.14) # '3.14’ </a:t>
            </a:r>
            <a:endParaRPr/>
          </a:p>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str([1, 2, 3]) # '[1, 2, 3]’ </a:t>
            </a:r>
            <a:endParaRPr/>
          </a:p>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str({"one": 1, "two": 2, "three": 3}) </a:t>
            </a:r>
            <a:endParaRPr/>
          </a:p>
          <a:p>
            <a:pPr marL="0" marR="0" lvl="0" indent="0" algn="l" rtl="0">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"{'one': 1, 'two': 2, 'three': 3}" </a:t>
            </a: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str({"A", "B", "C"}) </a:t>
            </a:r>
            <a:endParaRPr/>
          </a:p>
          <a:p>
            <a:pPr marL="0" marR="0" lvl="0" indent="0" algn="l" rtl="0">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"{'B', 'C', 'A'}"</a:t>
            </a:r>
            <a:endParaRPr sz="1250">
              <a:solidFill>
                <a:schemeClr val="lt1"/>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P spid="211" grpId="0"/>
      <p:bldP spid="212" grpId="0" animBg="1"/>
      <p:bldP spid="213" grpId="0"/>
      <p:bldP spid="214" grpId="0"/>
      <p:bldP spid="215" grpId="0"/>
      <p:bldP spid="216" grpId="0" animBg="1"/>
      <p:bldP spid="2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7"/>
          <p:cNvSpPr txBox="1"/>
          <p:nvPr/>
        </p:nvSpPr>
        <p:spPr>
          <a:xfrm>
            <a:off x="539622" y="464865"/>
            <a:ext cx="73152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F63"/>
              </a:buClr>
              <a:buSzPts val="3000"/>
              <a:buFont typeface="Arial"/>
              <a:buNone/>
            </a:pPr>
            <a:r>
              <a:rPr lang="en-US" sz="3000" b="1">
                <a:solidFill>
                  <a:srgbClr val="3A3F63"/>
                </a:solidFill>
                <a:latin typeface="Arial"/>
                <a:ea typeface="Arial"/>
                <a:cs typeface="Arial"/>
                <a:sym typeface="Arial"/>
              </a:rPr>
              <a:t>String operations</a:t>
            </a:r>
            <a:endParaRPr sz="3000">
              <a:solidFill>
                <a:schemeClr val="dk1"/>
              </a:solidFill>
              <a:latin typeface="Calibri"/>
              <a:ea typeface="Calibri"/>
              <a:cs typeface="Calibri"/>
              <a:sym typeface="Calibri"/>
            </a:endParaRPr>
          </a:p>
        </p:txBody>
      </p:sp>
      <p:sp>
        <p:nvSpPr>
          <p:cNvPr id="231" name="Google Shape;231;p7"/>
          <p:cNvSpPr txBox="1"/>
          <p:nvPr/>
        </p:nvSpPr>
        <p:spPr>
          <a:xfrm>
            <a:off x="598059" y="1466969"/>
            <a:ext cx="4480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Allows you to repeat a given string a certain </a:t>
            </a:r>
            <a:r>
              <a:rPr lang="en-US" sz="1400" i="1">
                <a:solidFill>
                  <a:srgbClr val="5A6072"/>
                </a:solidFill>
                <a:latin typeface="Calibri"/>
                <a:ea typeface="Calibri"/>
                <a:cs typeface="Calibri"/>
                <a:sym typeface="Calibri"/>
              </a:rPr>
              <a:t>n</a:t>
            </a:r>
            <a:r>
              <a:rPr lang="en-US" sz="1400">
                <a:solidFill>
                  <a:srgbClr val="5A6072"/>
                </a:solidFill>
                <a:latin typeface="Calibri"/>
                <a:ea typeface="Calibri"/>
                <a:cs typeface="Calibri"/>
                <a:sym typeface="Calibri"/>
              </a:rPr>
              <a:t> number of times.</a:t>
            </a:r>
            <a:endParaRPr sz="1400">
              <a:solidFill>
                <a:schemeClr val="dk1"/>
              </a:solidFill>
              <a:latin typeface="Calibri"/>
              <a:ea typeface="Calibri"/>
              <a:cs typeface="Calibri"/>
              <a:sym typeface="Calibri"/>
            </a:endParaRPr>
          </a:p>
        </p:txBody>
      </p:sp>
      <p:sp>
        <p:nvSpPr>
          <p:cNvPr id="233" name="Google Shape;233;p7"/>
          <p:cNvSpPr txBox="1"/>
          <p:nvPr/>
        </p:nvSpPr>
        <p:spPr>
          <a:xfrm>
            <a:off x="598059" y="1384419"/>
            <a:ext cx="51206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F63"/>
              </a:buClr>
              <a:buSzPts val="1450"/>
              <a:buFont typeface="Arial"/>
              <a:buNone/>
            </a:pPr>
            <a:r>
              <a:rPr lang="en-US" sz="1450" b="1">
                <a:solidFill>
                  <a:srgbClr val="3A3F63"/>
                </a:solidFill>
                <a:latin typeface="Arial"/>
                <a:ea typeface="Arial"/>
                <a:cs typeface="Arial"/>
                <a:sym typeface="Arial"/>
              </a:rPr>
              <a:t>Repetition: *</a:t>
            </a:r>
            <a:endParaRPr sz="1450">
              <a:solidFill>
                <a:schemeClr val="dk1"/>
              </a:solidFill>
              <a:latin typeface="Calibri"/>
              <a:ea typeface="Calibri"/>
              <a:cs typeface="Calibri"/>
              <a:sym typeface="Calibri"/>
            </a:endParaRPr>
          </a:p>
        </p:txBody>
      </p:sp>
      <p:sp>
        <p:nvSpPr>
          <p:cNvPr id="234" name="Google Shape;234;p7"/>
          <p:cNvSpPr/>
          <p:nvPr/>
        </p:nvSpPr>
        <p:spPr>
          <a:xfrm>
            <a:off x="598059" y="3749953"/>
            <a:ext cx="4480560" cy="1188720"/>
          </a:xfrm>
          <a:prstGeom prst="roundRect">
            <a:avLst>
              <a:gd name="adj" fmla="val 6154"/>
            </a:avLst>
          </a:prstGeom>
          <a:solidFill>
            <a:srgbClr val="1F2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7"/>
          <p:cNvSpPr txBox="1"/>
          <p:nvPr/>
        </p:nvSpPr>
        <p:spPr>
          <a:xfrm>
            <a:off x="780939" y="3749953"/>
            <a:ext cx="4114800" cy="118872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”a" * 10 </a:t>
            </a:r>
            <a:endParaRPr/>
          </a:p>
          <a:p>
            <a:pPr marL="0" marR="0" lvl="0" indent="0" algn="l" rtl="0">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aaaaaaaaaa </a:t>
            </a:r>
            <a:endParaRPr/>
          </a:p>
          <a:p>
            <a:pPr marL="0" marR="0" lvl="0" indent="0" algn="l" rtl="0">
              <a:lnSpc>
                <a:spcPct val="115000"/>
              </a:lnSpc>
              <a:spcBef>
                <a:spcPts val="0"/>
              </a:spcBef>
              <a:spcAft>
                <a:spcPts val="0"/>
              </a:spcAft>
              <a:buClr>
                <a:schemeClr val="lt1"/>
              </a:buClr>
              <a:buSzPts val="1250"/>
              <a:buFont typeface="Courier New"/>
              <a:buNone/>
            </a:pPr>
            <a:r>
              <a:rPr lang="en-US" sz="1250" i="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10 * "Hi!" </a:t>
            </a:r>
            <a:endParaRPr/>
          </a:p>
          <a:p>
            <a:pPr marL="0" marR="0" lvl="0" indent="0" algn="l" rtl="0">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'Hi!Hi!Hi!Hi!Hi!Hi!Hi!Hi!Hi!Hi!'</a:t>
            </a:r>
            <a:endParaRPr sz="1250">
              <a:solidFill>
                <a:schemeClr val="lt1"/>
              </a:solidFill>
              <a:latin typeface="Courier New"/>
              <a:ea typeface="Courier New"/>
              <a:cs typeface="Courier New"/>
              <a:sym typeface="Courier New"/>
            </a:endParaRPr>
          </a:p>
        </p:txBody>
      </p:sp>
      <p:sp>
        <p:nvSpPr>
          <p:cNvPr id="236" name="Google Shape;236;p7"/>
          <p:cNvSpPr/>
          <p:nvPr/>
        </p:nvSpPr>
        <p:spPr>
          <a:xfrm>
            <a:off x="598059" y="2190870"/>
            <a:ext cx="4480560" cy="803275"/>
          </a:xfrm>
          <a:prstGeom prst="roundRect">
            <a:avLst>
              <a:gd name="adj" fmla="val 6154"/>
            </a:avLst>
          </a:prstGeom>
          <a:solidFill>
            <a:srgbClr val="1F2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7"/>
          <p:cNvSpPr txBox="1"/>
          <p:nvPr/>
        </p:nvSpPr>
        <p:spPr>
          <a:xfrm>
            <a:off x="780939" y="1998147"/>
            <a:ext cx="4114800" cy="118872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new_string = string * n</a:t>
            </a:r>
            <a:endParaRPr/>
          </a:p>
          <a:p>
            <a:pPr marL="0" marR="0" lvl="0" indent="0" algn="l" rtl="0">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new_string = n * string</a:t>
            </a:r>
            <a:endParaRPr/>
          </a:p>
        </p:txBody>
      </p:sp>
      <p:sp>
        <p:nvSpPr>
          <p:cNvPr id="238" name="Google Shape;238;p7"/>
          <p:cNvSpPr txBox="1"/>
          <p:nvPr/>
        </p:nvSpPr>
        <p:spPr>
          <a:xfrm>
            <a:off x="598059" y="2926993"/>
            <a:ext cx="4480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Node that </a:t>
            </a:r>
            <a:r>
              <a:rPr lang="en-US" sz="1400" i="1">
                <a:solidFill>
                  <a:srgbClr val="5A6072"/>
                </a:solidFill>
                <a:latin typeface="Calibri"/>
                <a:ea typeface="Calibri"/>
                <a:cs typeface="Calibri"/>
                <a:sym typeface="Calibri"/>
              </a:rPr>
              <a:t>n</a:t>
            </a:r>
            <a:r>
              <a:rPr lang="en-US" sz="1400">
                <a:solidFill>
                  <a:srgbClr val="5A6072"/>
                </a:solidFill>
                <a:latin typeface="Calibri"/>
                <a:ea typeface="Calibri"/>
                <a:cs typeface="Calibri"/>
                <a:sym typeface="Calibri"/>
              </a:rPr>
              <a:t> is usually a positive integer as 0 or a negative integer will result in returning an empty string. </a:t>
            </a:r>
            <a:endParaRPr sz="1400">
              <a:solidFill>
                <a:schemeClr val="dk1"/>
              </a:solidFill>
              <a:latin typeface="Calibri"/>
              <a:ea typeface="Calibri"/>
              <a:cs typeface="Calibri"/>
              <a:sym typeface="Calibri"/>
            </a:endParaRPr>
          </a:p>
        </p:txBody>
      </p:sp>
      <p:sp>
        <p:nvSpPr>
          <p:cNvPr id="243" name="Google Shape;243;p7"/>
          <p:cNvSpPr txBox="1"/>
          <p:nvPr/>
        </p:nvSpPr>
        <p:spPr>
          <a:xfrm>
            <a:off x="6410000" y="1455446"/>
            <a:ext cx="51206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3F63"/>
              </a:buClr>
              <a:buSzPts val="1450"/>
              <a:buFont typeface="Arial"/>
              <a:buNone/>
            </a:pPr>
            <a:r>
              <a:rPr lang="en-US" sz="1450" b="1">
                <a:solidFill>
                  <a:srgbClr val="3A3F63"/>
                </a:solidFill>
                <a:latin typeface="Arial"/>
                <a:ea typeface="Arial"/>
                <a:cs typeface="Arial"/>
                <a:sym typeface="Arial"/>
              </a:rPr>
              <a:t>More Built-in Functions:</a:t>
            </a:r>
            <a:endParaRPr sz="1450">
              <a:solidFill>
                <a:schemeClr val="dk1"/>
              </a:solidFill>
              <a:latin typeface="Calibri"/>
              <a:ea typeface="Calibri"/>
              <a:cs typeface="Calibri"/>
              <a:sym typeface="Calibri"/>
            </a:endParaRPr>
          </a:p>
        </p:txBody>
      </p:sp>
      <p:sp>
        <p:nvSpPr>
          <p:cNvPr id="244" name="Google Shape;244;p7"/>
          <p:cNvSpPr txBox="1"/>
          <p:nvPr/>
        </p:nvSpPr>
        <p:spPr>
          <a:xfrm>
            <a:off x="6410000" y="1715651"/>
            <a:ext cx="4480560" cy="170162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072"/>
              </a:buClr>
              <a:buSzPts val="1400"/>
              <a:buFont typeface="Calibri"/>
              <a:buNone/>
            </a:pPr>
            <a:r>
              <a:rPr lang="en-US" sz="1400" b="1">
                <a:solidFill>
                  <a:srgbClr val="5A6072"/>
                </a:solidFill>
                <a:latin typeface="Calibri"/>
                <a:ea typeface="Calibri"/>
                <a:cs typeface="Calibri"/>
                <a:sym typeface="Calibri"/>
              </a:rPr>
              <a:t>len(): </a:t>
            </a:r>
            <a:r>
              <a:rPr lang="en-US" sz="1400">
                <a:solidFill>
                  <a:srgbClr val="5A6072"/>
                </a:solidFill>
                <a:latin typeface="Calibri"/>
                <a:ea typeface="Calibri"/>
                <a:cs typeface="Calibri"/>
                <a:sym typeface="Calibri"/>
              </a:rPr>
              <a:t>returns length of string</a:t>
            </a:r>
            <a:endParaRPr/>
          </a:p>
          <a:p>
            <a:pPr marL="0" marR="0" lvl="0" indent="0" algn="l" rtl="0">
              <a:spcBef>
                <a:spcPts val="0"/>
              </a:spcBef>
              <a:spcAft>
                <a:spcPts val="0"/>
              </a:spcAft>
              <a:buClr>
                <a:srgbClr val="5A6072"/>
              </a:buClr>
              <a:buSzPts val="1400"/>
              <a:buFont typeface="Calibri"/>
              <a:buNone/>
            </a:pPr>
            <a:r>
              <a:rPr lang="en-US" sz="1400" b="1">
                <a:solidFill>
                  <a:srgbClr val="5A6072"/>
                </a:solidFill>
                <a:latin typeface="Calibri"/>
                <a:ea typeface="Calibri"/>
                <a:cs typeface="Calibri"/>
                <a:sym typeface="Calibri"/>
              </a:rPr>
              <a:t>str(): </a:t>
            </a:r>
            <a:r>
              <a:rPr lang="en-US" sz="1400">
                <a:solidFill>
                  <a:srgbClr val="5A6072"/>
                </a:solidFill>
                <a:latin typeface="Calibri"/>
                <a:ea typeface="Calibri"/>
                <a:cs typeface="Calibri"/>
                <a:sym typeface="Calibri"/>
              </a:rPr>
              <a:t>returns user-friendly representation of object</a:t>
            </a:r>
            <a:endParaRPr/>
          </a:p>
          <a:p>
            <a:pPr marL="0" marR="0" lvl="0" indent="0" algn="l" rtl="0">
              <a:spcBef>
                <a:spcPts val="0"/>
              </a:spcBef>
              <a:spcAft>
                <a:spcPts val="0"/>
              </a:spcAft>
              <a:buClr>
                <a:srgbClr val="5A6072"/>
              </a:buClr>
              <a:buSzPts val="1400"/>
              <a:buFont typeface="Calibri"/>
              <a:buNone/>
            </a:pPr>
            <a:r>
              <a:rPr lang="en-US" sz="1400" b="1">
                <a:solidFill>
                  <a:srgbClr val="5A6072"/>
                </a:solidFill>
                <a:latin typeface="Calibri"/>
                <a:ea typeface="Calibri"/>
                <a:cs typeface="Calibri"/>
                <a:sym typeface="Calibri"/>
              </a:rPr>
              <a:t>repr(): </a:t>
            </a:r>
            <a:r>
              <a:rPr lang="en-US" sz="1400">
                <a:solidFill>
                  <a:srgbClr val="5A6072"/>
                </a:solidFill>
                <a:latin typeface="Calibri"/>
                <a:ea typeface="Calibri"/>
                <a:cs typeface="Calibri"/>
                <a:sym typeface="Calibri"/>
              </a:rPr>
              <a:t>returns a develop-friendly string representation of an object</a:t>
            </a:r>
            <a:endParaRPr/>
          </a:p>
          <a:p>
            <a:pPr marL="0" marR="0" lvl="0" indent="0" algn="l" rtl="0">
              <a:spcBef>
                <a:spcPts val="0"/>
              </a:spcBef>
              <a:spcAft>
                <a:spcPts val="0"/>
              </a:spcAft>
              <a:buClr>
                <a:srgbClr val="5A6072"/>
              </a:buClr>
              <a:buSzPts val="1400"/>
              <a:buFont typeface="Calibri"/>
              <a:buNone/>
            </a:pPr>
            <a:r>
              <a:rPr lang="en-US" sz="1400" b="1">
                <a:solidFill>
                  <a:srgbClr val="5A6072"/>
                </a:solidFill>
                <a:latin typeface="Calibri"/>
                <a:ea typeface="Calibri"/>
                <a:cs typeface="Calibri"/>
                <a:sym typeface="Calibri"/>
              </a:rPr>
              <a:t>format(): </a:t>
            </a:r>
            <a:r>
              <a:rPr lang="en-US" sz="1400">
                <a:solidFill>
                  <a:srgbClr val="5A6072"/>
                </a:solidFill>
                <a:latin typeface="Calibri"/>
                <a:ea typeface="Calibri"/>
                <a:cs typeface="Calibri"/>
                <a:sym typeface="Calibri"/>
              </a:rPr>
              <a:t>allows for string formatting</a:t>
            </a:r>
            <a:endParaRPr/>
          </a:p>
          <a:p>
            <a:pPr marL="0" marR="0" lvl="0" indent="0" algn="l" rtl="0">
              <a:spcBef>
                <a:spcPts val="0"/>
              </a:spcBef>
              <a:spcAft>
                <a:spcPts val="0"/>
              </a:spcAft>
              <a:buClr>
                <a:srgbClr val="5A6072"/>
              </a:buClr>
              <a:buSzPts val="1400"/>
              <a:buFont typeface="Calibri"/>
              <a:buNone/>
            </a:pPr>
            <a:r>
              <a:rPr lang="en-US" sz="1400" b="1">
                <a:solidFill>
                  <a:srgbClr val="5A6072"/>
                </a:solidFill>
                <a:latin typeface="Calibri"/>
                <a:ea typeface="Calibri"/>
                <a:cs typeface="Calibri"/>
                <a:sym typeface="Calibri"/>
              </a:rPr>
              <a:t>ord(): </a:t>
            </a:r>
            <a:r>
              <a:rPr lang="en-US" sz="1400">
                <a:solidFill>
                  <a:srgbClr val="5A6072"/>
                </a:solidFill>
                <a:latin typeface="Calibri"/>
                <a:ea typeface="Calibri"/>
                <a:cs typeface="Calibri"/>
                <a:sym typeface="Calibri"/>
              </a:rPr>
              <a:t>convert a character to an integer</a:t>
            </a:r>
            <a:endParaRPr/>
          </a:p>
          <a:p>
            <a:pPr marL="0" marR="0" lvl="0" indent="0" algn="l" rtl="0">
              <a:spcBef>
                <a:spcPts val="0"/>
              </a:spcBef>
              <a:spcAft>
                <a:spcPts val="0"/>
              </a:spcAft>
              <a:buClr>
                <a:srgbClr val="5A6072"/>
              </a:buClr>
              <a:buSzPts val="1400"/>
              <a:buFont typeface="Calibri"/>
              <a:buNone/>
            </a:pPr>
            <a:r>
              <a:rPr lang="en-US" sz="1400" b="1">
                <a:solidFill>
                  <a:srgbClr val="5A6072"/>
                </a:solidFill>
                <a:latin typeface="Calibri"/>
                <a:ea typeface="Calibri"/>
                <a:cs typeface="Calibri"/>
                <a:sym typeface="Calibri"/>
              </a:rPr>
              <a:t>chr(): </a:t>
            </a:r>
            <a:r>
              <a:rPr lang="en-US" sz="1400">
                <a:solidFill>
                  <a:srgbClr val="5A6072"/>
                </a:solidFill>
                <a:latin typeface="Calibri"/>
                <a:ea typeface="Calibri"/>
                <a:cs typeface="Calibri"/>
                <a:sym typeface="Calibri"/>
              </a:rPr>
              <a:t>converts an integer to a character</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 grpId="0"/>
      <p:bldP spid="233" grpId="0"/>
      <p:bldP spid="234" grpId="0" animBg="1"/>
      <p:bldP spid="235" grpId="0"/>
      <p:bldP spid="236" grpId="0" animBg="1"/>
      <p:bldP spid="237" grpId="0"/>
      <p:bldP spid="238" grpId="0"/>
      <p:bldP spid="243" grpId="0"/>
      <p:bldP spid="2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8"/>
          <p:cNvSpPr txBox="1">
            <a:spLocks noGrp="1"/>
          </p:cNvSpPr>
          <p:nvPr>
            <p:ph type="title"/>
          </p:nvPr>
        </p:nvSpPr>
        <p:spPr>
          <a:xfrm>
            <a:off x="640080" y="777240"/>
            <a:ext cx="10908792" cy="6400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200"/>
              <a:buFont typeface="Arial"/>
              <a:buNone/>
            </a:pPr>
            <a:r>
              <a:rPr lang="en-US"/>
              <a:t>Important functions</a:t>
            </a:r>
            <a:endParaRPr/>
          </a:p>
        </p:txBody>
      </p:sp>
      <p:sp>
        <p:nvSpPr>
          <p:cNvPr id="251" name="Google Shape;251;p8"/>
          <p:cNvSpPr/>
          <p:nvPr/>
        </p:nvSpPr>
        <p:spPr>
          <a:xfrm>
            <a:off x="640080" y="1600200"/>
            <a:ext cx="10911535" cy="4572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txBox="1"/>
          <p:nvPr/>
        </p:nvSpPr>
        <p:spPr>
          <a:xfrm>
            <a:off x="868680" y="1600200"/>
            <a:ext cx="25603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Method</a:t>
            </a:r>
            <a:endParaRPr sz="1400">
              <a:solidFill>
                <a:schemeClr val="dk1"/>
              </a:solidFill>
              <a:latin typeface="Calibri"/>
              <a:ea typeface="Calibri"/>
              <a:cs typeface="Calibri"/>
              <a:sym typeface="Calibri"/>
            </a:endParaRPr>
          </a:p>
        </p:txBody>
      </p:sp>
      <p:sp>
        <p:nvSpPr>
          <p:cNvPr id="253" name="Google Shape;253;p8"/>
          <p:cNvSpPr txBox="1"/>
          <p:nvPr/>
        </p:nvSpPr>
        <p:spPr>
          <a:xfrm>
            <a:off x="3794760" y="1600200"/>
            <a:ext cx="347472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What it does</a:t>
            </a:r>
            <a:endParaRPr sz="1400">
              <a:solidFill>
                <a:schemeClr val="dk1"/>
              </a:solidFill>
              <a:latin typeface="Calibri"/>
              <a:ea typeface="Calibri"/>
              <a:cs typeface="Calibri"/>
              <a:sym typeface="Calibri"/>
            </a:endParaRPr>
          </a:p>
        </p:txBody>
      </p:sp>
      <p:sp>
        <p:nvSpPr>
          <p:cNvPr id="254" name="Google Shape;254;p8"/>
          <p:cNvSpPr txBox="1"/>
          <p:nvPr/>
        </p:nvSpPr>
        <p:spPr>
          <a:xfrm>
            <a:off x="7635240" y="1600200"/>
            <a:ext cx="3779215"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400"/>
              <a:buFont typeface="Calibri"/>
              <a:buNone/>
            </a:pPr>
            <a:r>
              <a:rPr lang="en-US" sz="1400" b="1">
                <a:solidFill>
                  <a:schemeClr val="lt1"/>
                </a:solidFill>
                <a:latin typeface="Calibri"/>
                <a:ea typeface="Calibri"/>
                <a:cs typeface="Calibri"/>
                <a:sym typeface="Calibri"/>
              </a:rPr>
              <a:t>Example</a:t>
            </a:r>
            <a:endParaRPr sz="1400">
              <a:solidFill>
                <a:schemeClr val="dk1"/>
              </a:solidFill>
              <a:latin typeface="Calibri"/>
              <a:ea typeface="Calibri"/>
              <a:cs typeface="Calibri"/>
              <a:sym typeface="Calibri"/>
            </a:endParaRPr>
          </a:p>
        </p:txBody>
      </p:sp>
      <p:sp>
        <p:nvSpPr>
          <p:cNvPr id="255" name="Google Shape;255;p8"/>
          <p:cNvSpPr/>
          <p:nvPr/>
        </p:nvSpPr>
        <p:spPr>
          <a:xfrm>
            <a:off x="640080" y="2057400"/>
            <a:ext cx="10911535" cy="603504"/>
          </a:xfrm>
          <a:prstGeom prst="rect">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txBox="1"/>
          <p:nvPr/>
        </p:nvSpPr>
        <p:spPr>
          <a:xfrm>
            <a:off x="868680" y="2057400"/>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s.strip()</a:t>
            </a:r>
            <a:endParaRPr sz="1400">
              <a:solidFill>
                <a:schemeClr val="dk1"/>
              </a:solidFill>
              <a:latin typeface="Calibri"/>
              <a:ea typeface="Calibri"/>
              <a:cs typeface="Calibri"/>
              <a:sym typeface="Calibri"/>
            </a:endParaRPr>
          </a:p>
        </p:txBody>
      </p:sp>
      <p:sp>
        <p:nvSpPr>
          <p:cNvPr id="257" name="Google Shape;257;p8"/>
          <p:cNvSpPr txBox="1"/>
          <p:nvPr/>
        </p:nvSpPr>
        <p:spPr>
          <a:xfrm>
            <a:off x="3794760" y="2057400"/>
            <a:ext cx="34747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Trims whitespace from both ends</a:t>
            </a:r>
            <a:endParaRPr sz="1500">
              <a:solidFill>
                <a:schemeClr val="dk1"/>
              </a:solidFill>
              <a:latin typeface="Calibri"/>
              <a:ea typeface="Calibri"/>
              <a:cs typeface="Calibri"/>
              <a:sym typeface="Calibri"/>
            </a:endParaRPr>
          </a:p>
        </p:txBody>
      </p:sp>
      <p:sp>
        <p:nvSpPr>
          <p:cNvPr id="258" name="Google Shape;258;p8"/>
          <p:cNvSpPr txBox="1"/>
          <p:nvPr/>
        </p:nvSpPr>
        <p:spPr>
          <a:xfrm>
            <a:off x="7635240" y="2057400"/>
            <a:ext cx="3779215"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  hi ".strip()  →  'hi'</a:t>
            </a:r>
            <a:endParaRPr sz="1300">
              <a:solidFill>
                <a:schemeClr val="dk1"/>
              </a:solidFill>
              <a:latin typeface="Calibri"/>
              <a:ea typeface="Calibri"/>
              <a:cs typeface="Calibri"/>
              <a:sym typeface="Calibri"/>
            </a:endParaRPr>
          </a:p>
        </p:txBody>
      </p:sp>
      <p:sp>
        <p:nvSpPr>
          <p:cNvPr id="259" name="Google Shape;259;p8"/>
          <p:cNvSpPr/>
          <p:nvPr/>
        </p:nvSpPr>
        <p:spPr>
          <a:xfrm>
            <a:off x="640080" y="2660904"/>
            <a:ext cx="10911535" cy="603504"/>
          </a:xfrm>
          <a:prstGeom prst="rect">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txBox="1"/>
          <p:nvPr/>
        </p:nvSpPr>
        <p:spPr>
          <a:xfrm>
            <a:off x="868680" y="2660904"/>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s.lower()</a:t>
            </a:r>
            <a:endParaRPr sz="1400">
              <a:solidFill>
                <a:schemeClr val="dk1"/>
              </a:solidFill>
              <a:latin typeface="Calibri"/>
              <a:ea typeface="Calibri"/>
              <a:cs typeface="Calibri"/>
              <a:sym typeface="Calibri"/>
            </a:endParaRPr>
          </a:p>
        </p:txBody>
      </p:sp>
      <p:sp>
        <p:nvSpPr>
          <p:cNvPr id="261" name="Google Shape;261;p8"/>
          <p:cNvSpPr txBox="1"/>
          <p:nvPr/>
        </p:nvSpPr>
        <p:spPr>
          <a:xfrm>
            <a:off x="3794760" y="2660904"/>
            <a:ext cx="34747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Changes case (upper() does the reverse)</a:t>
            </a:r>
            <a:endParaRPr sz="1500">
              <a:solidFill>
                <a:schemeClr val="dk1"/>
              </a:solidFill>
              <a:latin typeface="Calibri"/>
              <a:ea typeface="Calibri"/>
              <a:cs typeface="Calibri"/>
              <a:sym typeface="Calibri"/>
            </a:endParaRPr>
          </a:p>
        </p:txBody>
      </p:sp>
      <p:sp>
        <p:nvSpPr>
          <p:cNvPr id="262" name="Google Shape;262;p8"/>
          <p:cNvSpPr txBox="1"/>
          <p:nvPr/>
        </p:nvSpPr>
        <p:spPr>
          <a:xfrm>
            <a:off x="7635240" y="2660904"/>
            <a:ext cx="3779215"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"Hey".lower()  →  'hey'</a:t>
            </a:r>
            <a:endParaRPr sz="1300">
              <a:solidFill>
                <a:schemeClr val="dk1"/>
              </a:solidFill>
              <a:latin typeface="Calibri"/>
              <a:ea typeface="Calibri"/>
              <a:cs typeface="Calibri"/>
              <a:sym typeface="Calibri"/>
            </a:endParaRPr>
          </a:p>
        </p:txBody>
      </p:sp>
      <p:sp>
        <p:nvSpPr>
          <p:cNvPr id="263" name="Google Shape;263;p8"/>
          <p:cNvSpPr/>
          <p:nvPr/>
        </p:nvSpPr>
        <p:spPr>
          <a:xfrm>
            <a:off x="640080" y="3264408"/>
            <a:ext cx="10911535" cy="603504"/>
          </a:xfrm>
          <a:prstGeom prst="rect">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txBox="1"/>
          <p:nvPr/>
        </p:nvSpPr>
        <p:spPr>
          <a:xfrm>
            <a:off x="868680" y="3264408"/>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s.split()</a:t>
            </a:r>
            <a:endParaRPr sz="1400">
              <a:solidFill>
                <a:schemeClr val="dk1"/>
              </a:solidFill>
              <a:latin typeface="Calibri"/>
              <a:ea typeface="Calibri"/>
              <a:cs typeface="Calibri"/>
              <a:sym typeface="Calibri"/>
            </a:endParaRPr>
          </a:p>
        </p:txBody>
      </p:sp>
      <p:sp>
        <p:nvSpPr>
          <p:cNvPr id="265" name="Google Shape;265;p8"/>
          <p:cNvSpPr txBox="1"/>
          <p:nvPr/>
        </p:nvSpPr>
        <p:spPr>
          <a:xfrm>
            <a:off x="3794760" y="3264408"/>
            <a:ext cx="34747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Breaks text into a list of words</a:t>
            </a:r>
            <a:endParaRPr sz="1500">
              <a:solidFill>
                <a:schemeClr val="dk1"/>
              </a:solidFill>
              <a:latin typeface="Calibri"/>
              <a:ea typeface="Calibri"/>
              <a:cs typeface="Calibri"/>
              <a:sym typeface="Calibri"/>
            </a:endParaRPr>
          </a:p>
        </p:txBody>
      </p:sp>
      <p:sp>
        <p:nvSpPr>
          <p:cNvPr id="266" name="Google Shape;266;p8"/>
          <p:cNvSpPr txBox="1"/>
          <p:nvPr/>
        </p:nvSpPr>
        <p:spPr>
          <a:xfrm>
            <a:off x="7635240" y="3264408"/>
            <a:ext cx="3779215"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"a b c".split()  →  ['a', 'b', 'c']</a:t>
            </a:r>
            <a:endParaRPr sz="1300">
              <a:solidFill>
                <a:schemeClr val="dk1"/>
              </a:solidFill>
              <a:latin typeface="Calibri"/>
              <a:ea typeface="Calibri"/>
              <a:cs typeface="Calibri"/>
              <a:sym typeface="Calibri"/>
            </a:endParaRPr>
          </a:p>
        </p:txBody>
      </p:sp>
      <p:sp>
        <p:nvSpPr>
          <p:cNvPr id="275" name="Google Shape;275;p8"/>
          <p:cNvSpPr/>
          <p:nvPr/>
        </p:nvSpPr>
        <p:spPr>
          <a:xfrm>
            <a:off x="635571" y="3866541"/>
            <a:ext cx="10911535" cy="603504"/>
          </a:xfrm>
          <a:prstGeom prst="rect">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txBox="1"/>
          <p:nvPr/>
        </p:nvSpPr>
        <p:spPr>
          <a:xfrm>
            <a:off x="868680" y="3843997"/>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Courier New"/>
              <a:buNone/>
            </a:pPr>
            <a:r>
              <a:rPr lang="en-US" sz="1400" b="1">
                <a:solidFill>
                  <a:schemeClr val="accent2"/>
                </a:solidFill>
                <a:latin typeface="Courier New"/>
                <a:ea typeface="Courier New"/>
                <a:cs typeface="Courier New"/>
                <a:sym typeface="Courier New"/>
              </a:rPr>
              <a:t>s.isalnum()</a:t>
            </a:r>
            <a:endParaRPr sz="1400">
              <a:solidFill>
                <a:schemeClr val="dk1"/>
              </a:solidFill>
              <a:latin typeface="Calibri"/>
              <a:ea typeface="Calibri"/>
              <a:cs typeface="Calibri"/>
              <a:sym typeface="Calibri"/>
            </a:endParaRPr>
          </a:p>
        </p:txBody>
      </p:sp>
      <p:sp>
        <p:nvSpPr>
          <p:cNvPr id="277" name="Google Shape;277;p8"/>
          <p:cNvSpPr txBox="1"/>
          <p:nvPr/>
        </p:nvSpPr>
        <p:spPr>
          <a:xfrm>
            <a:off x="3794760" y="3843997"/>
            <a:ext cx="34747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True if letters and digits only</a:t>
            </a:r>
            <a:endParaRPr sz="1500">
              <a:solidFill>
                <a:schemeClr val="dk1"/>
              </a:solidFill>
              <a:latin typeface="Calibri"/>
              <a:ea typeface="Calibri"/>
              <a:cs typeface="Calibri"/>
              <a:sym typeface="Calibri"/>
            </a:endParaRPr>
          </a:p>
        </p:txBody>
      </p:sp>
      <p:sp>
        <p:nvSpPr>
          <p:cNvPr id="278" name="Google Shape;278;p8"/>
          <p:cNvSpPr txBox="1"/>
          <p:nvPr/>
        </p:nvSpPr>
        <p:spPr>
          <a:xfrm>
            <a:off x="7635240" y="3843997"/>
            <a:ext cx="3779215"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"a1".isalnum()  →  True</a:t>
            </a:r>
            <a:endParaRPr sz="1300">
              <a:solidFill>
                <a:schemeClr val="dk1"/>
              </a:solidFill>
              <a:latin typeface="Calibri"/>
              <a:ea typeface="Calibri"/>
              <a:cs typeface="Calibri"/>
              <a:sym typeface="Calibri"/>
            </a:endParaRPr>
          </a:p>
        </p:txBody>
      </p:sp>
      <p:sp>
        <p:nvSpPr>
          <p:cNvPr id="279" name="Google Shape;279;p8"/>
          <p:cNvSpPr txBox="1"/>
          <p:nvPr/>
        </p:nvSpPr>
        <p:spPr>
          <a:xfrm>
            <a:off x="640080" y="4585166"/>
            <a:ext cx="1091153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i="1">
                <a:solidFill>
                  <a:schemeClr val="accent5"/>
                </a:solidFill>
                <a:latin typeface="Calibri"/>
                <a:ea typeface="Calibri"/>
                <a:cs typeface="Calibri"/>
                <a:sym typeface="Calibri"/>
              </a:rPr>
              <a:t>Every method returns a new value. The original string is never touched.</a:t>
            </a:r>
            <a:endParaRPr sz="1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2" name="Google Shape;312;h63c0e6991457cadf_0_41"/>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3.2 Valid</a:t>
            </a:r>
            <a:r>
              <a:rPr lang="en-US" sz="3200" b="1"/>
              <a:t> Palindrome</a:t>
            </a:r>
            <a:endParaRPr sz="3200"/>
          </a:p>
        </p:txBody>
      </p:sp>
      <p:sp>
        <p:nvSpPr>
          <p:cNvPr id="313" name="Google Shape;313;h63c0e6991457cadf_0_41"/>
          <p:cNvSpPr/>
          <p:nvPr/>
        </p:nvSpPr>
        <p:spPr>
          <a:xfrm>
            <a:off x="640080" y="1600200"/>
            <a:ext cx="4846200" cy="45720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h63c0e6991457cadf_0_41"/>
          <p:cNvSpPr txBox="1"/>
          <p:nvPr/>
        </p:nvSpPr>
        <p:spPr>
          <a:xfrm>
            <a:off x="914400" y="1874520"/>
            <a:ext cx="3017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Problem statement</a:t>
            </a:r>
            <a:endParaRPr sz="2000" b="0" i="0" u="none" strike="noStrike" cap="none">
              <a:solidFill>
                <a:schemeClr val="dk1"/>
              </a:solidFill>
              <a:latin typeface="Calibri"/>
              <a:ea typeface="Calibri"/>
              <a:cs typeface="Calibri"/>
              <a:sym typeface="Calibri"/>
            </a:endParaRPr>
          </a:p>
        </p:txBody>
      </p:sp>
      <p:sp>
        <p:nvSpPr>
          <p:cNvPr id="315" name="Google Shape;315;h63c0e6991457cadf_0_41"/>
          <p:cNvSpPr/>
          <p:nvPr/>
        </p:nvSpPr>
        <p:spPr>
          <a:xfrm>
            <a:off x="4297680" y="1901952"/>
            <a:ext cx="914400" cy="310800"/>
          </a:xfrm>
          <a:prstGeom prst="roundRect">
            <a:avLst>
              <a:gd name="adj" fmla="val 44118"/>
            </a:avLst>
          </a:prstGeom>
          <a:solidFill>
            <a:schemeClr val="accent2">
              <a:alpha val="20000"/>
            </a:schemeClr>
          </a:solid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100"/>
              <a:buFont typeface="Calibri"/>
              <a:buNone/>
            </a:pPr>
            <a:r>
              <a:rPr lang="en-US" sz="1100" b="1" i="0" u="none" strike="noStrike" cap="none">
                <a:solidFill>
                  <a:schemeClr val="dk1"/>
                </a:solidFill>
                <a:latin typeface="Calibri"/>
                <a:ea typeface="Calibri"/>
                <a:cs typeface="Calibri"/>
                <a:sym typeface="Calibri"/>
              </a:rPr>
              <a:t>EASY</a:t>
            </a:r>
            <a:endParaRPr sz="1100" b="0" i="0" u="none" strike="noStrike" cap="none">
              <a:solidFill>
                <a:schemeClr val="dk1"/>
              </a:solidFill>
              <a:latin typeface="Calibri"/>
              <a:ea typeface="Calibri"/>
              <a:cs typeface="Calibri"/>
              <a:sym typeface="Calibri"/>
            </a:endParaRPr>
          </a:p>
        </p:txBody>
      </p:sp>
      <p:sp>
        <p:nvSpPr>
          <p:cNvPr id="316" name="Google Shape;316;h63c0e6991457cadf_0_41"/>
          <p:cNvSpPr txBox="1"/>
          <p:nvPr/>
        </p:nvSpPr>
        <p:spPr>
          <a:xfrm>
            <a:off x="914400" y="2313432"/>
            <a:ext cx="4297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200" b="0" i="1" u="none" strike="noStrike" cap="none">
                <a:solidFill>
                  <a:schemeClr val="accent5"/>
                </a:solidFill>
                <a:latin typeface="Calibri"/>
                <a:ea typeface="Calibri"/>
                <a:cs typeface="Calibri"/>
                <a:sym typeface="Calibri"/>
              </a:rPr>
              <a:t>Author: Anthony Perez</a:t>
            </a:r>
            <a:endParaRPr sz="1200" b="0" i="0" u="none" strike="noStrike" cap="none">
              <a:solidFill>
                <a:schemeClr val="dk1"/>
              </a:solidFill>
              <a:latin typeface="Calibri"/>
              <a:ea typeface="Calibri"/>
              <a:cs typeface="Calibri"/>
              <a:sym typeface="Calibri"/>
            </a:endParaRPr>
          </a:p>
        </p:txBody>
      </p:sp>
      <p:sp>
        <p:nvSpPr>
          <p:cNvPr id="317" name="Google Shape;317;h63c0e6991457cadf_0_41"/>
          <p:cNvSpPr txBox="1"/>
          <p:nvPr/>
        </p:nvSpPr>
        <p:spPr>
          <a:xfrm>
            <a:off x="914400" y="2624328"/>
            <a:ext cx="4297800" cy="1828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accent5"/>
              </a:buClr>
              <a:buSzPts val="1400"/>
              <a:buFont typeface="Calibri"/>
              <a:buNone/>
            </a:pPr>
            <a:r>
              <a:rPr lang="en-US" sz="1400" b="0" i="0" u="none" strike="noStrike" cap="none" dirty="0">
                <a:solidFill>
                  <a:schemeClr val="accent5"/>
                </a:solidFill>
                <a:latin typeface="Calibri"/>
                <a:ea typeface="Calibri"/>
                <a:cs typeface="Calibri"/>
                <a:sym typeface="Calibri"/>
              </a:rPr>
              <a:t>You are tasked with writing a function that determines if a given string s is a valid palindrome. Your function should return a </a:t>
            </a:r>
            <a:r>
              <a:rPr lang="en-US" sz="1400" b="0" i="0" u="none" strike="noStrike" cap="none" dirty="0" err="1">
                <a:solidFill>
                  <a:schemeClr val="accent5"/>
                </a:solidFill>
                <a:latin typeface="Calibri"/>
                <a:ea typeface="Calibri"/>
                <a:cs typeface="Calibri"/>
                <a:sym typeface="Calibri"/>
              </a:rPr>
              <a:t>boolean</a:t>
            </a:r>
            <a:r>
              <a:rPr lang="en-US" sz="1400" b="0" i="0" u="none" strike="noStrike" cap="none" dirty="0">
                <a:solidFill>
                  <a:schemeClr val="accent5"/>
                </a:solidFill>
                <a:latin typeface="Calibri"/>
                <a:ea typeface="Calibri"/>
                <a:cs typeface="Calibri"/>
                <a:sym typeface="Calibri"/>
              </a:rPr>
              <a:t> value as the indicator for whether or not s is a palindrome. For reference, a palindrome is a string that reads the </a:t>
            </a:r>
            <a:r>
              <a:rPr lang="en-US" sz="1400" i="0" u="none" strike="noStrike" cap="none" dirty="0">
                <a:solidFill>
                  <a:schemeClr val="accent5"/>
                </a:solidFill>
                <a:latin typeface="Calibri"/>
                <a:ea typeface="Calibri"/>
                <a:cs typeface="Calibri"/>
                <a:sym typeface="Calibri"/>
              </a:rPr>
              <a:t>same backward as forward, </a:t>
            </a:r>
            <a:r>
              <a:rPr lang="en-US" sz="1400" b="1" i="0" u="none" strike="noStrike" cap="none" dirty="0">
                <a:solidFill>
                  <a:schemeClr val="accent5"/>
                </a:solidFill>
                <a:latin typeface="Calibri"/>
                <a:ea typeface="Calibri"/>
                <a:cs typeface="Calibri"/>
                <a:sym typeface="Calibri"/>
              </a:rPr>
              <a:t>ignoring spaces, punctuation, and capitalization.</a:t>
            </a:r>
            <a:endParaRPr lang="en-US" sz="1400" i="0" u="none" strike="noStrike" cap="none">
              <a:solidFill>
                <a:schemeClr val="accent5"/>
              </a:solidFill>
              <a:latin typeface="Calibri"/>
              <a:ea typeface="Calibri"/>
              <a:cs typeface="Calibri"/>
            </a:endParaRPr>
          </a:p>
        </p:txBody>
      </p:sp>
      <p:sp>
        <p:nvSpPr>
          <p:cNvPr id="318" name="Google Shape;318;h63c0e6991457cadf_0_41"/>
          <p:cNvSpPr txBox="1"/>
          <p:nvPr/>
        </p:nvSpPr>
        <p:spPr>
          <a:xfrm>
            <a:off x="914400" y="4526280"/>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CONSTRAINTS</a:t>
            </a:r>
            <a:endParaRPr sz="1100" b="0" i="0" u="none" strike="noStrike" cap="none">
              <a:solidFill>
                <a:schemeClr val="dk1"/>
              </a:solidFill>
              <a:latin typeface="Calibri"/>
              <a:ea typeface="Calibri"/>
              <a:cs typeface="Calibri"/>
              <a:sym typeface="Calibri"/>
            </a:endParaRPr>
          </a:p>
        </p:txBody>
      </p:sp>
      <p:sp>
        <p:nvSpPr>
          <p:cNvPr id="319" name="Google Shape;319;h63c0e6991457cadf_0_41"/>
          <p:cNvSpPr txBox="1"/>
          <p:nvPr/>
        </p:nvSpPr>
        <p:spPr>
          <a:xfrm>
            <a:off x="914400" y="4800600"/>
            <a:ext cx="4297800" cy="1326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The input string s will have a length between 0 and 10,000 characters.</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The string s will consist of English letters, digits, symbols, and spaces.</a:t>
            </a:r>
            <a:endParaRPr sz="1300" b="0" i="0" u="none" strike="noStrike" cap="none">
              <a:solidFill>
                <a:schemeClr val="dk1"/>
              </a:solidFill>
              <a:latin typeface="Calibri"/>
              <a:ea typeface="Calibri"/>
              <a:cs typeface="Calibri"/>
              <a:sym typeface="Calibri"/>
            </a:endParaRPr>
          </a:p>
        </p:txBody>
      </p:sp>
      <p:sp>
        <p:nvSpPr>
          <p:cNvPr id="320" name="Google Shape;320;h63c0e6991457cadf_0_41"/>
          <p:cNvSpPr/>
          <p:nvPr/>
        </p:nvSpPr>
        <p:spPr>
          <a:xfrm>
            <a:off x="5760725" y="1600200"/>
            <a:ext cx="5790900" cy="1326000"/>
          </a:xfrm>
          <a:prstGeom prst="roundRect">
            <a:avLst>
              <a:gd name="adj" fmla="val 25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h63c0e6991457cadf_0_41"/>
          <p:cNvSpPr txBox="1"/>
          <p:nvPr/>
        </p:nvSpPr>
        <p:spPr>
          <a:xfrm>
            <a:off x="6080760" y="1783080"/>
            <a:ext cx="51507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b="1" i="0" u="none" strike="noStrike" cap="none">
                <a:solidFill>
                  <a:schemeClr val="dk1"/>
                </a:solidFill>
                <a:latin typeface="Calibri"/>
                <a:ea typeface="Calibri"/>
                <a:cs typeface="Calibri"/>
                <a:sym typeface="Calibri"/>
              </a:rPr>
              <a:t>Example 1</a:t>
            </a:r>
            <a:endParaRPr b="0" i="0" u="none" strike="noStrike" cap="none">
              <a:solidFill>
                <a:schemeClr val="dk1"/>
              </a:solidFill>
              <a:latin typeface="Calibri"/>
              <a:ea typeface="Calibri"/>
              <a:cs typeface="Calibri"/>
              <a:sym typeface="Calibri"/>
            </a:endParaRPr>
          </a:p>
        </p:txBody>
      </p:sp>
      <p:sp>
        <p:nvSpPr>
          <p:cNvPr id="322" name="Google Shape;322;h63c0e6991457cadf_0_41"/>
          <p:cNvSpPr txBox="1"/>
          <p:nvPr/>
        </p:nvSpPr>
        <p:spPr>
          <a:xfrm>
            <a:off x="6080760" y="2034485"/>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300" b="0" i="0" u="none" strike="noStrike" cap="none">
                <a:solidFill>
                  <a:schemeClr val="dk1"/>
                </a:solidFill>
                <a:latin typeface="Courier New"/>
                <a:ea typeface="Courier New"/>
                <a:cs typeface="Courier New"/>
                <a:sym typeface="Courier New"/>
              </a:rPr>
              <a:t>Input:   s = "A man, a plan, a canal, Panama"</a:t>
            </a:r>
            <a:endParaRPr sz="1300" b="0" i="0" u="none" strike="noStrike" cap="none">
              <a:solidFill>
                <a:schemeClr val="dk1"/>
              </a:solidFill>
              <a:latin typeface="Calibri"/>
              <a:ea typeface="Calibri"/>
              <a:cs typeface="Calibri"/>
              <a:sym typeface="Calibri"/>
            </a:endParaRPr>
          </a:p>
        </p:txBody>
      </p:sp>
      <p:sp>
        <p:nvSpPr>
          <p:cNvPr id="323" name="Google Shape;323;h63c0e6991457cadf_0_41"/>
          <p:cNvSpPr txBox="1"/>
          <p:nvPr/>
        </p:nvSpPr>
        <p:spPr>
          <a:xfrm>
            <a:off x="6172760" y="1783074"/>
            <a:ext cx="5150700" cy="274200"/>
          </a:xfrm>
          <a:prstGeom prst="rect">
            <a:avLst/>
          </a:prstGeom>
          <a:noFill/>
          <a:ln>
            <a:noFill/>
          </a:ln>
        </p:spPr>
        <p:txBody>
          <a:bodyPr spcFirstLastPara="1" wrap="square" lIns="0" tIns="0" rIns="0" bIns="0" anchor="t" anchorCtr="0">
            <a:noAutofit/>
          </a:bodyPr>
          <a:lstStyle/>
          <a:p>
            <a:pPr marL="3657600" marR="0" lvl="0" indent="0" algn="l" rtl="0">
              <a:spcBef>
                <a:spcPts val="0"/>
              </a:spcBef>
              <a:spcAft>
                <a:spcPts val="0"/>
              </a:spcAft>
              <a:buClr>
                <a:schemeClr val="dk1"/>
              </a:buClr>
              <a:buSzPts val="1400"/>
              <a:buFont typeface="Courier New"/>
              <a:buNone/>
            </a:pPr>
            <a:r>
              <a:rPr lang="en-US" sz="1300" b="1" i="0" u="none" strike="noStrike" cap="none">
                <a:solidFill>
                  <a:schemeClr val="dk1"/>
                </a:solidFill>
                <a:latin typeface="Courier New"/>
                <a:ea typeface="Courier New"/>
                <a:cs typeface="Courier New"/>
                <a:sym typeface="Courier New"/>
              </a:rPr>
              <a:t>Output:  True</a:t>
            </a:r>
            <a:endParaRPr sz="1300" b="0" i="0" u="none" strike="noStrike" cap="none">
              <a:solidFill>
                <a:schemeClr val="dk1"/>
              </a:solidFill>
              <a:latin typeface="Calibri"/>
              <a:ea typeface="Calibri"/>
              <a:cs typeface="Calibri"/>
              <a:sym typeface="Calibri"/>
            </a:endParaRPr>
          </a:p>
        </p:txBody>
      </p:sp>
      <p:sp>
        <p:nvSpPr>
          <p:cNvPr id="324" name="Google Shape;324;h63c0e6991457cadf_0_41"/>
          <p:cNvSpPr txBox="1"/>
          <p:nvPr/>
        </p:nvSpPr>
        <p:spPr>
          <a:xfrm>
            <a:off x="6080750" y="2285911"/>
            <a:ext cx="51507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Explanation: Ignoring spaces, punctuation, and capitalization, the string reads "amanaplanacanalpanama", which is a palindrome.</a:t>
            </a:r>
            <a:endParaRPr sz="1400" b="0" i="0" u="none" strike="noStrike" cap="none">
              <a:solidFill>
                <a:schemeClr val="dk1"/>
              </a:solidFill>
              <a:latin typeface="Calibri"/>
              <a:ea typeface="Calibri"/>
              <a:cs typeface="Calibri"/>
              <a:sym typeface="Calibri"/>
            </a:endParaRPr>
          </a:p>
        </p:txBody>
      </p:sp>
      <p:sp>
        <p:nvSpPr>
          <p:cNvPr id="325" name="Google Shape;325;h63c0e6991457cadf_0_41"/>
          <p:cNvSpPr/>
          <p:nvPr/>
        </p:nvSpPr>
        <p:spPr>
          <a:xfrm>
            <a:off x="5760725" y="3291899"/>
            <a:ext cx="5790900" cy="1326000"/>
          </a:xfrm>
          <a:prstGeom prst="roundRect">
            <a:avLst>
              <a:gd name="adj" fmla="val 25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h63c0e6991457cadf_0_41"/>
          <p:cNvSpPr txBox="1"/>
          <p:nvPr/>
        </p:nvSpPr>
        <p:spPr>
          <a:xfrm>
            <a:off x="6080760" y="3474770"/>
            <a:ext cx="51507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b="1" i="0" u="none" strike="noStrike" cap="none">
                <a:solidFill>
                  <a:schemeClr val="dk1"/>
                </a:solidFill>
                <a:latin typeface="Calibri"/>
                <a:ea typeface="Calibri"/>
                <a:cs typeface="Calibri"/>
                <a:sym typeface="Calibri"/>
              </a:rPr>
              <a:t>Example 2</a:t>
            </a:r>
            <a:endParaRPr b="0" i="0" u="none" strike="noStrike" cap="none">
              <a:solidFill>
                <a:schemeClr val="dk1"/>
              </a:solidFill>
              <a:latin typeface="Calibri"/>
              <a:ea typeface="Calibri"/>
              <a:cs typeface="Calibri"/>
              <a:sym typeface="Calibri"/>
            </a:endParaRPr>
          </a:p>
        </p:txBody>
      </p:sp>
      <p:sp>
        <p:nvSpPr>
          <p:cNvPr id="327" name="Google Shape;327;h63c0e6991457cadf_0_41"/>
          <p:cNvSpPr txBox="1"/>
          <p:nvPr/>
        </p:nvSpPr>
        <p:spPr>
          <a:xfrm>
            <a:off x="6080760" y="3762800"/>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300" b="0" i="0" u="none" strike="noStrike" cap="none">
                <a:solidFill>
                  <a:schemeClr val="dk1"/>
                </a:solidFill>
                <a:latin typeface="Courier New"/>
                <a:ea typeface="Courier New"/>
                <a:cs typeface="Courier New"/>
                <a:sym typeface="Courier New"/>
              </a:rPr>
              <a:t>Input:   s = "race a car"</a:t>
            </a:r>
            <a:endParaRPr sz="1300" b="0" i="0" u="none" strike="noStrike" cap="none">
              <a:solidFill>
                <a:schemeClr val="dk1"/>
              </a:solidFill>
              <a:latin typeface="Calibri"/>
              <a:ea typeface="Calibri"/>
              <a:cs typeface="Calibri"/>
              <a:sym typeface="Calibri"/>
            </a:endParaRPr>
          </a:p>
        </p:txBody>
      </p:sp>
      <p:sp>
        <p:nvSpPr>
          <p:cNvPr id="328" name="Google Shape;328;h63c0e6991457cadf_0_41"/>
          <p:cNvSpPr txBox="1"/>
          <p:nvPr/>
        </p:nvSpPr>
        <p:spPr>
          <a:xfrm>
            <a:off x="9790835" y="3465639"/>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300" b="1" i="0" u="none" strike="noStrike" cap="none">
                <a:solidFill>
                  <a:schemeClr val="dk1"/>
                </a:solidFill>
                <a:latin typeface="Courier New"/>
                <a:ea typeface="Courier New"/>
                <a:cs typeface="Courier New"/>
                <a:sym typeface="Courier New"/>
              </a:rPr>
              <a:t>Output:  False</a:t>
            </a:r>
            <a:endParaRPr sz="1300" b="0" i="0" u="none" strike="noStrike" cap="none">
              <a:solidFill>
                <a:schemeClr val="dk1"/>
              </a:solidFill>
              <a:latin typeface="Calibri"/>
              <a:ea typeface="Calibri"/>
              <a:cs typeface="Calibri"/>
              <a:sym typeface="Calibri"/>
            </a:endParaRPr>
          </a:p>
        </p:txBody>
      </p:sp>
      <p:sp>
        <p:nvSpPr>
          <p:cNvPr id="329" name="Google Shape;329;h63c0e6991457cadf_0_41"/>
          <p:cNvSpPr txBox="1"/>
          <p:nvPr/>
        </p:nvSpPr>
        <p:spPr>
          <a:xfrm>
            <a:off x="6080825" y="3987654"/>
            <a:ext cx="5150700" cy="54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300" b="0" i="1" u="none" strike="noStrike" cap="none">
                <a:solidFill>
                  <a:schemeClr val="accent5"/>
                </a:solidFill>
                <a:latin typeface="Calibri"/>
                <a:ea typeface="Calibri"/>
                <a:cs typeface="Calibri"/>
                <a:sym typeface="Calibri"/>
              </a:rPr>
              <a:t>Explanation: Ignoring spaces and punctuation, the string reads "raceacar", which is not a palindrome.</a:t>
            </a:r>
            <a:endParaRPr sz="1300" b="0" i="0" u="none" strike="noStrike" cap="none">
              <a:solidFill>
                <a:schemeClr val="dk1"/>
              </a:solidFill>
              <a:latin typeface="Calibri"/>
              <a:ea typeface="Calibri"/>
              <a:cs typeface="Calibri"/>
              <a:sym typeface="Calibri"/>
            </a:endParaRPr>
          </a:p>
        </p:txBody>
      </p:sp>
      <p:sp>
        <p:nvSpPr>
          <p:cNvPr id="330" name="Google Shape;330;h63c0e6991457cadf_0_41"/>
          <p:cNvSpPr/>
          <p:nvPr/>
        </p:nvSpPr>
        <p:spPr>
          <a:xfrm>
            <a:off x="5760725" y="4983600"/>
            <a:ext cx="5790900" cy="1188600"/>
          </a:xfrm>
          <a:prstGeom prst="roundRect">
            <a:avLst>
              <a:gd name="adj" fmla="val 2667"/>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h63c0e6991457cadf_0_41"/>
          <p:cNvSpPr txBox="1"/>
          <p:nvPr/>
        </p:nvSpPr>
        <p:spPr>
          <a:xfrm>
            <a:off x="6080760" y="5148192"/>
            <a:ext cx="2286000" cy="25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Example 3</a:t>
            </a:r>
            <a:endParaRPr sz="1400" b="0" i="0" u="none" strike="noStrike" cap="none">
              <a:solidFill>
                <a:schemeClr val="dk1"/>
              </a:solidFill>
              <a:latin typeface="Calibri"/>
              <a:ea typeface="Calibri"/>
              <a:cs typeface="Calibri"/>
              <a:sym typeface="Calibri"/>
            </a:endParaRPr>
          </a:p>
        </p:txBody>
      </p:sp>
      <p:sp>
        <p:nvSpPr>
          <p:cNvPr id="332" name="Google Shape;332;h63c0e6991457cadf_0_41"/>
          <p:cNvSpPr txBox="1"/>
          <p:nvPr/>
        </p:nvSpPr>
        <p:spPr>
          <a:xfrm>
            <a:off x="8366760" y="5148192"/>
            <a:ext cx="2864700" cy="2559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dk1"/>
              </a:buClr>
              <a:buSzPts val="1300"/>
              <a:buFont typeface="Courier New"/>
              <a:buNone/>
            </a:pPr>
            <a:r>
              <a:rPr lang="en-US" sz="1300" b="1" i="0" u="none" strike="noStrike" cap="none">
                <a:solidFill>
                  <a:schemeClr val="dk1"/>
                </a:solidFill>
                <a:latin typeface="Courier New"/>
                <a:ea typeface="Courier New"/>
                <a:cs typeface="Courier New"/>
                <a:sym typeface="Courier New"/>
              </a:rPr>
              <a:t>Output: True</a:t>
            </a:r>
            <a:endParaRPr sz="1300" b="0" i="0" u="none" strike="noStrike" cap="none">
              <a:solidFill>
                <a:schemeClr val="dk1"/>
              </a:solidFill>
              <a:latin typeface="Calibri"/>
              <a:ea typeface="Calibri"/>
              <a:cs typeface="Calibri"/>
              <a:sym typeface="Calibri"/>
            </a:endParaRPr>
          </a:p>
        </p:txBody>
      </p:sp>
      <p:sp>
        <p:nvSpPr>
          <p:cNvPr id="333" name="Google Shape;333;h63c0e6991457cadf_0_41"/>
          <p:cNvSpPr txBox="1"/>
          <p:nvPr/>
        </p:nvSpPr>
        <p:spPr>
          <a:xfrm>
            <a:off x="6080760" y="5422512"/>
            <a:ext cx="51507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ourier New"/>
              <a:buNone/>
            </a:pPr>
            <a:r>
              <a:rPr lang="en-US" sz="1300" b="0" i="0" u="none" strike="noStrike" cap="none">
                <a:solidFill>
                  <a:schemeClr val="dk1"/>
                </a:solidFill>
                <a:latin typeface="Courier New"/>
                <a:ea typeface="Courier New"/>
                <a:cs typeface="Courier New"/>
                <a:sym typeface="Courier New"/>
              </a:rPr>
              <a:t>s = ""</a:t>
            </a:r>
            <a:endParaRPr sz="1300" b="0" i="0" u="none" strike="noStrike" cap="none">
              <a:solidFill>
                <a:schemeClr val="dk1"/>
              </a:solidFill>
              <a:latin typeface="Calibri"/>
              <a:ea typeface="Calibri"/>
              <a:cs typeface="Calibri"/>
              <a:sym typeface="Calibri"/>
            </a:endParaRPr>
          </a:p>
        </p:txBody>
      </p:sp>
      <p:sp>
        <p:nvSpPr>
          <p:cNvPr id="334" name="Google Shape;334;h63c0e6991457cadf_0_41"/>
          <p:cNvSpPr txBox="1"/>
          <p:nvPr/>
        </p:nvSpPr>
        <p:spPr>
          <a:xfrm>
            <a:off x="6080760" y="5678544"/>
            <a:ext cx="51507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300"/>
              <a:buFont typeface="Calibri"/>
              <a:buNone/>
            </a:pPr>
            <a:r>
              <a:rPr lang="en-US" sz="1300" b="0" i="1" u="none" strike="noStrike" cap="none">
                <a:solidFill>
                  <a:schemeClr val="accent5"/>
                </a:solidFill>
                <a:latin typeface="Calibri"/>
                <a:ea typeface="Calibri"/>
                <a:cs typeface="Calibri"/>
                <a:sym typeface="Calibri"/>
              </a:rPr>
              <a:t>An empty string is considered a valid palindrome.</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h63c0e6991457cadf_0_233"/>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3.2 Valid</a:t>
            </a:r>
            <a:r>
              <a:rPr lang="en-US" sz="3200" b="1"/>
              <a:t> Palindrome</a:t>
            </a:r>
            <a:endParaRPr sz="3200"/>
          </a:p>
        </p:txBody>
      </p:sp>
      <p:sp>
        <p:nvSpPr>
          <p:cNvPr id="342" name="Google Shape;342;h63c0e6991457cadf_0_233"/>
          <p:cNvSpPr/>
          <p:nvPr/>
        </p:nvSpPr>
        <p:spPr>
          <a:xfrm>
            <a:off x="640080" y="1600200"/>
            <a:ext cx="4846200" cy="45720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h63c0e6991457cadf_0_233"/>
          <p:cNvSpPr txBox="1"/>
          <p:nvPr/>
        </p:nvSpPr>
        <p:spPr>
          <a:xfrm>
            <a:off x="914400" y="1874520"/>
            <a:ext cx="3017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Problem statement</a:t>
            </a:r>
            <a:endParaRPr sz="2000" b="0" i="0" u="none" strike="noStrike" cap="none">
              <a:solidFill>
                <a:schemeClr val="dk1"/>
              </a:solidFill>
              <a:latin typeface="Calibri"/>
              <a:ea typeface="Calibri"/>
              <a:cs typeface="Calibri"/>
              <a:sym typeface="Calibri"/>
            </a:endParaRPr>
          </a:p>
        </p:txBody>
      </p:sp>
      <p:sp>
        <p:nvSpPr>
          <p:cNvPr id="344" name="Google Shape;344;h63c0e6991457cadf_0_233"/>
          <p:cNvSpPr/>
          <p:nvPr/>
        </p:nvSpPr>
        <p:spPr>
          <a:xfrm>
            <a:off x="4297680" y="1901952"/>
            <a:ext cx="914400" cy="310800"/>
          </a:xfrm>
          <a:prstGeom prst="roundRect">
            <a:avLst>
              <a:gd name="adj" fmla="val 44118"/>
            </a:avLst>
          </a:prstGeom>
          <a:solidFill>
            <a:schemeClr val="accent2">
              <a:alpha val="20000"/>
            </a:schemeClr>
          </a:solid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100"/>
              <a:buFont typeface="Calibri"/>
              <a:buNone/>
            </a:pPr>
            <a:r>
              <a:rPr lang="en-US" sz="1100" b="1" i="0" u="none" strike="noStrike" cap="none">
                <a:solidFill>
                  <a:schemeClr val="dk1"/>
                </a:solidFill>
                <a:latin typeface="Calibri"/>
                <a:ea typeface="Calibri"/>
                <a:cs typeface="Calibri"/>
                <a:sym typeface="Calibri"/>
              </a:rPr>
              <a:t>EASY</a:t>
            </a:r>
            <a:endParaRPr sz="1100" b="0" i="0" u="none" strike="noStrike" cap="none">
              <a:solidFill>
                <a:schemeClr val="dk1"/>
              </a:solidFill>
              <a:latin typeface="Calibri"/>
              <a:ea typeface="Calibri"/>
              <a:cs typeface="Calibri"/>
              <a:sym typeface="Calibri"/>
            </a:endParaRPr>
          </a:p>
        </p:txBody>
      </p:sp>
      <p:sp>
        <p:nvSpPr>
          <p:cNvPr id="345" name="Google Shape;345;h63c0e6991457cadf_0_233"/>
          <p:cNvSpPr txBox="1"/>
          <p:nvPr/>
        </p:nvSpPr>
        <p:spPr>
          <a:xfrm>
            <a:off x="914400" y="2313432"/>
            <a:ext cx="4297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200" b="0" i="1" u="none" strike="noStrike" cap="none">
                <a:solidFill>
                  <a:schemeClr val="accent5"/>
                </a:solidFill>
                <a:latin typeface="Calibri"/>
                <a:ea typeface="Calibri"/>
                <a:cs typeface="Calibri"/>
                <a:sym typeface="Calibri"/>
              </a:rPr>
              <a:t>Author: Anthony Perez</a:t>
            </a:r>
            <a:endParaRPr sz="1200" b="0" i="0" u="none" strike="noStrike" cap="none">
              <a:solidFill>
                <a:schemeClr val="dk1"/>
              </a:solidFill>
              <a:latin typeface="Calibri"/>
              <a:ea typeface="Calibri"/>
              <a:cs typeface="Calibri"/>
              <a:sym typeface="Calibri"/>
            </a:endParaRPr>
          </a:p>
        </p:txBody>
      </p:sp>
      <p:sp>
        <p:nvSpPr>
          <p:cNvPr id="346" name="Google Shape;346;h63c0e6991457cadf_0_233"/>
          <p:cNvSpPr txBox="1"/>
          <p:nvPr/>
        </p:nvSpPr>
        <p:spPr>
          <a:xfrm>
            <a:off x="914400" y="2624328"/>
            <a:ext cx="4297800" cy="1828800"/>
          </a:xfrm>
          <a:prstGeom prst="rect">
            <a:avLst/>
          </a:prstGeom>
          <a:noFill/>
          <a:ln>
            <a:noFill/>
          </a:ln>
        </p:spPr>
        <p:txBody>
          <a:bodyPr spcFirstLastPara="1" wrap="square" lIns="0" tIns="0" rIns="0" bIns="0" anchor="t" anchorCtr="0">
            <a:noAutofit/>
          </a:bodyPr>
          <a:lstStyle/>
          <a:p>
            <a:pPr>
              <a:lnSpc>
                <a:spcPct val="105000"/>
              </a:lnSpc>
              <a:buSzPts val="1400"/>
            </a:pPr>
            <a:r>
              <a:rPr lang="en-US" sz="1400" b="0" i="0" u="none" strike="noStrike" cap="none">
                <a:solidFill>
                  <a:schemeClr val="accent5"/>
                </a:solidFill>
                <a:latin typeface="Calibri"/>
                <a:ea typeface="Calibri"/>
                <a:cs typeface="Calibri"/>
                <a:sym typeface="Calibri"/>
              </a:rPr>
              <a:t>You are tasked with writing a function that determines if a given string s is a valid palindrome. Your function should return a boolean value as the indicator for whether or not s is a palindrome. For reference, a palindrome is a string that reads the same backward as forward,</a:t>
            </a:r>
            <a:r>
              <a:rPr lang="en-US" b="1">
                <a:solidFill>
                  <a:schemeClr val="accent5"/>
                </a:solidFill>
                <a:latin typeface="Calibri"/>
                <a:ea typeface="Calibri"/>
                <a:cs typeface="Calibri"/>
                <a:sym typeface="Calibri"/>
              </a:rPr>
              <a:t> ignoring spaces, punctuation, </a:t>
            </a:r>
            <a:r>
              <a:rPr lang="en-US" b="1" i="0" u="none" strike="noStrike" cap="none">
                <a:solidFill>
                  <a:schemeClr val="accent5"/>
                </a:solidFill>
                <a:latin typeface="Calibri"/>
                <a:ea typeface="Calibri"/>
                <a:cs typeface="Calibri"/>
                <a:sym typeface="Calibri"/>
              </a:rPr>
              <a:t>and </a:t>
            </a:r>
            <a:r>
              <a:rPr lang="en-US" b="1">
                <a:solidFill>
                  <a:schemeClr val="accent5"/>
                </a:solidFill>
                <a:latin typeface="Calibri"/>
                <a:ea typeface="Calibri"/>
                <a:cs typeface="Calibri"/>
                <a:sym typeface="Calibri"/>
              </a:rPr>
              <a:t>capitalization.</a:t>
            </a:r>
            <a:endParaRPr lang="en-US" sz="1400" b="1" i="0" u="none" strike="noStrike" cap="none">
              <a:solidFill>
                <a:schemeClr val="accent5"/>
              </a:solidFill>
              <a:latin typeface="Calibri"/>
              <a:ea typeface="Calibri"/>
              <a:cs typeface="Calibri"/>
            </a:endParaRPr>
          </a:p>
        </p:txBody>
      </p:sp>
      <p:sp>
        <p:nvSpPr>
          <p:cNvPr id="347" name="Google Shape;347;h63c0e6991457cadf_0_233"/>
          <p:cNvSpPr txBox="1"/>
          <p:nvPr/>
        </p:nvSpPr>
        <p:spPr>
          <a:xfrm>
            <a:off x="914400" y="4526280"/>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CONSTRAINTS</a:t>
            </a:r>
            <a:endParaRPr sz="1100" b="0" i="0" u="none" strike="noStrike" cap="none">
              <a:solidFill>
                <a:schemeClr val="dk1"/>
              </a:solidFill>
              <a:latin typeface="Calibri"/>
              <a:ea typeface="Calibri"/>
              <a:cs typeface="Calibri"/>
              <a:sym typeface="Calibri"/>
            </a:endParaRPr>
          </a:p>
        </p:txBody>
      </p:sp>
      <p:sp>
        <p:nvSpPr>
          <p:cNvPr id="348" name="Google Shape;348;h63c0e6991457cadf_0_233"/>
          <p:cNvSpPr txBox="1"/>
          <p:nvPr/>
        </p:nvSpPr>
        <p:spPr>
          <a:xfrm>
            <a:off x="914400" y="4800600"/>
            <a:ext cx="4297800" cy="1326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The input string s will have a length between 0 and 10,000 characters.</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The string s will consist of English letters, digits, symbols, and spaces.</a:t>
            </a:r>
            <a:endParaRPr sz="1300" b="0" i="0" u="none" strike="noStrike" cap="none">
              <a:solidFill>
                <a:schemeClr val="dk1"/>
              </a:solidFill>
              <a:latin typeface="Calibri"/>
              <a:ea typeface="Calibri"/>
              <a:cs typeface="Calibri"/>
              <a:sym typeface="Calibri"/>
            </a:endParaRPr>
          </a:p>
        </p:txBody>
      </p:sp>
      <p:sp>
        <p:nvSpPr>
          <p:cNvPr id="349" name="Google Shape;349;h63c0e6991457cadf_0_233"/>
          <p:cNvSpPr/>
          <p:nvPr/>
        </p:nvSpPr>
        <p:spPr>
          <a:xfrm>
            <a:off x="5760725" y="1600200"/>
            <a:ext cx="5790900" cy="713100"/>
          </a:xfrm>
          <a:prstGeom prst="roundRect">
            <a:avLst>
              <a:gd name="adj" fmla="val 4615"/>
            </a:avLst>
          </a:prstGeom>
          <a:solidFill>
            <a:schemeClr val="accent6"/>
          </a:solidFill>
          <a:ln w="9525" cap="flat" cmpd="sng">
            <a:solidFill>
              <a:schemeClr val="accent5">
                <a:alpha val="502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h63c0e6991457cadf_0_233"/>
          <p:cNvSpPr txBox="1"/>
          <p:nvPr/>
        </p:nvSpPr>
        <p:spPr>
          <a:xfrm>
            <a:off x="6126430" y="1686030"/>
            <a:ext cx="50595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2200"/>
              <a:buFont typeface="Calibri"/>
              <a:buNone/>
            </a:pPr>
            <a:r>
              <a:rPr lang="en-US" sz="2000" b="1" i="0" u="none" strike="noStrike" cap="none">
                <a:solidFill>
                  <a:schemeClr val="lt1"/>
                </a:solidFill>
                <a:latin typeface="Calibri"/>
                <a:ea typeface="Calibri"/>
                <a:cs typeface="Calibri"/>
                <a:sym typeface="Calibri"/>
              </a:rPr>
              <a:t>You have 5 minutes to complete this.</a:t>
            </a:r>
            <a:endParaRPr sz="2000" b="0" i="0" u="none" strike="noStrike" cap="none">
              <a:solidFill>
                <a:schemeClr val="dk1"/>
              </a:solidFill>
              <a:latin typeface="Calibri"/>
              <a:ea typeface="Calibri"/>
              <a:cs typeface="Calibri"/>
              <a:sym typeface="Calibri"/>
            </a:endParaRPr>
          </a:p>
        </p:txBody>
      </p:sp>
      <p:sp>
        <p:nvSpPr>
          <p:cNvPr id="351" name="Google Shape;351;h63c0e6991457cadf_0_233"/>
          <p:cNvSpPr txBox="1"/>
          <p:nvPr/>
        </p:nvSpPr>
        <p:spPr>
          <a:xfrm>
            <a:off x="6126355" y="1990956"/>
            <a:ext cx="50595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500"/>
              <a:buFont typeface="Calibri"/>
              <a:buNone/>
            </a:pPr>
            <a:r>
              <a:rPr lang="en-US" sz="1300" b="0" i="0" u="none" strike="noStrike" cap="none">
                <a:solidFill>
                  <a:schemeClr val="lt2"/>
                </a:solidFill>
                <a:latin typeface="Calibri"/>
                <a:ea typeface="Calibri"/>
                <a:cs typeface="Calibri"/>
                <a:sym typeface="Calibri"/>
              </a:rPr>
              <a:t>Please feel free to work in pairs or small groups (3 to 4).</a:t>
            </a:r>
            <a:endParaRPr sz="1300" b="0" i="0" u="none" strike="noStrike" cap="none">
              <a:solidFill>
                <a:schemeClr val="dk1"/>
              </a:solidFill>
              <a:latin typeface="Calibri"/>
              <a:ea typeface="Calibri"/>
              <a:cs typeface="Calibri"/>
              <a:sym typeface="Calibri"/>
            </a:endParaRPr>
          </a:p>
        </p:txBody>
      </p:sp>
      <p:sp>
        <p:nvSpPr>
          <p:cNvPr id="352" name="Google Shape;352;h63c0e6991457cadf_0_233"/>
          <p:cNvSpPr/>
          <p:nvPr/>
        </p:nvSpPr>
        <p:spPr>
          <a:xfrm>
            <a:off x="5760725" y="2460775"/>
            <a:ext cx="5790900" cy="8184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h63c0e6991457cadf_0_233"/>
          <p:cNvSpPr txBox="1"/>
          <p:nvPr/>
        </p:nvSpPr>
        <p:spPr>
          <a:xfrm>
            <a:off x="6080760" y="2597935"/>
            <a:ext cx="1828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HINT</a:t>
            </a:r>
            <a:endParaRPr sz="1100" b="0" i="0" u="none" strike="noStrike" cap="none">
              <a:solidFill>
                <a:schemeClr val="dk1"/>
              </a:solidFill>
              <a:latin typeface="Calibri"/>
              <a:ea typeface="Calibri"/>
              <a:cs typeface="Calibri"/>
              <a:sym typeface="Calibri"/>
            </a:endParaRPr>
          </a:p>
        </p:txBody>
      </p:sp>
      <p:sp>
        <p:nvSpPr>
          <p:cNvPr id="354" name="Google Shape;354;h63c0e6991457cadf_0_233"/>
          <p:cNvSpPr txBox="1"/>
          <p:nvPr/>
        </p:nvSpPr>
        <p:spPr>
          <a:xfrm>
            <a:off x="6080760" y="2776305"/>
            <a:ext cx="5150700" cy="502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00" b="0" i="0" u="none" strike="noStrike" cap="none">
                <a:solidFill>
                  <a:schemeClr val="dk1"/>
                </a:solidFill>
                <a:latin typeface="Calibri"/>
                <a:ea typeface="Calibri"/>
                <a:cs typeface="Calibri"/>
                <a:sym typeface="Calibri"/>
              </a:rPr>
              <a:t>Skip characters that are not letters or digits, and compare the rest in lowercase from both ends.</a:t>
            </a:r>
            <a:endParaRPr sz="1300" b="0" i="0" u="none" strike="noStrike" cap="none">
              <a:solidFill>
                <a:schemeClr val="dk1"/>
              </a:solidFill>
              <a:latin typeface="Calibri"/>
              <a:ea typeface="Calibri"/>
              <a:cs typeface="Calibri"/>
              <a:sym typeface="Calibri"/>
            </a:endParaRPr>
          </a:p>
        </p:txBody>
      </p:sp>
      <p:pic>
        <p:nvPicPr>
          <p:cNvPr id="355" name="Google Shape;355;h63c0e6991457cadf_0_233"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title="5 Minute Timer">
            <a:hlinkClick r:id="rId3"/>
          </p:cNvPr>
          <p:cNvPicPr preferRelativeResize="0"/>
          <p:nvPr/>
        </p:nvPicPr>
        <p:blipFill>
          <a:blip r:embed="rId4">
            <a:alphaModFix/>
          </a:blip>
          <a:stretch>
            <a:fillRect/>
          </a:stretch>
        </p:blipFill>
        <p:spPr>
          <a:xfrm>
            <a:off x="5760726" y="3448000"/>
            <a:ext cx="5790900" cy="27241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2" name="Google Shape;362;h63c0e6991457cadf_0_76"/>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3.2 Valid</a:t>
            </a:r>
            <a:r>
              <a:rPr lang="en-US" sz="3200" b="1"/>
              <a:t> Palindrome</a:t>
            </a:r>
            <a:endParaRPr sz="3200"/>
          </a:p>
        </p:txBody>
      </p:sp>
      <p:sp>
        <p:nvSpPr>
          <p:cNvPr id="363" name="Google Shape;363;h63c0e6991457cadf_0_76"/>
          <p:cNvSpPr/>
          <p:nvPr/>
        </p:nvSpPr>
        <p:spPr>
          <a:xfrm>
            <a:off x="640080" y="1578633"/>
            <a:ext cx="4846200" cy="3291900"/>
          </a:xfrm>
          <a:prstGeom prst="roundRect">
            <a:avLst>
              <a:gd name="adj" fmla="val 1667"/>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h63c0e6991457cadf_0_76"/>
          <p:cNvSpPr txBox="1"/>
          <p:nvPr/>
        </p:nvSpPr>
        <p:spPr>
          <a:xfrm>
            <a:off x="914400" y="1801368"/>
            <a:ext cx="42978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Pattern and approach</a:t>
            </a:r>
            <a:endParaRPr sz="1800" b="0" i="0" u="none" strike="noStrike" cap="none">
              <a:solidFill>
                <a:schemeClr val="dk1"/>
              </a:solidFill>
              <a:latin typeface="Calibri"/>
              <a:ea typeface="Calibri"/>
              <a:cs typeface="Calibri"/>
              <a:sym typeface="Calibri"/>
            </a:endParaRPr>
          </a:p>
        </p:txBody>
      </p:sp>
      <p:sp>
        <p:nvSpPr>
          <p:cNvPr id="365" name="Google Shape;365;h63c0e6991457cadf_0_76"/>
          <p:cNvSpPr/>
          <p:nvPr/>
        </p:nvSpPr>
        <p:spPr>
          <a:xfrm>
            <a:off x="928777" y="2090583"/>
            <a:ext cx="1219800" cy="292500"/>
          </a:xfrm>
          <a:prstGeom prst="roundRect">
            <a:avLst>
              <a:gd name="adj" fmla="val 50000"/>
            </a:avLst>
          </a:prstGeom>
          <a:solidFill>
            <a:schemeClr val="accent2">
              <a:alpha val="25100"/>
            </a:schemeClr>
          </a:solidFill>
          <a:ln w="9525" cap="flat" cmpd="sng">
            <a:solidFill>
              <a:schemeClr val="accent2">
                <a:alpha val="702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1100"/>
              <a:buFont typeface="Calibri"/>
              <a:buNone/>
            </a:pPr>
            <a:r>
              <a:rPr lang="en-US" sz="1100" b="1" i="0" u="none" strike="noStrike" cap="none">
                <a:solidFill>
                  <a:schemeClr val="dk1"/>
                </a:solidFill>
                <a:latin typeface="Calibri"/>
                <a:ea typeface="Calibri"/>
                <a:cs typeface="Calibri"/>
                <a:sym typeface="Calibri"/>
              </a:rPr>
              <a:t>Two pointers</a:t>
            </a:r>
            <a:endParaRPr sz="1100" b="0" i="0" u="none" strike="noStrike" cap="none">
              <a:solidFill>
                <a:schemeClr val="dk1"/>
              </a:solidFill>
              <a:latin typeface="Calibri"/>
              <a:ea typeface="Calibri"/>
              <a:cs typeface="Calibri"/>
              <a:sym typeface="Calibri"/>
            </a:endParaRPr>
          </a:p>
        </p:txBody>
      </p:sp>
      <p:sp>
        <p:nvSpPr>
          <p:cNvPr id="366" name="Google Shape;366;h63c0e6991457cadf_0_76"/>
          <p:cNvSpPr/>
          <p:nvPr/>
        </p:nvSpPr>
        <p:spPr>
          <a:xfrm>
            <a:off x="928777" y="2585625"/>
            <a:ext cx="347400" cy="3474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67" name="Google Shape;367;h63c0e6991457cadf_0_76"/>
          <p:cNvSpPr txBox="1"/>
          <p:nvPr/>
        </p:nvSpPr>
        <p:spPr>
          <a:xfrm>
            <a:off x="1477417" y="2624846"/>
            <a:ext cx="3749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Point at both ends</a:t>
            </a:r>
            <a:endParaRPr sz="1500" b="0" i="0" u="none" strike="noStrike" cap="none">
              <a:solidFill>
                <a:schemeClr val="dk1"/>
              </a:solidFill>
              <a:latin typeface="Calibri"/>
              <a:ea typeface="Calibri"/>
              <a:cs typeface="Calibri"/>
              <a:sym typeface="Calibri"/>
            </a:endParaRPr>
          </a:p>
        </p:txBody>
      </p:sp>
      <p:sp>
        <p:nvSpPr>
          <p:cNvPr id="368" name="Google Shape;368;h63c0e6991457cadf_0_76"/>
          <p:cNvSpPr txBox="1"/>
          <p:nvPr/>
        </p:nvSpPr>
        <p:spPr>
          <a:xfrm>
            <a:off x="1477417" y="2927921"/>
            <a:ext cx="374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left starts at 0, right at len(s) - 1.</a:t>
            </a:r>
            <a:endParaRPr sz="1400" b="0" i="0" u="none" strike="noStrike" cap="none">
              <a:solidFill>
                <a:schemeClr val="dk1"/>
              </a:solidFill>
              <a:latin typeface="Calibri"/>
              <a:ea typeface="Calibri"/>
              <a:cs typeface="Calibri"/>
              <a:sym typeface="Calibri"/>
            </a:endParaRPr>
          </a:p>
        </p:txBody>
      </p:sp>
      <p:sp>
        <p:nvSpPr>
          <p:cNvPr id="369" name="Google Shape;369;h63c0e6991457cadf_0_76"/>
          <p:cNvSpPr/>
          <p:nvPr/>
        </p:nvSpPr>
        <p:spPr>
          <a:xfrm>
            <a:off x="928777" y="3294312"/>
            <a:ext cx="347400" cy="3474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70" name="Google Shape;370;h63c0e6991457cadf_0_76"/>
          <p:cNvSpPr txBox="1"/>
          <p:nvPr/>
        </p:nvSpPr>
        <p:spPr>
          <a:xfrm>
            <a:off x="1477417" y="3333534"/>
            <a:ext cx="3749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Skip anything that is not alphanumeric</a:t>
            </a:r>
            <a:endParaRPr sz="1500" b="0" i="0" u="none" strike="noStrike" cap="none">
              <a:solidFill>
                <a:schemeClr val="dk1"/>
              </a:solidFill>
              <a:latin typeface="Calibri"/>
              <a:ea typeface="Calibri"/>
              <a:cs typeface="Calibri"/>
              <a:sym typeface="Calibri"/>
            </a:endParaRPr>
          </a:p>
        </p:txBody>
      </p:sp>
      <p:sp>
        <p:nvSpPr>
          <p:cNvPr id="371" name="Google Shape;371;h63c0e6991457cadf_0_76"/>
          <p:cNvSpPr txBox="1"/>
          <p:nvPr/>
        </p:nvSpPr>
        <p:spPr>
          <a:xfrm>
            <a:off x="1477417" y="3607854"/>
            <a:ext cx="374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isalnum() filters out spaces and punctuation.</a:t>
            </a:r>
            <a:endParaRPr sz="1400" b="0" i="0" u="none" strike="noStrike" cap="none">
              <a:solidFill>
                <a:schemeClr val="dk1"/>
              </a:solidFill>
              <a:latin typeface="Calibri"/>
              <a:ea typeface="Calibri"/>
              <a:cs typeface="Calibri"/>
              <a:sym typeface="Calibri"/>
            </a:endParaRPr>
          </a:p>
        </p:txBody>
      </p:sp>
      <p:sp>
        <p:nvSpPr>
          <p:cNvPr id="372" name="Google Shape;372;h63c0e6991457cadf_0_76"/>
          <p:cNvSpPr/>
          <p:nvPr/>
        </p:nvSpPr>
        <p:spPr>
          <a:xfrm>
            <a:off x="928777" y="4010190"/>
            <a:ext cx="347400" cy="3474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73" name="Google Shape;373;h63c0e6991457cadf_0_76"/>
          <p:cNvSpPr txBox="1"/>
          <p:nvPr/>
        </p:nvSpPr>
        <p:spPr>
          <a:xfrm>
            <a:off x="1477417" y="4049411"/>
            <a:ext cx="3749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Compare, then step inward</a:t>
            </a:r>
            <a:endParaRPr sz="1500" b="0" i="0" u="none" strike="noStrike" cap="none">
              <a:solidFill>
                <a:schemeClr val="dk1"/>
              </a:solidFill>
              <a:latin typeface="Calibri"/>
              <a:ea typeface="Calibri"/>
              <a:cs typeface="Calibri"/>
              <a:sym typeface="Calibri"/>
            </a:endParaRPr>
          </a:p>
        </p:txBody>
      </p:sp>
      <p:sp>
        <p:nvSpPr>
          <p:cNvPr id="374" name="Google Shape;374;h63c0e6991457cadf_0_76"/>
          <p:cNvSpPr txBox="1"/>
          <p:nvPr/>
        </p:nvSpPr>
        <p:spPr>
          <a:xfrm>
            <a:off x="1470229" y="4323731"/>
            <a:ext cx="374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Lowercase both characters. A mismatch returns False.</a:t>
            </a:r>
            <a:endParaRPr sz="1400" b="0" i="0" u="none" strike="noStrike" cap="none">
              <a:solidFill>
                <a:schemeClr val="dk1"/>
              </a:solidFill>
              <a:latin typeface="Calibri"/>
              <a:ea typeface="Calibri"/>
              <a:cs typeface="Calibri"/>
              <a:sym typeface="Calibri"/>
            </a:endParaRPr>
          </a:p>
        </p:txBody>
      </p:sp>
      <p:sp>
        <p:nvSpPr>
          <p:cNvPr id="375" name="Google Shape;375;h63c0e6991457cadf_0_76"/>
          <p:cNvSpPr/>
          <p:nvPr/>
        </p:nvSpPr>
        <p:spPr>
          <a:xfrm>
            <a:off x="640080" y="5029200"/>
            <a:ext cx="4846200" cy="1143000"/>
          </a:xfrm>
          <a:prstGeom prst="roundRect">
            <a:avLst>
              <a:gd name="adj" fmla="val 4000"/>
            </a:avLst>
          </a:prstGeom>
          <a:solidFill>
            <a:schemeClr val="accent1">
              <a:alpha val="12160"/>
            </a:schemeClr>
          </a:solidFill>
          <a:ln w="9525" cap="flat" cmpd="sng">
            <a:solidFill>
              <a:schemeClr val="accent1">
                <a:alpha val="451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h63c0e6991457cadf_0_76"/>
          <p:cNvSpPr txBox="1"/>
          <p:nvPr/>
        </p:nvSpPr>
        <p:spPr>
          <a:xfrm>
            <a:off x="914400" y="5029200"/>
            <a:ext cx="4297800" cy="114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3"/>
              </a:buClr>
              <a:buSzPts val="1400"/>
              <a:buFont typeface="Calibri"/>
              <a:buNone/>
            </a:pPr>
            <a:r>
              <a:rPr lang="en-US" sz="1400" b="1" i="0" u="none" strike="noStrike" cap="none">
                <a:solidFill>
                  <a:schemeClr val="accent3"/>
                </a:solidFill>
                <a:latin typeface="Calibri"/>
                <a:ea typeface="Calibri"/>
                <a:cs typeface="Calibri"/>
                <a:sym typeface="Calibri"/>
              </a:rPr>
              <a:t>Common bug  </a:t>
            </a:r>
            <a:endParaRPr sz="1400" b="0" i="0" u="none" strike="noStrike" cap="none">
              <a:solidFill>
                <a:schemeClr val="dk1"/>
              </a:solidFill>
              <a:latin typeface="Calibri"/>
              <a:ea typeface="Calibri"/>
              <a:cs typeface="Calibri"/>
              <a:sym typeface="Calibri"/>
            </a:endParaRPr>
          </a:p>
          <a:p>
            <a:pPr marL="0" marR="0" lvl="0" indent="0" algn="l" rtl="0">
              <a:spcBef>
                <a:spcPts val="2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Comparing without lower() makes "A man, a plan..." fail, because "A" and "a" are different characters.</a:t>
            </a:r>
            <a:endParaRPr sz="1400" b="0" i="0" u="none" strike="noStrike" cap="none">
              <a:solidFill>
                <a:schemeClr val="dk1"/>
              </a:solidFill>
              <a:latin typeface="Calibri"/>
              <a:ea typeface="Calibri"/>
              <a:cs typeface="Calibri"/>
              <a:sym typeface="Calibri"/>
            </a:endParaRPr>
          </a:p>
        </p:txBody>
      </p:sp>
      <p:sp>
        <p:nvSpPr>
          <p:cNvPr id="377" name="Google Shape;377;h63c0e6991457cadf_0_76"/>
          <p:cNvSpPr/>
          <p:nvPr/>
        </p:nvSpPr>
        <p:spPr>
          <a:xfrm>
            <a:off x="5760720" y="1600200"/>
            <a:ext cx="5790900" cy="3448200"/>
          </a:xfrm>
          <a:prstGeom prst="roundRect">
            <a:avLst>
              <a:gd name="adj" fmla="val 1591"/>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h63c0e6991457cadf_0_76"/>
          <p:cNvSpPr txBox="1"/>
          <p:nvPr/>
        </p:nvSpPr>
        <p:spPr>
          <a:xfrm>
            <a:off x="6035040" y="1801368"/>
            <a:ext cx="5242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PYTHON</a:t>
            </a:r>
            <a:endParaRPr sz="1100" b="0" i="0" u="none" strike="noStrike" cap="none">
              <a:solidFill>
                <a:schemeClr val="dk1"/>
              </a:solidFill>
              <a:latin typeface="Calibri"/>
              <a:ea typeface="Calibri"/>
              <a:cs typeface="Calibri"/>
              <a:sym typeface="Calibri"/>
            </a:endParaRPr>
          </a:p>
        </p:txBody>
      </p:sp>
      <p:sp>
        <p:nvSpPr>
          <p:cNvPr id="379" name="Google Shape;379;h63c0e6991457cadf_0_76"/>
          <p:cNvSpPr txBox="1"/>
          <p:nvPr/>
        </p:nvSpPr>
        <p:spPr>
          <a:xfrm>
            <a:off x="6035040" y="2194560"/>
            <a:ext cx="5242200" cy="2670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def is_palindrome(s: str) -&gt; bool:</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lower_s = ''</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for i in range(len(s)):</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if s[i].isalnum():</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lower_s += s[i].lower()</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left = 0</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right = len(lower_s) - 1</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while left &lt; right:</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if lower_s[left] != lower_s[right]:</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return False</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left += 1</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right -= 1</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300">
                <a:solidFill>
                  <a:schemeClr val="lt2"/>
                </a:solidFill>
                <a:latin typeface="Courier New"/>
                <a:ea typeface="Courier New"/>
                <a:cs typeface="Courier New"/>
                <a:sym typeface="Courier New"/>
              </a:rPr>
              <a:t>    return True</a:t>
            </a:r>
            <a:endParaRPr sz="1300">
              <a:solidFill>
                <a:schemeClr val="lt2"/>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lt2"/>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2"/>
              </a:buClr>
              <a:buSzPts val="1300"/>
              <a:buFont typeface="Courier New"/>
              <a:buNone/>
            </a:pPr>
            <a:endParaRPr sz="1300">
              <a:solidFill>
                <a:schemeClr val="lt2"/>
              </a:solidFill>
              <a:latin typeface="Courier New"/>
              <a:ea typeface="Courier New"/>
              <a:cs typeface="Courier New"/>
              <a:sym typeface="Courier New"/>
            </a:endParaRPr>
          </a:p>
        </p:txBody>
      </p:sp>
      <p:sp>
        <p:nvSpPr>
          <p:cNvPr id="380" name="Google Shape;380;h63c0e6991457cadf_0_76"/>
          <p:cNvSpPr/>
          <p:nvPr/>
        </p:nvSpPr>
        <p:spPr>
          <a:xfrm>
            <a:off x="5760720" y="5185562"/>
            <a:ext cx="5790900" cy="9600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h63c0e6991457cadf_0_76"/>
          <p:cNvSpPr txBox="1"/>
          <p:nvPr/>
        </p:nvSpPr>
        <p:spPr>
          <a:xfrm>
            <a:off x="6035040" y="5341010"/>
            <a:ext cx="3063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700" b="1" i="0" u="none" strike="noStrike" cap="none">
                <a:solidFill>
                  <a:schemeClr val="accent2"/>
                </a:solidFill>
                <a:latin typeface="Courier New"/>
                <a:ea typeface="Courier New"/>
                <a:cs typeface="Courier New"/>
                <a:sym typeface="Courier New"/>
              </a:rPr>
              <a:t>Time O(n)</a:t>
            </a:r>
            <a:endParaRPr sz="1700" b="0" i="0" u="none" strike="noStrike" cap="none">
              <a:solidFill>
                <a:schemeClr val="dk1"/>
              </a:solidFill>
              <a:latin typeface="Calibri"/>
              <a:ea typeface="Calibri"/>
              <a:cs typeface="Calibri"/>
              <a:sym typeface="Calibri"/>
            </a:endParaRPr>
          </a:p>
        </p:txBody>
      </p:sp>
      <p:sp>
        <p:nvSpPr>
          <p:cNvPr id="382" name="Google Shape;382;h63c0e6991457cadf_0_76"/>
          <p:cNvSpPr txBox="1"/>
          <p:nvPr/>
        </p:nvSpPr>
        <p:spPr>
          <a:xfrm>
            <a:off x="6035040" y="5734202"/>
            <a:ext cx="3063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each pointer crosses s once</a:t>
            </a:r>
            <a:endParaRPr sz="1400" b="0" i="0" u="none" strike="noStrike" cap="none">
              <a:solidFill>
                <a:schemeClr val="dk1"/>
              </a:solidFill>
              <a:latin typeface="Calibri"/>
              <a:ea typeface="Calibri"/>
              <a:cs typeface="Calibri"/>
              <a:sym typeface="Calibri"/>
            </a:endParaRPr>
          </a:p>
        </p:txBody>
      </p:sp>
      <p:sp>
        <p:nvSpPr>
          <p:cNvPr id="383" name="Google Shape;383;h63c0e6991457cadf_0_76"/>
          <p:cNvSpPr txBox="1"/>
          <p:nvPr/>
        </p:nvSpPr>
        <p:spPr>
          <a:xfrm>
            <a:off x="9098280" y="5341010"/>
            <a:ext cx="24534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700" b="1" i="0" u="none" strike="noStrike" cap="none">
                <a:solidFill>
                  <a:schemeClr val="accent2"/>
                </a:solidFill>
                <a:latin typeface="Courier New"/>
                <a:ea typeface="Courier New"/>
                <a:cs typeface="Courier New"/>
                <a:sym typeface="Courier New"/>
              </a:rPr>
              <a:t>Space O(1)</a:t>
            </a:r>
            <a:endParaRPr sz="1700" b="0" i="0" u="none" strike="noStrike" cap="none">
              <a:solidFill>
                <a:schemeClr val="dk1"/>
              </a:solidFill>
              <a:latin typeface="Calibri"/>
              <a:ea typeface="Calibri"/>
              <a:cs typeface="Calibri"/>
              <a:sym typeface="Calibri"/>
            </a:endParaRPr>
          </a:p>
        </p:txBody>
      </p:sp>
      <p:sp>
        <p:nvSpPr>
          <p:cNvPr id="384" name="Google Shape;384;h63c0e6991457cadf_0_76"/>
          <p:cNvSpPr txBox="1"/>
          <p:nvPr/>
        </p:nvSpPr>
        <p:spPr>
          <a:xfrm>
            <a:off x="9098280" y="5734202"/>
            <a:ext cx="2453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only two index variables</a:t>
            </a:r>
            <a:endParaRPr sz="1400" b="0" i="0" u="none" strike="noStrike" cap="none">
              <a:solidFill>
                <a:schemeClr val="dk1"/>
              </a:solidFill>
              <a:latin typeface="Calibri"/>
              <a:ea typeface="Calibri"/>
              <a:cs typeface="Calibri"/>
              <a:sym typeface="Calibri"/>
            </a:endParaRPr>
          </a:p>
        </p:txBody>
      </p:sp>
      <p:sp>
        <p:nvSpPr>
          <p:cNvPr id="3" name="Text Placeholder 2">
            <a:extLst>
              <a:ext uri="{FF2B5EF4-FFF2-40B4-BE49-F238E27FC236}">
                <a16:creationId xmlns:a16="http://schemas.microsoft.com/office/drawing/2014/main" id="{CCCD746F-0A4B-60C4-4EBE-F1CCEC0AB4C2}"/>
              </a:ext>
            </a:extLst>
          </p:cNvPr>
          <p:cNvSpPr>
            <a:spLocks noGrp="1"/>
          </p:cNvSpPr>
          <p:nvPr>
            <p:ph type="body"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h63c0e6991457cadf_0_269"/>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3.5 Multiply</a:t>
            </a:r>
            <a:r>
              <a:rPr lang="en-US" sz="3200" b="1"/>
              <a:t> Complex Numbers</a:t>
            </a:r>
            <a:endParaRPr sz="3200"/>
          </a:p>
        </p:txBody>
      </p:sp>
      <p:sp>
        <p:nvSpPr>
          <p:cNvPr id="392" name="Google Shape;392;h63c0e6991457cadf_0_269"/>
          <p:cNvSpPr/>
          <p:nvPr/>
        </p:nvSpPr>
        <p:spPr>
          <a:xfrm>
            <a:off x="640080" y="1600200"/>
            <a:ext cx="4846200" cy="45720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h63c0e6991457cadf_0_269"/>
          <p:cNvSpPr txBox="1"/>
          <p:nvPr/>
        </p:nvSpPr>
        <p:spPr>
          <a:xfrm>
            <a:off x="914400" y="1874520"/>
            <a:ext cx="3017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Problem statement</a:t>
            </a:r>
            <a:endParaRPr sz="2000" b="0" i="0" u="none" strike="noStrike" cap="none">
              <a:solidFill>
                <a:schemeClr val="dk1"/>
              </a:solidFill>
              <a:latin typeface="Calibri"/>
              <a:ea typeface="Calibri"/>
              <a:cs typeface="Calibri"/>
              <a:sym typeface="Calibri"/>
            </a:endParaRPr>
          </a:p>
        </p:txBody>
      </p:sp>
      <p:sp>
        <p:nvSpPr>
          <p:cNvPr id="394" name="Google Shape;394;h63c0e6991457cadf_0_269"/>
          <p:cNvSpPr/>
          <p:nvPr/>
        </p:nvSpPr>
        <p:spPr>
          <a:xfrm>
            <a:off x="4297680" y="1901952"/>
            <a:ext cx="914400" cy="310800"/>
          </a:xfrm>
          <a:prstGeom prst="roundRect">
            <a:avLst>
              <a:gd name="adj" fmla="val 44118"/>
            </a:avLst>
          </a:prstGeom>
          <a:solidFill>
            <a:schemeClr val="accent1">
              <a:alpha val="14900"/>
            </a:schemeClr>
          </a:solidFill>
          <a:ln>
            <a:noFill/>
          </a:ln>
        </p:spPr>
        <p:txBody>
          <a:bodyPr spcFirstLastPara="1" wrap="square" lIns="0" tIns="0" rIns="0" bIns="0" anchor="ctr" anchorCtr="0">
            <a:noAutofit/>
          </a:bodyPr>
          <a:lstStyle/>
          <a:p>
            <a:pPr marL="0" marR="0" lvl="0" indent="0" algn="ctr" rtl="0">
              <a:spcBef>
                <a:spcPts val="0"/>
              </a:spcBef>
              <a:spcAft>
                <a:spcPts val="0"/>
              </a:spcAft>
              <a:buClr>
                <a:schemeClr val="accent3"/>
              </a:buClr>
              <a:buSzPts val="1100"/>
              <a:buFont typeface="Calibri"/>
              <a:buNone/>
            </a:pPr>
            <a:r>
              <a:rPr lang="en-US" sz="1100" b="1" i="0" u="none" strike="noStrike" cap="none">
                <a:solidFill>
                  <a:schemeClr val="accent3"/>
                </a:solidFill>
                <a:latin typeface="Calibri"/>
                <a:ea typeface="Calibri"/>
                <a:cs typeface="Calibri"/>
                <a:sym typeface="Calibri"/>
              </a:rPr>
              <a:t>MEDIUM</a:t>
            </a:r>
            <a:endParaRPr sz="1100" b="0" i="0" u="none" strike="noStrike" cap="none">
              <a:solidFill>
                <a:schemeClr val="dk1"/>
              </a:solidFill>
              <a:latin typeface="Calibri"/>
              <a:ea typeface="Calibri"/>
              <a:cs typeface="Calibri"/>
              <a:sym typeface="Calibri"/>
            </a:endParaRPr>
          </a:p>
        </p:txBody>
      </p:sp>
      <p:sp>
        <p:nvSpPr>
          <p:cNvPr id="395" name="Google Shape;395;h63c0e6991457cadf_0_269"/>
          <p:cNvSpPr txBox="1"/>
          <p:nvPr/>
        </p:nvSpPr>
        <p:spPr>
          <a:xfrm>
            <a:off x="914400" y="2313432"/>
            <a:ext cx="4297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200" b="0" i="1" u="none" strike="noStrike" cap="none">
                <a:solidFill>
                  <a:schemeClr val="accent5"/>
                </a:solidFill>
                <a:latin typeface="Calibri"/>
                <a:ea typeface="Calibri"/>
                <a:cs typeface="Calibri"/>
                <a:sym typeface="Calibri"/>
              </a:rPr>
              <a:t>Author: Elizabeth Gonzalez</a:t>
            </a:r>
            <a:endParaRPr sz="1200" b="0" i="0" u="none" strike="noStrike" cap="none">
              <a:solidFill>
                <a:schemeClr val="dk1"/>
              </a:solidFill>
              <a:latin typeface="Calibri"/>
              <a:ea typeface="Calibri"/>
              <a:cs typeface="Calibri"/>
              <a:sym typeface="Calibri"/>
            </a:endParaRPr>
          </a:p>
        </p:txBody>
      </p:sp>
      <p:sp>
        <p:nvSpPr>
          <p:cNvPr id="396" name="Google Shape;396;h63c0e6991457cadf_0_269"/>
          <p:cNvSpPr txBox="1"/>
          <p:nvPr/>
        </p:nvSpPr>
        <p:spPr>
          <a:xfrm>
            <a:off x="914400" y="2624328"/>
            <a:ext cx="4297800" cy="1828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Given two complex numbers x and y represented as strings, return a string of their product. Notes: A complex number is written in the form "real_part + imaginary_parti". real_part and imaginary_part could be negative. i^2 == -1.</a:t>
            </a:r>
            <a:endParaRPr sz="1400" b="0" i="0" u="none" strike="noStrike" cap="none">
              <a:solidFill>
                <a:schemeClr val="dk1"/>
              </a:solidFill>
              <a:latin typeface="Calibri"/>
              <a:ea typeface="Calibri"/>
              <a:cs typeface="Calibri"/>
              <a:sym typeface="Calibri"/>
            </a:endParaRPr>
          </a:p>
        </p:txBody>
      </p:sp>
      <p:sp>
        <p:nvSpPr>
          <p:cNvPr id="397" name="Google Shape;397;h63c0e6991457cadf_0_269"/>
          <p:cNvSpPr txBox="1"/>
          <p:nvPr/>
        </p:nvSpPr>
        <p:spPr>
          <a:xfrm>
            <a:off x="914400" y="3977655"/>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CONSTRAINTS</a:t>
            </a:r>
            <a:endParaRPr sz="1100" b="0" i="0" u="none" strike="noStrike" cap="none">
              <a:solidFill>
                <a:schemeClr val="dk1"/>
              </a:solidFill>
              <a:latin typeface="Calibri"/>
              <a:ea typeface="Calibri"/>
              <a:cs typeface="Calibri"/>
              <a:sym typeface="Calibri"/>
            </a:endParaRPr>
          </a:p>
        </p:txBody>
      </p:sp>
      <p:sp>
        <p:nvSpPr>
          <p:cNvPr id="398" name="Google Shape;398;h63c0e6991457cadf_0_269"/>
          <p:cNvSpPr txBox="1"/>
          <p:nvPr/>
        </p:nvSpPr>
        <p:spPr>
          <a:xfrm>
            <a:off x="914275" y="4329575"/>
            <a:ext cx="4297800" cy="1326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x and y are valid complex numbers.</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-1000 &lt;= real_part &lt;= 1000</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-1000 &lt;= imaginary_part &lt;= 1000</a:t>
            </a:r>
            <a:endParaRPr sz="1300" b="0" i="0" u="none" strike="noStrike" cap="none">
              <a:solidFill>
                <a:schemeClr val="dk1"/>
              </a:solidFill>
              <a:latin typeface="Calibri"/>
              <a:ea typeface="Calibri"/>
              <a:cs typeface="Calibri"/>
              <a:sym typeface="Calibri"/>
            </a:endParaRPr>
          </a:p>
        </p:txBody>
      </p:sp>
      <p:sp>
        <p:nvSpPr>
          <p:cNvPr id="399" name="Google Shape;399;h63c0e6991457cadf_0_269"/>
          <p:cNvSpPr/>
          <p:nvPr/>
        </p:nvSpPr>
        <p:spPr>
          <a:xfrm>
            <a:off x="5760720" y="1600200"/>
            <a:ext cx="5790900" cy="2194500"/>
          </a:xfrm>
          <a:prstGeom prst="roundRect">
            <a:avLst>
              <a:gd name="adj" fmla="val 25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h63c0e6991457cadf_0_269"/>
          <p:cNvSpPr txBox="1"/>
          <p:nvPr/>
        </p:nvSpPr>
        <p:spPr>
          <a:xfrm>
            <a:off x="6080760" y="1783080"/>
            <a:ext cx="51507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Example 1</a:t>
            </a:r>
            <a:endParaRPr sz="1700" b="0" i="0" u="none" strike="noStrike" cap="none">
              <a:solidFill>
                <a:schemeClr val="dk1"/>
              </a:solidFill>
              <a:latin typeface="Calibri"/>
              <a:ea typeface="Calibri"/>
              <a:cs typeface="Calibri"/>
              <a:sym typeface="Calibri"/>
            </a:endParaRPr>
          </a:p>
        </p:txBody>
      </p:sp>
      <p:sp>
        <p:nvSpPr>
          <p:cNvPr id="401" name="Google Shape;401;h63c0e6991457cadf_0_269"/>
          <p:cNvSpPr txBox="1"/>
          <p:nvPr/>
        </p:nvSpPr>
        <p:spPr>
          <a:xfrm>
            <a:off x="6080760" y="2194560"/>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0" i="0" u="none" strike="noStrike" cap="none">
                <a:solidFill>
                  <a:schemeClr val="dk1"/>
                </a:solidFill>
                <a:latin typeface="Courier New"/>
                <a:ea typeface="Courier New"/>
                <a:cs typeface="Courier New"/>
                <a:sym typeface="Courier New"/>
              </a:rPr>
              <a:t>Input:   x = "2 + 3i"</a:t>
            </a:r>
            <a:endParaRPr sz="1400" b="0" i="0" u="none" strike="noStrike" cap="none">
              <a:solidFill>
                <a:schemeClr val="dk1"/>
              </a:solidFill>
              <a:latin typeface="Calibri"/>
              <a:ea typeface="Calibri"/>
              <a:cs typeface="Calibri"/>
              <a:sym typeface="Calibri"/>
            </a:endParaRPr>
          </a:p>
        </p:txBody>
      </p:sp>
      <p:sp>
        <p:nvSpPr>
          <p:cNvPr id="402" name="Google Shape;402;h63c0e6991457cadf_0_269"/>
          <p:cNvSpPr txBox="1"/>
          <p:nvPr/>
        </p:nvSpPr>
        <p:spPr>
          <a:xfrm>
            <a:off x="6080760" y="2478024"/>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0" i="0" u="none" strike="noStrike" cap="none">
                <a:solidFill>
                  <a:schemeClr val="dk1"/>
                </a:solidFill>
                <a:latin typeface="Courier New"/>
                <a:ea typeface="Courier New"/>
                <a:cs typeface="Courier New"/>
                <a:sym typeface="Courier New"/>
              </a:rPr>
              <a:t>         y = "1 + 4i"</a:t>
            </a:r>
            <a:endParaRPr sz="1400" b="0" i="0" u="none" strike="noStrike" cap="none">
              <a:solidFill>
                <a:schemeClr val="dk1"/>
              </a:solidFill>
              <a:latin typeface="Calibri"/>
              <a:ea typeface="Calibri"/>
              <a:cs typeface="Calibri"/>
              <a:sym typeface="Calibri"/>
            </a:endParaRPr>
          </a:p>
        </p:txBody>
      </p:sp>
      <p:sp>
        <p:nvSpPr>
          <p:cNvPr id="403" name="Google Shape;403;h63c0e6991457cadf_0_269"/>
          <p:cNvSpPr txBox="1"/>
          <p:nvPr/>
        </p:nvSpPr>
        <p:spPr>
          <a:xfrm>
            <a:off x="6080760" y="2761488"/>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1" i="0" u="none" strike="noStrike" cap="none">
                <a:solidFill>
                  <a:schemeClr val="dk1"/>
                </a:solidFill>
                <a:latin typeface="Courier New"/>
                <a:ea typeface="Courier New"/>
                <a:cs typeface="Courier New"/>
                <a:sym typeface="Courier New"/>
              </a:rPr>
              <a:t>Output:  "-10 + 11i"</a:t>
            </a:r>
            <a:endParaRPr sz="1400" b="0" i="0" u="none" strike="noStrike" cap="none">
              <a:solidFill>
                <a:schemeClr val="dk1"/>
              </a:solidFill>
              <a:latin typeface="Calibri"/>
              <a:ea typeface="Calibri"/>
              <a:cs typeface="Calibri"/>
              <a:sym typeface="Calibri"/>
            </a:endParaRPr>
          </a:p>
        </p:txBody>
      </p:sp>
      <p:sp>
        <p:nvSpPr>
          <p:cNvPr id="404" name="Google Shape;404;h63c0e6991457cadf_0_269"/>
          <p:cNvSpPr txBox="1"/>
          <p:nvPr/>
        </p:nvSpPr>
        <p:spPr>
          <a:xfrm>
            <a:off x="6080760" y="3145536"/>
            <a:ext cx="5150700" cy="557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Explanation: (2+3i)×(1+4i) = 2×1 + 2×4i + 3i×1 + 3i×4i = 2 + 8i + 3i + 12(i^2) = 2 + 11i - 12 = -10+11i</a:t>
            </a:r>
            <a:endParaRPr sz="1400" b="0" i="0" u="none" strike="noStrike" cap="none">
              <a:solidFill>
                <a:schemeClr val="dk1"/>
              </a:solidFill>
              <a:latin typeface="Calibri"/>
              <a:ea typeface="Calibri"/>
              <a:cs typeface="Calibri"/>
              <a:sym typeface="Calibri"/>
            </a:endParaRPr>
          </a:p>
        </p:txBody>
      </p:sp>
      <p:sp>
        <p:nvSpPr>
          <p:cNvPr id="405" name="Google Shape;405;h63c0e6991457cadf_0_269"/>
          <p:cNvSpPr/>
          <p:nvPr/>
        </p:nvSpPr>
        <p:spPr>
          <a:xfrm>
            <a:off x="5760720" y="3977640"/>
            <a:ext cx="5790900" cy="2194500"/>
          </a:xfrm>
          <a:prstGeom prst="roundRect">
            <a:avLst>
              <a:gd name="adj" fmla="val 25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h63c0e6991457cadf_0_269"/>
          <p:cNvSpPr txBox="1"/>
          <p:nvPr/>
        </p:nvSpPr>
        <p:spPr>
          <a:xfrm>
            <a:off x="6080760" y="4160520"/>
            <a:ext cx="51507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Example 2</a:t>
            </a:r>
            <a:endParaRPr sz="1700" b="0" i="0" u="none" strike="noStrike" cap="none">
              <a:solidFill>
                <a:schemeClr val="dk1"/>
              </a:solidFill>
              <a:latin typeface="Calibri"/>
              <a:ea typeface="Calibri"/>
              <a:cs typeface="Calibri"/>
              <a:sym typeface="Calibri"/>
            </a:endParaRPr>
          </a:p>
        </p:txBody>
      </p:sp>
      <p:sp>
        <p:nvSpPr>
          <p:cNvPr id="407" name="Google Shape;407;h63c0e6991457cadf_0_269"/>
          <p:cNvSpPr txBox="1"/>
          <p:nvPr/>
        </p:nvSpPr>
        <p:spPr>
          <a:xfrm>
            <a:off x="6080760" y="4572000"/>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0" i="0" u="none" strike="noStrike" cap="none">
                <a:solidFill>
                  <a:schemeClr val="dk1"/>
                </a:solidFill>
                <a:latin typeface="Courier New"/>
                <a:ea typeface="Courier New"/>
                <a:cs typeface="Courier New"/>
                <a:sym typeface="Courier New"/>
              </a:rPr>
              <a:t>Input:   x = "-1 + -1i"</a:t>
            </a:r>
            <a:endParaRPr sz="1400" b="0" i="0" u="none" strike="noStrike" cap="none">
              <a:solidFill>
                <a:schemeClr val="dk1"/>
              </a:solidFill>
              <a:latin typeface="Calibri"/>
              <a:ea typeface="Calibri"/>
              <a:cs typeface="Calibri"/>
              <a:sym typeface="Calibri"/>
            </a:endParaRPr>
          </a:p>
        </p:txBody>
      </p:sp>
      <p:sp>
        <p:nvSpPr>
          <p:cNvPr id="408" name="Google Shape;408;h63c0e6991457cadf_0_269"/>
          <p:cNvSpPr txBox="1"/>
          <p:nvPr/>
        </p:nvSpPr>
        <p:spPr>
          <a:xfrm>
            <a:off x="6080760" y="4855464"/>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0" i="0" u="none" strike="noStrike" cap="none">
                <a:solidFill>
                  <a:schemeClr val="dk1"/>
                </a:solidFill>
                <a:latin typeface="Courier New"/>
                <a:ea typeface="Courier New"/>
                <a:cs typeface="Courier New"/>
                <a:sym typeface="Courier New"/>
              </a:rPr>
              <a:t>         y = "1 + -1i"</a:t>
            </a:r>
            <a:endParaRPr sz="1400" b="0" i="0" u="none" strike="noStrike" cap="none">
              <a:solidFill>
                <a:schemeClr val="dk1"/>
              </a:solidFill>
              <a:latin typeface="Calibri"/>
              <a:ea typeface="Calibri"/>
              <a:cs typeface="Calibri"/>
              <a:sym typeface="Calibri"/>
            </a:endParaRPr>
          </a:p>
        </p:txBody>
      </p:sp>
      <p:sp>
        <p:nvSpPr>
          <p:cNvPr id="409" name="Google Shape;409;h63c0e6991457cadf_0_269"/>
          <p:cNvSpPr txBox="1"/>
          <p:nvPr/>
        </p:nvSpPr>
        <p:spPr>
          <a:xfrm>
            <a:off x="6080760" y="5138928"/>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1" i="0" u="none" strike="noStrike" cap="none">
                <a:solidFill>
                  <a:schemeClr val="dk1"/>
                </a:solidFill>
                <a:latin typeface="Courier New"/>
                <a:ea typeface="Courier New"/>
                <a:cs typeface="Courier New"/>
                <a:sym typeface="Courier New"/>
              </a:rPr>
              <a:t>Output:  "-2 + 0i"</a:t>
            </a:r>
            <a:endParaRPr sz="1400" b="0" i="0" u="none" strike="noStrike" cap="none">
              <a:solidFill>
                <a:schemeClr val="dk1"/>
              </a:solidFill>
              <a:latin typeface="Calibri"/>
              <a:ea typeface="Calibri"/>
              <a:cs typeface="Calibri"/>
              <a:sym typeface="Calibri"/>
            </a:endParaRPr>
          </a:p>
        </p:txBody>
      </p:sp>
      <p:sp>
        <p:nvSpPr>
          <p:cNvPr id="410" name="Google Shape;410;h63c0e6991457cadf_0_269"/>
          <p:cNvSpPr txBox="1"/>
          <p:nvPr/>
        </p:nvSpPr>
        <p:spPr>
          <a:xfrm>
            <a:off x="6080760" y="5522976"/>
            <a:ext cx="5150700" cy="557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Explanation: (-1+-1i)×(1+-1i) = -1×1 + -1×-1i + -1i×1 + -1i×-1i = -1 + 1i + -1i + 1(i^2) = -1 + 0i - 1 = -2+0i</a:t>
            </a:r>
            <a:endParaRPr sz="1400" b="0" i="0" u="none" strike="noStrike" cap="none">
              <a:solidFill>
                <a:schemeClr val="dk1"/>
              </a:solidFill>
              <a:latin typeface="Calibri"/>
              <a:ea typeface="Calibri"/>
              <a:cs typeface="Calibri"/>
              <a:sym typeface="Calibri"/>
            </a:endParaRPr>
          </a:p>
        </p:txBody>
      </p:sp>
      <p:sp>
        <p:nvSpPr>
          <p:cNvPr id="3" name="Text Placeholder 2">
            <a:extLst>
              <a:ext uri="{FF2B5EF4-FFF2-40B4-BE49-F238E27FC236}">
                <a16:creationId xmlns:a16="http://schemas.microsoft.com/office/drawing/2014/main" id="{0AA7A8A3-645A-C56F-1C78-B78657544EFD}"/>
              </a:ext>
            </a:extLst>
          </p:cNvPr>
          <p:cNvSpPr>
            <a:spLocks noGrp="1"/>
          </p:cNvSpPr>
          <p:nvPr>
            <p:ph type="body" idx="1"/>
          </p:nvPr>
        </p:nvSpPr>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7" name="Google Shape;417;h63c0e6991457cadf_0_306"/>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dirty="0"/>
              <a:t>Worked example: </a:t>
            </a:r>
            <a:r>
              <a:rPr lang="en-US" dirty="0"/>
              <a:t>3.5 </a:t>
            </a:r>
            <a:r>
              <a:rPr lang="en-US" sz="3200" b="1" dirty="0"/>
              <a:t>Multiply Complex Numbers</a:t>
            </a:r>
            <a:endParaRPr sz="3200" dirty="0"/>
          </a:p>
        </p:txBody>
      </p:sp>
      <p:sp>
        <p:nvSpPr>
          <p:cNvPr id="418" name="Google Shape;418;h63c0e6991457cadf_0_306"/>
          <p:cNvSpPr/>
          <p:nvPr/>
        </p:nvSpPr>
        <p:spPr>
          <a:xfrm>
            <a:off x="640075" y="1600200"/>
            <a:ext cx="4846200" cy="31911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h63c0e6991457cadf_0_306"/>
          <p:cNvSpPr txBox="1"/>
          <p:nvPr/>
        </p:nvSpPr>
        <p:spPr>
          <a:xfrm>
            <a:off x="914400" y="1874520"/>
            <a:ext cx="3017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Problem statement</a:t>
            </a:r>
            <a:endParaRPr sz="2000" b="0" i="0" u="none" strike="noStrike" cap="none">
              <a:solidFill>
                <a:schemeClr val="dk1"/>
              </a:solidFill>
              <a:latin typeface="Calibri"/>
              <a:ea typeface="Calibri"/>
              <a:cs typeface="Calibri"/>
              <a:sym typeface="Calibri"/>
            </a:endParaRPr>
          </a:p>
        </p:txBody>
      </p:sp>
      <p:sp>
        <p:nvSpPr>
          <p:cNvPr id="420" name="Google Shape;420;h63c0e6991457cadf_0_306"/>
          <p:cNvSpPr/>
          <p:nvPr/>
        </p:nvSpPr>
        <p:spPr>
          <a:xfrm>
            <a:off x="4297680" y="1901952"/>
            <a:ext cx="914400" cy="310800"/>
          </a:xfrm>
          <a:prstGeom prst="roundRect">
            <a:avLst>
              <a:gd name="adj" fmla="val 44118"/>
            </a:avLst>
          </a:prstGeom>
          <a:solidFill>
            <a:schemeClr val="accent1">
              <a:alpha val="14900"/>
            </a:schemeClr>
          </a:solidFill>
          <a:ln>
            <a:noFill/>
          </a:ln>
        </p:spPr>
        <p:txBody>
          <a:bodyPr spcFirstLastPara="1" wrap="square" lIns="0" tIns="0" rIns="0" bIns="0" anchor="ctr" anchorCtr="0">
            <a:noAutofit/>
          </a:bodyPr>
          <a:lstStyle/>
          <a:p>
            <a:pPr marL="0" marR="0" lvl="0" indent="0" algn="ctr" rtl="0">
              <a:spcBef>
                <a:spcPts val="0"/>
              </a:spcBef>
              <a:spcAft>
                <a:spcPts val="0"/>
              </a:spcAft>
              <a:buClr>
                <a:schemeClr val="accent3"/>
              </a:buClr>
              <a:buSzPts val="1100"/>
              <a:buFont typeface="Calibri"/>
              <a:buNone/>
            </a:pPr>
            <a:r>
              <a:rPr lang="en-US" sz="1100" b="1" i="0" u="none" strike="noStrike" cap="none">
                <a:solidFill>
                  <a:schemeClr val="accent3"/>
                </a:solidFill>
                <a:latin typeface="Calibri"/>
                <a:ea typeface="Calibri"/>
                <a:cs typeface="Calibri"/>
                <a:sym typeface="Calibri"/>
              </a:rPr>
              <a:t>MEDIUM</a:t>
            </a:r>
            <a:endParaRPr sz="1100" b="0" i="0" u="none" strike="noStrike" cap="none">
              <a:solidFill>
                <a:schemeClr val="dk1"/>
              </a:solidFill>
              <a:latin typeface="Calibri"/>
              <a:ea typeface="Calibri"/>
              <a:cs typeface="Calibri"/>
              <a:sym typeface="Calibri"/>
            </a:endParaRPr>
          </a:p>
        </p:txBody>
      </p:sp>
      <p:sp>
        <p:nvSpPr>
          <p:cNvPr id="421" name="Google Shape;421;h63c0e6991457cadf_0_306"/>
          <p:cNvSpPr txBox="1"/>
          <p:nvPr/>
        </p:nvSpPr>
        <p:spPr>
          <a:xfrm>
            <a:off x="907901" y="2236690"/>
            <a:ext cx="4297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200" b="0" i="1" u="none" strike="noStrike" cap="none" dirty="0">
                <a:solidFill>
                  <a:schemeClr val="accent5"/>
                </a:solidFill>
                <a:latin typeface="Calibri"/>
                <a:ea typeface="Calibri"/>
                <a:cs typeface="Calibri"/>
                <a:sym typeface="Calibri"/>
              </a:rPr>
              <a:t>Author: Elizabeth Gonzalez</a:t>
            </a:r>
            <a:endParaRPr sz="1200" b="0" i="0" u="none" strike="noStrike" cap="none" dirty="0">
              <a:solidFill>
                <a:schemeClr val="dk1"/>
              </a:solidFill>
              <a:latin typeface="Calibri"/>
              <a:ea typeface="Calibri"/>
              <a:cs typeface="Calibri"/>
              <a:sym typeface="Calibri"/>
            </a:endParaRPr>
          </a:p>
        </p:txBody>
      </p:sp>
      <p:sp>
        <p:nvSpPr>
          <p:cNvPr id="422" name="Google Shape;422;h63c0e6991457cadf_0_306"/>
          <p:cNvSpPr txBox="1"/>
          <p:nvPr/>
        </p:nvSpPr>
        <p:spPr>
          <a:xfrm>
            <a:off x="907901" y="2441107"/>
            <a:ext cx="4297800" cy="1828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accent5"/>
              </a:buClr>
              <a:buSzPts val="1400"/>
              <a:buFont typeface="Calibri"/>
              <a:buNone/>
            </a:pPr>
            <a:r>
              <a:rPr lang="en-US" sz="1400" b="0" i="0" u="none" strike="noStrike" cap="none" dirty="0">
                <a:solidFill>
                  <a:schemeClr val="accent5"/>
                </a:solidFill>
                <a:latin typeface="Calibri"/>
                <a:ea typeface="Calibri"/>
                <a:cs typeface="Calibri"/>
                <a:sym typeface="Calibri"/>
              </a:rPr>
              <a:t>Given two complex numbers x and y represented as strings, return a string of their product. Notes: A complex number is written in the form "</a:t>
            </a:r>
            <a:r>
              <a:rPr lang="en-US" sz="1400" b="0" i="0" u="none" strike="noStrike" cap="none" dirty="0" err="1">
                <a:solidFill>
                  <a:schemeClr val="accent5"/>
                </a:solidFill>
                <a:latin typeface="Calibri"/>
                <a:ea typeface="Calibri"/>
                <a:cs typeface="Calibri"/>
                <a:sym typeface="Calibri"/>
              </a:rPr>
              <a:t>real_part</a:t>
            </a:r>
            <a:r>
              <a:rPr lang="en-US" sz="1400" b="0" i="0" u="none" strike="noStrike" cap="none" dirty="0">
                <a:solidFill>
                  <a:schemeClr val="accent5"/>
                </a:solidFill>
                <a:latin typeface="Calibri"/>
                <a:ea typeface="Calibri"/>
                <a:cs typeface="Calibri"/>
                <a:sym typeface="Calibri"/>
              </a:rPr>
              <a:t> + </a:t>
            </a:r>
            <a:r>
              <a:rPr lang="en-US" sz="1400" b="0" i="0" u="none" strike="noStrike" cap="none" dirty="0" err="1">
                <a:solidFill>
                  <a:schemeClr val="accent5"/>
                </a:solidFill>
                <a:latin typeface="Calibri"/>
                <a:ea typeface="Calibri"/>
                <a:cs typeface="Calibri"/>
                <a:sym typeface="Calibri"/>
              </a:rPr>
              <a:t>imaginary_parti</a:t>
            </a:r>
            <a:r>
              <a:rPr lang="en-US" sz="1400" b="0" i="0" u="none" strike="noStrike" cap="none" dirty="0">
                <a:solidFill>
                  <a:schemeClr val="accent5"/>
                </a:solidFill>
                <a:latin typeface="Calibri"/>
                <a:ea typeface="Calibri"/>
                <a:cs typeface="Calibri"/>
                <a:sym typeface="Calibri"/>
              </a:rPr>
              <a:t>". </a:t>
            </a:r>
            <a:r>
              <a:rPr lang="en-US" sz="1400" b="0" i="0" u="none" strike="noStrike" cap="none" dirty="0" err="1">
                <a:solidFill>
                  <a:schemeClr val="accent5"/>
                </a:solidFill>
                <a:latin typeface="Calibri"/>
                <a:ea typeface="Calibri"/>
                <a:cs typeface="Calibri"/>
                <a:sym typeface="Calibri"/>
              </a:rPr>
              <a:t>real_part</a:t>
            </a:r>
            <a:r>
              <a:rPr lang="en-US" sz="1400" b="0" i="0" u="none" strike="noStrike" cap="none" dirty="0">
                <a:solidFill>
                  <a:schemeClr val="accent5"/>
                </a:solidFill>
                <a:latin typeface="Calibri"/>
                <a:ea typeface="Calibri"/>
                <a:cs typeface="Calibri"/>
                <a:sym typeface="Calibri"/>
              </a:rPr>
              <a:t> and </a:t>
            </a:r>
            <a:r>
              <a:rPr lang="en-US" sz="1400" b="0" i="0" u="none" strike="noStrike" cap="none" dirty="0" err="1">
                <a:solidFill>
                  <a:schemeClr val="accent5"/>
                </a:solidFill>
                <a:latin typeface="Calibri"/>
                <a:ea typeface="Calibri"/>
                <a:cs typeface="Calibri"/>
                <a:sym typeface="Calibri"/>
              </a:rPr>
              <a:t>imaginary_part</a:t>
            </a:r>
            <a:r>
              <a:rPr lang="en-US" sz="1400" b="0" i="0" u="none" strike="noStrike" cap="none" dirty="0">
                <a:solidFill>
                  <a:schemeClr val="accent5"/>
                </a:solidFill>
                <a:latin typeface="Calibri"/>
                <a:ea typeface="Calibri"/>
                <a:cs typeface="Calibri"/>
                <a:sym typeface="Calibri"/>
              </a:rPr>
              <a:t> could be negative. i^2 == -1.</a:t>
            </a:r>
            <a:endParaRPr sz="1400" b="0" i="0" u="none" strike="noStrike" cap="none" dirty="0">
              <a:solidFill>
                <a:schemeClr val="dk1"/>
              </a:solidFill>
              <a:latin typeface="Calibri"/>
              <a:ea typeface="Calibri"/>
              <a:cs typeface="Calibri"/>
              <a:sym typeface="Calibri"/>
            </a:endParaRPr>
          </a:p>
        </p:txBody>
      </p:sp>
      <p:sp>
        <p:nvSpPr>
          <p:cNvPr id="423" name="Google Shape;423;h63c0e6991457cadf_0_306"/>
          <p:cNvSpPr txBox="1"/>
          <p:nvPr/>
        </p:nvSpPr>
        <p:spPr>
          <a:xfrm>
            <a:off x="914400" y="3680395"/>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dirty="0">
                <a:solidFill>
                  <a:schemeClr val="accent1"/>
                </a:solidFill>
                <a:latin typeface="Calibri"/>
                <a:ea typeface="Calibri"/>
                <a:cs typeface="Calibri"/>
                <a:sym typeface="Calibri"/>
              </a:rPr>
              <a:t>CONSTRAINTS</a:t>
            </a:r>
            <a:endParaRPr sz="1100" b="0" i="0" u="none" strike="noStrike" cap="none" dirty="0">
              <a:solidFill>
                <a:schemeClr val="dk1"/>
              </a:solidFill>
              <a:latin typeface="Calibri"/>
              <a:ea typeface="Calibri"/>
              <a:cs typeface="Calibri"/>
              <a:sym typeface="Calibri"/>
            </a:endParaRPr>
          </a:p>
        </p:txBody>
      </p:sp>
      <p:sp>
        <p:nvSpPr>
          <p:cNvPr id="424" name="Google Shape;424;h63c0e6991457cadf_0_306"/>
          <p:cNvSpPr txBox="1"/>
          <p:nvPr/>
        </p:nvSpPr>
        <p:spPr>
          <a:xfrm>
            <a:off x="914400" y="3886075"/>
            <a:ext cx="4297800" cy="1326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300" b="0" i="0" u="none" strike="noStrike" cap="none" dirty="0">
                <a:solidFill>
                  <a:schemeClr val="dk1"/>
                </a:solidFill>
                <a:latin typeface="Calibri"/>
                <a:ea typeface="Calibri"/>
                <a:cs typeface="Calibri"/>
                <a:sym typeface="Calibri"/>
              </a:rPr>
              <a:t>x and y are valid complex numbers.</a:t>
            </a:r>
            <a:endParaRPr sz="1300" b="0" i="0" u="none" strike="noStrike" cap="none" dirty="0">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dirty="0">
                <a:solidFill>
                  <a:schemeClr val="dk1"/>
                </a:solidFill>
                <a:latin typeface="Calibri"/>
                <a:ea typeface="Calibri"/>
                <a:cs typeface="Calibri"/>
                <a:sym typeface="Calibri"/>
              </a:rPr>
              <a:t>-1000 &lt;= </a:t>
            </a:r>
            <a:r>
              <a:rPr lang="en-US" sz="1300" b="0" i="0" u="none" strike="noStrike" cap="none" dirty="0" err="1">
                <a:solidFill>
                  <a:schemeClr val="dk1"/>
                </a:solidFill>
                <a:latin typeface="Calibri"/>
                <a:ea typeface="Calibri"/>
                <a:cs typeface="Calibri"/>
                <a:sym typeface="Calibri"/>
              </a:rPr>
              <a:t>real_part</a:t>
            </a:r>
            <a:r>
              <a:rPr lang="en-US" sz="1300" b="0" i="0" u="none" strike="noStrike" cap="none" dirty="0">
                <a:solidFill>
                  <a:schemeClr val="dk1"/>
                </a:solidFill>
                <a:latin typeface="Calibri"/>
                <a:ea typeface="Calibri"/>
                <a:cs typeface="Calibri"/>
                <a:sym typeface="Calibri"/>
              </a:rPr>
              <a:t> &lt;= 1000</a:t>
            </a:r>
            <a:endParaRPr sz="1300" b="0" i="0" u="none" strike="noStrike" cap="none" dirty="0">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dirty="0">
                <a:solidFill>
                  <a:schemeClr val="dk1"/>
                </a:solidFill>
                <a:latin typeface="Calibri"/>
                <a:ea typeface="Calibri"/>
                <a:cs typeface="Calibri"/>
                <a:sym typeface="Calibri"/>
              </a:rPr>
              <a:t>-1000 &lt;= </a:t>
            </a:r>
            <a:r>
              <a:rPr lang="en-US" sz="1300" b="0" i="0" u="none" strike="noStrike" cap="none" dirty="0" err="1">
                <a:solidFill>
                  <a:schemeClr val="dk1"/>
                </a:solidFill>
                <a:latin typeface="Calibri"/>
                <a:ea typeface="Calibri"/>
                <a:cs typeface="Calibri"/>
                <a:sym typeface="Calibri"/>
              </a:rPr>
              <a:t>imaginary_part</a:t>
            </a:r>
            <a:r>
              <a:rPr lang="en-US" sz="1300" b="0" i="0" u="none" strike="noStrike" cap="none" dirty="0">
                <a:solidFill>
                  <a:schemeClr val="dk1"/>
                </a:solidFill>
                <a:latin typeface="Calibri"/>
                <a:ea typeface="Calibri"/>
                <a:cs typeface="Calibri"/>
                <a:sym typeface="Calibri"/>
              </a:rPr>
              <a:t> &lt;= 1000</a:t>
            </a:r>
            <a:endParaRPr sz="1300" b="0" i="0" u="none" strike="noStrike" cap="none" dirty="0">
              <a:solidFill>
                <a:schemeClr val="dk1"/>
              </a:solidFill>
              <a:latin typeface="Calibri"/>
              <a:ea typeface="Calibri"/>
              <a:cs typeface="Calibri"/>
              <a:sym typeface="Calibri"/>
            </a:endParaRPr>
          </a:p>
        </p:txBody>
      </p:sp>
      <p:sp>
        <p:nvSpPr>
          <p:cNvPr id="425" name="Google Shape;425;h63c0e6991457cadf_0_306"/>
          <p:cNvSpPr/>
          <p:nvPr/>
        </p:nvSpPr>
        <p:spPr>
          <a:xfrm>
            <a:off x="5760650" y="2496050"/>
            <a:ext cx="5790900" cy="7281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h63c0e6991457cadf_0_306"/>
          <p:cNvSpPr txBox="1"/>
          <p:nvPr/>
        </p:nvSpPr>
        <p:spPr>
          <a:xfrm>
            <a:off x="6080685" y="2633210"/>
            <a:ext cx="1828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HINT</a:t>
            </a:r>
            <a:endParaRPr sz="1100" b="0" i="0" u="none" strike="noStrike" cap="none">
              <a:solidFill>
                <a:schemeClr val="dk1"/>
              </a:solidFill>
              <a:latin typeface="Calibri"/>
              <a:ea typeface="Calibri"/>
              <a:cs typeface="Calibri"/>
              <a:sym typeface="Calibri"/>
            </a:endParaRPr>
          </a:p>
        </p:txBody>
      </p:sp>
      <p:sp>
        <p:nvSpPr>
          <p:cNvPr id="427" name="Google Shape;427;h63c0e6991457cadf_0_306"/>
          <p:cNvSpPr txBox="1"/>
          <p:nvPr/>
        </p:nvSpPr>
        <p:spPr>
          <a:xfrm>
            <a:off x="6080685" y="2907530"/>
            <a:ext cx="5150700" cy="502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00" b="0" i="0" u="none" strike="noStrike" cap="none">
                <a:solidFill>
                  <a:schemeClr val="dk1"/>
                </a:solidFill>
                <a:latin typeface="Calibri"/>
                <a:ea typeface="Calibri"/>
                <a:cs typeface="Calibri"/>
                <a:sym typeface="Calibri"/>
              </a:rPr>
              <a:t>Parse each string into two integers, then expand the product using i^2 = -1.</a:t>
            </a:r>
            <a:endParaRPr sz="1300" b="0" i="0" u="none" strike="noStrike" cap="none">
              <a:solidFill>
                <a:schemeClr val="dk1"/>
              </a:solidFill>
              <a:latin typeface="Calibri"/>
              <a:ea typeface="Calibri"/>
              <a:cs typeface="Calibri"/>
              <a:sym typeface="Calibri"/>
            </a:endParaRPr>
          </a:p>
        </p:txBody>
      </p:sp>
      <p:sp>
        <p:nvSpPr>
          <p:cNvPr id="428" name="Google Shape;428;h63c0e6991457cadf_0_306"/>
          <p:cNvSpPr/>
          <p:nvPr/>
        </p:nvSpPr>
        <p:spPr>
          <a:xfrm>
            <a:off x="640075" y="4974050"/>
            <a:ext cx="4846200" cy="1198200"/>
          </a:xfrm>
          <a:prstGeom prst="roundRect">
            <a:avLst>
              <a:gd name="adj" fmla="val 2667"/>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h63c0e6991457cadf_0_306"/>
          <p:cNvSpPr txBox="1"/>
          <p:nvPr/>
        </p:nvSpPr>
        <p:spPr>
          <a:xfrm>
            <a:off x="907901" y="5138642"/>
            <a:ext cx="1913100" cy="25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Example 1</a:t>
            </a:r>
            <a:endParaRPr sz="1400" b="0" i="0" u="none" strike="noStrike" cap="none">
              <a:solidFill>
                <a:schemeClr val="dk1"/>
              </a:solidFill>
              <a:latin typeface="Calibri"/>
              <a:ea typeface="Calibri"/>
              <a:cs typeface="Calibri"/>
              <a:sym typeface="Calibri"/>
            </a:endParaRPr>
          </a:p>
        </p:txBody>
      </p:sp>
      <p:sp>
        <p:nvSpPr>
          <p:cNvPr id="430" name="Google Shape;430;h63c0e6991457cadf_0_306"/>
          <p:cNvSpPr txBox="1"/>
          <p:nvPr/>
        </p:nvSpPr>
        <p:spPr>
          <a:xfrm>
            <a:off x="2820974" y="5138642"/>
            <a:ext cx="2397300" cy="2559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dk1"/>
              </a:buClr>
              <a:buSzPts val="1300"/>
              <a:buFont typeface="Courier New"/>
              <a:buNone/>
            </a:pPr>
            <a:r>
              <a:rPr lang="en-US" sz="1300" b="1" i="0" u="none" strike="noStrike" cap="none">
                <a:solidFill>
                  <a:schemeClr val="dk1"/>
                </a:solidFill>
                <a:latin typeface="Courier New"/>
                <a:ea typeface="Courier New"/>
                <a:cs typeface="Courier New"/>
                <a:sym typeface="Courier New"/>
              </a:rPr>
              <a:t>Output: "-10 + 11i"</a:t>
            </a:r>
            <a:endParaRPr sz="1300" b="0" i="0" u="none" strike="noStrike" cap="none">
              <a:solidFill>
                <a:schemeClr val="dk1"/>
              </a:solidFill>
              <a:latin typeface="Calibri"/>
              <a:ea typeface="Calibri"/>
              <a:cs typeface="Calibri"/>
              <a:sym typeface="Calibri"/>
            </a:endParaRPr>
          </a:p>
        </p:txBody>
      </p:sp>
      <p:sp>
        <p:nvSpPr>
          <p:cNvPr id="431" name="Google Shape;431;h63c0e6991457cadf_0_306"/>
          <p:cNvSpPr txBox="1"/>
          <p:nvPr/>
        </p:nvSpPr>
        <p:spPr>
          <a:xfrm>
            <a:off x="907901" y="5412962"/>
            <a:ext cx="43104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ourier New"/>
              <a:buNone/>
            </a:pPr>
            <a:r>
              <a:rPr lang="en-US" sz="1300" b="0" i="0" u="none" strike="noStrike" cap="none">
                <a:solidFill>
                  <a:schemeClr val="dk1"/>
                </a:solidFill>
                <a:latin typeface="Courier New"/>
                <a:ea typeface="Courier New"/>
                <a:cs typeface="Courier New"/>
                <a:sym typeface="Courier New"/>
              </a:rPr>
              <a:t>x = "2 + 3i"</a:t>
            </a:r>
            <a:endParaRPr sz="1300" b="0" i="0" u="none" strike="noStrike" cap="none">
              <a:solidFill>
                <a:schemeClr val="dk1"/>
              </a:solidFill>
              <a:latin typeface="Calibri"/>
              <a:ea typeface="Calibri"/>
              <a:cs typeface="Calibri"/>
              <a:sym typeface="Calibri"/>
            </a:endParaRPr>
          </a:p>
        </p:txBody>
      </p:sp>
      <p:sp>
        <p:nvSpPr>
          <p:cNvPr id="432" name="Google Shape;432;h63c0e6991457cadf_0_306"/>
          <p:cNvSpPr txBox="1"/>
          <p:nvPr/>
        </p:nvSpPr>
        <p:spPr>
          <a:xfrm>
            <a:off x="907901" y="5650706"/>
            <a:ext cx="43104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ourier New"/>
              <a:buNone/>
            </a:pPr>
            <a:r>
              <a:rPr lang="en-US" sz="1300" b="0" i="0" u="none" strike="noStrike" cap="none">
                <a:solidFill>
                  <a:schemeClr val="dk1"/>
                </a:solidFill>
                <a:latin typeface="Courier New"/>
                <a:ea typeface="Courier New"/>
                <a:cs typeface="Courier New"/>
                <a:sym typeface="Courier New"/>
              </a:rPr>
              <a:t>y = "1 + 4i"</a:t>
            </a:r>
            <a:endParaRPr sz="1300" b="0" i="0" u="none" strike="noStrike" cap="none">
              <a:solidFill>
                <a:schemeClr val="dk1"/>
              </a:solidFill>
              <a:latin typeface="Calibri"/>
              <a:ea typeface="Calibri"/>
              <a:cs typeface="Calibri"/>
              <a:sym typeface="Calibri"/>
            </a:endParaRPr>
          </a:p>
        </p:txBody>
      </p:sp>
      <p:sp>
        <p:nvSpPr>
          <p:cNvPr id="433" name="Google Shape;433;h63c0e6991457cadf_0_306"/>
          <p:cNvSpPr/>
          <p:nvPr/>
        </p:nvSpPr>
        <p:spPr>
          <a:xfrm>
            <a:off x="5760725" y="1600200"/>
            <a:ext cx="5790900" cy="713100"/>
          </a:xfrm>
          <a:prstGeom prst="roundRect">
            <a:avLst>
              <a:gd name="adj" fmla="val 4615"/>
            </a:avLst>
          </a:prstGeom>
          <a:solidFill>
            <a:schemeClr val="accent6"/>
          </a:solidFill>
          <a:ln w="9525" cap="flat" cmpd="sng">
            <a:solidFill>
              <a:schemeClr val="accent5">
                <a:alpha val="502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h63c0e6991457cadf_0_306"/>
          <p:cNvSpPr txBox="1"/>
          <p:nvPr/>
        </p:nvSpPr>
        <p:spPr>
          <a:xfrm>
            <a:off x="6126430" y="1686030"/>
            <a:ext cx="50595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2200"/>
              <a:buFont typeface="Calibri"/>
              <a:buNone/>
            </a:pPr>
            <a:r>
              <a:rPr lang="en-US" sz="2000" b="1" i="0" u="none" strike="noStrike" cap="none">
                <a:solidFill>
                  <a:schemeClr val="lt1"/>
                </a:solidFill>
                <a:latin typeface="Calibri"/>
                <a:ea typeface="Calibri"/>
                <a:cs typeface="Calibri"/>
                <a:sym typeface="Calibri"/>
              </a:rPr>
              <a:t>You have 5 minutes to complete this.</a:t>
            </a:r>
            <a:endParaRPr sz="2000" b="0" i="0" u="none" strike="noStrike" cap="none">
              <a:solidFill>
                <a:schemeClr val="dk1"/>
              </a:solidFill>
              <a:latin typeface="Calibri"/>
              <a:ea typeface="Calibri"/>
              <a:cs typeface="Calibri"/>
              <a:sym typeface="Calibri"/>
            </a:endParaRPr>
          </a:p>
        </p:txBody>
      </p:sp>
      <p:sp>
        <p:nvSpPr>
          <p:cNvPr id="435" name="Google Shape;435;h63c0e6991457cadf_0_306"/>
          <p:cNvSpPr txBox="1"/>
          <p:nvPr/>
        </p:nvSpPr>
        <p:spPr>
          <a:xfrm>
            <a:off x="6126355" y="1990956"/>
            <a:ext cx="50595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500"/>
              <a:buFont typeface="Calibri"/>
              <a:buNone/>
            </a:pPr>
            <a:r>
              <a:rPr lang="en-US" sz="1300" b="0" i="0" u="none" strike="noStrike" cap="none">
                <a:solidFill>
                  <a:schemeClr val="lt2"/>
                </a:solidFill>
                <a:latin typeface="Calibri"/>
                <a:ea typeface="Calibri"/>
                <a:cs typeface="Calibri"/>
                <a:sym typeface="Calibri"/>
              </a:rPr>
              <a:t>Please feel free to work in pairs or small groups (3 to 4).</a:t>
            </a:r>
            <a:endParaRPr sz="1300" b="0" i="0" u="none" strike="noStrike" cap="none">
              <a:solidFill>
                <a:schemeClr val="dk1"/>
              </a:solidFill>
              <a:latin typeface="Calibri"/>
              <a:ea typeface="Calibri"/>
              <a:cs typeface="Calibri"/>
              <a:sym typeface="Calibri"/>
            </a:endParaRPr>
          </a:p>
        </p:txBody>
      </p:sp>
      <p:pic>
        <p:nvPicPr>
          <p:cNvPr id="436" name="Google Shape;436;h63c0e6991457cadf_0_306"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title="5 Minute Timer">
            <a:hlinkClick r:id="rId3"/>
          </p:cNvPr>
          <p:cNvPicPr preferRelativeResize="0"/>
          <p:nvPr/>
        </p:nvPicPr>
        <p:blipFill>
          <a:blip r:embed="rId4">
            <a:alphaModFix/>
          </a:blip>
          <a:stretch>
            <a:fillRect/>
          </a:stretch>
        </p:blipFill>
        <p:spPr>
          <a:xfrm>
            <a:off x="5760726" y="3448000"/>
            <a:ext cx="5790900" cy="2724195"/>
          </a:xfrm>
          <a:prstGeom prst="rect">
            <a:avLst/>
          </a:prstGeom>
          <a:noFill/>
          <a:ln>
            <a:noFill/>
          </a:ln>
        </p:spPr>
      </p:pic>
      <p:sp>
        <p:nvSpPr>
          <p:cNvPr id="3" name="Text Placeholder 2">
            <a:extLst>
              <a:ext uri="{FF2B5EF4-FFF2-40B4-BE49-F238E27FC236}">
                <a16:creationId xmlns:a16="http://schemas.microsoft.com/office/drawing/2014/main" id="{79105606-9EF4-C96A-8929-968F090F3AA4}"/>
              </a:ext>
            </a:extLst>
          </p:cNvPr>
          <p:cNvSpPr>
            <a:spLocks noGrp="1"/>
          </p:cNvSpPr>
          <p:nvPr>
            <p:ph type="body" idx="1"/>
          </p:nvPr>
        </p:nvSpPr>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3" name="Google Shape;443;h63c0e6991457cadf_0_342"/>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3.5 </a:t>
            </a:r>
            <a:r>
              <a:rPr lang="en-US" sz="3200" b="1"/>
              <a:t>Multiply Complex Numbers</a:t>
            </a:r>
            <a:endParaRPr sz="3200"/>
          </a:p>
        </p:txBody>
      </p:sp>
      <p:sp>
        <p:nvSpPr>
          <p:cNvPr id="444" name="Google Shape;444;h63c0e6991457cadf_0_342"/>
          <p:cNvSpPr/>
          <p:nvPr/>
        </p:nvSpPr>
        <p:spPr>
          <a:xfrm>
            <a:off x="640080" y="1600200"/>
            <a:ext cx="4846200" cy="3291900"/>
          </a:xfrm>
          <a:prstGeom prst="roundRect">
            <a:avLst>
              <a:gd name="adj" fmla="val 1667"/>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h63c0e6991457cadf_0_342"/>
          <p:cNvSpPr txBox="1"/>
          <p:nvPr/>
        </p:nvSpPr>
        <p:spPr>
          <a:xfrm>
            <a:off x="914400" y="1801368"/>
            <a:ext cx="42978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Pattern and approach</a:t>
            </a:r>
            <a:endParaRPr sz="1800" b="0" i="0" u="none" strike="noStrike" cap="none">
              <a:solidFill>
                <a:schemeClr val="dk1"/>
              </a:solidFill>
              <a:latin typeface="Calibri"/>
              <a:ea typeface="Calibri"/>
              <a:cs typeface="Calibri"/>
              <a:sym typeface="Calibri"/>
            </a:endParaRPr>
          </a:p>
        </p:txBody>
      </p:sp>
      <p:sp>
        <p:nvSpPr>
          <p:cNvPr id="446" name="Google Shape;446;h63c0e6991457cadf_0_342"/>
          <p:cNvSpPr/>
          <p:nvPr/>
        </p:nvSpPr>
        <p:spPr>
          <a:xfrm>
            <a:off x="914400" y="2313432"/>
            <a:ext cx="1444800" cy="292500"/>
          </a:xfrm>
          <a:prstGeom prst="roundRect">
            <a:avLst>
              <a:gd name="adj" fmla="val 50000"/>
            </a:avLst>
          </a:prstGeom>
          <a:solidFill>
            <a:schemeClr val="accent2">
              <a:alpha val="25100"/>
            </a:schemeClr>
          </a:solidFill>
          <a:ln w="9525" cap="flat" cmpd="sng">
            <a:solidFill>
              <a:schemeClr val="accent2">
                <a:alpha val="702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1100"/>
              <a:buFont typeface="Calibri"/>
              <a:buNone/>
            </a:pPr>
            <a:r>
              <a:rPr lang="en-US" sz="1100" b="1" i="0" u="none" strike="noStrike" cap="none">
                <a:solidFill>
                  <a:schemeClr val="dk1"/>
                </a:solidFill>
                <a:latin typeface="Calibri"/>
                <a:ea typeface="Calibri"/>
                <a:cs typeface="Calibri"/>
                <a:sym typeface="Calibri"/>
              </a:rPr>
              <a:t>Split and parse</a:t>
            </a:r>
            <a:endParaRPr sz="1100" b="0" i="0" u="none" strike="noStrike" cap="none">
              <a:solidFill>
                <a:schemeClr val="dk1"/>
              </a:solidFill>
              <a:latin typeface="Calibri"/>
              <a:ea typeface="Calibri"/>
              <a:cs typeface="Calibri"/>
              <a:sym typeface="Calibri"/>
            </a:endParaRPr>
          </a:p>
        </p:txBody>
      </p:sp>
      <p:sp>
        <p:nvSpPr>
          <p:cNvPr id="447" name="Google Shape;447;h63c0e6991457cadf_0_342"/>
          <p:cNvSpPr/>
          <p:nvPr/>
        </p:nvSpPr>
        <p:spPr>
          <a:xfrm>
            <a:off x="914400" y="2880360"/>
            <a:ext cx="347400" cy="3474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448" name="Google Shape;448;h63c0e6991457cadf_0_342"/>
          <p:cNvSpPr txBox="1"/>
          <p:nvPr/>
        </p:nvSpPr>
        <p:spPr>
          <a:xfrm>
            <a:off x="1463040" y="2862072"/>
            <a:ext cx="3749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Parse each number</a:t>
            </a:r>
            <a:endParaRPr sz="1500" b="0" i="0" u="none" strike="noStrike" cap="none">
              <a:solidFill>
                <a:schemeClr val="dk1"/>
              </a:solidFill>
              <a:latin typeface="Calibri"/>
              <a:ea typeface="Calibri"/>
              <a:cs typeface="Calibri"/>
              <a:sym typeface="Calibri"/>
            </a:endParaRPr>
          </a:p>
        </p:txBody>
      </p:sp>
      <p:sp>
        <p:nvSpPr>
          <p:cNvPr id="449" name="Google Shape;449;h63c0e6991457cadf_0_342"/>
          <p:cNvSpPr txBox="1"/>
          <p:nvPr/>
        </p:nvSpPr>
        <p:spPr>
          <a:xfrm>
            <a:off x="1463040" y="3136392"/>
            <a:ext cx="374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Drop the trailing i, then split on " + ".</a:t>
            </a:r>
            <a:endParaRPr sz="1400" b="0" i="0" u="none" strike="noStrike" cap="none">
              <a:solidFill>
                <a:schemeClr val="dk1"/>
              </a:solidFill>
              <a:latin typeface="Calibri"/>
              <a:ea typeface="Calibri"/>
              <a:cs typeface="Calibri"/>
              <a:sym typeface="Calibri"/>
            </a:endParaRPr>
          </a:p>
        </p:txBody>
      </p:sp>
      <p:sp>
        <p:nvSpPr>
          <p:cNvPr id="450" name="Google Shape;450;h63c0e6991457cadf_0_342"/>
          <p:cNvSpPr/>
          <p:nvPr/>
        </p:nvSpPr>
        <p:spPr>
          <a:xfrm>
            <a:off x="914400" y="3538728"/>
            <a:ext cx="347400" cy="3474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51" name="Google Shape;451;h63c0e6991457cadf_0_342"/>
          <p:cNvSpPr txBox="1"/>
          <p:nvPr/>
        </p:nvSpPr>
        <p:spPr>
          <a:xfrm>
            <a:off x="1463040" y="3520440"/>
            <a:ext cx="3749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Apply the formula</a:t>
            </a:r>
            <a:endParaRPr sz="1500" b="0" i="0" u="none" strike="noStrike" cap="none">
              <a:solidFill>
                <a:schemeClr val="dk1"/>
              </a:solidFill>
              <a:latin typeface="Calibri"/>
              <a:ea typeface="Calibri"/>
              <a:cs typeface="Calibri"/>
              <a:sym typeface="Calibri"/>
            </a:endParaRPr>
          </a:p>
        </p:txBody>
      </p:sp>
      <p:sp>
        <p:nvSpPr>
          <p:cNvPr id="452" name="Google Shape;452;h63c0e6991457cadf_0_342"/>
          <p:cNvSpPr txBox="1"/>
          <p:nvPr/>
        </p:nvSpPr>
        <p:spPr>
          <a:xfrm>
            <a:off x="1463040" y="3794760"/>
            <a:ext cx="374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Real: ac - bd. Imaginary: ad + bc.</a:t>
            </a:r>
            <a:endParaRPr sz="1400" b="0" i="0" u="none" strike="noStrike" cap="none">
              <a:solidFill>
                <a:schemeClr val="dk1"/>
              </a:solidFill>
              <a:latin typeface="Calibri"/>
              <a:ea typeface="Calibri"/>
              <a:cs typeface="Calibri"/>
              <a:sym typeface="Calibri"/>
            </a:endParaRPr>
          </a:p>
        </p:txBody>
      </p:sp>
      <p:sp>
        <p:nvSpPr>
          <p:cNvPr id="453" name="Google Shape;453;h63c0e6991457cadf_0_342"/>
          <p:cNvSpPr/>
          <p:nvPr/>
        </p:nvSpPr>
        <p:spPr>
          <a:xfrm>
            <a:off x="914400" y="4197096"/>
            <a:ext cx="347400" cy="3474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54" name="Google Shape;454;h63c0e6991457cadf_0_342"/>
          <p:cNvSpPr txBox="1"/>
          <p:nvPr/>
        </p:nvSpPr>
        <p:spPr>
          <a:xfrm>
            <a:off x="1463040" y="4178808"/>
            <a:ext cx="37491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Format the result</a:t>
            </a:r>
            <a:endParaRPr sz="1500" b="0" i="0" u="none" strike="noStrike" cap="none">
              <a:solidFill>
                <a:schemeClr val="dk1"/>
              </a:solidFill>
              <a:latin typeface="Calibri"/>
              <a:ea typeface="Calibri"/>
              <a:cs typeface="Calibri"/>
              <a:sym typeface="Calibri"/>
            </a:endParaRPr>
          </a:p>
        </p:txBody>
      </p:sp>
      <p:sp>
        <p:nvSpPr>
          <p:cNvPr id="455" name="Google Shape;455;h63c0e6991457cadf_0_342"/>
          <p:cNvSpPr txBox="1"/>
          <p:nvPr/>
        </p:nvSpPr>
        <p:spPr>
          <a:xfrm>
            <a:off x="1463040" y="4453128"/>
            <a:ext cx="3749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An f-string builds "real + imagi", negatives included.</a:t>
            </a:r>
            <a:endParaRPr sz="1400" b="0" i="0" u="none" strike="noStrike" cap="none">
              <a:solidFill>
                <a:schemeClr val="dk1"/>
              </a:solidFill>
              <a:latin typeface="Calibri"/>
              <a:ea typeface="Calibri"/>
              <a:cs typeface="Calibri"/>
              <a:sym typeface="Calibri"/>
            </a:endParaRPr>
          </a:p>
        </p:txBody>
      </p:sp>
      <p:sp>
        <p:nvSpPr>
          <p:cNvPr id="456" name="Google Shape;456;h63c0e6991457cadf_0_342"/>
          <p:cNvSpPr/>
          <p:nvPr/>
        </p:nvSpPr>
        <p:spPr>
          <a:xfrm>
            <a:off x="5760725" y="1600200"/>
            <a:ext cx="5790900" cy="4407300"/>
          </a:xfrm>
          <a:prstGeom prst="roundRect">
            <a:avLst>
              <a:gd name="adj" fmla="val 249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h63c0e6991457cadf_0_342"/>
          <p:cNvSpPr txBox="1"/>
          <p:nvPr/>
        </p:nvSpPr>
        <p:spPr>
          <a:xfrm>
            <a:off x="6035040" y="1801368"/>
            <a:ext cx="5242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PYTHON</a:t>
            </a:r>
            <a:endParaRPr sz="1100" b="0" i="0" u="none" strike="noStrike" cap="none">
              <a:solidFill>
                <a:schemeClr val="dk1"/>
              </a:solidFill>
              <a:latin typeface="Calibri"/>
              <a:ea typeface="Calibri"/>
              <a:cs typeface="Calibri"/>
              <a:sym typeface="Calibri"/>
            </a:endParaRPr>
          </a:p>
        </p:txBody>
      </p:sp>
      <p:sp>
        <p:nvSpPr>
          <p:cNvPr id="458" name="Google Shape;458;h63c0e6991457cadf_0_342"/>
          <p:cNvSpPr txBox="1"/>
          <p:nvPr/>
        </p:nvSpPr>
        <p:spPr>
          <a:xfrm>
            <a:off x="6035050" y="2194537"/>
            <a:ext cx="5242200" cy="329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a:solidFill>
                  <a:schemeClr val="lt2"/>
                </a:solidFill>
                <a:latin typeface="Courier New"/>
                <a:ea typeface="Courier New"/>
                <a:cs typeface="Courier New"/>
                <a:sym typeface="Courier New"/>
              </a:rPr>
              <a:t>def multiply_complex(x: str, y: str) -&gt; str:</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parts_x = x.split(" + ")</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parts_y = y.split(" + ")</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a = int(parts_x[0])</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b = int(parts_x[1].replace("i", ""))</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c = int(parts_y[0])</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d = int(parts_y[1].replace("i", ""))</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real = a * c - b * d</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imag = a * d + b * c</a:t>
            </a:r>
            <a:endParaRPr>
              <a:solidFill>
                <a:schemeClr val="lt2"/>
              </a:solidFill>
              <a:latin typeface="Courier New"/>
              <a:ea typeface="Courier New"/>
              <a:cs typeface="Courier New"/>
              <a:sym typeface="Courier New"/>
            </a:endParaRPr>
          </a:p>
          <a:p>
            <a:pPr marL="0" lvl="0" indent="0" algn="l" rtl="0">
              <a:spcBef>
                <a:spcPts val="0"/>
              </a:spcBef>
              <a:spcAft>
                <a:spcPts val="0"/>
              </a:spcAft>
              <a:buNone/>
            </a:pPr>
            <a:endParaRPr>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a:solidFill>
                  <a:schemeClr val="lt2"/>
                </a:solidFill>
                <a:latin typeface="Courier New"/>
                <a:ea typeface="Courier New"/>
                <a:cs typeface="Courier New"/>
                <a:sym typeface="Courier New"/>
              </a:rPr>
              <a:t>    return f"{real} + {imag}i"</a:t>
            </a:r>
            <a:endParaRPr>
              <a:solidFill>
                <a:schemeClr val="lt2"/>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2"/>
              </a:buClr>
              <a:buSzPts val="1400"/>
              <a:buFont typeface="Courier New"/>
              <a:buNone/>
            </a:pPr>
            <a:endParaRPr>
              <a:solidFill>
                <a:schemeClr val="lt2"/>
              </a:solidFill>
              <a:latin typeface="Courier New"/>
              <a:ea typeface="Courier New"/>
              <a:cs typeface="Courier New"/>
              <a:sym typeface="Courier New"/>
            </a:endParaRPr>
          </a:p>
        </p:txBody>
      </p:sp>
      <p:sp>
        <p:nvSpPr>
          <p:cNvPr id="459" name="Google Shape;459;h63c0e6991457cadf_0_342"/>
          <p:cNvSpPr/>
          <p:nvPr/>
        </p:nvSpPr>
        <p:spPr>
          <a:xfrm>
            <a:off x="640075" y="5129700"/>
            <a:ext cx="4846200" cy="8778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h63c0e6991457cadf_0_342"/>
          <p:cNvSpPr txBox="1"/>
          <p:nvPr/>
        </p:nvSpPr>
        <p:spPr>
          <a:xfrm>
            <a:off x="869637" y="5285138"/>
            <a:ext cx="25635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700" b="1" i="0" u="none" strike="noStrike" cap="none" dirty="0">
                <a:solidFill>
                  <a:schemeClr val="accent2"/>
                </a:solidFill>
                <a:latin typeface="Courier New"/>
                <a:ea typeface="Courier New"/>
                <a:cs typeface="Courier New"/>
                <a:sym typeface="Courier New"/>
              </a:rPr>
              <a:t>Time O(</a:t>
            </a:r>
            <a:r>
              <a:rPr lang="en-US" sz="1700" b="1" dirty="0" err="1">
                <a:solidFill>
                  <a:schemeClr val="accent2"/>
                </a:solidFill>
                <a:latin typeface="Courier New"/>
                <a:ea typeface="Courier New"/>
                <a:cs typeface="Courier New"/>
                <a:sym typeface="Courier New"/>
              </a:rPr>
              <a:t>n+m</a:t>
            </a:r>
            <a:r>
              <a:rPr lang="en-US" sz="1700" b="1" i="0" u="none" strike="noStrike" cap="none" dirty="0">
                <a:solidFill>
                  <a:schemeClr val="accent2"/>
                </a:solidFill>
                <a:latin typeface="Courier New"/>
                <a:ea typeface="Courier New"/>
                <a:cs typeface="Courier New"/>
                <a:sym typeface="Courier New"/>
              </a:rPr>
              <a:t>)</a:t>
            </a:r>
            <a:endParaRPr sz="1700" b="0" i="0" u="none" strike="noStrike" cap="none" dirty="0">
              <a:solidFill>
                <a:schemeClr val="accent2"/>
              </a:solidFill>
              <a:latin typeface="Calibri"/>
              <a:ea typeface="Calibri"/>
              <a:cs typeface="Calibri"/>
              <a:sym typeface="Calibri"/>
            </a:endParaRPr>
          </a:p>
        </p:txBody>
      </p:sp>
      <p:sp>
        <p:nvSpPr>
          <p:cNvPr id="461" name="Google Shape;461;h63c0e6991457cadf_0_342"/>
          <p:cNvSpPr txBox="1"/>
          <p:nvPr/>
        </p:nvSpPr>
        <p:spPr>
          <a:xfrm>
            <a:off x="869637" y="5586780"/>
            <a:ext cx="25635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300" b="0" i="0" u="none" strike="noStrike" cap="none">
                <a:solidFill>
                  <a:schemeClr val="accent5"/>
                </a:solidFill>
                <a:latin typeface="Calibri"/>
                <a:ea typeface="Calibri"/>
                <a:cs typeface="Calibri"/>
                <a:sym typeface="Calibri"/>
              </a:rPr>
              <a:t>inputs have a bounded length</a:t>
            </a:r>
            <a:endParaRPr sz="1300" b="0" i="0" u="none" strike="noStrike" cap="none">
              <a:solidFill>
                <a:schemeClr val="dk1"/>
              </a:solidFill>
              <a:latin typeface="Calibri"/>
              <a:ea typeface="Calibri"/>
              <a:cs typeface="Calibri"/>
              <a:sym typeface="Calibri"/>
            </a:endParaRPr>
          </a:p>
        </p:txBody>
      </p:sp>
      <p:sp>
        <p:nvSpPr>
          <p:cNvPr id="462" name="Google Shape;462;h63c0e6991457cadf_0_342"/>
          <p:cNvSpPr txBox="1"/>
          <p:nvPr/>
        </p:nvSpPr>
        <p:spPr>
          <a:xfrm>
            <a:off x="3433131" y="5285138"/>
            <a:ext cx="20532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700" b="1" i="0" u="none" strike="noStrike" cap="none" dirty="0">
                <a:solidFill>
                  <a:schemeClr val="accent2"/>
                </a:solidFill>
                <a:latin typeface="Courier New"/>
                <a:ea typeface="Courier New"/>
                <a:cs typeface="Courier New"/>
                <a:sym typeface="Courier New"/>
              </a:rPr>
              <a:t>Space O</a:t>
            </a:r>
            <a:r>
              <a:rPr lang="en-US" sz="1700" b="1" dirty="0">
                <a:solidFill>
                  <a:schemeClr val="accent2"/>
                </a:solidFill>
                <a:latin typeface="Courier New"/>
                <a:ea typeface="Courier New"/>
                <a:cs typeface="Courier New"/>
                <a:sym typeface="Courier New"/>
              </a:rPr>
              <a:t>(</a:t>
            </a:r>
            <a:r>
              <a:rPr lang="en-US" sz="1700" b="1" dirty="0" err="1">
                <a:solidFill>
                  <a:schemeClr val="accent2"/>
                </a:solidFill>
                <a:latin typeface="Courier New"/>
                <a:ea typeface="Courier New"/>
                <a:cs typeface="Courier New"/>
                <a:sym typeface="Courier New"/>
              </a:rPr>
              <a:t>n+m</a:t>
            </a:r>
            <a:r>
              <a:rPr lang="en-US" sz="1700" b="1" dirty="0">
                <a:solidFill>
                  <a:schemeClr val="accent2"/>
                </a:solidFill>
                <a:latin typeface="Courier New"/>
                <a:ea typeface="Courier New"/>
                <a:cs typeface="Courier New"/>
                <a:sym typeface="Courier New"/>
              </a:rPr>
              <a:t>)</a:t>
            </a:r>
            <a:endParaRPr sz="1700" b="0" i="0" u="none" strike="noStrike" cap="none" dirty="0">
              <a:solidFill>
                <a:schemeClr val="accent2"/>
              </a:solidFill>
              <a:latin typeface="Calibri"/>
              <a:ea typeface="Calibri"/>
              <a:cs typeface="Calibri"/>
              <a:sym typeface="Calibri"/>
            </a:endParaRPr>
          </a:p>
        </p:txBody>
      </p:sp>
      <p:sp>
        <p:nvSpPr>
          <p:cNvPr id="463" name="Google Shape;463;h63c0e6991457cadf_0_342"/>
          <p:cNvSpPr txBox="1"/>
          <p:nvPr/>
        </p:nvSpPr>
        <p:spPr>
          <a:xfrm>
            <a:off x="3433131" y="5586780"/>
            <a:ext cx="2053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300" b="0" i="0" u="none" strike="noStrike" cap="none">
                <a:solidFill>
                  <a:schemeClr val="accent5"/>
                </a:solidFill>
                <a:latin typeface="Calibri"/>
                <a:ea typeface="Calibri"/>
                <a:cs typeface="Calibri"/>
                <a:sym typeface="Calibri"/>
              </a:rPr>
              <a:t>a few integers</a:t>
            </a:r>
            <a:endParaRPr sz="1300" b="0" i="0" u="none" strike="noStrike" cap="none">
              <a:solidFill>
                <a:schemeClr val="dk1"/>
              </a:solidFill>
              <a:latin typeface="Calibri"/>
              <a:ea typeface="Calibri"/>
              <a:cs typeface="Calibri"/>
              <a:sym typeface="Calibri"/>
            </a:endParaRPr>
          </a:p>
        </p:txBody>
      </p:sp>
      <p:sp>
        <p:nvSpPr>
          <p:cNvPr id="3" name="Text Placeholder 2">
            <a:extLst>
              <a:ext uri="{FF2B5EF4-FFF2-40B4-BE49-F238E27FC236}">
                <a16:creationId xmlns:a16="http://schemas.microsoft.com/office/drawing/2014/main" id="{C9FC2206-5D8E-3ACE-1B4E-8B994B5232E6}"/>
              </a:ext>
            </a:extLst>
          </p:cNvPr>
          <p:cNvSpPr>
            <a:spLocks noGrp="1"/>
          </p:cNvSpPr>
          <p:nvPr>
            <p:ph type="body" idx="1"/>
          </p:nvPr>
        </p:nvSpPr>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70" name="Google Shape;470;h63c0e6991457cadf_0_385"/>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3.5 Smallest</a:t>
            </a:r>
            <a:r>
              <a:rPr lang="en-US" sz="3200" b="1"/>
              <a:t> Matching Substring</a:t>
            </a:r>
            <a:endParaRPr sz="3200"/>
          </a:p>
        </p:txBody>
      </p:sp>
      <p:sp>
        <p:nvSpPr>
          <p:cNvPr id="471" name="Google Shape;471;h63c0e6991457cadf_0_385"/>
          <p:cNvSpPr/>
          <p:nvPr/>
        </p:nvSpPr>
        <p:spPr>
          <a:xfrm>
            <a:off x="640080" y="1600200"/>
            <a:ext cx="4846200" cy="45720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h63c0e6991457cadf_0_385"/>
          <p:cNvSpPr txBox="1"/>
          <p:nvPr/>
        </p:nvSpPr>
        <p:spPr>
          <a:xfrm>
            <a:off x="914400" y="1874520"/>
            <a:ext cx="3017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Problem statement</a:t>
            </a:r>
            <a:endParaRPr sz="2000" b="0" i="0" u="none" strike="noStrike" cap="none">
              <a:solidFill>
                <a:schemeClr val="dk1"/>
              </a:solidFill>
              <a:latin typeface="Calibri"/>
              <a:ea typeface="Calibri"/>
              <a:cs typeface="Calibri"/>
              <a:sym typeface="Calibri"/>
            </a:endParaRPr>
          </a:p>
        </p:txBody>
      </p:sp>
      <p:sp>
        <p:nvSpPr>
          <p:cNvPr id="473" name="Google Shape;473;h63c0e6991457cadf_0_385"/>
          <p:cNvSpPr/>
          <p:nvPr/>
        </p:nvSpPr>
        <p:spPr>
          <a:xfrm>
            <a:off x="4297680" y="1901952"/>
            <a:ext cx="914400" cy="310800"/>
          </a:xfrm>
          <a:prstGeom prst="roundRect">
            <a:avLst>
              <a:gd name="adj" fmla="val 44118"/>
            </a:avLst>
          </a:prstGeom>
          <a:solidFill>
            <a:schemeClr val="accent1">
              <a:alpha val="14900"/>
            </a:schemeClr>
          </a:solidFill>
          <a:ln>
            <a:noFill/>
          </a:ln>
        </p:spPr>
        <p:txBody>
          <a:bodyPr spcFirstLastPara="1" wrap="square" lIns="0" tIns="0" rIns="0" bIns="0" anchor="ctr" anchorCtr="0">
            <a:noAutofit/>
          </a:bodyPr>
          <a:lstStyle/>
          <a:p>
            <a:pPr marL="0" marR="0" lvl="0" indent="0" algn="ctr" rtl="0">
              <a:spcBef>
                <a:spcPts val="0"/>
              </a:spcBef>
              <a:spcAft>
                <a:spcPts val="0"/>
              </a:spcAft>
              <a:buClr>
                <a:schemeClr val="accent3"/>
              </a:buClr>
              <a:buSzPts val="1100"/>
              <a:buFont typeface="Calibri"/>
              <a:buNone/>
            </a:pPr>
            <a:r>
              <a:rPr lang="en-US" sz="1100" b="1" i="0" u="none" strike="noStrike" cap="none">
                <a:solidFill>
                  <a:schemeClr val="accent3"/>
                </a:solidFill>
                <a:latin typeface="Calibri"/>
                <a:ea typeface="Calibri"/>
                <a:cs typeface="Calibri"/>
                <a:sym typeface="Calibri"/>
              </a:rPr>
              <a:t>HARD</a:t>
            </a:r>
            <a:endParaRPr sz="1100" b="0" i="0" u="none" strike="noStrike" cap="none">
              <a:solidFill>
                <a:schemeClr val="dk1"/>
              </a:solidFill>
              <a:latin typeface="Calibri"/>
              <a:ea typeface="Calibri"/>
              <a:cs typeface="Calibri"/>
              <a:sym typeface="Calibri"/>
            </a:endParaRPr>
          </a:p>
        </p:txBody>
      </p:sp>
      <p:sp>
        <p:nvSpPr>
          <p:cNvPr id="474" name="Google Shape;474;h63c0e6991457cadf_0_385"/>
          <p:cNvSpPr txBox="1"/>
          <p:nvPr/>
        </p:nvSpPr>
        <p:spPr>
          <a:xfrm>
            <a:off x="914400" y="2313432"/>
            <a:ext cx="4297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200" b="0" i="1" u="none" strike="noStrike" cap="none">
                <a:solidFill>
                  <a:schemeClr val="accent5"/>
                </a:solidFill>
                <a:latin typeface="Calibri"/>
                <a:ea typeface="Calibri"/>
                <a:cs typeface="Calibri"/>
                <a:sym typeface="Calibri"/>
              </a:rPr>
              <a:t>Author: Justin Brown   //   Created 07/02/2025</a:t>
            </a:r>
            <a:endParaRPr sz="1200" b="0" i="0" u="none" strike="noStrike" cap="none">
              <a:solidFill>
                <a:schemeClr val="dk1"/>
              </a:solidFill>
              <a:latin typeface="Calibri"/>
              <a:ea typeface="Calibri"/>
              <a:cs typeface="Calibri"/>
              <a:sym typeface="Calibri"/>
            </a:endParaRPr>
          </a:p>
        </p:txBody>
      </p:sp>
      <p:sp>
        <p:nvSpPr>
          <p:cNvPr id="475" name="Google Shape;475;h63c0e6991457cadf_0_385"/>
          <p:cNvSpPr txBox="1"/>
          <p:nvPr/>
        </p:nvSpPr>
        <p:spPr>
          <a:xfrm>
            <a:off x="914400" y="2624328"/>
            <a:ext cx="4297800" cy="1828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Given a string s and a pattern p containing exactly two wildcard '*' characters, return the length of the smallest substring in s that matches the pattern p. Note: A wildcard '*' can match any sequence of characters (including the empty sequence). Note: An empty substring is a valid substring.</a:t>
            </a:r>
            <a:endParaRPr sz="1400" b="0" i="0" u="none" strike="noStrike" cap="none">
              <a:solidFill>
                <a:schemeClr val="dk1"/>
              </a:solidFill>
              <a:latin typeface="Calibri"/>
              <a:ea typeface="Calibri"/>
              <a:cs typeface="Calibri"/>
              <a:sym typeface="Calibri"/>
            </a:endParaRPr>
          </a:p>
        </p:txBody>
      </p:sp>
      <p:sp>
        <p:nvSpPr>
          <p:cNvPr id="476" name="Google Shape;476;h63c0e6991457cadf_0_385"/>
          <p:cNvSpPr txBox="1"/>
          <p:nvPr/>
        </p:nvSpPr>
        <p:spPr>
          <a:xfrm>
            <a:off x="914400" y="4297680"/>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CONSTRAINTS</a:t>
            </a:r>
            <a:endParaRPr sz="1100" b="0" i="0" u="none" strike="noStrike" cap="none">
              <a:solidFill>
                <a:schemeClr val="dk1"/>
              </a:solidFill>
              <a:latin typeface="Calibri"/>
              <a:ea typeface="Calibri"/>
              <a:cs typeface="Calibri"/>
              <a:sym typeface="Calibri"/>
            </a:endParaRPr>
          </a:p>
        </p:txBody>
      </p:sp>
      <p:sp>
        <p:nvSpPr>
          <p:cNvPr id="477" name="Google Shape;477;h63c0e6991457cadf_0_385"/>
          <p:cNvSpPr txBox="1"/>
          <p:nvPr/>
        </p:nvSpPr>
        <p:spPr>
          <a:xfrm>
            <a:off x="914400" y="4572000"/>
            <a:ext cx="4297800" cy="15546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1 &lt;= s.length &lt;= 10^4</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2 &lt;= p.length &lt;= 10^4</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s contains only lowercase English letters and spaces.</a:t>
            </a:r>
            <a:endParaRPr sz="130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chemeClr val="dk1"/>
              </a:buClr>
              <a:buSzPts val="1300"/>
              <a:buFont typeface="Calibri"/>
              <a:buChar char="•"/>
            </a:pPr>
            <a:r>
              <a:rPr lang="en-US" sz="1300" b="0" i="0" u="none" strike="noStrike" cap="none">
                <a:solidFill>
                  <a:schemeClr val="dk1"/>
                </a:solidFill>
                <a:latin typeface="Calibri"/>
                <a:ea typeface="Calibri"/>
                <a:cs typeface="Calibri"/>
                <a:sym typeface="Calibri"/>
              </a:rPr>
              <a:t>p contains only lowercase English letters and exactly two '*'.</a:t>
            </a:r>
            <a:endParaRPr sz="1300" b="0" i="0" u="none" strike="noStrike" cap="none">
              <a:solidFill>
                <a:schemeClr val="dk1"/>
              </a:solidFill>
              <a:latin typeface="Calibri"/>
              <a:ea typeface="Calibri"/>
              <a:cs typeface="Calibri"/>
              <a:sym typeface="Calibri"/>
            </a:endParaRPr>
          </a:p>
        </p:txBody>
      </p:sp>
      <p:sp>
        <p:nvSpPr>
          <p:cNvPr id="478" name="Google Shape;478;h63c0e6991457cadf_0_385"/>
          <p:cNvSpPr/>
          <p:nvPr/>
        </p:nvSpPr>
        <p:spPr>
          <a:xfrm>
            <a:off x="5760720" y="1600200"/>
            <a:ext cx="5790900" cy="2194500"/>
          </a:xfrm>
          <a:prstGeom prst="roundRect">
            <a:avLst>
              <a:gd name="adj" fmla="val 25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h63c0e6991457cadf_0_385"/>
          <p:cNvSpPr txBox="1"/>
          <p:nvPr/>
        </p:nvSpPr>
        <p:spPr>
          <a:xfrm>
            <a:off x="6080760" y="1783080"/>
            <a:ext cx="51507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Example 1</a:t>
            </a:r>
            <a:endParaRPr sz="1700" b="0" i="0" u="none" strike="noStrike" cap="none">
              <a:solidFill>
                <a:schemeClr val="dk1"/>
              </a:solidFill>
              <a:latin typeface="Calibri"/>
              <a:ea typeface="Calibri"/>
              <a:cs typeface="Calibri"/>
              <a:sym typeface="Calibri"/>
            </a:endParaRPr>
          </a:p>
        </p:txBody>
      </p:sp>
      <p:sp>
        <p:nvSpPr>
          <p:cNvPr id="480" name="Google Shape;480;h63c0e6991457cadf_0_385"/>
          <p:cNvSpPr txBox="1"/>
          <p:nvPr/>
        </p:nvSpPr>
        <p:spPr>
          <a:xfrm>
            <a:off x="6080760" y="2194560"/>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0" i="0" u="none" strike="noStrike" cap="none">
                <a:solidFill>
                  <a:schemeClr val="dk1"/>
                </a:solidFill>
                <a:latin typeface="Courier New"/>
                <a:ea typeface="Courier New"/>
                <a:cs typeface="Courier New"/>
                <a:sym typeface="Courier New"/>
              </a:rPr>
              <a:t>Input:   s = "alliterations", p = "a*i*s"</a:t>
            </a:r>
            <a:endParaRPr sz="1400" b="0" i="0" u="none" strike="noStrike" cap="none">
              <a:solidFill>
                <a:schemeClr val="dk1"/>
              </a:solidFill>
              <a:latin typeface="Calibri"/>
              <a:ea typeface="Calibri"/>
              <a:cs typeface="Calibri"/>
              <a:sym typeface="Calibri"/>
            </a:endParaRPr>
          </a:p>
        </p:txBody>
      </p:sp>
      <p:sp>
        <p:nvSpPr>
          <p:cNvPr id="481" name="Google Shape;481;h63c0e6991457cadf_0_385"/>
          <p:cNvSpPr txBox="1"/>
          <p:nvPr/>
        </p:nvSpPr>
        <p:spPr>
          <a:xfrm>
            <a:off x="6080760" y="2478024"/>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1" i="0" u="none" strike="noStrike" cap="none">
                <a:solidFill>
                  <a:schemeClr val="dk1"/>
                </a:solidFill>
                <a:latin typeface="Courier New"/>
                <a:ea typeface="Courier New"/>
                <a:cs typeface="Courier New"/>
                <a:sym typeface="Courier New"/>
              </a:rPr>
              <a:t>Output:  6</a:t>
            </a:r>
            <a:endParaRPr sz="1400" b="0" i="0" u="none" strike="noStrike" cap="none">
              <a:solidFill>
                <a:schemeClr val="dk1"/>
              </a:solidFill>
              <a:latin typeface="Calibri"/>
              <a:ea typeface="Calibri"/>
              <a:cs typeface="Calibri"/>
              <a:sym typeface="Calibri"/>
            </a:endParaRPr>
          </a:p>
        </p:txBody>
      </p:sp>
      <p:sp>
        <p:nvSpPr>
          <p:cNvPr id="482" name="Google Shape;482;h63c0e6991457cadf_0_385"/>
          <p:cNvSpPr txBox="1"/>
          <p:nvPr/>
        </p:nvSpPr>
        <p:spPr>
          <a:xfrm>
            <a:off x="6080760" y="2862072"/>
            <a:ext cx="5150700" cy="841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Explanation: The substrings that match that pattern are "ations" and the entire string "alliterations". The smaller of the two is "ations", which has a length of 6.</a:t>
            </a:r>
            <a:endParaRPr sz="1400" b="0" i="0" u="none" strike="noStrike" cap="none">
              <a:solidFill>
                <a:schemeClr val="dk1"/>
              </a:solidFill>
              <a:latin typeface="Calibri"/>
              <a:ea typeface="Calibri"/>
              <a:cs typeface="Calibri"/>
              <a:sym typeface="Calibri"/>
            </a:endParaRPr>
          </a:p>
        </p:txBody>
      </p:sp>
      <p:sp>
        <p:nvSpPr>
          <p:cNvPr id="483" name="Google Shape;483;h63c0e6991457cadf_0_385"/>
          <p:cNvSpPr/>
          <p:nvPr/>
        </p:nvSpPr>
        <p:spPr>
          <a:xfrm>
            <a:off x="5760720" y="3977640"/>
            <a:ext cx="5790900" cy="2194500"/>
          </a:xfrm>
          <a:prstGeom prst="roundRect">
            <a:avLst>
              <a:gd name="adj" fmla="val 25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h63c0e6991457cadf_0_385"/>
          <p:cNvSpPr txBox="1"/>
          <p:nvPr/>
        </p:nvSpPr>
        <p:spPr>
          <a:xfrm>
            <a:off x="6080760" y="4160520"/>
            <a:ext cx="51507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Example 2</a:t>
            </a:r>
            <a:endParaRPr sz="1700" b="0" i="0" u="none" strike="noStrike" cap="none">
              <a:solidFill>
                <a:schemeClr val="dk1"/>
              </a:solidFill>
              <a:latin typeface="Calibri"/>
              <a:ea typeface="Calibri"/>
              <a:cs typeface="Calibri"/>
              <a:sym typeface="Calibri"/>
            </a:endParaRPr>
          </a:p>
        </p:txBody>
      </p:sp>
      <p:sp>
        <p:nvSpPr>
          <p:cNvPr id="485" name="Google Shape;485;h63c0e6991457cadf_0_385"/>
          <p:cNvSpPr txBox="1"/>
          <p:nvPr/>
        </p:nvSpPr>
        <p:spPr>
          <a:xfrm>
            <a:off x="6080760" y="4572000"/>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0" i="0" u="none" strike="noStrike" cap="none">
                <a:solidFill>
                  <a:schemeClr val="dk1"/>
                </a:solidFill>
                <a:latin typeface="Courier New"/>
                <a:ea typeface="Courier New"/>
                <a:cs typeface="Courier New"/>
                <a:sym typeface="Courier New"/>
              </a:rPr>
              <a:t>Input:   s = "constitutional", p = "co*tio*onal"</a:t>
            </a:r>
            <a:endParaRPr sz="1400" b="0" i="0" u="none" strike="noStrike" cap="none">
              <a:solidFill>
                <a:schemeClr val="dk1"/>
              </a:solidFill>
              <a:latin typeface="Calibri"/>
              <a:ea typeface="Calibri"/>
              <a:cs typeface="Calibri"/>
              <a:sym typeface="Calibri"/>
            </a:endParaRPr>
          </a:p>
        </p:txBody>
      </p:sp>
      <p:sp>
        <p:nvSpPr>
          <p:cNvPr id="486" name="Google Shape;486;h63c0e6991457cadf_0_385"/>
          <p:cNvSpPr txBox="1"/>
          <p:nvPr/>
        </p:nvSpPr>
        <p:spPr>
          <a:xfrm>
            <a:off x="6080760" y="4855464"/>
            <a:ext cx="51507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1" i="0" u="none" strike="noStrike" cap="none">
                <a:solidFill>
                  <a:schemeClr val="dk1"/>
                </a:solidFill>
                <a:latin typeface="Courier New"/>
                <a:ea typeface="Courier New"/>
                <a:cs typeface="Courier New"/>
                <a:sym typeface="Courier New"/>
              </a:rPr>
              <a:t>Output:  -1</a:t>
            </a:r>
            <a:endParaRPr sz="1400" b="0" i="0" u="none" strike="noStrike" cap="none">
              <a:solidFill>
                <a:schemeClr val="dk1"/>
              </a:solidFill>
              <a:latin typeface="Calibri"/>
              <a:ea typeface="Calibri"/>
              <a:cs typeface="Calibri"/>
              <a:sym typeface="Calibri"/>
            </a:endParaRPr>
          </a:p>
        </p:txBody>
      </p:sp>
      <p:sp>
        <p:nvSpPr>
          <p:cNvPr id="487" name="Google Shape;487;h63c0e6991457cadf_0_385"/>
          <p:cNvSpPr txBox="1"/>
          <p:nvPr/>
        </p:nvSpPr>
        <p:spPr>
          <a:xfrm>
            <a:off x="6080760" y="5239512"/>
            <a:ext cx="5150700" cy="841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Explanation: There is no substring in s that matches the pattern p.</a:t>
            </a:r>
            <a:endParaRPr sz="1400" b="0" i="0" u="none" strike="noStrike" cap="none">
              <a:solidFill>
                <a:schemeClr val="dk1"/>
              </a:solidFill>
              <a:latin typeface="Calibri"/>
              <a:ea typeface="Calibri"/>
              <a:cs typeface="Calibri"/>
              <a:sym typeface="Calibri"/>
            </a:endParaRPr>
          </a:p>
        </p:txBody>
      </p:sp>
      <p:sp>
        <p:nvSpPr>
          <p:cNvPr id="3" name="Text Placeholder 2">
            <a:extLst>
              <a:ext uri="{FF2B5EF4-FFF2-40B4-BE49-F238E27FC236}">
                <a16:creationId xmlns:a16="http://schemas.microsoft.com/office/drawing/2014/main" id="{A0502FDA-9D2C-243E-6F6D-B3F9EA7E4CE0}"/>
              </a:ext>
            </a:extLst>
          </p:cNvPr>
          <p:cNvSpPr>
            <a:spLocks noGrp="1"/>
          </p:cNvSpPr>
          <p:nvPr>
            <p:ph type="body" idx="1"/>
          </p:nvPr>
        </p:nvSpPr>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4" name="Google Shape;494;h63c0e6991457cadf_0_420"/>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3.5 </a:t>
            </a:r>
            <a:r>
              <a:rPr lang="en-US" sz="3200" b="1"/>
              <a:t>Smallest Matching Substring</a:t>
            </a:r>
            <a:endParaRPr sz="3200"/>
          </a:p>
        </p:txBody>
      </p:sp>
      <p:sp>
        <p:nvSpPr>
          <p:cNvPr id="495" name="Google Shape;495;h63c0e6991457cadf_0_420"/>
          <p:cNvSpPr/>
          <p:nvPr/>
        </p:nvSpPr>
        <p:spPr>
          <a:xfrm>
            <a:off x="640075" y="1600200"/>
            <a:ext cx="4846200" cy="2853000"/>
          </a:xfrm>
          <a:prstGeom prst="roundRect">
            <a:avLst>
              <a:gd name="adj" fmla="val 1200"/>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h63c0e6991457cadf_0_420"/>
          <p:cNvSpPr txBox="1"/>
          <p:nvPr/>
        </p:nvSpPr>
        <p:spPr>
          <a:xfrm>
            <a:off x="914400" y="1682583"/>
            <a:ext cx="3017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2000"/>
              <a:buFont typeface="Calibri"/>
              <a:buNone/>
            </a:pPr>
            <a:r>
              <a:rPr lang="en-US" sz="1500" b="1" i="0" u="none" strike="noStrike" cap="none">
                <a:solidFill>
                  <a:schemeClr val="dk1"/>
                </a:solidFill>
                <a:latin typeface="Calibri"/>
                <a:ea typeface="Calibri"/>
                <a:cs typeface="Calibri"/>
                <a:sym typeface="Calibri"/>
              </a:rPr>
              <a:t>Problem statement</a:t>
            </a:r>
            <a:endParaRPr sz="1500" b="0" i="0" u="none" strike="noStrike" cap="none">
              <a:solidFill>
                <a:schemeClr val="dk1"/>
              </a:solidFill>
              <a:latin typeface="Calibri"/>
              <a:ea typeface="Calibri"/>
              <a:cs typeface="Calibri"/>
              <a:sym typeface="Calibri"/>
            </a:endParaRPr>
          </a:p>
        </p:txBody>
      </p:sp>
      <p:sp>
        <p:nvSpPr>
          <p:cNvPr id="497" name="Google Shape;497;h63c0e6991457cadf_0_420"/>
          <p:cNvSpPr/>
          <p:nvPr/>
        </p:nvSpPr>
        <p:spPr>
          <a:xfrm>
            <a:off x="4297680" y="1744402"/>
            <a:ext cx="914400" cy="310800"/>
          </a:xfrm>
          <a:prstGeom prst="roundRect">
            <a:avLst>
              <a:gd name="adj" fmla="val 44118"/>
            </a:avLst>
          </a:prstGeom>
          <a:solidFill>
            <a:schemeClr val="accent1">
              <a:alpha val="14900"/>
            </a:schemeClr>
          </a:solidFill>
          <a:ln>
            <a:noFill/>
          </a:ln>
        </p:spPr>
        <p:txBody>
          <a:bodyPr spcFirstLastPara="1" wrap="square" lIns="0" tIns="0" rIns="0" bIns="0" anchor="ctr" anchorCtr="0">
            <a:noAutofit/>
          </a:bodyPr>
          <a:lstStyle/>
          <a:p>
            <a:pPr marL="0" marR="0" lvl="0" indent="0" algn="ctr" rtl="0">
              <a:spcBef>
                <a:spcPts val="0"/>
              </a:spcBef>
              <a:spcAft>
                <a:spcPts val="0"/>
              </a:spcAft>
              <a:buClr>
                <a:schemeClr val="accent3"/>
              </a:buClr>
              <a:buSzPts val="1100"/>
              <a:buFont typeface="Calibri"/>
              <a:buNone/>
            </a:pPr>
            <a:r>
              <a:rPr lang="en-US" sz="1100" b="1" i="0" u="none" strike="noStrike" cap="none">
                <a:solidFill>
                  <a:schemeClr val="accent3"/>
                </a:solidFill>
                <a:latin typeface="Calibri"/>
                <a:ea typeface="Calibri"/>
                <a:cs typeface="Calibri"/>
                <a:sym typeface="Calibri"/>
              </a:rPr>
              <a:t>HARD</a:t>
            </a:r>
            <a:endParaRPr sz="1100" b="0" i="0" u="none" strike="noStrike" cap="none">
              <a:solidFill>
                <a:schemeClr val="dk1"/>
              </a:solidFill>
              <a:latin typeface="Calibri"/>
              <a:ea typeface="Calibri"/>
              <a:cs typeface="Calibri"/>
              <a:sym typeface="Calibri"/>
            </a:endParaRPr>
          </a:p>
        </p:txBody>
      </p:sp>
      <p:sp>
        <p:nvSpPr>
          <p:cNvPr id="498" name="Google Shape;498;h63c0e6991457cadf_0_420"/>
          <p:cNvSpPr txBox="1"/>
          <p:nvPr/>
        </p:nvSpPr>
        <p:spPr>
          <a:xfrm>
            <a:off x="914400" y="2023570"/>
            <a:ext cx="4297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200"/>
              <a:buFont typeface="Calibri"/>
              <a:buNone/>
            </a:pPr>
            <a:r>
              <a:rPr lang="en-US" sz="1000" b="0" i="1" u="none" strike="noStrike" cap="none">
                <a:solidFill>
                  <a:schemeClr val="accent5"/>
                </a:solidFill>
                <a:latin typeface="Calibri"/>
                <a:ea typeface="Calibri"/>
                <a:cs typeface="Calibri"/>
                <a:sym typeface="Calibri"/>
              </a:rPr>
              <a:t>Author: Justin Brown   //   Created 07/02/2025</a:t>
            </a:r>
            <a:endParaRPr sz="1000" b="0" i="0" u="none" strike="noStrike" cap="none">
              <a:solidFill>
                <a:schemeClr val="dk1"/>
              </a:solidFill>
              <a:latin typeface="Calibri"/>
              <a:ea typeface="Calibri"/>
              <a:cs typeface="Calibri"/>
              <a:sym typeface="Calibri"/>
            </a:endParaRPr>
          </a:p>
        </p:txBody>
      </p:sp>
      <p:sp>
        <p:nvSpPr>
          <p:cNvPr id="499" name="Google Shape;499;h63c0e6991457cadf_0_420"/>
          <p:cNvSpPr txBox="1"/>
          <p:nvPr/>
        </p:nvSpPr>
        <p:spPr>
          <a:xfrm>
            <a:off x="914400" y="2305453"/>
            <a:ext cx="4297800" cy="1828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accent5"/>
              </a:buClr>
              <a:buSzPts val="1400"/>
              <a:buFont typeface="Calibri"/>
              <a:buNone/>
            </a:pPr>
            <a:r>
              <a:rPr lang="en-US" sz="1000" b="0" i="0" u="none" strike="noStrike" cap="none">
                <a:solidFill>
                  <a:schemeClr val="accent5"/>
                </a:solidFill>
                <a:latin typeface="Calibri"/>
                <a:ea typeface="Calibri"/>
                <a:cs typeface="Calibri"/>
                <a:sym typeface="Calibri"/>
              </a:rPr>
              <a:t>Given a string s and a pattern p containing exactly two wildcard '*' characters, return the length of the smallest substring in s that matches the pattern p. Note: A wildcard '*' can match any sequence of characters (including the empty sequence). Note: An empty substring is a valid substring.</a:t>
            </a:r>
            <a:endParaRPr sz="1000" b="0" i="0" u="none" strike="noStrike" cap="none">
              <a:solidFill>
                <a:schemeClr val="dk1"/>
              </a:solidFill>
              <a:latin typeface="Calibri"/>
              <a:ea typeface="Calibri"/>
              <a:cs typeface="Calibri"/>
              <a:sym typeface="Calibri"/>
            </a:endParaRPr>
          </a:p>
        </p:txBody>
      </p:sp>
      <p:sp>
        <p:nvSpPr>
          <p:cNvPr id="500" name="Google Shape;500;h63c0e6991457cadf_0_420"/>
          <p:cNvSpPr txBox="1"/>
          <p:nvPr/>
        </p:nvSpPr>
        <p:spPr>
          <a:xfrm>
            <a:off x="914400" y="3105542"/>
            <a:ext cx="2743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CONSTRAINTS</a:t>
            </a:r>
            <a:endParaRPr sz="1100" b="0" i="0" u="none" strike="noStrike" cap="none">
              <a:solidFill>
                <a:schemeClr val="dk1"/>
              </a:solidFill>
              <a:latin typeface="Calibri"/>
              <a:ea typeface="Calibri"/>
              <a:cs typeface="Calibri"/>
              <a:sym typeface="Calibri"/>
            </a:endParaRPr>
          </a:p>
        </p:txBody>
      </p:sp>
      <p:sp>
        <p:nvSpPr>
          <p:cNvPr id="501" name="Google Shape;501;h63c0e6991457cadf_0_420"/>
          <p:cNvSpPr txBox="1"/>
          <p:nvPr/>
        </p:nvSpPr>
        <p:spPr>
          <a:xfrm>
            <a:off x="914275" y="3300900"/>
            <a:ext cx="4297800" cy="1554600"/>
          </a:xfrm>
          <a:prstGeom prst="rect">
            <a:avLst/>
          </a:prstGeom>
          <a:noFill/>
          <a:ln>
            <a:noFill/>
          </a:ln>
        </p:spPr>
        <p:txBody>
          <a:bodyPr spcFirstLastPara="1" wrap="square" lIns="0" tIns="0" rIns="0" bIns="0" anchor="t" anchorCtr="0">
            <a:noAutofit/>
          </a:bodyPr>
          <a:lstStyle/>
          <a:p>
            <a:pPr marL="342900" marR="0" lvl="0" indent="-323850" algn="l" rtl="0">
              <a:spcBef>
                <a:spcPts val="0"/>
              </a:spcBef>
              <a:spcAft>
                <a:spcPts val="0"/>
              </a:spcAft>
              <a:buClr>
                <a:schemeClr val="dk1"/>
              </a:buClr>
              <a:buSzPts val="1000"/>
              <a:buFont typeface="Calibri"/>
              <a:buChar char="•"/>
            </a:pPr>
            <a:r>
              <a:rPr lang="en-US" sz="1000" b="0" i="0" u="none" strike="noStrike" cap="none">
                <a:solidFill>
                  <a:schemeClr val="dk1"/>
                </a:solidFill>
                <a:latin typeface="Calibri"/>
                <a:ea typeface="Calibri"/>
                <a:cs typeface="Calibri"/>
                <a:sym typeface="Calibri"/>
              </a:rPr>
              <a:t>1 &lt;= s.length &lt;= 10^4</a:t>
            </a:r>
            <a:endParaRPr sz="1000" b="0" i="0" u="none" strike="noStrike" cap="none">
              <a:solidFill>
                <a:schemeClr val="dk1"/>
              </a:solidFill>
              <a:latin typeface="Calibri"/>
              <a:ea typeface="Calibri"/>
              <a:cs typeface="Calibri"/>
              <a:sym typeface="Calibri"/>
            </a:endParaRPr>
          </a:p>
          <a:p>
            <a:pPr marL="342900" marR="0" lvl="0" indent="-323850" algn="l" rtl="0">
              <a:spcBef>
                <a:spcPts val="300"/>
              </a:spcBef>
              <a:spcAft>
                <a:spcPts val="0"/>
              </a:spcAft>
              <a:buClr>
                <a:schemeClr val="dk1"/>
              </a:buClr>
              <a:buSzPts val="1000"/>
              <a:buFont typeface="Calibri"/>
              <a:buChar char="•"/>
            </a:pPr>
            <a:r>
              <a:rPr lang="en-US" sz="1000" b="0" i="0" u="none" strike="noStrike" cap="none">
                <a:solidFill>
                  <a:schemeClr val="dk1"/>
                </a:solidFill>
                <a:latin typeface="Calibri"/>
                <a:ea typeface="Calibri"/>
                <a:cs typeface="Calibri"/>
                <a:sym typeface="Calibri"/>
              </a:rPr>
              <a:t>2 &lt;= p.length &lt;= 10^4</a:t>
            </a:r>
            <a:endParaRPr sz="1000" b="0" i="0" u="none" strike="noStrike" cap="none">
              <a:solidFill>
                <a:schemeClr val="dk1"/>
              </a:solidFill>
              <a:latin typeface="Calibri"/>
              <a:ea typeface="Calibri"/>
              <a:cs typeface="Calibri"/>
              <a:sym typeface="Calibri"/>
            </a:endParaRPr>
          </a:p>
          <a:p>
            <a:pPr marL="342900" marR="0" lvl="0" indent="-323850" algn="l" rtl="0">
              <a:spcBef>
                <a:spcPts val="300"/>
              </a:spcBef>
              <a:spcAft>
                <a:spcPts val="0"/>
              </a:spcAft>
              <a:buClr>
                <a:schemeClr val="dk1"/>
              </a:buClr>
              <a:buSzPts val="1000"/>
              <a:buFont typeface="Calibri"/>
              <a:buChar char="•"/>
            </a:pPr>
            <a:r>
              <a:rPr lang="en-US" sz="1000" b="0" i="0" u="none" strike="noStrike" cap="none">
                <a:solidFill>
                  <a:schemeClr val="dk1"/>
                </a:solidFill>
                <a:latin typeface="Calibri"/>
                <a:ea typeface="Calibri"/>
                <a:cs typeface="Calibri"/>
                <a:sym typeface="Calibri"/>
              </a:rPr>
              <a:t>s contains only lowercase English letters and spaces.</a:t>
            </a:r>
            <a:endParaRPr sz="1000" b="0" i="0" u="none" strike="noStrike" cap="none">
              <a:solidFill>
                <a:schemeClr val="dk1"/>
              </a:solidFill>
              <a:latin typeface="Calibri"/>
              <a:ea typeface="Calibri"/>
              <a:cs typeface="Calibri"/>
              <a:sym typeface="Calibri"/>
            </a:endParaRPr>
          </a:p>
          <a:p>
            <a:pPr marL="342900" marR="0" lvl="0" indent="-323850" algn="l" rtl="0">
              <a:spcBef>
                <a:spcPts val="300"/>
              </a:spcBef>
              <a:spcAft>
                <a:spcPts val="0"/>
              </a:spcAft>
              <a:buClr>
                <a:schemeClr val="dk1"/>
              </a:buClr>
              <a:buSzPts val="1000"/>
              <a:buFont typeface="Calibri"/>
              <a:buChar char="•"/>
            </a:pPr>
            <a:r>
              <a:rPr lang="en-US" sz="1000" b="0" i="0" u="none" strike="noStrike" cap="none">
                <a:solidFill>
                  <a:schemeClr val="dk1"/>
                </a:solidFill>
                <a:latin typeface="Calibri"/>
                <a:ea typeface="Calibri"/>
                <a:cs typeface="Calibri"/>
                <a:sym typeface="Calibri"/>
              </a:rPr>
              <a:t>p contains only lowercase English letters and exactly two '*'.</a:t>
            </a:r>
            <a:endParaRPr sz="1000" b="0" i="0" u="none" strike="noStrike" cap="none">
              <a:solidFill>
                <a:schemeClr val="dk1"/>
              </a:solidFill>
              <a:latin typeface="Calibri"/>
              <a:ea typeface="Calibri"/>
              <a:cs typeface="Calibri"/>
              <a:sym typeface="Calibri"/>
            </a:endParaRPr>
          </a:p>
        </p:txBody>
      </p:sp>
      <p:sp>
        <p:nvSpPr>
          <p:cNvPr id="502" name="Google Shape;502;h63c0e6991457cadf_0_420"/>
          <p:cNvSpPr/>
          <p:nvPr/>
        </p:nvSpPr>
        <p:spPr>
          <a:xfrm>
            <a:off x="5760725" y="2537975"/>
            <a:ext cx="5790900" cy="8952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h63c0e6991457cadf_0_420"/>
          <p:cNvSpPr txBox="1"/>
          <p:nvPr/>
        </p:nvSpPr>
        <p:spPr>
          <a:xfrm>
            <a:off x="6080760" y="2675135"/>
            <a:ext cx="18288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HINT</a:t>
            </a:r>
            <a:endParaRPr sz="1100" b="0" i="0" u="none" strike="noStrike" cap="none">
              <a:solidFill>
                <a:schemeClr val="dk1"/>
              </a:solidFill>
              <a:latin typeface="Calibri"/>
              <a:ea typeface="Calibri"/>
              <a:cs typeface="Calibri"/>
              <a:sym typeface="Calibri"/>
            </a:endParaRPr>
          </a:p>
        </p:txBody>
      </p:sp>
      <p:sp>
        <p:nvSpPr>
          <p:cNvPr id="504" name="Google Shape;504;h63c0e6991457cadf_0_420"/>
          <p:cNvSpPr txBox="1"/>
          <p:nvPr/>
        </p:nvSpPr>
        <p:spPr>
          <a:xfrm>
            <a:off x="6080760" y="2869605"/>
            <a:ext cx="5150700" cy="502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500"/>
              <a:buFont typeface="Calibri"/>
              <a:buNone/>
            </a:pPr>
            <a:r>
              <a:rPr lang="en-US" sz="1300" b="0" i="0" u="none" strike="noStrike" cap="none">
                <a:solidFill>
                  <a:schemeClr val="dk1"/>
                </a:solidFill>
                <a:latin typeface="Calibri"/>
                <a:ea typeface="Calibri"/>
                <a:cs typeface="Calibri"/>
                <a:sym typeface="Calibri"/>
              </a:rPr>
              <a:t>Split p on "*" into three parts. For each start that matches the first part, find the other two as early as possible.</a:t>
            </a:r>
            <a:endParaRPr sz="1300" b="0" i="0" u="none" strike="noStrike" cap="none">
              <a:solidFill>
                <a:schemeClr val="dk1"/>
              </a:solidFill>
              <a:latin typeface="Calibri"/>
              <a:ea typeface="Calibri"/>
              <a:cs typeface="Calibri"/>
              <a:sym typeface="Calibri"/>
            </a:endParaRPr>
          </a:p>
        </p:txBody>
      </p:sp>
      <p:sp>
        <p:nvSpPr>
          <p:cNvPr id="505" name="Google Shape;505;h63c0e6991457cadf_0_420"/>
          <p:cNvSpPr/>
          <p:nvPr/>
        </p:nvSpPr>
        <p:spPr>
          <a:xfrm>
            <a:off x="640075" y="4555900"/>
            <a:ext cx="4846200" cy="1828800"/>
          </a:xfrm>
          <a:prstGeom prst="roundRect">
            <a:avLst>
              <a:gd name="adj" fmla="val 2667"/>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h63c0e6991457cadf_0_420"/>
          <p:cNvSpPr txBox="1"/>
          <p:nvPr/>
        </p:nvSpPr>
        <p:spPr>
          <a:xfrm>
            <a:off x="960110" y="4702117"/>
            <a:ext cx="2286000" cy="25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Example 3</a:t>
            </a:r>
            <a:endParaRPr sz="1400" b="0" i="0" u="none" strike="noStrike" cap="none">
              <a:solidFill>
                <a:schemeClr val="dk1"/>
              </a:solidFill>
              <a:latin typeface="Calibri"/>
              <a:ea typeface="Calibri"/>
              <a:cs typeface="Calibri"/>
              <a:sym typeface="Calibri"/>
            </a:endParaRPr>
          </a:p>
        </p:txBody>
      </p:sp>
      <p:sp>
        <p:nvSpPr>
          <p:cNvPr id="507" name="Google Shape;507;h63c0e6991457cadf_0_420"/>
          <p:cNvSpPr txBox="1"/>
          <p:nvPr/>
        </p:nvSpPr>
        <p:spPr>
          <a:xfrm>
            <a:off x="2408010" y="4702117"/>
            <a:ext cx="2864700" cy="2559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dk1"/>
              </a:buClr>
              <a:buSzPts val="1300"/>
              <a:buFont typeface="Courier New"/>
              <a:buNone/>
            </a:pPr>
            <a:r>
              <a:rPr lang="en-US" sz="1000" b="1" i="0" u="none" strike="noStrike" cap="none">
                <a:solidFill>
                  <a:schemeClr val="dk1"/>
                </a:solidFill>
                <a:latin typeface="Courier New"/>
                <a:ea typeface="Courier New"/>
                <a:cs typeface="Courier New"/>
                <a:sym typeface="Courier New"/>
              </a:rPr>
              <a:t>Output: 0</a:t>
            </a:r>
            <a:endParaRPr sz="1000" b="0" i="0" u="none" strike="noStrike" cap="none">
              <a:solidFill>
                <a:schemeClr val="dk1"/>
              </a:solidFill>
              <a:latin typeface="Calibri"/>
              <a:ea typeface="Calibri"/>
              <a:cs typeface="Calibri"/>
              <a:sym typeface="Calibri"/>
            </a:endParaRPr>
          </a:p>
        </p:txBody>
      </p:sp>
      <p:sp>
        <p:nvSpPr>
          <p:cNvPr id="508" name="Google Shape;508;h63c0e6991457cadf_0_420"/>
          <p:cNvSpPr txBox="1"/>
          <p:nvPr/>
        </p:nvSpPr>
        <p:spPr>
          <a:xfrm>
            <a:off x="960110" y="4938400"/>
            <a:ext cx="51507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ourier New"/>
              <a:buNone/>
            </a:pPr>
            <a:r>
              <a:rPr lang="en-US" sz="1000" b="0" i="0" u="none" strike="noStrike" cap="none">
                <a:solidFill>
                  <a:schemeClr val="dk1"/>
                </a:solidFill>
                <a:latin typeface="Courier New"/>
                <a:ea typeface="Courier New"/>
                <a:cs typeface="Courier New"/>
                <a:sym typeface="Courier New"/>
              </a:rPr>
              <a:t>s = "a", p = "**"</a:t>
            </a:r>
            <a:endParaRPr sz="1000" b="0" i="0" u="none" strike="noStrike" cap="none">
              <a:solidFill>
                <a:schemeClr val="dk1"/>
              </a:solidFill>
              <a:latin typeface="Calibri"/>
              <a:ea typeface="Calibri"/>
              <a:cs typeface="Calibri"/>
              <a:sym typeface="Calibri"/>
            </a:endParaRPr>
          </a:p>
        </p:txBody>
      </p:sp>
      <p:sp>
        <p:nvSpPr>
          <p:cNvPr id="509" name="Google Shape;509;h63c0e6991457cadf_0_420"/>
          <p:cNvSpPr txBox="1"/>
          <p:nvPr/>
        </p:nvSpPr>
        <p:spPr>
          <a:xfrm>
            <a:off x="960102" y="5130900"/>
            <a:ext cx="4312500" cy="438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300"/>
              <a:buFont typeface="Calibri"/>
              <a:buNone/>
            </a:pPr>
            <a:r>
              <a:rPr lang="en-US" sz="1000" b="0" i="1" u="none" strike="noStrike" cap="none">
                <a:solidFill>
                  <a:schemeClr val="accent5"/>
                </a:solidFill>
                <a:latin typeface="Calibri"/>
                <a:ea typeface="Calibri"/>
                <a:cs typeface="Calibri"/>
                <a:sym typeface="Calibri"/>
              </a:rPr>
              <a:t>Between substrings "a" and "" (empty string), the smaller is "", which has a length of 0.</a:t>
            </a:r>
            <a:endParaRPr sz="1000" b="0" i="0" u="none" strike="noStrike" cap="none">
              <a:solidFill>
                <a:schemeClr val="dk1"/>
              </a:solidFill>
              <a:latin typeface="Calibri"/>
              <a:ea typeface="Calibri"/>
              <a:cs typeface="Calibri"/>
              <a:sym typeface="Calibri"/>
            </a:endParaRPr>
          </a:p>
        </p:txBody>
      </p:sp>
      <p:sp>
        <p:nvSpPr>
          <p:cNvPr id="510" name="Google Shape;510;h63c0e6991457cadf_0_420"/>
          <p:cNvSpPr txBox="1"/>
          <p:nvPr/>
        </p:nvSpPr>
        <p:spPr>
          <a:xfrm>
            <a:off x="960110" y="5525234"/>
            <a:ext cx="2286000" cy="25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Example 4</a:t>
            </a:r>
            <a:endParaRPr sz="1400" b="0" i="0" u="none" strike="noStrike" cap="none">
              <a:solidFill>
                <a:schemeClr val="dk1"/>
              </a:solidFill>
              <a:latin typeface="Calibri"/>
              <a:ea typeface="Calibri"/>
              <a:cs typeface="Calibri"/>
              <a:sym typeface="Calibri"/>
            </a:endParaRPr>
          </a:p>
        </p:txBody>
      </p:sp>
      <p:sp>
        <p:nvSpPr>
          <p:cNvPr id="511" name="Google Shape;511;h63c0e6991457cadf_0_420"/>
          <p:cNvSpPr txBox="1"/>
          <p:nvPr/>
        </p:nvSpPr>
        <p:spPr>
          <a:xfrm>
            <a:off x="2408010" y="5525909"/>
            <a:ext cx="2864700" cy="2559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Clr>
                <a:schemeClr val="dk1"/>
              </a:buClr>
              <a:buSzPts val="1300"/>
              <a:buFont typeface="Courier New"/>
              <a:buNone/>
            </a:pPr>
            <a:r>
              <a:rPr lang="en-US" sz="1000" b="1" i="0" u="none" strike="noStrike" cap="none">
                <a:solidFill>
                  <a:schemeClr val="dk1"/>
                </a:solidFill>
                <a:latin typeface="Courier New"/>
                <a:ea typeface="Courier New"/>
                <a:cs typeface="Courier New"/>
                <a:sym typeface="Courier New"/>
              </a:rPr>
              <a:t>Output: 6</a:t>
            </a:r>
            <a:endParaRPr sz="1000" b="0" i="0" u="none" strike="noStrike" cap="none">
              <a:solidFill>
                <a:schemeClr val="dk1"/>
              </a:solidFill>
              <a:latin typeface="Calibri"/>
              <a:ea typeface="Calibri"/>
              <a:cs typeface="Calibri"/>
              <a:sym typeface="Calibri"/>
            </a:endParaRPr>
          </a:p>
        </p:txBody>
      </p:sp>
      <p:sp>
        <p:nvSpPr>
          <p:cNvPr id="512" name="Google Shape;512;h63c0e6991457cadf_0_420"/>
          <p:cNvSpPr txBox="1"/>
          <p:nvPr/>
        </p:nvSpPr>
        <p:spPr>
          <a:xfrm>
            <a:off x="960110" y="5716717"/>
            <a:ext cx="51507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ourier New"/>
              <a:buNone/>
            </a:pPr>
            <a:r>
              <a:rPr lang="en-US" sz="1000" b="0" i="0" u="none" strike="noStrike" cap="none">
                <a:solidFill>
                  <a:schemeClr val="dk1"/>
                </a:solidFill>
                <a:latin typeface="Courier New"/>
                <a:ea typeface="Courier New"/>
                <a:cs typeface="Courier New"/>
                <a:sym typeface="Courier New"/>
              </a:rPr>
              <a:t>s = "computer", p = "*ompute*"</a:t>
            </a:r>
            <a:endParaRPr sz="1000" b="0" i="0" u="none" strike="noStrike" cap="none">
              <a:solidFill>
                <a:schemeClr val="dk1"/>
              </a:solidFill>
              <a:latin typeface="Calibri"/>
              <a:ea typeface="Calibri"/>
              <a:cs typeface="Calibri"/>
              <a:sym typeface="Calibri"/>
            </a:endParaRPr>
          </a:p>
        </p:txBody>
      </p:sp>
      <p:sp>
        <p:nvSpPr>
          <p:cNvPr id="513" name="Google Shape;513;h63c0e6991457cadf_0_420"/>
          <p:cNvSpPr txBox="1"/>
          <p:nvPr/>
        </p:nvSpPr>
        <p:spPr>
          <a:xfrm>
            <a:off x="960110" y="5904236"/>
            <a:ext cx="51507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300"/>
              <a:buFont typeface="Calibri"/>
              <a:buNone/>
            </a:pPr>
            <a:r>
              <a:rPr lang="en-US" sz="1000" b="0" i="1" u="none" strike="noStrike" cap="none">
                <a:solidFill>
                  <a:schemeClr val="accent5"/>
                </a:solidFill>
                <a:latin typeface="Calibri"/>
                <a:ea typeface="Calibri"/>
                <a:cs typeface="Calibri"/>
                <a:sym typeface="Calibri"/>
              </a:rPr>
              <a:t>The smallest matching substring of p in s is "ompute".</a:t>
            </a:r>
            <a:endParaRPr sz="1000" b="0" i="0" u="none" strike="noStrike" cap="none">
              <a:solidFill>
                <a:schemeClr val="dk1"/>
              </a:solidFill>
              <a:latin typeface="Calibri"/>
              <a:ea typeface="Calibri"/>
              <a:cs typeface="Calibri"/>
              <a:sym typeface="Calibri"/>
            </a:endParaRPr>
          </a:p>
        </p:txBody>
      </p:sp>
      <p:sp>
        <p:nvSpPr>
          <p:cNvPr id="514" name="Google Shape;514;h63c0e6991457cadf_0_420"/>
          <p:cNvSpPr/>
          <p:nvPr/>
        </p:nvSpPr>
        <p:spPr>
          <a:xfrm>
            <a:off x="5760725" y="1600200"/>
            <a:ext cx="5790900" cy="713100"/>
          </a:xfrm>
          <a:prstGeom prst="roundRect">
            <a:avLst>
              <a:gd name="adj" fmla="val 4615"/>
            </a:avLst>
          </a:prstGeom>
          <a:solidFill>
            <a:schemeClr val="accent6"/>
          </a:solidFill>
          <a:ln w="9525" cap="flat" cmpd="sng">
            <a:solidFill>
              <a:schemeClr val="accent5">
                <a:alpha val="502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h63c0e6991457cadf_0_420"/>
          <p:cNvSpPr txBox="1"/>
          <p:nvPr/>
        </p:nvSpPr>
        <p:spPr>
          <a:xfrm>
            <a:off x="6126430" y="1686030"/>
            <a:ext cx="50595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2200"/>
              <a:buFont typeface="Calibri"/>
              <a:buNone/>
            </a:pPr>
            <a:r>
              <a:rPr lang="en-US" sz="2000" b="1" i="0" u="none" strike="noStrike" cap="none">
                <a:solidFill>
                  <a:schemeClr val="lt1"/>
                </a:solidFill>
                <a:latin typeface="Calibri"/>
                <a:ea typeface="Calibri"/>
                <a:cs typeface="Calibri"/>
                <a:sym typeface="Calibri"/>
              </a:rPr>
              <a:t>You have 5 minutes to complete this.</a:t>
            </a:r>
            <a:endParaRPr sz="2000" b="0" i="0" u="none" strike="noStrike" cap="none">
              <a:solidFill>
                <a:schemeClr val="dk1"/>
              </a:solidFill>
              <a:latin typeface="Calibri"/>
              <a:ea typeface="Calibri"/>
              <a:cs typeface="Calibri"/>
              <a:sym typeface="Calibri"/>
            </a:endParaRPr>
          </a:p>
        </p:txBody>
      </p:sp>
      <p:sp>
        <p:nvSpPr>
          <p:cNvPr id="516" name="Google Shape;516;h63c0e6991457cadf_0_420"/>
          <p:cNvSpPr txBox="1"/>
          <p:nvPr/>
        </p:nvSpPr>
        <p:spPr>
          <a:xfrm>
            <a:off x="6126355" y="1990956"/>
            <a:ext cx="5059500" cy="41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500"/>
              <a:buFont typeface="Calibri"/>
              <a:buNone/>
            </a:pPr>
            <a:r>
              <a:rPr lang="en-US" sz="1300" b="0" i="0" u="none" strike="noStrike" cap="none">
                <a:solidFill>
                  <a:schemeClr val="lt2"/>
                </a:solidFill>
                <a:latin typeface="Calibri"/>
                <a:ea typeface="Calibri"/>
                <a:cs typeface="Calibri"/>
                <a:sym typeface="Calibri"/>
              </a:rPr>
              <a:t>Please feel free to work in pairs or small groups (3 to 4).</a:t>
            </a:r>
            <a:endParaRPr sz="1300" b="0" i="0" u="none" strike="noStrike" cap="none">
              <a:solidFill>
                <a:schemeClr val="dk1"/>
              </a:solidFill>
              <a:latin typeface="Calibri"/>
              <a:ea typeface="Calibri"/>
              <a:cs typeface="Calibri"/>
              <a:sym typeface="Calibri"/>
            </a:endParaRPr>
          </a:p>
        </p:txBody>
      </p:sp>
      <p:pic>
        <p:nvPicPr>
          <p:cNvPr id="517" name="Google Shape;517;h63c0e6991457cadf_0_420"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title="5 Minute Timer">
            <a:hlinkClick r:id="rId3"/>
          </p:cNvPr>
          <p:cNvPicPr preferRelativeResize="0"/>
          <p:nvPr/>
        </p:nvPicPr>
        <p:blipFill>
          <a:blip r:embed="rId4">
            <a:alphaModFix/>
          </a:blip>
          <a:stretch>
            <a:fillRect/>
          </a:stretch>
        </p:blipFill>
        <p:spPr>
          <a:xfrm>
            <a:off x="5760651" y="3657850"/>
            <a:ext cx="5790900" cy="2724195"/>
          </a:xfrm>
          <a:prstGeom prst="rect">
            <a:avLst/>
          </a:prstGeom>
          <a:noFill/>
          <a:ln>
            <a:noFill/>
          </a:ln>
        </p:spPr>
      </p:pic>
      <p:sp>
        <p:nvSpPr>
          <p:cNvPr id="3" name="Text Placeholder 2">
            <a:extLst>
              <a:ext uri="{FF2B5EF4-FFF2-40B4-BE49-F238E27FC236}">
                <a16:creationId xmlns:a16="http://schemas.microsoft.com/office/drawing/2014/main" id="{71D98D1C-8475-EB42-222E-1A7691FC2D0D}"/>
              </a:ext>
            </a:extLst>
          </p:cNvPr>
          <p:cNvSpPr>
            <a:spLocks noGrp="1"/>
          </p:cNvSpPr>
          <p:nvPr>
            <p:ph type="body" idx="1"/>
          </p:nvPr>
        </p:nvSpPr>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4" name="Google Shape;524;h63c0e6991457cadf_0_460"/>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r>
              <a:rPr lang="en-US" sz="3200" b="1"/>
              <a:t>Worked example: </a:t>
            </a:r>
            <a:r>
              <a:rPr lang="en-US"/>
              <a:t>3.5 </a:t>
            </a:r>
            <a:r>
              <a:rPr lang="en-US" sz="3200" b="1"/>
              <a:t>Smallest Matching Substring</a:t>
            </a:r>
            <a:endParaRPr sz="3200"/>
          </a:p>
        </p:txBody>
      </p:sp>
      <p:sp>
        <p:nvSpPr>
          <p:cNvPr id="525" name="Google Shape;525;h63c0e6991457cadf_0_460"/>
          <p:cNvSpPr/>
          <p:nvPr/>
        </p:nvSpPr>
        <p:spPr>
          <a:xfrm>
            <a:off x="640080" y="1600200"/>
            <a:ext cx="4831732" cy="1150584"/>
          </a:xfrm>
          <a:prstGeom prst="roundRect">
            <a:avLst>
              <a:gd name="adj" fmla="val 1667"/>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h63c0e6991457cadf_0_460"/>
          <p:cNvSpPr txBox="1"/>
          <p:nvPr/>
        </p:nvSpPr>
        <p:spPr>
          <a:xfrm>
            <a:off x="914400" y="1801368"/>
            <a:ext cx="42978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Pattern and approach</a:t>
            </a:r>
            <a:endParaRPr sz="1800" b="0" i="0" u="none" strike="noStrike" cap="none">
              <a:solidFill>
                <a:schemeClr val="dk1"/>
              </a:solidFill>
              <a:latin typeface="Calibri"/>
              <a:ea typeface="Calibri"/>
              <a:cs typeface="Calibri"/>
              <a:sym typeface="Calibri"/>
            </a:endParaRPr>
          </a:p>
        </p:txBody>
      </p:sp>
      <p:sp>
        <p:nvSpPr>
          <p:cNvPr id="527" name="Google Shape;527;h63c0e6991457cadf_0_460"/>
          <p:cNvSpPr/>
          <p:nvPr/>
        </p:nvSpPr>
        <p:spPr>
          <a:xfrm>
            <a:off x="914400" y="2173571"/>
            <a:ext cx="1594800" cy="292500"/>
          </a:xfrm>
          <a:prstGeom prst="roundRect">
            <a:avLst>
              <a:gd name="adj" fmla="val 50000"/>
            </a:avLst>
          </a:prstGeom>
          <a:solidFill>
            <a:schemeClr val="accent2">
              <a:alpha val="25100"/>
            </a:schemeClr>
          </a:solidFill>
          <a:ln w="9525" cap="flat" cmpd="sng">
            <a:solidFill>
              <a:schemeClr val="accent2">
                <a:alpha val="70200"/>
              </a:schemeClr>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chemeClr val="dk1"/>
              </a:buClr>
              <a:buSzPts val="1100"/>
              <a:buFont typeface="Calibri"/>
              <a:buNone/>
            </a:pPr>
            <a:r>
              <a:rPr lang="en-US" sz="1100" b="1" i="0" u="none" strike="noStrike" cap="none">
                <a:solidFill>
                  <a:schemeClr val="dk1"/>
                </a:solidFill>
                <a:latin typeface="Calibri"/>
                <a:ea typeface="Calibri"/>
                <a:cs typeface="Calibri"/>
                <a:sym typeface="Calibri"/>
              </a:rPr>
              <a:t>Split the pattern</a:t>
            </a:r>
            <a:endParaRPr sz="1100" b="0" i="0" u="none" strike="noStrike" cap="none">
              <a:solidFill>
                <a:schemeClr val="dk1"/>
              </a:solidFill>
              <a:latin typeface="Calibri"/>
              <a:ea typeface="Calibri"/>
              <a:cs typeface="Calibri"/>
              <a:sym typeface="Calibri"/>
            </a:endParaRPr>
          </a:p>
        </p:txBody>
      </p:sp>
      <p:sp>
        <p:nvSpPr>
          <p:cNvPr id="538" name="Google Shape;538;h63c0e6991457cadf_0_460"/>
          <p:cNvSpPr/>
          <p:nvPr/>
        </p:nvSpPr>
        <p:spPr>
          <a:xfrm>
            <a:off x="5760725" y="1600200"/>
            <a:ext cx="5790900" cy="4887900"/>
          </a:xfrm>
          <a:prstGeom prst="roundRect">
            <a:avLst>
              <a:gd name="adj" fmla="val 1591"/>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h63c0e6991457cadf_0_460"/>
          <p:cNvSpPr txBox="1"/>
          <p:nvPr/>
        </p:nvSpPr>
        <p:spPr>
          <a:xfrm>
            <a:off x="6035040" y="1801368"/>
            <a:ext cx="52422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i="0" u="none" strike="noStrike" cap="none">
                <a:solidFill>
                  <a:schemeClr val="accent1"/>
                </a:solidFill>
                <a:latin typeface="Calibri"/>
                <a:ea typeface="Calibri"/>
                <a:cs typeface="Calibri"/>
                <a:sym typeface="Calibri"/>
              </a:rPr>
              <a:t>PYTHON</a:t>
            </a:r>
            <a:endParaRPr sz="1100" b="0" i="0" u="none" strike="noStrike" cap="none">
              <a:solidFill>
                <a:schemeClr val="dk1"/>
              </a:solidFill>
              <a:latin typeface="Calibri"/>
              <a:ea typeface="Calibri"/>
              <a:cs typeface="Calibri"/>
              <a:sym typeface="Calibri"/>
            </a:endParaRPr>
          </a:p>
        </p:txBody>
      </p:sp>
      <p:sp>
        <p:nvSpPr>
          <p:cNvPr id="540" name="Google Shape;540;h63c0e6991457cadf_0_460"/>
          <p:cNvSpPr txBox="1"/>
          <p:nvPr/>
        </p:nvSpPr>
        <p:spPr>
          <a:xfrm>
            <a:off x="6035040" y="2043785"/>
            <a:ext cx="5242200" cy="2670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def smallest_matching_substring(s: str, p: str) -&gt; int:</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parts = p.split("*")</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a = parts[0]</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b = parts[1]</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c = parts[2]</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best = -1</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for i in range(len(s) + 1):</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if not s.startswith(a, i):</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continue</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b_start = s.find(b, i + len(a))</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if b_start == -1:</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break </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c_start = s.find(c, b_start + len(b))</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if c_start == -1:</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break  </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length = c_start + len(c) - i</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if best == -1 or length &lt; best:</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best = length</a:t>
            </a:r>
            <a:endParaRPr sz="120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US" sz="1200">
                <a:solidFill>
                  <a:schemeClr val="lt2"/>
                </a:solidFill>
                <a:latin typeface="Courier New"/>
                <a:ea typeface="Courier New"/>
                <a:cs typeface="Courier New"/>
                <a:sym typeface="Courier New"/>
              </a:rPr>
              <a:t>    return best</a:t>
            </a:r>
            <a:endParaRPr sz="1200">
              <a:solidFill>
                <a:schemeClr val="lt2"/>
              </a:solidFill>
              <a:latin typeface="Courier New"/>
              <a:ea typeface="Courier New"/>
              <a:cs typeface="Courier New"/>
              <a:sym typeface="Courier New"/>
            </a:endParaRPr>
          </a:p>
          <a:p>
            <a:pPr marL="0" marR="0" lvl="0" indent="0" algn="l" rtl="0">
              <a:lnSpc>
                <a:spcPct val="100000"/>
              </a:lnSpc>
              <a:spcBef>
                <a:spcPts val="0"/>
              </a:spcBef>
              <a:spcAft>
                <a:spcPts val="0"/>
              </a:spcAft>
              <a:buClr>
                <a:schemeClr val="lt2"/>
              </a:buClr>
              <a:buSzPts val="1300"/>
              <a:buFont typeface="Courier New"/>
              <a:buNone/>
            </a:pPr>
            <a:endParaRPr sz="1200">
              <a:solidFill>
                <a:schemeClr val="lt2"/>
              </a:solidFill>
              <a:latin typeface="Courier New"/>
              <a:ea typeface="Courier New"/>
              <a:cs typeface="Courier New"/>
              <a:sym typeface="Courier New"/>
            </a:endParaRPr>
          </a:p>
        </p:txBody>
      </p:sp>
      <p:sp>
        <p:nvSpPr>
          <p:cNvPr id="541" name="Google Shape;541;h63c0e6991457cadf_0_460"/>
          <p:cNvSpPr/>
          <p:nvPr/>
        </p:nvSpPr>
        <p:spPr>
          <a:xfrm>
            <a:off x="640050" y="2870088"/>
            <a:ext cx="4846200" cy="8871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h63c0e6991457cadf_0_460"/>
          <p:cNvSpPr txBox="1"/>
          <p:nvPr/>
        </p:nvSpPr>
        <p:spPr>
          <a:xfrm>
            <a:off x="776865" y="2923898"/>
            <a:ext cx="3063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200" b="1" i="0" strike="noStrike" cap="none">
                <a:solidFill>
                  <a:schemeClr val="accent1"/>
                </a:solidFill>
                <a:latin typeface="Courier New"/>
                <a:ea typeface="Courier New"/>
                <a:cs typeface="Courier New"/>
                <a:sym typeface="Courier New"/>
              </a:rPr>
              <a:t>Time O(</a:t>
            </a:r>
            <a:r>
              <a:rPr lang="en-US" sz="1200" b="1">
                <a:solidFill>
                  <a:schemeClr val="accent1"/>
                </a:solidFill>
                <a:latin typeface="Courier New"/>
                <a:ea typeface="Courier New"/>
                <a:cs typeface="Courier New"/>
                <a:sym typeface="Courier New"/>
              </a:rPr>
              <a:t>n*(n+m</a:t>
            </a:r>
            <a:r>
              <a:rPr lang="en-US" sz="1200" b="1" i="0" strike="noStrike" cap="none">
                <a:solidFill>
                  <a:schemeClr val="accent1"/>
                </a:solidFill>
                <a:latin typeface="Courier New"/>
                <a:ea typeface="Courier New"/>
                <a:cs typeface="Courier New"/>
                <a:sym typeface="Courier New"/>
              </a:rPr>
              <a:t>))</a:t>
            </a:r>
            <a:endParaRPr sz="1200" b="0" i="0" strike="noStrike" cap="none">
              <a:solidFill>
                <a:schemeClr val="accent1"/>
              </a:solidFill>
              <a:latin typeface="Calibri"/>
              <a:ea typeface="Calibri"/>
              <a:cs typeface="Calibri"/>
              <a:sym typeface="Calibri"/>
            </a:endParaRPr>
          </a:p>
        </p:txBody>
      </p:sp>
      <p:sp>
        <p:nvSpPr>
          <p:cNvPr id="543" name="Google Shape;543;h63c0e6991457cadf_0_460"/>
          <p:cNvSpPr txBox="1"/>
          <p:nvPr/>
        </p:nvSpPr>
        <p:spPr>
          <a:xfrm>
            <a:off x="776875" y="3198313"/>
            <a:ext cx="1823700" cy="476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every start position passes startswith check and every find has to scan without fail</a:t>
            </a:r>
            <a:endParaRPr sz="1000" b="0" i="0" u="none" strike="noStrike" cap="none">
              <a:solidFill>
                <a:schemeClr val="dk1"/>
              </a:solidFill>
              <a:latin typeface="Calibri"/>
              <a:ea typeface="Calibri"/>
              <a:cs typeface="Calibri"/>
              <a:sym typeface="Calibri"/>
            </a:endParaRPr>
          </a:p>
        </p:txBody>
      </p:sp>
      <p:sp>
        <p:nvSpPr>
          <p:cNvPr id="544" name="Google Shape;544;h63c0e6991457cadf_0_460"/>
          <p:cNvSpPr txBox="1"/>
          <p:nvPr/>
        </p:nvSpPr>
        <p:spPr>
          <a:xfrm>
            <a:off x="2971755" y="2923898"/>
            <a:ext cx="24534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200" b="1" i="0" u="none" strike="noStrike" cap="none">
                <a:solidFill>
                  <a:schemeClr val="accent1"/>
                </a:solidFill>
                <a:latin typeface="Courier New"/>
                <a:ea typeface="Courier New"/>
                <a:cs typeface="Courier New"/>
                <a:sym typeface="Courier New"/>
              </a:rPr>
              <a:t>Space O(</a:t>
            </a:r>
            <a:r>
              <a:rPr lang="en-US" sz="1200" b="1">
                <a:solidFill>
                  <a:schemeClr val="accent1"/>
                </a:solidFill>
                <a:latin typeface="Courier New"/>
                <a:ea typeface="Courier New"/>
                <a:cs typeface="Courier New"/>
                <a:sym typeface="Courier New"/>
              </a:rPr>
              <a:t>m</a:t>
            </a:r>
            <a:r>
              <a:rPr lang="en-US" sz="1200" b="1" i="0" u="none" strike="noStrike" cap="none">
                <a:solidFill>
                  <a:schemeClr val="accent1"/>
                </a:solidFill>
                <a:latin typeface="Courier New"/>
                <a:ea typeface="Courier New"/>
                <a:cs typeface="Courier New"/>
                <a:sym typeface="Courier New"/>
              </a:rPr>
              <a:t>)</a:t>
            </a:r>
            <a:endParaRPr sz="1200" b="0" i="0" u="none" strike="noStrike" cap="none">
              <a:solidFill>
                <a:schemeClr val="accent1"/>
              </a:solidFill>
              <a:latin typeface="Calibri"/>
              <a:ea typeface="Calibri"/>
              <a:cs typeface="Calibri"/>
              <a:sym typeface="Calibri"/>
            </a:endParaRPr>
          </a:p>
        </p:txBody>
      </p:sp>
      <p:sp>
        <p:nvSpPr>
          <p:cNvPr id="545" name="Google Shape;545;h63c0e6991457cadf_0_460"/>
          <p:cNvSpPr txBox="1"/>
          <p:nvPr/>
        </p:nvSpPr>
        <p:spPr>
          <a:xfrm>
            <a:off x="2971755" y="3198315"/>
            <a:ext cx="2453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p.split(“*”) creates new string</a:t>
            </a:r>
            <a:endParaRPr sz="1000" b="0" i="0" u="none" strike="noStrike" cap="none">
              <a:solidFill>
                <a:schemeClr val="dk1"/>
              </a:solidFill>
              <a:latin typeface="Calibri"/>
              <a:ea typeface="Calibri"/>
              <a:cs typeface="Calibri"/>
              <a:sym typeface="Calibri"/>
            </a:endParaRPr>
          </a:p>
        </p:txBody>
      </p:sp>
      <p:sp>
        <p:nvSpPr>
          <p:cNvPr id="546" name="Google Shape;546;h63c0e6991457cadf_0_460"/>
          <p:cNvSpPr txBox="1"/>
          <p:nvPr/>
        </p:nvSpPr>
        <p:spPr>
          <a:xfrm>
            <a:off x="2953955" y="3426740"/>
            <a:ext cx="2453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n = length pattern s; m = length of pattern p</a:t>
            </a:r>
            <a:endParaRPr sz="1000" b="0" i="0" u="none" strike="noStrike" cap="none">
              <a:solidFill>
                <a:schemeClr val="dk1"/>
              </a:solidFill>
              <a:latin typeface="Calibri"/>
              <a:ea typeface="Calibri"/>
              <a:cs typeface="Calibri"/>
              <a:sym typeface="Calibri"/>
            </a:endParaRPr>
          </a:p>
        </p:txBody>
      </p:sp>
      <p:sp>
        <p:nvSpPr>
          <p:cNvPr id="547" name="Google Shape;547;h63c0e6991457cadf_0_460"/>
          <p:cNvSpPr/>
          <p:nvPr/>
        </p:nvSpPr>
        <p:spPr>
          <a:xfrm>
            <a:off x="640200" y="3886138"/>
            <a:ext cx="4846200" cy="476100"/>
          </a:xfrm>
          <a:prstGeom prst="roundRect">
            <a:avLst>
              <a:gd name="adj" fmla="val 5714"/>
            </a:avLst>
          </a:prstGeom>
          <a:solidFill>
            <a:schemeClr val="lt1"/>
          </a:solidFill>
          <a:ln w="9525" cap="flat" cmpd="sng">
            <a:solidFill>
              <a:schemeClr val="accent4">
                <a:alpha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h63c0e6991457cadf_0_460"/>
          <p:cNvSpPr txBox="1"/>
          <p:nvPr/>
        </p:nvSpPr>
        <p:spPr>
          <a:xfrm>
            <a:off x="776865" y="3959423"/>
            <a:ext cx="30633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700"/>
              <a:buFont typeface="Courier New"/>
              <a:buNone/>
            </a:pPr>
            <a:r>
              <a:rPr lang="en-US" sz="1200" b="1">
                <a:solidFill>
                  <a:schemeClr val="accent2"/>
                </a:solidFill>
                <a:latin typeface="Courier New"/>
                <a:ea typeface="Courier New"/>
                <a:cs typeface="Courier New"/>
                <a:sym typeface="Courier New"/>
              </a:rPr>
              <a:t>Time O(n)</a:t>
            </a:r>
            <a:endParaRPr sz="1200" b="0" i="0" strike="noStrike" cap="none">
              <a:solidFill>
                <a:schemeClr val="accent2"/>
              </a:solidFill>
              <a:latin typeface="Calibri"/>
              <a:ea typeface="Calibri"/>
              <a:cs typeface="Calibri"/>
              <a:sym typeface="Calibri"/>
            </a:endParaRPr>
          </a:p>
        </p:txBody>
      </p:sp>
      <p:sp>
        <p:nvSpPr>
          <p:cNvPr id="549" name="Google Shape;549;h63c0e6991457cadf_0_460"/>
          <p:cNvSpPr txBox="1"/>
          <p:nvPr/>
        </p:nvSpPr>
        <p:spPr>
          <a:xfrm>
            <a:off x="1921650" y="3886138"/>
            <a:ext cx="3290400" cy="476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a never matches, loop ends immediately</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22"/>
          <p:cNvSpPr txBox="1">
            <a:spLocks noGrp="1"/>
          </p:cNvSpPr>
          <p:nvPr>
            <p:ph type="title"/>
          </p:nvPr>
        </p:nvSpPr>
        <p:spPr>
          <a:xfrm>
            <a:off x="640080" y="777240"/>
            <a:ext cx="10908792" cy="6400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200"/>
              <a:buFont typeface="Arial"/>
              <a:buNone/>
            </a:pPr>
            <a:r>
              <a:rPr lang="en-US" sz="3200" b="1">
                <a:solidFill>
                  <a:schemeClr val="lt1"/>
                </a:solidFill>
              </a:rPr>
              <a:t>What to remember</a:t>
            </a:r>
            <a:endParaRPr sz="3200"/>
          </a:p>
        </p:txBody>
      </p:sp>
      <p:sp>
        <p:nvSpPr>
          <p:cNvPr id="578" name="Google Shape;578;p22"/>
          <p:cNvSpPr/>
          <p:nvPr/>
        </p:nvSpPr>
        <p:spPr>
          <a:xfrm>
            <a:off x="640080" y="1993392"/>
            <a:ext cx="128016" cy="457200"/>
          </a:xfrm>
          <a:prstGeom prst="roundRect">
            <a:avLst>
              <a:gd name="adj" fmla="val 28571"/>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2"/>
          <p:cNvSpPr txBox="1"/>
          <p:nvPr/>
        </p:nvSpPr>
        <p:spPr>
          <a:xfrm>
            <a:off x="1051560" y="1920240"/>
            <a:ext cx="104241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Strings are immutable sequences. </a:t>
            </a:r>
            <a:endParaRPr sz="2000">
              <a:solidFill>
                <a:schemeClr val="lt2"/>
              </a:solidFill>
              <a:latin typeface="Calibri"/>
              <a:ea typeface="Calibri"/>
              <a:cs typeface="Calibri"/>
              <a:sym typeface="Calibri"/>
            </a:endParaRPr>
          </a:p>
        </p:txBody>
      </p:sp>
      <p:sp>
        <p:nvSpPr>
          <p:cNvPr id="582" name="Google Shape;582;p22"/>
          <p:cNvSpPr/>
          <p:nvPr/>
        </p:nvSpPr>
        <p:spPr>
          <a:xfrm>
            <a:off x="640080" y="2867088"/>
            <a:ext cx="128016" cy="457200"/>
          </a:xfrm>
          <a:prstGeom prst="roundRect">
            <a:avLst>
              <a:gd name="adj" fmla="val 28571"/>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2"/>
          <p:cNvSpPr txBox="1"/>
          <p:nvPr/>
        </p:nvSpPr>
        <p:spPr>
          <a:xfrm>
            <a:off x="1051560" y="2793936"/>
            <a:ext cx="10424160" cy="640080"/>
          </a:xfrm>
          <a:prstGeom prst="rect">
            <a:avLst/>
          </a:prstGeom>
          <a:noFill/>
          <a:ln>
            <a:noFill/>
          </a:ln>
        </p:spPr>
        <p:txBody>
          <a:bodyPr spcFirstLastPara="1" wrap="square" lIns="0" tIns="0" rIns="0" bIns="0" anchor="ctr" anchorCtr="0">
            <a:noAutofit/>
          </a:bodyPr>
          <a:lstStyle/>
          <a:p>
            <a:r>
              <a:rPr lang="en-US" sz="2000">
                <a:solidFill>
                  <a:schemeClr val="lt2"/>
                </a:solidFill>
                <a:latin typeface="Calibri"/>
                <a:ea typeface="Calibri"/>
                <a:cs typeface="Calibri"/>
              </a:rPr>
              <a:t>Important operations</a:t>
            </a:r>
            <a:endParaRPr lang="en-US">
              <a:solidFill>
                <a:schemeClr val="lt2"/>
              </a:solidFill>
            </a:endParaRPr>
          </a:p>
        </p:txBody>
      </p:sp>
      <p:sp>
        <p:nvSpPr>
          <p:cNvPr id="584" name="Google Shape;584;p22"/>
          <p:cNvSpPr/>
          <p:nvPr/>
        </p:nvSpPr>
        <p:spPr>
          <a:xfrm>
            <a:off x="640080" y="3827208"/>
            <a:ext cx="128016" cy="457200"/>
          </a:xfrm>
          <a:prstGeom prst="roundRect">
            <a:avLst>
              <a:gd name="adj" fmla="val 28571"/>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2"/>
          <p:cNvSpPr txBox="1"/>
          <p:nvPr/>
        </p:nvSpPr>
        <p:spPr>
          <a:xfrm>
            <a:off x="1051560" y="3754056"/>
            <a:ext cx="10424160" cy="640080"/>
          </a:xfrm>
          <a:prstGeom prst="rect">
            <a:avLst/>
          </a:prstGeom>
          <a:noFill/>
          <a:ln>
            <a:noFill/>
          </a:ln>
        </p:spPr>
        <p:txBody>
          <a:bodyPr spcFirstLastPara="1" wrap="square" lIns="0" tIns="0" rIns="0" bIns="0" anchor="ctr" anchorCtr="0">
            <a:noAutofit/>
          </a:bodyPr>
          <a:lstStyle/>
          <a:p>
            <a:r>
              <a:rPr lang="en-US" sz="2000" dirty="0">
                <a:solidFill>
                  <a:schemeClr val="lt2"/>
                </a:solidFill>
                <a:latin typeface="Calibri"/>
                <a:ea typeface="Calibri"/>
                <a:cs typeface="Calibri"/>
              </a:rPr>
              <a:t>Approach: identify solution, explain it, run through your solution, explain time compl</a:t>
            </a:r>
            <a:r>
              <a:rPr lang="en-US" sz="2000">
                <a:solidFill>
                  <a:schemeClr val="lt2"/>
                </a:solidFill>
                <a:latin typeface="Calibri"/>
                <a:ea typeface="Calibri"/>
                <a:cs typeface="Calibri"/>
              </a:rPr>
              <a:t>exity</a:t>
            </a:r>
            <a:endParaRPr lang="en-US" sz="2000" dirty="0">
              <a:solidFill>
                <a:schemeClr val="lt2"/>
              </a:solidFill>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h63c0e6991457cadf_0_501"/>
          <p:cNvSpPr txBox="1">
            <a:spLocks noGrp="1"/>
          </p:cNvSpPr>
          <p:nvPr>
            <p:ph type="body" idx="1"/>
          </p:nvPr>
        </p:nvSpPr>
        <p:spPr>
          <a:xfrm>
            <a:off x="640080" y="457200"/>
            <a:ext cx="8229600" cy="274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a:solidFill>
                  <a:schemeClr val="accent1"/>
                </a:solidFill>
              </a:rPr>
              <a:t>NEXT STEPS</a:t>
            </a:r>
            <a:endParaRPr sz="1200"/>
          </a:p>
        </p:txBody>
      </p:sp>
      <p:sp>
        <p:nvSpPr>
          <p:cNvPr id="592" name="Google Shape;592;h63c0e6991457cadf_0_501"/>
          <p:cNvSpPr txBox="1">
            <a:spLocks noGrp="1"/>
          </p:cNvSpPr>
          <p:nvPr>
            <p:ph type="title"/>
          </p:nvPr>
        </p:nvSpPr>
        <p:spPr>
          <a:xfrm>
            <a:off x="640080" y="777240"/>
            <a:ext cx="10908900" cy="64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200"/>
              <a:buFont typeface="Arial"/>
              <a:buNone/>
            </a:pPr>
            <a:r>
              <a:rPr lang="en-US" sz="3200" b="1">
                <a:solidFill>
                  <a:schemeClr val="lt1"/>
                </a:solidFill>
              </a:rPr>
              <a:t>Where to go from here</a:t>
            </a:r>
            <a:endParaRPr sz="3200"/>
          </a:p>
        </p:txBody>
      </p:sp>
      <p:sp>
        <p:nvSpPr>
          <p:cNvPr id="593" name="Google Shape;593;h63c0e6991457cadf_0_501"/>
          <p:cNvSpPr/>
          <p:nvPr/>
        </p:nvSpPr>
        <p:spPr>
          <a:xfrm>
            <a:off x="640075" y="1600200"/>
            <a:ext cx="5303400" cy="2188500"/>
          </a:xfrm>
          <a:prstGeom prst="roundRect">
            <a:avLst>
              <a:gd name="adj" fmla="val 1644"/>
            </a:avLst>
          </a:prstGeom>
          <a:solidFill>
            <a:schemeClr val="accent6"/>
          </a:solidFill>
          <a:ln w="9525" cap="flat" cmpd="sng">
            <a:solidFill>
              <a:schemeClr val="accent5">
                <a:alpha val="502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h63c0e6991457cadf_0_501"/>
          <p:cNvSpPr txBox="1"/>
          <p:nvPr/>
        </p:nvSpPr>
        <p:spPr>
          <a:xfrm>
            <a:off x="960120" y="1828800"/>
            <a:ext cx="46635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200"/>
              <a:buFont typeface="Calibri"/>
              <a:buNone/>
            </a:pPr>
            <a:r>
              <a:rPr lang="en-US" sz="1200" b="1" i="0" u="none" strike="noStrike" cap="none">
                <a:solidFill>
                  <a:schemeClr val="accent1"/>
                </a:solidFill>
                <a:latin typeface="Calibri"/>
                <a:ea typeface="Calibri"/>
                <a:cs typeface="Calibri"/>
                <a:sym typeface="Calibri"/>
              </a:rPr>
              <a:t>PRACTICE THESE</a:t>
            </a:r>
            <a:endParaRPr sz="1200" b="0" i="0" u="none" strike="noStrike" cap="none">
              <a:solidFill>
                <a:schemeClr val="dk1"/>
              </a:solidFill>
              <a:latin typeface="Calibri"/>
              <a:ea typeface="Calibri"/>
              <a:cs typeface="Calibri"/>
              <a:sym typeface="Calibri"/>
            </a:endParaRPr>
          </a:p>
        </p:txBody>
      </p:sp>
      <p:sp>
        <p:nvSpPr>
          <p:cNvPr id="595" name="Google Shape;595;h63c0e6991457cadf_0_501"/>
          <p:cNvSpPr txBox="1"/>
          <p:nvPr/>
        </p:nvSpPr>
        <p:spPr>
          <a:xfrm>
            <a:off x="960120" y="2313432"/>
            <a:ext cx="8688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200"/>
              <a:buFont typeface="Courier New"/>
              <a:buNone/>
            </a:pPr>
            <a:r>
              <a:rPr lang="en-US" sz="1200" b="1">
                <a:solidFill>
                  <a:schemeClr val="accent1"/>
                </a:solidFill>
                <a:latin typeface="Courier New"/>
                <a:ea typeface="Courier New"/>
                <a:cs typeface="Courier New"/>
                <a:sym typeface="Courier New"/>
              </a:rPr>
              <a:t>3.3</a:t>
            </a:r>
            <a:endParaRPr sz="1200" b="0" i="0" u="none" strike="noStrike" cap="none">
              <a:solidFill>
                <a:schemeClr val="dk1"/>
              </a:solidFill>
              <a:latin typeface="Calibri"/>
              <a:ea typeface="Calibri"/>
              <a:cs typeface="Calibri"/>
              <a:sym typeface="Calibri"/>
            </a:endParaRPr>
          </a:p>
        </p:txBody>
      </p:sp>
      <p:sp>
        <p:nvSpPr>
          <p:cNvPr id="596" name="Google Shape;596;h63c0e6991457cadf_0_501"/>
          <p:cNvSpPr txBox="1"/>
          <p:nvPr/>
        </p:nvSpPr>
        <p:spPr>
          <a:xfrm>
            <a:off x="1828800" y="2286000"/>
            <a:ext cx="39318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500"/>
              <a:buFont typeface="Calibri"/>
              <a:buNone/>
            </a:pPr>
            <a:r>
              <a:rPr lang="en-US" sz="1500" b="1">
                <a:solidFill>
                  <a:schemeClr val="lt1"/>
                </a:solidFill>
                <a:latin typeface="Calibri"/>
                <a:ea typeface="Calibri"/>
                <a:cs typeface="Calibri"/>
                <a:sym typeface="Calibri"/>
              </a:rPr>
              <a:t>Longest Substring Without Repeat Characters</a:t>
            </a:r>
            <a:endParaRPr sz="1500" b="0" i="0" u="none" strike="noStrike" cap="none">
              <a:solidFill>
                <a:schemeClr val="dk1"/>
              </a:solidFill>
              <a:latin typeface="Calibri"/>
              <a:ea typeface="Calibri"/>
              <a:cs typeface="Calibri"/>
              <a:sym typeface="Calibri"/>
            </a:endParaRPr>
          </a:p>
        </p:txBody>
      </p:sp>
      <p:sp>
        <p:nvSpPr>
          <p:cNvPr id="597" name="Google Shape;597;h63c0e6991457cadf_0_501"/>
          <p:cNvSpPr txBox="1"/>
          <p:nvPr/>
        </p:nvSpPr>
        <p:spPr>
          <a:xfrm>
            <a:off x="960120" y="2734062"/>
            <a:ext cx="8688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200"/>
              <a:buFont typeface="Courier New"/>
              <a:buNone/>
            </a:pPr>
            <a:r>
              <a:rPr lang="en-US" sz="1200" b="1">
                <a:solidFill>
                  <a:schemeClr val="accent1"/>
                </a:solidFill>
                <a:latin typeface="Courier New"/>
                <a:ea typeface="Courier New"/>
                <a:cs typeface="Courier New"/>
                <a:sym typeface="Courier New"/>
              </a:rPr>
              <a:t>3,4</a:t>
            </a:r>
            <a:endParaRPr sz="1200" b="0" i="0" u="none" strike="noStrike" cap="none">
              <a:solidFill>
                <a:schemeClr val="dk1"/>
              </a:solidFill>
              <a:latin typeface="Calibri"/>
              <a:ea typeface="Calibri"/>
              <a:cs typeface="Calibri"/>
              <a:sym typeface="Calibri"/>
            </a:endParaRPr>
          </a:p>
        </p:txBody>
      </p:sp>
      <p:sp>
        <p:nvSpPr>
          <p:cNvPr id="598" name="Google Shape;598;h63c0e6991457cadf_0_501"/>
          <p:cNvSpPr txBox="1"/>
          <p:nvPr/>
        </p:nvSpPr>
        <p:spPr>
          <a:xfrm>
            <a:off x="1828800" y="2711105"/>
            <a:ext cx="39318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500"/>
              <a:buFont typeface="Calibri"/>
              <a:buNone/>
            </a:pPr>
            <a:r>
              <a:rPr lang="en-US" sz="1500" b="1">
                <a:solidFill>
                  <a:schemeClr val="lt1"/>
                </a:solidFill>
                <a:latin typeface="Calibri"/>
                <a:ea typeface="Calibri"/>
                <a:cs typeface="Calibri"/>
                <a:sym typeface="Calibri"/>
              </a:rPr>
              <a:t>Group Anagrams</a:t>
            </a:r>
            <a:endParaRPr sz="1500" b="0" i="0" u="none" strike="noStrike" cap="none">
              <a:solidFill>
                <a:schemeClr val="dk1"/>
              </a:solidFill>
              <a:latin typeface="Calibri"/>
              <a:ea typeface="Calibri"/>
              <a:cs typeface="Calibri"/>
              <a:sym typeface="Calibri"/>
            </a:endParaRPr>
          </a:p>
        </p:txBody>
      </p:sp>
      <p:sp>
        <p:nvSpPr>
          <p:cNvPr id="599" name="Google Shape;599;h63c0e6991457cadf_0_501"/>
          <p:cNvSpPr txBox="1"/>
          <p:nvPr/>
        </p:nvSpPr>
        <p:spPr>
          <a:xfrm>
            <a:off x="960135" y="3154807"/>
            <a:ext cx="868800" cy="274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200"/>
              <a:buFont typeface="Courier New"/>
              <a:buNone/>
            </a:pPr>
            <a:r>
              <a:rPr lang="en-US" sz="1200" b="1">
                <a:solidFill>
                  <a:schemeClr val="accent1"/>
                </a:solidFill>
                <a:latin typeface="Courier New"/>
                <a:ea typeface="Courier New"/>
                <a:cs typeface="Courier New"/>
                <a:sym typeface="Courier New"/>
              </a:rPr>
              <a:t>3.6</a:t>
            </a:r>
            <a:endParaRPr sz="1200" b="0" i="0" u="none" strike="noStrike" cap="none">
              <a:solidFill>
                <a:schemeClr val="dk1"/>
              </a:solidFill>
              <a:latin typeface="Calibri"/>
              <a:ea typeface="Calibri"/>
              <a:cs typeface="Calibri"/>
              <a:sym typeface="Calibri"/>
            </a:endParaRPr>
          </a:p>
        </p:txBody>
      </p:sp>
      <p:sp>
        <p:nvSpPr>
          <p:cNvPr id="600" name="Google Shape;600;h63c0e6991457cadf_0_501"/>
          <p:cNvSpPr txBox="1"/>
          <p:nvPr/>
        </p:nvSpPr>
        <p:spPr>
          <a:xfrm>
            <a:off x="1828790" y="3131850"/>
            <a:ext cx="3931800" cy="32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500"/>
              <a:buFont typeface="Calibri"/>
              <a:buNone/>
            </a:pPr>
            <a:r>
              <a:rPr lang="en-US" sz="1500" b="1">
                <a:solidFill>
                  <a:schemeClr val="lt1"/>
                </a:solidFill>
                <a:latin typeface="Calibri"/>
                <a:ea typeface="Calibri"/>
                <a:cs typeface="Calibri"/>
                <a:sym typeface="Calibri"/>
              </a:rPr>
              <a:t>Next Lexicographically Bigger String</a:t>
            </a:r>
            <a:endParaRPr sz="1500" b="0" i="0" u="none" strike="noStrike" cap="none">
              <a:solidFill>
                <a:schemeClr val="dk1"/>
              </a:solidFill>
              <a:latin typeface="Calibri"/>
              <a:ea typeface="Calibri"/>
              <a:cs typeface="Calibri"/>
              <a:sym typeface="Calibri"/>
            </a:endParaRPr>
          </a:p>
        </p:txBody>
      </p:sp>
      <p:sp>
        <p:nvSpPr>
          <p:cNvPr id="601" name="Google Shape;601;h63c0e6991457cadf_0_501"/>
          <p:cNvSpPr/>
          <p:nvPr/>
        </p:nvSpPr>
        <p:spPr>
          <a:xfrm>
            <a:off x="566825" y="4526275"/>
            <a:ext cx="10908900" cy="1326000"/>
          </a:xfrm>
          <a:prstGeom prst="roundRect">
            <a:avLst>
              <a:gd name="adj" fmla="val 4000"/>
            </a:avLst>
          </a:prstGeom>
          <a:solidFill>
            <a:srgbClr val="232640"/>
          </a:solidFill>
          <a:ln w="12700" cap="flat" cmpd="sng">
            <a:solidFill>
              <a:srgbClr val="343858"/>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602" name="Google Shape;602;h63c0e6991457cadf_0_501"/>
          <p:cNvSpPr txBox="1"/>
          <p:nvPr/>
        </p:nvSpPr>
        <p:spPr>
          <a:xfrm>
            <a:off x="1024128" y="4754880"/>
            <a:ext cx="8229600" cy="169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1" i="0">
                <a:solidFill>
                  <a:srgbClr val="FF6B35"/>
                </a:solidFill>
                <a:latin typeface="Calibri"/>
                <a:ea typeface="Calibri"/>
                <a:cs typeface="Calibri"/>
                <a:sym typeface="Calibri"/>
              </a:rPr>
              <a:t>NEXT WORKSHOP</a:t>
            </a:r>
            <a:endParaRPr/>
          </a:p>
        </p:txBody>
      </p:sp>
      <p:sp>
        <p:nvSpPr>
          <p:cNvPr id="603" name="Google Shape;603;h63c0e6991457cadf_0_501"/>
          <p:cNvSpPr txBox="1"/>
          <p:nvPr/>
        </p:nvSpPr>
        <p:spPr>
          <a:xfrm>
            <a:off x="1024128" y="5047488"/>
            <a:ext cx="10058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a:solidFill>
                  <a:srgbClr val="FFFFFF"/>
                </a:solidFill>
              </a:rPr>
              <a:t>Hash Tables</a:t>
            </a:r>
            <a:endParaRPr/>
          </a:p>
        </p:txBody>
      </p:sp>
      <p:sp>
        <p:nvSpPr>
          <p:cNvPr id="604" name="Google Shape;604;h63c0e6991457cadf_0_501"/>
          <p:cNvSpPr txBox="1"/>
          <p:nvPr/>
        </p:nvSpPr>
        <p:spPr>
          <a:xfrm>
            <a:off x="1024128" y="5468112"/>
            <a:ext cx="100584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a:solidFill>
                  <a:srgbClr val="BEC3D8"/>
                </a:solidFill>
                <a:latin typeface="Calibri"/>
                <a:ea typeface="Calibri"/>
                <a:cs typeface="Calibri"/>
                <a:sym typeface="Calibri"/>
              </a:rPr>
              <a:t>Same format, built on everything you did today. Come with the </a:t>
            </a:r>
            <a:r>
              <a:rPr lang="en-US" sz="1350">
                <a:solidFill>
                  <a:srgbClr val="BEC3D8"/>
                </a:solidFill>
                <a:latin typeface="Calibri"/>
                <a:ea typeface="Calibri"/>
                <a:cs typeface="Calibri"/>
                <a:sym typeface="Calibri"/>
              </a:rPr>
              <a:t>three </a:t>
            </a:r>
            <a:r>
              <a:rPr lang="en-US" sz="1350" b="0" i="0">
                <a:solidFill>
                  <a:srgbClr val="BEC3D8"/>
                </a:solidFill>
                <a:latin typeface="Calibri"/>
                <a:ea typeface="Calibri"/>
                <a:cs typeface="Calibri"/>
                <a:sym typeface="Calibri"/>
              </a:rPr>
              <a:t> problems above attempted.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23"/>
          <p:cNvSpPr txBox="1">
            <a:spLocks noGrp="1"/>
          </p:cNvSpPr>
          <p:nvPr>
            <p:ph type="title"/>
          </p:nvPr>
        </p:nvSpPr>
        <p:spPr>
          <a:xfrm>
            <a:off x="640080" y="777240"/>
            <a:ext cx="10908792" cy="64008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200"/>
              <a:buFont typeface="Arial"/>
              <a:buNone/>
            </a:pPr>
            <a:r>
              <a:rPr lang="en-US"/>
              <a:t>Resources:</a:t>
            </a:r>
            <a:endParaRPr/>
          </a:p>
        </p:txBody>
      </p:sp>
      <p:sp>
        <p:nvSpPr>
          <p:cNvPr id="611" name="Google Shape;611;p23"/>
          <p:cNvSpPr txBox="1"/>
          <p:nvPr/>
        </p:nvSpPr>
        <p:spPr>
          <a:xfrm>
            <a:off x="645160" y="1422400"/>
            <a:ext cx="104241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https://realpython.com/python-strings/</a:t>
            </a:r>
            <a:endParaRPr sz="1800">
              <a:solidFill>
                <a:schemeClr val="lt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trings Module">
  <a:themeElements>
    <a:clrScheme name="Strings Module">
      <a:dk1>
        <a:srgbClr val="1F2333"/>
      </a:dk1>
      <a:lt1>
        <a:srgbClr val="FFFFFF"/>
      </a:lt1>
      <a:dk2>
        <a:srgbClr val="1B1E33"/>
      </a:dk2>
      <a:lt2>
        <a:srgbClr val="F6F7FB"/>
      </a:lt2>
      <a:accent1>
        <a:srgbClr val="FF6B35"/>
      </a:accent1>
      <a:accent2>
        <a:srgbClr val="2A9D8F"/>
      </a:accent2>
      <a:accent3>
        <a:srgbClr val="B3441F"/>
      </a:accent3>
      <a:accent4>
        <a:srgbClr val="8E94AE"/>
      </a:accent4>
      <a:accent5>
        <a:srgbClr val="5A6072"/>
      </a:accent5>
      <a:accent6>
        <a:srgbClr val="232640"/>
      </a:accent6>
      <a:hlink>
        <a:srgbClr val="FF6B35"/>
      </a:hlink>
      <a:folHlink>
        <a:srgbClr val="8E94A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4878</Words>
  <Application>Microsoft Office PowerPoint</Application>
  <PresentationFormat>Widescreen</PresentationFormat>
  <Paragraphs>560</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Strings Module</vt:lpstr>
      <vt:lpstr>Strings</vt:lpstr>
      <vt:lpstr>What we will cover</vt:lpstr>
      <vt:lpstr>What is a string?</vt:lpstr>
      <vt:lpstr>Strings cannot be changed in place</vt:lpstr>
      <vt:lpstr>Indexing and slicing</vt:lpstr>
      <vt:lpstr>String operations and time complexity</vt:lpstr>
      <vt:lpstr>PowerPoint Presentation</vt:lpstr>
      <vt:lpstr>PowerPoint Presentation</vt:lpstr>
      <vt:lpstr>Important functions</vt:lpstr>
      <vt:lpstr>Worked example: 3.2 Valid Palindrome</vt:lpstr>
      <vt:lpstr>Worked example: 3.2 Valid Palindrome</vt:lpstr>
      <vt:lpstr>Worked example: 3.2 Valid Palindrome</vt:lpstr>
      <vt:lpstr>Worked example: 3.5 Multiply Complex Numbers</vt:lpstr>
      <vt:lpstr>Worked example: 3.5 Multiply Complex Numbers</vt:lpstr>
      <vt:lpstr>Worked example: 3.5 Multiply Complex Numbers</vt:lpstr>
      <vt:lpstr>Worked example: 3.5 Smallest Matching Substring</vt:lpstr>
      <vt:lpstr>Worked example: 3.5 Smallest Matching Substring</vt:lpstr>
      <vt:lpstr>Worked example: 3.5 Smallest Matching Substring</vt:lpstr>
      <vt:lpstr>What to remember</vt:lpstr>
      <vt:lpstr>Where to go from here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Strings module</dc:creator>
  <cp:lastModifiedBy>Gomez, Isabelle L.</cp:lastModifiedBy>
  <cp:revision>245</cp:revision>
  <dcterms:created xsi:type="dcterms:W3CDTF">2026-10-12T02:09:40Z</dcterms:created>
  <dcterms:modified xsi:type="dcterms:W3CDTF">2026-10-21T14:23:57Z</dcterms:modified>
</cp:coreProperties>
</file>