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12192000"/>
  <p:embeddedFontLst>
    <p:embeddedFont>
      <p:font typeface="Roboto Mon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jN+jgiug0xjhy+EINBp/PF27ya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9FD2483-71B1-4EF4-80CE-BD7A565EAD4B}">
  <a:tblStyle styleId="{19FD2483-71B1-4EF4-80CE-BD7A565EAD4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Mono-regular.fntdata"/><Relationship Id="rId21" Type="http://schemas.openxmlformats.org/officeDocument/2006/relationships/slide" Target="slides/slide16.xml"/><Relationship Id="rId24" Type="http://schemas.openxmlformats.org/officeDocument/2006/relationships/font" Target="fonts/RobotoMono-italic.fntdata"/><Relationship Id="rId23" Type="http://schemas.openxmlformats.org/officeDocument/2006/relationships/font" Target="fonts/RobotoMon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F2333"/>
                </a:solidFill>
                <a:latin typeface="Arial"/>
              </a:defRPr>
            </a:pPr>
            <a:r>
              <a:rPr lang="en-US" sz="1300" b="0" i="0" u="none" strike="noStrike">
                <a:solidFill>
                  <a:srgbClr val="1F2333"/>
                </a:solidFill>
                <a:latin typeface="Arial"/>
              </a:rPr>
              <a:t>Work as the input grows</a:t>
            </a:r>
          </a:p>
        </c:rich>
      </c:tx>
      <c:overlay val="0"/>
    </c:title>
    <c:autoTitleDeleted val="0"/>
    <c:plotArea>
      <c:layout/>
      <c:lineChart>
        <c:grouping val="standard"/>
        <c:varyColors val="0"/>
        <c:ser>
          <c:idx val="0"/>
          <c:order val="0"/>
          <c:tx>
            <c:strRef>
              <c:f>Sheet1!$B$1</c:f>
              <c:strCache>
                <c:ptCount val="1"/>
                <c:pt idx="0">
                  <c:v>O(1)</c:v>
                </c:pt>
              </c:strCache>
            </c:strRef>
          </c:tx>
          <c:spPr>
            <a:ln w="38100" cap="flat">
              <a:solidFill>
                <a:srgbClr val="2A9D8F"/>
              </a:solidFill>
              <a:prstDash val="solid"/>
              <a:round/>
            </a:ln>
            <a:effectLst/>
          </c:spPr>
          <c:marker>
            <c:symbol val="none"/>
          </c:marker>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1</c:v>
                </c:pt>
                <c:pt idx="1">
                  <c:v>1</c:v>
                </c:pt>
                <c:pt idx="2">
                  <c:v>1</c:v>
                </c:pt>
                <c:pt idx="3">
                  <c:v>1</c:v>
                </c:pt>
                <c:pt idx="4">
                  <c:v>1</c:v>
                </c:pt>
                <c:pt idx="5">
                  <c:v>1</c:v>
                </c:pt>
                <c:pt idx="6">
                  <c:v>1</c:v>
                </c:pt>
                <c:pt idx="7">
                  <c:v>1</c:v>
                </c:pt>
              </c:numCache>
            </c:numRef>
          </c:val>
          <c:smooth val="0"/>
          <c:extLst>
            <c:ext xmlns:c16="http://schemas.microsoft.com/office/drawing/2014/chart" uri="{C3380CC4-5D6E-409C-BE32-E72D297353CC}">
              <c16:uniqueId val="{00000000-F9C6-F24A-9092-5589E66E3844}"/>
            </c:ext>
          </c:extLst>
        </c:ser>
        <c:ser>
          <c:idx val="1"/>
          <c:order val="1"/>
          <c:tx>
            <c:strRef>
              <c:f>Sheet1!$C$1</c:f>
              <c:strCache>
                <c:ptCount val="1"/>
                <c:pt idx="0">
                  <c:v>O(n)</c:v>
                </c:pt>
              </c:strCache>
            </c:strRef>
          </c:tx>
          <c:spPr>
            <a:ln w="38100" cap="flat">
              <a:solidFill>
                <a:srgbClr val="FF6B35"/>
              </a:solidFill>
              <a:prstDash val="solid"/>
              <a:round/>
            </a:ln>
            <a:effectLst/>
          </c:spPr>
          <c:marker>
            <c:symbol val="none"/>
          </c:marker>
          <c:cat>
            <c:strRef>
              <c:f>Sheet1!$A$2:$A$9</c:f>
              <c:strCache>
                <c:ptCount val="8"/>
                <c:pt idx="0">
                  <c:v>1</c:v>
                </c:pt>
                <c:pt idx="1">
                  <c:v>2</c:v>
                </c:pt>
                <c:pt idx="2">
                  <c:v>3</c:v>
                </c:pt>
                <c:pt idx="3">
                  <c:v>4</c:v>
                </c:pt>
                <c:pt idx="4">
                  <c:v>5</c:v>
                </c:pt>
                <c:pt idx="5">
                  <c:v>6</c:v>
                </c:pt>
                <c:pt idx="6">
                  <c:v>7</c:v>
                </c:pt>
                <c:pt idx="7">
                  <c:v>8</c:v>
                </c:pt>
              </c:strCache>
            </c:strRef>
          </c:cat>
          <c:val>
            <c:numRef>
              <c:f>Sheet1!$C$2:$C$9</c:f>
              <c:numCache>
                <c:formatCode>General</c:formatCode>
                <c:ptCount val="8"/>
                <c:pt idx="0">
                  <c:v>1</c:v>
                </c:pt>
                <c:pt idx="1">
                  <c:v>2</c:v>
                </c:pt>
                <c:pt idx="2">
                  <c:v>3</c:v>
                </c:pt>
                <c:pt idx="3">
                  <c:v>4</c:v>
                </c:pt>
                <c:pt idx="4">
                  <c:v>5</c:v>
                </c:pt>
                <c:pt idx="5">
                  <c:v>6</c:v>
                </c:pt>
                <c:pt idx="6">
                  <c:v>7</c:v>
                </c:pt>
                <c:pt idx="7">
                  <c:v>8</c:v>
                </c:pt>
              </c:numCache>
            </c:numRef>
          </c:val>
          <c:smooth val="0"/>
          <c:extLst>
            <c:ext xmlns:c16="http://schemas.microsoft.com/office/drawing/2014/chart" uri="{C3380CC4-5D6E-409C-BE32-E72D297353CC}">
              <c16:uniqueId val="{00000001-F9C6-F24A-9092-5589E66E3844}"/>
            </c:ext>
          </c:extLst>
        </c:ser>
        <c:ser>
          <c:idx val="2"/>
          <c:order val="2"/>
          <c:tx>
            <c:strRef>
              <c:f>Sheet1!$D$1</c:f>
              <c:strCache>
                <c:ptCount val="1"/>
                <c:pt idx="0">
                  <c:v>O(n²)</c:v>
                </c:pt>
              </c:strCache>
            </c:strRef>
          </c:tx>
          <c:spPr>
            <a:ln w="38100" cap="flat">
              <a:solidFill>
                <a:srgbClr val="E05252"/>
              </a:solidFill>
              <a:prstDash val="solid"/>
              <a:round/>
            </a:ln>
            <a:effectLst/>
          </c:spPr>
          <c:marker>
            <c:symbol val="none"/>
          </c:marker>
          <c:cat>
            <c:strRef>
              <c:f>Sheet1!$A$2:$A$9</c:f>
              <c:strCache>
                <c:ptCount val="8"/>
                <c:pt idx="0">
                  <c:v>1</c:v>
                </c:pt>
                <c:pt idx="1">
                  <c:v>2</c:v>
                </c:pt>
                <c:pt idx="2">
                  <c:v>3</c:v>
                </c:pt>
                <c:pt idx="3">
                  <c:v>4</c:v>
                </c:pt>
                <c:pt idx="4">
                  <c:v>5</c:v>
                </c:pt>
                <c:pt idx="5">
                  <c:v>6</c:v>
                </c:pt>
                <c:pt idx="6">
                  <c:v>7</c:v>
                </c:pt>
                <c:pt idx="7">
                  <c:v>8</c:v>
                </c:pt>
              </c:strCache>
            </c:strRef>
          </c:cat>
          <c:val>
            <c:numRef>
              <c:f>Sheet1!$D$2:$D$9</c:f>
              <c:numCache>
                <c:formatCode>General</c:formatCode>
                <c:ptCount val="8"/>
                <c:pt idx="0">
                  <c:v>1</c:v>
                </c:pt>
                <c:pt idx="1">
                  <c:v>4</c:v>
                </c:pt>
                <c:pt idx="2">
                  <c:v>9</c:v>
                </c:pt>
                <c:pt idx="3">
                  <c:v>16</c:v>
                </c:pt>
                <c:pt idx="4">
                  <c:v>25</c:v>
                </c:pt>
                <c:pt idx="5">
                  <c:v>36</c:v>
                </c:pt>
                <c:pt idx="6">
                  <c:v>49</c:v>
                </c:pt>
                <c:pt idx="7">
                  <c:v>64</c:v>
                </c:pt>
              </c:numCache>
            </c:numRef>
          </c:val>
          <c:smooth val="0"/>
          <c:extLst>
            <c:ext xmlns:c16="http://schemas.microsoft.com/office/drawing/2014/chart" uri="{C3380CC4-5D6E-409C-BE32-E72D297353CC}">
              <c16:uniqueId val="{00000002-F9C6-F24A-9092-5589E66E3844}"/>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00" b="0" i="0" u="none" strike="noStrike">
                    <a:solidFill>
                      <a:srgbClr val="5A6072"/>
                    </a:solidFill>
                    <a:latin typeface="Arial"/>
                  </a:defRPr>
                </a:pPr>
                <a:r>
                  <a:rPr lang="en-US" sz="1000" b="0" i="0" u="none" strike="noStrike">
                    <a:solidFill>
                      <a:srgbClr val="5A6072"/>
                    </a:solidFill>
                    <a:latin typeface="Arial"/>
                  </a:rPr>
                  <a:t>input size 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07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6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072"/>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100">
              <a:solidFill>
                <a:srgbClr val="5A6072"/>
              </a:solidFill>
            </a:defRPr>
          </a:pPr>
          <a:endParaRPr lang="en-US"/>
        </a:p>
      </c:txPr>
    </c:legend>
    <c:plotVisOnly val="1"/>
    <c:dispBlanksAs val="span"/>
    <c:showDLblsOverMax val="1"/>
  </c:chart>
  <c:spPr>
    <a:solidFill>
      <a:srgbClr val="FFFFFF"/>
    </a:solidFill>
    <a:ln w="12700" cap="flat">
      <a:solidFill>
        <a:srgbClr val="DDE1EC"/>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hyperlink" Target="http://www.youtube.com/watch?v=qgnDbQ1aM54" TargetMode="Externa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hyperlink" Target="http://www.youtube.com/watch?v=qgnDbQ1aM54" TargetMode="External"/><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hyperlink" Target="http://www.youtube.com/watch?v=qgnDbQ1aM54" TargetMode="External"/><Relationship Id="rId4"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2B"/>
        </a:solidFill>
      </p:bgPr>
    </p:bg>
    <p:spTree>
      <p:nvGrpSpPr>
        <p:cNvPr id="11" name="Shape 11"/>
        <p:cNvGrpSpPr/>
        <p:nvPr/>
      </p:nvGrpSpPr>
      <p:grpSpPr>
        <a:xfrm>
          <a:off x="0" y="0"/>
          <a:ext cx="0" cy="0"/>
          <a:chOff x="0" y="0"/>
          <a:chExt cx="0" cy="0"/>
        </a:xfrm>
      </p:grpSpPr>
      <p:sp>
        <p:nvSpPr>
          <p:cNvPr id="12" name="Google Shape;12;p1"/>
          <p:cNvSpPr txBox="1"/>
          <p:nvPr/>
        </p:nvSpPr>
        <p:spPr>
          <a:xfrm>
            <a:off x="788855" y="1243584"/>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300"/>
              <a:buFont typeface="Calibri"/>
              <a:buNone/>
            </a:pPr>
            <a:r>
              <a:rPr b="1" i="0" lang="en-US" sz="1300" u="none" cap="none" strike="noStrike">
                <a:solidFill>
                  <a:srgbClr val="FF6B35"/>
                </a:solidFill>
                <a:latin typeface="Calibri"/>
                <a:ea typeface="Calibri"/>
                <a:cs typeface="Calibri"/>
                <a:sym typeface="Calibri"/>
              </a:rPr>
              <a:t>TECHNICAL INTERVIEW 101   //   MODULE 1   //   ARRAYS</a:t>
            </a:r>
            <a:endParaRPr b="0" i="0" sz="1300" u="none" cap="none" strike="noStrike">
              <a:solidFill>
                <a:schemeClr val="dk1"/>
              </a:solidFill>
              <a:latin typeface="Calibri"/>
              <a:ea typeface="Calibri"/>
              <a:cs typeface="Calibri"/>
              <a:sym typeface="Calibri"/>
            </a:endParaRPr>
          </a:p>
        </p:txBody>
      </p:sp>
      <p:sp>
        <p:nvSpPr>
          <p:cNvPr id="13" name="Google Shape;13;p1"/>
          <p:cNvSpPr txBox="1"/>
          <p:nvPr/>
        </p:nvSpPr>
        <p:spPr>
          <a:xfrm>
            <a:off x="777240" y="1600200"/>
            <a:ext cx="82296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000"/>
              <a:buFont typeface="Arial"/>
              <a:buNone/>
            </a:pPr>
            <a:r>
              <a:rPr b="1" i="0" lang="en-US" sz="6000" u="none" cap="none" strike="noStrike">
                <a:solidFill>
                  <a:srgbClr val="FFFFFF"/>
                </a:solidFill>
                <a:latin typeface="Arial"/>
                <a:ea typeface="Arial"/>
                <a:cs typeface="Arial"/>
                <a:sym typeface="Arial"/>
              </a:rPr>
              <a:t>Arrays</a:t>
            </a:r>
            <a:endParaRPr b="0" i="0" sz="6000" u="none" cap="none" strike="noStrike">
              <a:solidFill>
                <a:schemeClr val="dk1"/>
              </a:solidFill>
              <a:latin typeface="Calibri"/>
              <a:ea typeface="Calibri"/>
              <a:cs typeface="Calibri"/>
              <a:sym typeface="Calibri"/>
            </a:endParaRPr>
          </a:p>
        </p:txBody>
      </p:sp>
      <p:sp>
        <p:nvSpPr>
          <p:cNvPr id="14" name="Google Shape;14;p1"/>
          <p:cNvSpPr txBox="1"/>
          <p:nvPr/>
        </p:nvSpPr>
        <p:spPr>
          <a:xfrm>
            <a:off x="822960" y="2788920"/>
            <a:ext cx="8686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CCDC"/>
              </a:buClr>
              <a:buSzPts val="1900"/>
              <a:buFont typeface="Calibri"/>
              <a:buNone/>
            </a:pPr>
            <a:r>
              <a:rPr b="0" i="0" lang="en-US" sz="1900" u="none" cap="none" strike="noStrike">
                <a:solidFill>
                  <a:srgbClr val="C8CCDC"/>
                </a:solidFill>
                <a:latin typeface="Calibri"/>
                <a:ea typeface="Calibri"/>
                <a:cs typeface="Calibri"/>
                <a:sym typeface="Calibri"/>
              </a:rPr>
              <a:t>The data structure every coding interview starts with</a:t>
            </a:r>
            <a:endParaRPr b="0" i="0" sz="1900" u="none" cap="none" strike="noStrike">
              <a:solidFill>
                <a:schemeClr val="dk1"/>
              </a:solidFill>
              <a:latin typeface="Calibri"/>
              <a:ea typeface="Calibri"/>
              <a:cs typeface="Calibri"/>
              <a:sym typeface="Calibri"/>
            </a:endParaRPr>
          </a:p>
        </p:txBody>
      </p:sp>
      <p:sp>
        <p:nvSpPr>
          <p:cNvPr id="15" name="Google Shape;15;p1"/>
          <p:cNvSpPr/>
          <p:nvPr/>
        </p:nvSpPr>
        <p:spPr>
          <a:xfrm>
            <a:off x="822960" y="4114800"/>
            <a:ext cx="713232" cy="603504"/>
          </a:xfrm>
          <a:prstGeom prst="roundRect">
            <a:avLst>
              <a:gd fmla="val 10606" name="adj"/>
            </a:avLst>
          </a:prstGeom>
          <a:solidFill>
            <a:srgbClr val="232640"/>
          </a:solidFill>
          <a:ln cap="flat" cmpd="sng" w="12700">
            <a:solidFill>
              <a:srgbClr val="3A3F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1"/>
          <p:cNvSpPr txBox="1"/>
          <p:nvPr/>
        </p:nvSpPr>
        <p:spPr>
          <a:xfrm>
            <a:off x="822960" y="4114800"/>
            <a:ext cx="713232"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AF6"/>
              </a:buClr>
              <a:buSzPts val="1600"/>
              <a:buFont typeface="Calibri"/>
              <a:buNone/>
            </a:pPr>
            <a:r>
              <a:rPr b="1" lang="en-US" sz="1600">
                <a:solidFill>
                  <a:srgbClr val="E8EAF6"/>
                </a:solidFill>
                <a:latin typeface="Calibri"/>
                <a:ea typeface="Calibri"/>
                <a:cs typeface="Calibri"/>
                <a:sym typeface="Calibri"/>
              </a:rPr>
              <a:t>3</a:t>
            </a:r>
            <a:endParaRPr sz="1600">
              <a:solidFill>
                <a:schemeClr val="dk1"/>
              </a:solidFill>
              <a:latin typeface="Calibri"/>
              <a:ea typeface="Calibri"/>
              <a:cs typeface="Calibri"/>
              <a:sym typeface="Calibri"/>
            </a:endParaRPr>
          </a:p>
        </p:txBody>
      </p:sp>
      <p:sp>
        <p:nvSpPr>
          <p:cNvPr id="17" name="Google Shape;17;p1"/>
          <p:cNvSpPr txBox="1"/>
          <p:nvPr/>
        </p:nvSpPr>
        <p:spPr>
          <a:xfrm>
            <a:off x="822960" y="4754880"/>
            <a:ext cx="71323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E94AE"/>
              </a:buClr>
              <a:buSzPts val="1000"/>
              <a:buFont typeface="Courier New"/>
              <a:buNone/>
            </a:pPr>
            <a:r>
              <a:rPr lang="en-US" sz="1000">
                <a:solidFill>
                  <a:srgbClr val="8E94AE"/>
                </a:solidFill>
                <a:latin typeface="Courier New"/>
                <a:ea typeface="Courier New"/>
                <a:cs typeface="Courier New"/>
                <a:sym typeface="Courier New"/>
              </a:rPr>
              <a:t>0</a:t>
            </a:r>
            <a:endParaRPr sz="1000">
              <a:solidFill>
                <a:schemeClr val="dk1"/>
              </a:solidFill>
              <a:latin typeface="Calibri"/>
              <a:ea typeface="Calibri"/>
              <a:cs typeface="Calibri"/>
              <a:sym typeface="Calibri"/>
            </a:endParaRPr>
          </a:p>
        </p:txBody>
      </p:sp>
      <p:sp>
        <p:nvSpPr>
          <p:cNvPr id="18" name="Google Shape;18;p1"/>
          <p:cNvSpPr/>
          <p:nvPr/>
        </p:nvSpPr>
        <p:spPr>
          <a:xfrm>
            <a:off x="1627632" y="4114800"/>
            <a:ext cx="713232" cy="603504"/>
          </a:xfrm>
          <a:prstGeom prst="roundRect">
            <a:avLst>
              <a:gd fmla="val 10606" name="adj"/>
            </a:avLst>
          </a:prstGeom>
          <a:solidFill>
            <a:srgbClr val="232640"/>
          </a:solidFill>
          <a:ln cap="flat" cmpd="sng" w="12700">
            <a:solidFill>
              <a:srgbClr val="3A3F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 name="Google Shape;19;p1"/>
          <p:cNvSpPr txBox="1"/>
          <p:nvPr/>
        </p:nvSpPr>
        <p:spPr>
          <a:xfrm>
            <a:off x="1627632" y="4114800"/>
            <a:ext cx="713232"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AF6"/>
              </a:buClr>
              <a:buSzPts val="1600"/>
              <a:buFont typeface="Calibri"/>
              <a:buNone/>
            </a:pPr>
            <a:r>
              <a:rPr b="1" lang="en-US" sz="1600">
                <a:solidFill>
                  <a:srgbClr val="E8EAF6"/>
                </a:solidFill>
                <a:latin typeface="Calibri"/>
                <a:ea typeface="Calibri"/>
                <a:cs typeface="Calibri"/>
                <a:sym typeface="Calibri"/>
              </a:rPr>
              <a:t>1</a:t>
            </a:r>
            <a:endParaRPr sz="1600">
              <a:solidFill>
                <a:schemeClr val="dk1"/>
              </a:solidFill>
              <a:latin typeface="Calibri"/>
              <a:ea typeface="Calibri"/>
              <a:cs typeface="Calibri"/>
              <a:sym typeface="Calibri"/>
            </a:endParaRPr>
          </a:p>
        </p:txBody>
      </p:sp>
      <p:sp>
        <p:nvSpPr>
          <p:cNvPr id="20" name="Google Shape;20;p1"/>
          <p:cNvSpPr txBox="1"/>
          <p:nvPr/>
        </p:nvSpPr>
        <p:spPr>
          <a:xfrm>
            <a:off x="1627632" y="4754880"/>
            <a:ext cx="71323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E94AE"/>
              </a:buClr>
              <a:buSzPts val="1000"/>
              <a:buFont typeface="Courier New"/>
              <a:buNone/>
            </a:pPr>
            <a:r>
              <a:rPr lang="en-US" sz="1000">
                <a:solidFill>
                  <a:srgbClr val="8E94AE"/>
                </a:solidFill>
                <a:latin typeface="Courier New"/>
                <a:ea typeface="Courier New"/>
                <a:cs typeface="Courier New"/>
                <a:sym typeface="Courier New"/>
              </a:rPr>
              <a:t>1</a:t>
            </a:r>
            <a:endParaRPr sz="1000">
              <a:solidFill>
                <a:schemeClr val="dk1"/>
              </a:solidFill>
              <a:latin typeface="Calibri"/>
              <a:ea typeface="Calibri"/>
              <a:cs typeface="Calibri"/>
              <a:sym typeface="Calibri"/>
            </a:endParaRPr>
          </a:p>
        </p:txBody>
      </p:sp>
      <p:sp>
        <p:nvSpPr>
          <p:cNvPr id="21" name="Google Shape;21;p1"/>
          <p:cNvSpPr/>
          <p:nvPr/>
        </p:nvSpPr>
        <p:spPr>
          <a:xfrm>
            <a:off x="2432304" y="4114800"/>
            <a:ext cx="713232" cy="603504"/>
          </a:xfrm>
          <a:prstGeom prst="roundRect">
            <a:avLst>
              <a:gd fmla="val 10606" name="adj"/>
            </a:avLst>
          </a:prstGeom>
          <a:solidFill>
            <a:srgbClr val="232640"/>
          </a:solidFill>
          <a:ln cap="flat" cmpd="sng" w="12700">
            <a:solidFill>
              <a:srgbClr val="3A3F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1"/>
          <p:cNvSpPr txBox="1"/>
          <p:nvPr/>
        </p:nvSpPr>
        <p:spPr>
          <a:xfrm>
            <a:off x="2432304" y="4114800"/>
            <a:ext cx="713232"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AF6"/>
              </a:buClr>
              <a:buSzPts val="1600"/>
              <a:buFont typeface="Calibri"/>
              <a:buNone/>
            </a:pPr>
            <a:r>
              <a:rPr b="1" lang="en-US" sz="1600">
                <a:solidFill>
                  <a:srgbClr val="E8EAF6"/>
                </a:solidFill>
                <a:latin typeface="Calibri"/>
                <a:ea typeface="Calibri"/>
                <a:cs typeface="Calibri"/>
                <a:sym typeface="Calibri"/>
              </a:rPr>
              <a:t>4</a:t>
            </a:r>
            <a:endParaRPr sz="1600">
              <a:solidFill>
                <a:schemeClr val="dk1"/>
              </a:solidFill>
              <a:latin typeface="Calibri"/>
              <a:ea typeface="Calibri"/>
              <a:cs typeface="Calibri"/>
              <a:sym typeface="Calibri"/>
            </a:endParaRPr>
          </a:p>
        </p:txBody>
      </p:sp>
      <p:sp>
        <p:nvSpPr>
          <p:cNvPr id="23" name="Google Shape;23;p1"/>
          <p:cNvSpPr txBox="1"/>
          <p:nvPr/>
        </p:nvSpPr>
        <p:spPr>
          <a:xfrm>
            <a:off x="2432304" y="4754880"/>
            <a:ext cx="71323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E94AE"/>
              </a:buClr>
              <a:buSzPts val="1000"/>
              <a:buFont typeface="Courier New"/>
              <a:buNone/>
            </a:pPr>
            <a:r>
              <a:rPr lang="en-US" sz="1000">
                <a:solidFill>
                  <a:srgbClr val="8E94AE"/>
                </a:solidFill>
                <a:latin typeface="Courier New"/>
                <a:ea typeface="Courier New"/>
                <a:cs typeface="Courier New"/>
                <a:sym typeface="Courier New"/>
              </a:rPr>
              <a:t>2</a:t>
            </a:r>
            <a:endParaRPr sz="1000">
              <a:solidFill>
                <a:schemeClr val="dk1"/>
              </a:solidFill>
              <a:latin typeface="Calibri"/>
              <a:ea typeface="Calibri"/>
              <a:cs typeface="Calibri"/>
              <a:sym typeface="Calibri"/>
            </a:endParaRPr>
          </a:p>
        </p:txBody>
      </p:sp>
      <p:sp>
        <p:nvSpPr>
          <p:cNvPr id="24" name="Google Shape;24;p1"/>
          <p:cNvSpPr/>
          <p:nvPr/>
        </p:nvSpPr>
        <p:spPr>
          <a:xfrm>
            <a:off x="3236976" y="4114800"/>
            <a:ext cx="713232" cy="603504"/>
          </a:xfrm>
          <a:prstGeom prst="roundRect">
            <a:avLst>
              <a:gd fmla="val 10606" name="adj"/>
            </a:avLst>
          </a:prstGeom>
          <a:solidFill>
            <a:srgbClr val="232640"/>
          </a:solidFill>
          <a:ln cap="flat" cmpd="sng" w="12700">
            <a:solidFill>
              <a:srgbClr val="3A3F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 name="Google Shape;25;p1"/>
          <p:cNvSpPr txBox="1"/>
          <p:nvPr/>
        </p:nvSpPr>
        <p:spPr>
          <a:xfrm>
            <a:off x="3236976" y="4114800"/>
            <a:ext cx="713232"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AF6"/>
              </a:buClr>
              <a:buSzPts val="1600"/>
              <a:buFont typeface="Calibri"/>
              <a:buNone/>
            </a:pPr>
            <a:r>
              <a:rPr b="1" lang="en-US" sz="1600">
                <a:solidFill>
                  <a:srgbClr val="E8EAF6"/>
                </a:solidFill>
                <a:latin typeface="Calibri"/>
                <a:ea typeface="Calibri"/>
                <a:cs typeface="Calibri"/>
                <a:sym typeface="Calibri"/>
              </a:rPr>
              <a:t>1</a:t>
            </a:r>
            <a:endParaRPr sz="1600">
              <a:solidFill>
                <a:schemeClr val="dk1"/>
              </a:solidFill>
              <a:latin typeface="Calibri"/>
              <a:ea typeface="Calibri"/>
              <a:cs typeface="Calibri"/>
              <a:sym typeface="Calibri"/>
            </a:endParaRPr>
          </a:p>
        </p:txBody>
      </p:sp>
      <p:sp>
        <p:nvSpPr>
          <p:cNvPr id="26" name="Google Shape;26;p1"/>
          <p:cNvSpPr txBox="1"/>
          <p:nvPr/>
        </p:nvSpPr>
        <p:spPr>
          <a:xfrm>
            <a:off x="3236976" y="4754880"/>
            <a:ext cx="71323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E94AE"/>
              </a:buClr>
              <a:buSzPts val="1000"/>
              <a:buFont typeface="Courier New"/>
              <a:buNone/>
            </a:pPr>
            <a:r>
              <a:rPr lang="en-US" sz="1000">
                <a:solidFill>
                  <a:srgbClr val="8E94AE"/>
                </a:solidFill>
                <a:latin typeface="Courier New"/>
                <a:ea typeface="Courier New"/>
                <a:cs typeface="Courier New"/>
                <a:sym typeface="Courier New"/>
              </a:rPr>
              <a:t>3</a:t>
            </a:r>
            <a:endParaRPr sz="1000">
              <a:solidFill>
                <a:schemeClr val="dk1"/>
              </a:solidFill>
              <a:latin typeface="Calibri"/>
              <a:ea typeface="Calibri"/>
              <a:cs typeface="Calibri"/>
              <a:sym typeface="Calibri"/>
            </a:endParaRPr>
          </a:p>
        </p:txBody>
      </p:sp>
      <p:sp>
        <p:nvSpPr>
          <p:cNvPr id="27" name="Google Shape;27;p1"/>
          <p:cNvSpPr/>
          <p:nvPr/>
        </p:nvSpPr>
        <p:spPr>
          <a:xfrm>
            <a:off x="4041648" y="4114800"/>
            <a:ext cx="713232" cy="603504"/>
          </a:xfrm>
          <a:prstGeom prst="roundRect">
            <a:avLst>
              <a:gd fmla="val 10606" name="adj"/>
            </a:avLst>
          </a:prstGeom>
          <a:solidFill>
            <a:srgbClr val="FF6B35"/>
          </a:solidFill>
          <a:ln cap="flat" cmpd="sng" w="12700">
            <a:solidFill>
              <a:srgbClr val="FF6B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 name="Google Shape;28;p1"/>
          <p:cNvSpPr txBox="1"/>
          <p:nvPr/>
        </p:nvSpPr>
        <p:spPr>
          <a:xfrm>
            <a:off x="4041648" y="4114800"/>
            <a:ext cx="713232"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5</a:t>
            </a:r>
            <a:endParaRPr sz="1600">
              <a:solidFill>
                <a:schemeClr val="dk1"/>
              </a:solidFill>
              <a:latin typeface="Calibri"/>
              <a:ea typeface="Calibri"/>
              <a:cs typeface="Calibri"/>
              <a:sym typeface="Calibri"/>
            </a:endParaRPr>
          </a:p>
        </p:txBody>
      </p:sp>
      <p:sp>
        <p:nvSpPr>
          <p:cNvPr id="29" name="Google Shape;29;p1"/>
          <p:cNvSpPr txBox="1"/>
          <p:nvPr/>
        </p:nvSpPr>
        <p:spPr>
          <a:xfrm>
            <a:off x="4041648" y="4754880"/>
            <a:ext cx="71323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E94AE"/>
              </a:buClr>
              <a:buSzPts val="1000"/>
              <a:buFont typeface="Courier New"/>
              <a:buNone/>
            </a:pPr>
            <a:r>
              <a:rPr lang="en-US" sz="1000">
                <a:solidFill>
                  <a:srgbClr val="8E94AE"/>
                </a:solidFill>
                <a:latin typeface="Courier New"/>
                <a:ea typeface="Courier New"/>
                <a:cs typeface="Courier New"/>
                <a:sym typeface="Courier New"/>
              </a:rPr>
              <a:t>4</a:t>
            </a:r>
            <a:endParaRPr sz="1000">
              <a:solidFill>
                <a:schemeClr val="dk1"/>
              </a:solidFill>
              <a:latin typeface="Calibri"/>
              <a:ea typeface="Calibri"/>
              <a:cs typeface="Calibri"/>
              <a:sym typeface="Calibri"/>
            </a:endParaRPr>
          </a:p>
        </p:txBody>
      </p:sp>
      <p:sp>
        <p:nvSpPr>
          <p:cNvPr id="30" name="Google Shape;30;p1"/>
          <p:cNvSpPr/>
          <p:nvPr/>
        </p:nvSpPr>
        <p:spPr>
          <a:xfrm>
            <a:off x="4846320" y="4114800"/>
            <a:ext cx="713232" cy="603504"/>
          </a:xfrm>
          <a:prstGeom prst="roundRect">
            <a:avLst>
              <a:gd fmla="val 10606" name="adj"/>
            </a:avLst>
          </a:prstGeom>
          <a:solidFill>
            <a:srgbClr val="232640"/>
          </a:solidFill>
          <a:ln cap="flat" cmpd="sng" w="12700">
            <a:solidFill>
              <a:srgbClr val="3A3F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 name="Google Shape;31;p1"/>
          <p:cNvSpPr txBox="1"/>
          <p:nvPr/>
        </p:nvSpPr>
        <p:spPr>
          <a:xfrm>
            <a:off x="4846320" y="4114800"/>
            <a:ext cx="713232"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AF6"/>
              </a:buClr>
              <a:buSzPts val="1600"/>
              <a:buFont typeface="Calibri"/>
              <a:buNone/>
            </a:pPr>
            <a:r>
              <a:rPr b="1" lang="en-US" sz="1600">
                <a:solidFill>
                  <a:srgbClr val="E8EAF6"/>
                </a:solidFill>
                <a:latin typeface="Calibri"/>
                <a:ea typeface="Calibri"/>
                <a:cs typeface="Calibri"/>
                <a:sym typeface="Calibri"/>
              </a:rPr>
              <a:t>9</a:t>
            </a:r>
            <a:endParaRPr sz="1600">
              <a:solidFill>
                <a:schemeClr val="dk1"/>
              </a:solidFill>
              <a:latin typeface="Calibri"/>
              <a:ea typeface="Calibri"/>
              <a:cs typeface="Calibri"/>
              <a:sym typeface="Calibri"/>
            </a:endParaRPr>
          </a:p>
        </p:txBody>
      </p:sp>
      <p:sp>
        <p:nvSpPr>
          <p:cNvPr id="32" name="Google Shape;32;p1"/>
          <p:cNvSpPr txBox="1"/>
          <p:nvPr/>
        </p:nvSpPr>
        <p:spPr>
          <a:xfrm>
            <a:off x="4846320" y="4754880"/>
            <a:ext cx="71323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E94AE"/>
              </a:buClr>
              <a:buSzPts val="1000"/>
              <a:buFont typeface="Courier New"/>
              <a:buNone/>
            </a:pPr>
            <a:r>
              <a:rPr lang="en-US" sz="1000">
                <a:solidFill>
                  <a:srgbClr val="8E94AE"/>
                </a:solidFill>
                <a:latin typeface="Courier New"/>
                <a:ea typeface="Courier New"/>
                <a:cs typeface="Courier New"/>
                <a:sym typeface="Courier New"/>
              </a:rPr>
              <a:t>5</a:t>
            </a:r>
            <a:endParaRPr sz="1000">
              <a:solidFill>
                <a:schemeClr val="dk1"/>
              </a:solidFill>
              <a:latin typeface="Calibri"/>
              <a:ea typeface="Calibri"/>
              <a:cs typeface="Calibri"/>
              <a:sym typeface="Calibri"/>
            </a:endParaRPr>
          </a:p>
        </p:txBody>
      </p:sp>
      <p:sp>
        <p:nvSpPr>
          <p:cNvPr id="33" name="Google Shape;33;p1"/>
          <p:cNvSpPr/>
          <p:nvPr/>
        </p:nvSpPr>
        <p:spPr>
          <a:xfrm>
            <a:off x="5650992" y="4114800"/>
            <a:ext cx="713232" cy="603504"/>
          </a:xfrm>
          <a:prstGeom prst="roundRect">
            <a:avLst>
              <a:gd fmla="val 10606" name="adj"/>
            </a:avLst>
          </a:prstGeom>
          <a:solidFill>
            <a:srgbClr val="232640"/>
          </a:solidFill>
          <a:ln cap="flat" cmpd="sng" w="12700">
            <a:solidFill>
              <a:srgbClr val="3A3F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1"/>
          <p:cNvSpPr txBox="1"/>
          <p:nvPr/>
        </p:nvSpPr>
        <p:spPr>
          <a:xfrm>
            <a:off x="5650992" y="4114800"/>
            <a:ext cx="713232"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AF6"/>
              </a:buClr>
              <a:buSzPts val="1600"/>
              <a:buFont typeface="Calibri"/>
              <a:buNone/>
            </a:pPr>
            <a:r>
              <a:rPr b="1" lang="en-US" sz="1600">
                <a:solidFill>
                  <a:srgbClr val="E8EAF6"/>
                </a:solidFill>
                <a:latin typeface="Calibri"/>
                <a:ea typeface="Calibri"/>
                <a:cs typeface="Calibri"/>
                <a:sym typeface="Calibri"/>
              </a:rPr>
              <a:t>2</a:t>
            </a:r>
            <a:endParaRPr sz="1600">
              <a:solidFill>
                <a:schemeClr val="dk1"/>
              </a:solidFill>
              <a:latin typeface="Calibri"/>
              <a:ea typeface="Calibri"/>
              <a:cs typeface="Calibri"/>
              <a:sym typeface="Calibri"/>
            </a:endParaRPr>
          </a:p>
        </p:txBody>
      </p:sp>
      <p:sp>
        <p:nvSpPr>
          <p:cNvPr id="35" name="Google Shape;35;p1"/>
          <p:cNvSpPr txBox="1"/>
          <p:nvPr/>
        </p:nvSpPr>
        <p:spPr>
          <a:xfrm>
            <a:off x="5650992" y="4754880"/>
            <a:ext cx="71323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E94AE"/>
              </a:buClr>
              <a:buSzPts val="1000"/>
              <a:buFont typeface="Courier New"/>
              <a:buNone/>
            </a:pPr>
            <a:r>
              <a:rPr lang="en-US" sz="1000">
                <a:solidFill>
                  <a:srgbClr val="8E94AE"/>
                </a:solidFill>
                <a:latin typeface="Courier New"/>
                <a:ea typeface="Courier New"/>
                <a:cs typeface="Courier New"/>
                <a:sym typeface="Courier New"/>
              </a:rPr>
              <a:t>6</a:t>
            </a:r>
            <a:endParaRPr sz="1000">
              <a:solidFill>
                <a:schemeClr val="dk1"/>
              </a:solidFill>
              <a:latin typeface="Calibri"/>
              <a:ea typeface="Calibri"/>
              <a:cs typeface="Calibri"/>
              <a:sym typeface="Calibri"/>
            </a:endParaRPr>
          </a:p>
        </p:txBody>
      </p:sp>
      <p:sp>
        <p:nvSpPr>
          <p:cNvPr id="36" name="Google Shape;36;p1"/>
          <p:cNvSpPr/>
          <p:nvPr/>
        </p:nvSpPr>
        <p:spPr>
          <a:xfrm>
            <a:off x="6455664" y="4114800"/>
            <a:ext cx="713232" cy="603504"/>
          </a:xfrm>
          <a:prstGeom prst="roundRect">
            <a:avLst>
              <a:gd fmla="val 10606" name="adj"/>
            </a:avLst>
          </a:prstGeom>
          <a:solidFill>
            <a:srgbClr val="232640"/>
          </a:solidFill>
          <a:ln cap="flat" cmpd="sng" w="12700">
            <a:solidFill>
              <a:srgbClr val="3A3F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1"/>
          <p:cNvSpPr txBox="1"/>
          <p:nvPr/>
        </p:nvSpPr>
        <p:spPr>
          <a:xfrm>
            <a:off x="6455664" y="4114800"/>
            <a:ext cx="713232"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AF6"/>
              </a:buClr>
              <a:buSzPts val="1600"/>
              <a:buFont typeface="Calibri"/>
              <a:buNone/>
            </a:pPr>
            <a:r>
              <a:rPr b="1" lang="en-US" sz="1600">
                <a:solidFill>
                  <a:srgbClr val="E8EAF6"/>
                </a:solidFill>
                <a:latin typeface="Calibri"/>
                <a:ea typeface="Calibri"/>
                <a:cs typeface="Calibri"/>
                <a:sym typeface="Calibri"/>
              </a:rPr>
              <a:t>6</a:t>
            </a:r>
            <a:endParaRPr sz="1600">
              <a:solidFill>
                <a:schemeClr val="dk1"/>
              </a:solidFill>
              <a:latin typeface="Calibri"/>
              <a:ea typeface="Calibri"/>
              <a:cs typeface="Calibri"/>
              <a:sym typeface="Calibri"/>
            </a:endParaRPr>
          </a:p>
        </p:txBody>
      </p:sp>
      <p:sp>
        <p:nvSpPr>
          <p:cNvPr id="38" name="Google Shape;38;p1"/>
          <p:cNvSpPr txBox="1"/>
          <p:nvPr/>
        </p:nvSpPr>
        <p:spPr>
          <a:xfrm>
            <a:off x="6455664" y="4754880"/>
            <a:ext cx="71323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E94AE"/>
              </a:buClr>
              <a:buSzPts val="1000"/>
              <a:buFont typeface="Courier New"/>
              <a:buNone/>
            </a:pPr>
            <a:r>
              <a:rPr lang="en-US" sz="1000">
                <a:solidFill>
                  <a:srgbClr val="8E94AE"/>
                </a:solidFill>
                <a:latin typeface="Courier New"/>
                <a:ea typeface="Courier New"/>
                <a:cs typeface="Courier New"/>
                <a:sym typeface="Courier New"/>
              </a:rPr>
              <a:t>7</a:t>
            </a:r>
            <a:endParaRPr sz="1000">
              <a:solidFill>
                <a:schemeClr val="dk1"/>
              </a:solidFill>
              <a:latin typeface="Calibri"/>
              <a:ea typeface="Calibri"/>
              <a:cs typeface="Calibri"/>
              <a:sym typeface="Calibri"/>
            </a:endParaRPr>
          </a:p>
        </p:txBody>
      </p:sp>
      <p:sp>
        <p:nvSpPr>
          <p:cNvPr id="39" name="Google Shape;39;p1"/>
          <p:cNvSpPr txBox="1"/>
          <p:nvPr/>
        </p:nvSpPr>
        <p:spPr>
          <a:xfrm>
            <a:off x="822960" y="5234948"/>
            <a:ext cx="914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4AE"/>
              </a:buClr>
              <a:buSzPts val="1300"/>
              <a:buFont typeface="Calibri"/>
              <a:buNone/>
            </a:pPr>
            <a:r>
              <a:rPr i="1" lang="en-US" sz="1300">
                <a:solidFill>
                  <a:srgbClr val="8E94AE"/>
                </a:solidFill>
                <a:latin typeface="Calibri"/>
                <a:ea typeface="Calibri"/>
                <a:cs typeface="Calibri"/>
                <a:sym typeface="Calibri"/>
              </a:rPr>
              <a:t>Every value sits at a numbered position. That single idea powers the whole module.</a:t>
            </a:r>
            <a:endParaRPr sz="1300">
              <a:solidFill>
                <a:schemeClr val="dk1"/>
              </a:solidFill>
              <a:latin typeface="Calibri"/>
              <a:ea typeface="Calibri"/>
              <a:cs typeface="Calibri"/>
              <a:sym typeface="Calibri"/>
            </a:endParaRPr>
          </a:p>
        </p:txBody>
      </p:sp>
      <p:pic>
        <p:nvPicPr>
          <p:cNvPr descr="A white and blue chat bubble with orange and white text&#10;&#10;Description automatically generated" id="40" name="Google Shape;40;p1"/>
          <p:cNvPicPr preferRelativeResize="0"/>
          <p:nvPr/>
        </p:nvPicPr>
        <p:blipFill rotWithShape="1">
          <a:blip r:embed="rId3">
            <a:alphaModFix/>
          </a:blip>
          <a:srcRect b="0" l="0" r="0" t="0"/>
          <a:stretch/>
        </p:blipFill>
        <p:spPr>
          <a:xfrm>
            <a:off x="10408052" y="317486"/>
            <a:ext cx="1459571" cy="977391"/>
          </a:xfrm>
          <a:prstGeom prst="rect">
            <a:avLst/>
          </a:prstGeom>
          <a:noFill/>
          <a:ln>
            <a:noFill/>
          </a:ln>
        </p:spPr>
      </p:pic>
      <p:sp>
        <p:nvSpPr>
          <p:cNvPr id="41" name="Google Shape;41;p1"/>
          <p:cNvSpPr txBox="1"/>
          <p:nvPr/>
        </p:nvSpPr>
        <p:spPr>
          <a:xfrm>
            <a:off x="822960" y="5797296"/>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4AE"/>
              </a:buClr>
              <a:buSzPts val="1300"/>
              <a:buFont typeface="Calibri"/>
              <a:buNone/>
            </a:pPr>
            <a:r>
              <a:rPr lang="en-US" sz="2400">
                <a:solidFill>
                  <a:schemeClr val="lt1"/>
                </a:solidFill>
                <a:latin typeface="Calibri"/>
                <a:ea typeface="Calibri"/>
                <a:cs typeface="Calibri"/>
                <a:sym typeface="Calibri"/>
              </a:rPr>
              <a:t>By: Jahnavi Tripathi</a:t>
            </a:r>
            <a:endParaRPr sz="240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46" name="Shape 46"/>
        <p:cNvGrpSpPr/>
        <p:nvPr/>
      </p:nvGrpSpPr>
      <p:grpSpPr>
        <a:xfrm>
          <a:off x="0" y="0"/>
          <a:ext cx="0" cy="0"/>
          <a:chOff x="0" y="0"/>
          <a:chExt cx="0" cy="0"/>
        </a:xfrm>
      </p:grpSpPr>
      <p:sp>
        <p:nvSpPr>
          <p:cNvPr id="47" name="Google Shape;47;p2"/>
          <p:cNvSpPr txBox="1"/>
          <p:nvPr/>
        </p:nvSpPr>
        <p:spPr>
          <a:xfrm>
            <a:off x="731520" y="41148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200"/>
              <a:buFont typeface="Calibri"/>
              <a:buNone/>
            </a:pPr>
            <a:r>
              <a:rPr b="1" lang="en-US" sz="1200">
                <a:solidFill>
                  <a:srgbClr val="FF6B35"/>
                </a:solidFill>
                <a:latin typeface="Calibri"/>
                <a:ea typeface="Calibri"/>
                <a:cs typeface="Calibri"/>
                <a:sym typeface="Calibri"/>
              </a:rPr>
              <a:t>ROADMAP</a:t>
            </a:r>
            <a:endParaRPr sz="1200">
              <a:solidFill>
                <a:schemeClr val="dk1"/>
              </a:solidFill>
              <a:latin typeface="Calibri"/>
              <a:ea typeface="Calibri"/>
              <a:cs typeface="Calibri"/>
              <a:sym typeface="Calibri"/>
            </a:endParaRPr>
          </a:p>
        </p:txBody>
      </p:sp>
      <p:sp>
        <p:nvSpPr>
          <p:cNvPr id="48" name="Google Shape;48;p2"/>
          <p:cNvSpPr txBox="1"/>
          <p:nvPr/>
        </p:nvSpPr>
        <p:spPr>
          <a:xfrm>
            <a:off x="731520" y="713232"/>
            <a:ext cx="107899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3200"/>
              <a:buFont typeface="Arial"/>
              <a:buNone/>
            </a:pPr>
            <a:r>
              <a:rPr b="1" lang="en-US" sz="3200">
                <a:solidFill>
                  <a:srgbClr val="1F2333"/>
                </a:solidFill>
                <a:latin typeface="Arial"/>
                <a:ea typeface="Arial"/>
                <a:cs typeface="Arial"/>
                <a:sym typeface="Arial"/>
              </a:rPr>
              <a:t>What we will cover</a:t>
            </a:r>
            <a:endParaRPr sz="3200">
              <a:solidFill>
                <a:schemeClr val="dk1"/>
              </a:solidFill>
              <a:latin typeface="Calibri"/>
              <a:ea typeface="Calibri"/>
              <a:cs typeface="Calibri"/>
              <a:sym typeface="Calibri"/>
            </a:endParaRPr>
          </a:p>
        </p:txBody>
      </p:sp>
      <p:sp>
        <p:nvSpPr>
          <p:cNvPr id="49" name="Google Shape;49;p2"/>
          <p:cNvSpPr/>
          <p:nvPr/>
        </p:nvSpPr>
        <p:spPr>
          <a:xfrm>
            <a:off x="777240" y="1655064"/>
            <a:ext cx="420624" cy="420624"/>
          </a:xfrm>
          <a:prstGeom prst="ellipse">
            <a:avLst/>
          </a:prstGeom>
          <a:solidFill>
            <a:srgbClr val="FF6B35"/>
          </a:solidFill>
          <a:ln cap="flat" cmpd="sng" w="12700">
            <a:solidFill>
              <a:srgbClr val="FF6B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2"/>
          <p:cNvSpPr txBox="1"/>
          <p:nvPr/>
        </p:nvSpPr>
        <p:spPr>
          <a:xfrm>
            <a:off x="777240" y="165506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1</a:t>
            </a:r>
            <a:endParaRPr sz="1400">
              <a:solidFill>
                <a:schemeClr val="dk1"/>
              </a:solidFill>
              <a:latin typeface="Calibri"/>
              <a:ea typeface="Calibri"/>
              <a:cs typeface="Calibri"/>
              <a:sym typeface="Calibri"/>
            </a:endParaRPr>
          </a:p>
        </p:txBody>
      </p:sp>
      <p:sp>
        <p:nvSpPr>
          <p:cNvPr id="51" name="Google Shape;51;p2"/>
          <p:cNvSpPr txBox="1"/>
          <p:nvPr/>
        </p:nvSpPr>
        <p:spPr>
          <a:xfrm>
            <a:off x="1417320" y="1600200"/>
            <a:ext cx="9875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700"/>
              <a:buFont typeface="Arial"/>
              <a:buNone/>
            </a:pPr>
            <a:r>
              <a:rPr b="1" lang="en-US" sz="1700">
                <a:solidFill>
                  <a:srgbClr val="1F2333"/>
                </a:solidFill>
                <a:latin typeface="Arial"/>
                <a:ea typeface="Arial"/>
                <a:cs typeface="Arial"/>
                <a:sym typeface="Arial"/>
              </a:rPr>
              <a:t>What an array actually is</a:t>
            </a:r>
            <a:endParaRPr sz="1700">
              <a:solidFill>
                <a:schemeClr val="dk1"/>
              </a:solidFill>
              <a:latin typeface="Calibri"/>
              <a:ea typeface="Calibri"/>
              <a:cs typeface="Calibri"/>
              <a:sym typeface="Calibri"/>
            </a:endParaRPr>
          </a:p>
        </p:txBody>
      </p:sp>
      <p:sp>
        <p:nvSpPr>
          <p:cNvPr id="52" name="Google Shape;52;p2"/>
          <p:cNvSpPr txBox="1"/>
          <p:nvPr/>
        </p:nvSpPr>
        <p:spPr>
          <a:xfrm>
            <a:off x="1417320" y="1911096"/>
            <a:ext cx="9875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400"/>
              <a:buFont typeface="Calibri"/>
              <a:buNone/>
            </a:pPr>
            <a:r>
              <a:rPr lang="en-US" sz="1400">
                <a:solidFill>
                  <a:srgbClr val="5A6072"/>
                </a:solidFill>
                <a:latin typeface="Calibri"/>
                <a:ea typeface="Calibri"/>
                <a:cs typeface="Calibri"/>
                <a:sym typeface="Calibri"/>
              </a:rPr>
              <a:t>Contiguous memory, indexes, and why languages disagree</a:t>
            </a:r>
            <a:endParaRPr sz="1400">
              <a:solidFill>
                <a:schemeClr val="dk1"/>
              </a:solidFill>
              <a:latin typeface="Calibri"/>
              <a:ea typeface="Calibri"/>
              <a:cs typeface="Calibri"/>
              <a:sym typeface="Calibri"/>
            </a:endParaRPr>
          </a:p>
        </p:txBody>
      </p:sp>
      <p:cxnSp>
        <p:nvCxnSpPr>
          <p:cNvPr id="53" name="Google Shape;53;p2"/>
          <p:cNvCxnSpPr/>
          <p:nvPr/>
        </p:nvCxnSpPr>
        <p:spPr>
          <a:xfrm>
            <a:off x="1417320" y="2350008"/>
            <a:ext cx="9875520" cy="0"/>
          </a:xfrm>
          <a:prstGeom prst="straightConnector1">
            <a:avLst/>
          </a:prstGeom>
          <a:noFill/>
          <a:ln cap="flat" cmpd="sng" w="12700">
            <a:solidFill>
              <a:srgbClr val="DDE1EC"/>
            </a:solidFill>
            <a:prstDash val="solid"/>
            <a:round/>
            <a:headEnd len="sm" w="sm" type="none"/>
            <a:tailEnd len="sm" w="sm" type="none"/>
          </a:ln>
        </p:spPr>
      </p:cxnSp>
      <p:sp>
        <p:nvSpPr>
          <p:cNvPr id="54" name="Google Shape;54;p2"/>
          <p:cNvSpPr/>
          <p:nvPr/>
        </p:nvSpPr>
        <p:spPr>
          <a:xfrm>
            <a:off x="777240" y="2587752"/>
            <a:ext cx="420624" cy="420624"/>
          </a:xfrm>
          <a:prstGeom prst="ellipse">
            <a:avLst/>
          </a:prstGeom>
          <a:solidFill>
            <a:srgbClr val="FF6B35"/>
          </a:solidFill>
          <a:ln cap="flat" cmpd="sng" w="12700">
            <a:solidFill>
              <a:srgbClr val="FF6B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2"/>
          <p:cNvSpPr txBox="1"/>
          <p:nvPr/>
        </p:nvSpPr>
        <p:spPr>
          <a:xfrm>
            <a:off x="777240" y="258775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2</a:t>
            </a:r>
            <a:endParaRPr sz="1400">
              <a:solidFill>
                <a:schemeClr val="dk1"/>
              </a:solidFill>
              <a:latin typeface="Calibri"/>
              <a:ea typeface="Calibri"/>
              <a:cs typeface="Calibri"/>
              <a:sym typeface="Calibri"/>
            </a:endParaRPr>
          </a:p>
        </p:txBody>
      </p:sp>
      <p:sp>
        <p:nvSpPr>
          <p:cNvPr id="56" name="Google Shape;56;p2"/>
          <p:cNvSpPr txBox="1"/>
          <p:nvPr/>
        </p:nvSpPr>
        <p:spPr>
          <a:xfrm>
            <a:off x="1417320" y="2532888"/>
            <a:ext cx="9875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700"/>
              <a:buFont typeface="Arial"/>
              <a:buNone/>
            </a:pPr>
            <a:r>
              <a:rPr b="1" lang="en-US" sz="1700">
                <a:solidFill>
                  <a:srgbClr val="1F2333"/>
                </a:solidFill>
                <a:latin typeface="Arial"/>
                <a:ea typeface="Arial"/>
                <a:cs typeface="Arial"/>
                <a:sym typeface="Arial"/>
              </a:rPr>
              <a:t>The core operations</a:t>
            </a:r>
            <a:endParaRPr sz="1700">
              <a:solidFill>
                <a:schemeClr val="dk1"/>
              </a:solidFill>
              <a:latin typeface="Calibri"/>
              <a:ea typeface="Calibri"/>
              <a:cs typeface="Calibri"/>
              <a:sym typeface="Calibri"/>
            </a:endParaRPr>
          </a:p>
        </p:txBody>
      </p:sp>
      <p:sp>
        <p:nvSpPr>
          <p:cNvPr id="57" name="Google Shape;57;p2"/>
          <p:cNvSpPr txBox="1"/>
          <p:nvPr/>
        </p:nvSpPr>
        <p:spPr>
          <a:xfrm>
            <a:off x="1417320" y="2843784"/>
            <a:ext cx="9875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400"/>
              <a:buFont typeface="Calibri"/>
              <a:buNone/>
            </a:pPr>
            <a:r>
              <a:rPr lang="en-US" sz="1400">
                <a:solidFill>
                  <a:srgbClr val="5A6072"/>
                </a:solidFill>
                <a:latin typeface="Calibri"/>
                <a:ea typeface="Calibri"/>
                <a:cs typeface="Calibri"/>
                <a:sym typeface="Calibri"/>
              </a:rPr>
              <a:t>Access, update, iterate, insert, and delete</a:t>
            </a:r>
            <a:endParaRPr sz="1400">
              <a:solidFill>
                <a:schemeClr val="dk1"/>
              </a:solidFill>
              <a:latin typeface="Calibri"/>
              <a:ea typeface="Calibri"/>
              <a:cs typeface="Calibri"/>
              <a:sym typeface="Calibri"/>
            </a:endParaRPr>
          </a:p>
        </p:txBody>
      </p:sp>
      <p:cxnSp>
        <p:nvCxnSpPr>
          <p:cNvPr id="58" name="Google Shape;58;p2"/>
          <p:cNvCxnSpPr/>
          <p:nvPr/>
        </p:nvCxnSpPr>
        <p:spPr>
          <a:xfrm>
            <a:off x="1417320" y="3282696"/>
            <a:ext cx="9875520" cy="0"/>
          </a:xfrm>
          <a:prstGeom prst="straightConnector1">
            <a:avLst/>
          </a:prstGeom>
          <a:noFill/>
          <a:ln cap="flat" cmpd="sng" w="12700">
            <a:solidFill>
              <a:srgbClr val="DDE1EC"/>
            </a:solidFill>
            <a:prstDash val="solid"/>
            <a:round/>
            <a:headEnd len="sm" w="sm" type="none"/>
            <a:tailEnd len="sm" w="sm" type="none"/>
          </a:ln>
        </p:spPr>
      </p:cxnSp>
      <p:sp>
        <p:nvSpPr>
          <p:cNvPr id="59" name="Google Shape;59;p2"/>
          <p:cNvSpPr/>
          <p:nvPr/>
        </p:nvSpPr>
        <p:spPr>
          <a:xfrm>
            <a:off x="777240" y="3520440"/>
            <a:ext cx="420624" cy="420624"/>
          </a:xfrm>
          <a:prstGeom prst="ellipse">
            <a:avLst/>
          </a:prstGeom>
          <a:solidFill>
            <a:srgbClr val="FF6B35"/>
          </a:solidFill>
          <a:ln cap="flat" cmpd="sng" w="12700">
            <a:solidFill>
              <a:srgbClr val="FF6B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2"/>
          <p:cNvSpPr txBox="1"/>
          <p:nvPr/>
        </p:nvSpPr>
        <p:spPr>
          <a:xfrm>
            <a:off x="777240" y="352044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3</a:t>
            </a:r>
            <a:endParaRPr sz="1400">
              <a:solidFill>
                <a:schemeClr val="dk1"/>
              </a:solidFill>
              <a:latin typeface="Calibri"/>
              <a:ea typeface="Calibri"/>
              <a:cs typeface="Calibri"/>
              <a:sym typeface="Calibri"/>
            </a:endParaRPr>
          </a:p>
        </p:txBody>
      </p:sp>
      <p:sp>
        <p:nvSpPr>
          <p:cNvPr id="61" name="Google Shape;61;p2"/>
          <p:cNvSpPr txBox="1"/>
          <p:nvPr/>
        </p:nvSpPr>
        <p:spPr>
          <a:xfrm>
            <a:off x="1417320" y="3465576"/>
            <a:ext cx="9875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700"/>
              <a:buFont typeface="Arial"/>
              <a:buNone/>
            </a:pPr>
            <a:r>
              <a:rPr b="1" lang="en-US" sz="1700">
                <a:solidFill>
                  <a:srgbClr val="1F2333"/>
                </a:solidFill>
                <a:latin typeface="Arial"/>
                <a:ea typeface="Arial"/>
                <a:cs typeface="Arial"/>
                <a:sym typeface="Arial"/>
              </a:rPr>
              <a:t>Cost and complexity</a:t>
            </a:r>
            <a:endParaRPr sz="1700">
              <a:solidFill>
                <a:schemeClr val="dk1"/>
              </a:solidFill>
              <a:latin typeface="Calibri"/>
              <a:ea typeface="Calibri"/>
              <a:cs typeface="Calibri"/>
              <a:sym typeface="Calibri"/>
            </a:endParaRPr>
          </a:p>
        </p:txBody>
      </p:sp>
      <p:sp>
        <p:nvSpPr>
          <p:cNvPr id="62" name="Google Shape;62;p2"/>
          <p:cNvSpPr txBox="1"/>
          <p:nvPr/>
        </p:nvSpPr>
        <p:spPr>
          <a:xfrm>
            <a:off x="1417320" y="3776472"/>
            <a:ext cx="9875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400"/>
              <a:buFont typeface="Calibri"/>
              <a:buNone/>
            </a:pPr>
            <a:r>
              <a:rPr lang="en-US" sz="1400">
                <a:solidFill>
                  <a:srgbClr val="5A6072"/>
                </a:solidFill>
                <a:latin typeface="Calibri"/>
                <a:ea typeface="Calibri"/>
                <a:cs typeface="Calibri"/>
                <a:sym typeface="Calibri"/>
              </a:rPr>
              <a:t>Reading Big O and explaining the tradeoffs out loud</a:t>
            </a:r>
            <a:endParaRPr sz="1400">
              <a:solidFill>
                <a:schemeClr val="dk1"/>
              </a:solidFill>
              <a:latin typeface="Calibri"/>
              <a:ea typeface="Calibri"/>
              <a:cs typeface="Calibri"/>
              <a:sym typeface="Calibri"/>
            </a:endParaRPr>
          </a:p>
        </p:txBody>
      </p:sp>
      <p:cxnSp>
        <p:nvCxnSpPr>
          <p:cNvPr id="63" name="Google Shape;63;p2"/>
          <p:cNvCxnSpPr/>
          <p:nvPr/>
        </p:nvCxnSpPr>
        <p:spPr>
          <a:xfrm>
            <a:off x="1417320" y="4215384"/>
            <a:ext cx="9875400" cy="0"/>
          </a:xfrm>
          <a:prstGeom prst="straightConnector1">
            <a:avLst/>
          </a:prstGeom>
          <a:noFill/>
          <a:ln cap="flat" cmpd="sng" w="12700">
            <a:solidFill>
              <a:srgbClr val="DDE1EC"/>
            </a:solidFill>
            <a:prstDash val="solid"/>
            <a:round/>
            <a:headEnd len="sm" w="sm" type="none"/>
            <a:tailEnd len="sm" w="sm" type="none"/>
          </a:ln>
        </p:spPr>
      </p:cxnSp>
      <p:sp>
        <p:nvSpPr>
          <p:cNvPr id="64" name="Google Shape;64;p2"/>
          <p:cNvSpPr/>
          <p:nvPr/>
        </p:nvSpPr>
        <p:spPr>
          <a:xfrm>
            <a:off x="777240" y="4453128"/>
            <a:ext cx="420600" cy="420600"/>
          </a:xfrm>
          <a:prstGeom prst="ellipse">
            <a:avLst/>
          </a:prstGeom>
          <a:solidFill>
            <a:srgbClr val="FF6B35"/>
          </a:solidFill>
          <a:ln cap="flat" cmpd="sng" w="12700">
            <a:solidFill>
              <a:srgbClr val="FF6B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2"/>
          <p:cNvSpPr txBox="1"/>
          <p:nvPr/>
        </p:nvSpPr>
        <p:spPr>
          <a:xfrm>
            <a:off x="777240" y="4453128"/>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4</a:t>
            </a:r>
            <a:endParaRPr sz="1400">
              <a:solidFill>
                <a:schemeClr val="dk1"/>
              </a:solidFill>
              <a:latin typeface="Calibri"/>
              <a:ea typeface="Calibri"/>
              <a:cs typeface="Calibri"/>
              <a:sym typeface="Calibri"/>
            </a:endParaRPr>
          </a:p>
        </p:txBody>
      </p:sp>
      <p:cxnSp>
        <p:nvCxnSpPr>
          <p:cNvPr id="66" name="Google Shape;66;p2"/>
          <p:cNvCxnSpPr/>
          <p:nvPr/>
        </p:nvCxnSpPr>
        <p:spPr>
          <a:xfrm>
            <a:off x="1417320" y="5148072"/>
            <a:ext cx="9875400" cy="0"/>
          </a:xfrm>
          <a:prstGeom prst="straightConnector1">
            <a:avLst/>
          </a:prstGeom>
          <a:noFill/>
          <a:ln cap="flat" cmpd="sng" w="12700">
            <a:solidFill>
              <a:srgbClr val="DDE1EC"/>
            </a:solidFill>
            <a:prstDash val="solid"/>
            <a:round/>
            <a:headEnd len="sm" w="sm" type="none"/>
            <a:tailEnd len="sm" w="sm" type="none"/>
          </a:ln>
        </p:spPr>
      </p:cxnSp>
      <p:sp>
        <p:nvSpPr>
          <p:cNvPr id="67" name="Google Shape;67;p2"/>
          <p:cNvSpPr txBox="1"/>
          <p:nvPr/>
        </p:nvSpPr>
        <p:spPr>
          <a:xfrm>
            <a:off x="1417320" y="4306827"/>
            <a:ext cx="9875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700"/>
              <a:buFont typeface="Arial"/>
              <a:buNone/>
            </a:pPr>
            <a:r>
              <a:rPr b="1" lang="en-US" sz="1700">
                <a:solidFill>
                  <a:srgbClr val="1F2333"/>
                </a:solidFill>
                <a:latin typeface="Arial"/>
                <a:ea typeface="Arial"/>
                <a:cs typeface="Arial"/>
                <a:sym typeface="Arial"/>
              </a:rPr>
              <a:t>Practice and next steps</a:t>
            </a:r>
            <a:endParaRPr sz="1700">
              <a:solidFill>
                <a:schemeClr val="dk1"/>
              </a:solidFill>
              <a:latin typeface="Calibri"/>
              <a:ea typeface="Calibri"/>
              <a:cs typeface="Calibri"/>
              <a:sym typeface="Calibri"/>
            </a:endParaRPr>
          </a:p>
        </p:txBody>
      </p:sp>
      <p:sp>
        <p:nvSpPr>
          <p:cNvPr id="68" name="Google Shape;68;p2"/>
          <p:cNvSpPr txBox="1"/>
          <p:nvPr/>
        </p:nvSpPr>
        <p:spPr>
          <a:xfrm>
            <a:off x="1417320" y="4727448"/>
            <a:ext cx="9875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400"/>
              <a:buFont typeface="Calibri"/>
              <a:buNone/>
            </a:pPr>
            <a:r>
              <a:rPr lang="en-US" sz="1400">
                <a:solidFill>
                  <a:srgbClr val="5A6072"/>
                </a:solidFill>
                <a:latin typeface="Calibri"/>
                <a:ea typeface="Calibri"/>
                <a:cs typeface="Calibri"/>
                <a:sym typeface="Calibri"/>
              </a:rPr>
              <a:t>A ladder of problems from easy to medium</a:t>
            </a:r>
            <a:endParaRPr sz="14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73" name="Shape 73"/>
        <p:cNvGrpSpPr/>
        <p:nvPr/>
      </p:nvGrpSpPr>
      <p:grpSpPr>
        <a:xfrm>
          <a:off x="0" y="0"/>
          <a:ext cx="0" cy="0"/>
          <a:chOff x="0" y="0"/>
          <a:chExt cx="0" cy="0"/>
        </a:xfrm>
      </p:grpSpPr>
      <p:sp>
        <p:nvSpPr>
          <p:cNvPr id="74" name="Google Shape;74;p3"/>
          <p:cNvSpPr txBox="1"/>
          <p:nvPr/>
        </p:nvSpPr>
        <p:spPr>
          <a:xfrm>
            <a:off x="731520" y="713232"/>
            <a:ext cx="107899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3200"/>
              <a:buFont typeface="Arial"/>
              <a:buNone/>
            </a:pPr>
            <a:r>
              <a:rPr b="1" lang="en-US" sz="3200">
                <a:solidFill>
                  <a:srgbClr val="1F2333"/>
                </a:solidFill>
                <a:latin typeface="Arial"/>
                <a:ea typeface="Arial"/>
                <a:cs typeface="Arial"/>
                <a:sym typeface="Arial"/>
              </a:rPr>
              <a:t>What is an array?</a:t>
            </a:r>
            <a:endParaRPr sz="3200">
              <a:solidFill>
                <a:schemeClr val="dk1"/>
              </a:solidFill>
              <a:latin typeface="Calibri"/>
              <a:ea typeface="Calibri"/>
              <a:cs typeface="Calibri"/>
              <a:sym typeface="Calibri"/>
            </a:endParaRPr>
          </a:p>
        </p:txBody>
      </p:sp>
      <p:sp>
        <p:nvSpPr>
          <p:cNvPr id="75" name="Google Shape;75;p3"/>
          <p:cNvSpPr txBox="1"/>
          <p:nvPr/>
        </p:nvSpPr>
        <p:spPr>
          <a:xfrm>
            <a:off x="731520" y="1481328"/>
            <a:ext cx="5212080" cy="914400"/>
          </a:xfrm>
          <a:prstGeom prst="rect">
            <a:avLst/>
          </a:prstGeom>
          <a:noFill/>
          <a:ln>
            <a:noFill/>
          </a:ln>
        </p:spPr>
        <p:txBody>
          <a:bodyPr anchorCtr="0" anchor="ctr" bIns="0" lIns="0" spcFirstLastPara="1" rIns="0" wrap="square" tIns="0">
            <a:noAutofit/>
          </a:bodyPr>
          <a:lstStyle/>
          <a:p>
            <a:pPr indent="0" lvl="0" marL="0" marR="0" rtl="0" algn="l">
              <a:lnSpc>
                <a:spcPct val="146666"/>
              </a:lnSpc>
              <a:spcBef>
                <a:spcPts val="0"/>
              </a:spcBef>
              <a:spcAft>
                <a:spcPts val="0"/>
              </a:spcAft>
              <a:buClr>
                <a:srgbClr val="5A6072"/>
              </a:buClr>
              <a:buSzPts val="1500"/>
              <a:buFont typeface="Calibri"/>
              <a:buNone/>
            </a:pPr>
            <a:r>
              <a:rPr lang="en-US" sz="1500">
                <a:solidFill>
                  <a:srgbClr val="5A6072"/>
                </a:solidFill>
                <a:latin typeface="Calibri"/>
                <a:ea typeface="Calibri"/>
                <a:cs typeface="Calibri"/>
                <a:sym typeface="Calibri"/>
              </a:rPr>
              <a:t>An array is a block of memory holding a collection of values, laid out one after another. Each value has a position number called an index.</a:t>
            </a:r>
            <a:endParaRPr sz="1500">
              <a:solidFill>
                <a:schemeClr val="dk1"/>
              </a:solidFill>
              <a:latin typeface="Calibri"/>
              <a:ea typeface="Calibri"/>
              <a:cs typeface="Calibri"/>
              <a:sym typeface="Calibri"/>
            </a:endParaRPr>
          </a:p>
        </p:txBody>
      </p:sp>
      <p:sp>
        <p:nvSpPr>
          <p:cNvPr id="76" name="Google Shape;76;p3"/>
          <p:cNvSpPr/>
          <p:nvPr/>
        </p:nvSpPr>
        <p:spPr>
          <a:xfrm>
            <a:off x="749808" y="2651760"/>
            <a:ext cx="256032" cy="256032"/>
          </a:xfrm>
          <a:prstGeom prst="ellipse">
            <a:avLst/>
          </a:prstGeom>
          <a:solidFill>
            <a:srgbClr val="2A9D8F"/>
          </a:solidFill>
          <a:ln cap="flat" cmpd="sng" w="12700">
            <a:solidFill>
              <a:srgbClr val="2A9D8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 name="Google Shape;77;p3"/>
          <p:cNvSpPr txBox="1"/>
          <p:nvPr/>
        </p:nvSpPr>
        <p:spPr>
          <a:xfrm>
            <a:off x="1188720" y="2606040"/>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500"/>
              <a:buFont typeface="Arial"/>
              <a:buNone/>
            </a:pPr>
            <a:r>
              <a:rPr b="1" lang="en-US" sz="1500">
                <a:solidFill>
                  <a:srgbClr val="1F2333"/>
                </a:solidFill>
                <a:latin typeface="Arial"/>
                <a:ea typeface="Arial"/>
                <a:cs typeface="Arial"/>
                <a:sym typeface="Arial"/>
              </a:rPr>
              <a:t>Indexes start at 0</a:t>
            </a:r>
            <a:endParaRPr sz="1500">
              <a:solidFill>
                <a:schemeClr val="dk1"/>
              </a:solidFill>
              <a:latin typeface="Calibri"/>
              <a:ea typeface="Calibri"/>
              <a:cs typeface="Calibri"/>
              <a:sym typeface="Calibri"/>
            </a:endParaRPr>
          </a:p>
        </p:txBody>
      </p:sp>
      <p:sp>
        <p:nvSpPr>
          <p:cNvPr id="78" name="Google Shape;78;p3"/>
          <p:cNvSpPr txBox="1"/>
          <p:nvPr/>
        </p:nvSpPr>
        <p:spPr>
          <a:xfrm>
            <a:off x="1188720" y="2916936"/>
            <a:ext cx="4754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350"/>
              <a:buFont typeface="Calibri"/>
              <a:buNone/>
            </a:pPr>
            <a:r>
              <a:rPr lang="en-US" sz="1350">
                <a:solidFill>
                  <a:srgbClr val="5A6072"/>
                </a:solidFill>
                <a:latin typeface="Calibri"/>
                <a:ea typeface="Calibri"/>
                <a:cs typeface="Calibri"/>
                <a:sym typeface="Calibri"/>
              </a:rPr>
              <a:t>The first element is arr[0], not arr[1]</a:t>
            </a:r>
            <a:endParaRPr sz="1350">
              <a:solidFill>
                <a:schemeClr val="dk1"/>
              </a:solidFill>
              <a:latin typeface="Calibri"/>
              <a:ea typeface="Calibri"/>
              <a:cs typeface="Calibri"/>
              <a:sym typeface="Calibri"/>
            </a:endParaRPr>
          </a:p>
        </p:txBody>
      </p:sp>
      <p:sp>
        <p:nvSpPr>
          <p:cNvPr id="79" name="Google Shape;79;p3"/>
          <p:cNvSpPr/>
          <p:nvPr/>
        </p:nvSpPr>
        <p:spPr>
          <a:xfrm>
            <a:off x="749808" y="3675888"/>
            <a:ext cx="256032" cy="256032"/>
          </a:xfrm>
          <a:prstGeom prst="ellipse">
            <a:avLst/>
          </a:prstGeom>
          <a:solidFill>
            <a:srgbClr val="2A9D8F"/>
          </a:solidFill>
          <a:ln cap="flat" cmpd="sng" w="12700">
            <a:solidFill>
              <a:srgbClr val="2A9D8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3"/>
          <p:cNvSpPr txBox="1"/>
          <p:nvPr/>
        </p:nvSpPr>
        <p:spPr>
          <a:xfrm>
            <a:off x="1188720" y="3630168"/>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500"/>
              <a:buFont typeface="Arial"/>
              <a:buNone/>
            </a:pPr>
            <a:r>
              <a:rPr b="1" lang="en-US" sz="1500">
                <a:solidFill>
                  <a:srgbClr val="1F2333"/>
                </a:solidFill>
                <a:latin typeface="Arial"/>
                <a:ea typeface="Arial"/>
                <a:cs typeface="Arial"/>
                <a:sym typeface="Arial"/>
              </a:rPr>
              <a:t>The values sit side by side</a:t>
            </a:r>
            <a:endParaRPr sz="1500">
              <a:solidFill>
                <a:schemeClr val="dk1"/>
              </a:solidFill>
              <a:latin typeface="Calibri"/>
              <a:ea typeface="Calibri"/>
              <a:cs typeface="Calibri"/>
              <a:sym typeface="Calibri"/>
            </a:endParaRPr>
          </a:p>
        </p:txBody>
      </p:sp>
      <p:sp>
        <p:nvSpPr>
          <p:cNvPr id="81" name="Google Shape;81;p3"/>
          <p:cNvSpPr txBox="1"/>
          <p:nvPr/>
        </p:nvSpPr>
        <p:spPr>
          <a:xfrm>
            <a:off x="1188720" y="3941064"/>
            <a:ext cx="4754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350"/>
              <a:buFont typeface="Calibri"/>
              <a:buNone/>
            </a:pPr>
            <a:r>
              <a:rPr lang="en-US" sz="1350">
                <a:solidFill>
                  <a:srgbClr val="5A6072"/>
                </a:solidFill>
                <a:latin typeface="Calibri"/>
                <a:ea typeface="Calibri"/>
                <a:cs typeface="Calibri"/>
                <a:sym typeface="Calibri"/>
              </a:rPr>
              <a:t>The computer knows exactly where each one lives</a:t>
            </a:r>
            <a:endParaRPr sz="1350">
              <a:solidFill>
                <a:schemeClr val="dk1"/>
              </a:solidFill>
              <a:latin typeface="Calibri"/>
              <a:ea typeface="Calibri"/>
              <a:cs typeface="Calibri"/>
              <a:sym typeface="Calibri"/>
            </a:endParaRPr>
          </a:p>
        </p:txBody>
      </p:sp>
      <p:sp>
        <p:nvSpPr>
          <p:cNvPr id="82" name="Google Shape;82;p3"/>
          <p:cNvSpPr/>
          <p:nvPr/>
        </p:nvSpPr>
        <p:spPr>
          <a:xfrm>
            <a:off x="749808" y="4700016"/>
            <a:ext cx="256032" cy="256032"/>
          </a:xfrm>
          <a:prstGeom prst="ellipse">
            <a:avLst/>
          </a:prstGeom>
          <a:solidFill>
            <a:srgbClr val="2A9D8F"/>
          </a:solidFill>
          <a:ln cap="flat" cmpd="sng" w="12700">
            <a:solidFill>
              <a:srgbClr val="2A9D8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 name="Google Shape;83;p3"/>
          <p:cNvSpPr txBox="1"/>
          <p:nvPr/>
        </p:nvSpPr>
        <p:spPr>
          <a:xfrm>
            <a:off x="1188720" y="4654296"/>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500"/>
              <a:buFont typeface="Arial"/>
              <a:buNone/>
            </a:pPr>
            <a:r>
              <a:rPr b="1" lang="en-US" sz="1500">
                <a:solidFill>
                  <a:srgbClr val="1F2333"/>
                </a:solidFill>
                <a:latin typeface="Arial"/>
                <a:ea typeface="Arial"/>
                <a:cs typeface="Arial"/>
                <a:sym typeface="Arial"/>
              </a:rPr>
              <a:t>Jumping to a position is instant</a:t>
            </a:r>
            <a:endParaRPr sz="1500">
              <a:solidFill>
                <a:schemeClr val="dk1"/>
              </a:solidFill>
              <a:latin typeface="Calibri"/>
              <a:ea typeface="Calibri"/>
              <a:cs typeface="Calibri"/>
              <a:sym typeface="Calibri"/>
            </a:endParaRPr>
          </a:p>
        </p:txBody>
      </p:sp>
      <p:sp>
        <p:nvSpPr>
          <p:cNvPr id="84" name="Google Shape;84;p3"/>
          <p:cNvSpPr txBox="1"/>
          <p:nvPr/>
        </p:nvSpPr>
        <p:spPr>
          <a:xfrm>
            <a:off x="1188720" y="4965192"/>
            <a:ext cx="4754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350"/>
              <a:buFont typeface="Calibri"/>
              <a:buNone/>
            </a:pPr>
            <a:r>
              <a:rPr lang="en-US" sz="1350">
                <a:solidFill>
                  <a:srgbClr val="5A6072"/>
                </a:solidFill>
                <a:latin typeface="Calibri"/>
                <a:ea typeface="Calibri"/>
                <a:cs typeface="Calibri"/>
                <a:sym typeface="Calibri"/>
              </a:rPr>
              <a:t>It calculates the address, it does not search</a:t>
            </a:r>
            <a:endParaRPr sz="1350">
              <a:solidFill>
                <a:schemeClr val="dk1"/>
              </a:solidFill>
              <a:latin typeface="Calibri"/>
              <a:ea typeface="Calibri"/>
              <a:cs typeface="Calibri"/>
              <a:sym typeface="Calibri"/>
            </a:endParaRPr>
          </a:p>
        </p:txBody>
      </p:sp>
      <p:sp>
        <p:nvSpPr>
          <p:cNvPr id="85" name="Google Shape;85;p3"/>
          <p:cNvSpPr/>
          <p:nvPr/>
        </p:nvSpPr>
        <p:spPr>
          <a:xfrm>
            <a:off x="6400800" y="1481328"/>
            <a:ext cx="5029200" cy="4297680"/>
          </a:xfrm>
          <a:prstGeom prst="roundRect">
            <a:avLst>
              <a:gd fmla="val 1064"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3"/>
          <p:cNvSpPr txBox="1"/>
          <p:nvPr/>
        </p:nvSpPr>
        <p:spPr>
          <a:xfrm>
            <a:off x="6675120" y="1737360"/>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400"/>
              <a:buFont typeface="Courier New"/>
              <a:buNone/>
            </a:pPr>
            <a:r>
              <a:rPr b="1" lang="en-US" sz="1400">
                <a:solidFill>
                  <a:srgbClr val="1F2333"/>
                </a:solidFill>
                <a:latin typeface="Courier New"/>
                <a:ea typeface="Courier New"/>
                <a:cs typeface="Courier New"/>
                <a:sym typeface="Courier New"/>
              </a:rPr>
              <a:t>arr = [42, 7, 19, 88, 5]</a:t>
            </a:r>
            <a:endParaRPr sz="1400">
              <a:solidFill>
                <a:schemeClr val="dk1"/>
              </a:solidFill>
              <a:latin typeface="Calibri"/>
              <a:ea typeface="Calibri"/>
              <a:cs typeface="Calibri"/>
              <a:sym typeface="Calibri"/>
            </a:endParaRPr>
          </a:p>
        </p:txBody>
      </p:sp>
      <p:sp>
        <p:nvSpPr>
          <p:cNvPr id="87" name="Google Shape;87;p3"/>
          <p:cNvSpPr/>
          <p:nvPr/>
        </p:nvSpPr>
        <p:spPr>
          <a:xfrm>
            <a:off x="6675120" y="2286000"/>
            <a:ext cx="804672" cy="640080"/>
          </a:xfrm>
          <a:prstGeom prst="roundRect">
            <a:avLst>
              <a:gd fmla="val 10000"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3"/>
          <p:cNvSpPr txBox="1"/>
          <p:nvPr/>
        </p:nvSpPr>
        <p:spPr>
          <a:xfrm>
            <a:off x="6675120" y="2286000"/>
            <a:ext cx="804672"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333"/>
              </a:buClr>
              <a:buSzPts val="1600"/>
              <a:buFont typeface="Calibri"/>
              <a:buNone/>
            </a:pPr>
            <a:r>
              <a:rPr b="1" lang="en-US" sz="1600">
                <a:solidFill>
                  <a:srgbClr val="1F2333"/>
                </a:solidFill>
                <a:latin typeface="Calibri"/>
                <a:ea typeface="Calibri"/>
                <a:cs typeface="Calibri"/>
                <a:sym typeface="Calibri"/>
              </a:rPr>
              <a:t>42</a:t>
            </a:r>
            <a:endParaRPr sz="1600">
              <a:solidFill>
                <a:schemeClr val="dk1"/>
              </a:solidFill>
              <a:latin typeface="Calibri"/>
              <a:ea typeface="Calibri"/>
              <a:cs typeface="Calibri"/>
              <a:sym typeface="Calibri"/>
            </a:endParaRPr>
          </a:p>
        </p:txBody>
      </p:sp>
      <p:sp>
        <p:nvSpPr>
          <p:cNvPr id="89" name="Google Shape;89;p3"/>
          <p:cNvSpPr txBox="1"/>
          <p:nvPr/>
        </p:nvSpPr>
        <p:spPr>
          <a:xfrm>
            <a:off x="6675120" y="2962656"/>
            <a:ext cx="80467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072"/>
              </a:buClr>
              <a:buSzPts val="1000"/>
              <a:buFont typeface="Courier New"/>
              <a:buNone/>
            </a:pPr>
            <a:r>
              <a:rPr lang="en-US" sz="1000">
                <a:solidFill>
                  <a:srgbClr val="5A6072"/>
                </a:solidFill>
                <a:latin typeface="Courier New"/>
                <a:ea typeface="Courier New"/>
                <a:cs typeface="Courier New"/>
                <a:sym typeface="Courier New"/>
              </a:rPr>
              <a:t>0</a:t>
            </a:r>
            <a:endParaRPr sz="1000">
              <a:solidFill>
                <a:schemeClr val="dk1"/>
              </a:solidFill>
              <a:latin typeface="Calibri"/>
              <a:ea typeface="Calibri"/>
              <a:cs typeface="Calibri"/>
              <a:sym typeface="Calibri"/>
            </a:endParaRPr>
          </a:p>
        </p:txBody>
      </p:sp>
      <p:sp>
        <p:nvSpPr>
          <p:cNvPr id="90" name="Google Shape;90;p3"/>
          <p:cNvSpPr/>
          <p:nvPr/>
        </p:nvSpPr>
        <p:spPr>
          <a:xfrm>
            <a:off x="7571232" y="2286000"/>
            <a:ext cx="804672" cy="640080"/>
          </a:xfrm>
          <a:prstGeom prst="roundRect">
            <a:avLst>
              <a:gd fmla="val 10000"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3"/>
          <p:cNvSpPr txBox="1"/>
          <p:nvPr/>
        </p:nvSpPr>
        <p:spPr>
          <a:xfrm>
            <a:off x="7571232" y="2286000"/>
            <a:ext cx="804672"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333"/>
              </a:buClr>
              <a:buSzPts val="1600"/>
              <a:buFont typeface="Calibri"/>
              <a:buNone/>
            </a:pPr>
            <a:r>
              <a:rPr b="1" lang="en-US" sz="1600">
                <a:solidFill>
                  <a:srgbClr val="1F2333"/>
                </a:solidFill>
                <a:latin typeface="Calibri"/>
                <a:ea typeface="Calibri"/>
                <a:cs typeface="Calibri"/>
                <a:sym typeface="Calibri"/>
              </a:rPr>
              <a:t>7</a:t>
            </a:r>
            <a:endParaRPr sz="1600">
              <a:solidFill>
                <a:schemeClr val="dk1"/>
              </a:solidFill>
              <a:latin typeface="Calibri"/>
              <a:ea typeface="Calibri"/>
              <a:cs typeface="Calibri"/>
              <a:sym typeface="Calibri"/>
            </a:endParaRPr>
          </a:p>
        </p:txBody>
      </p:sp>
      <p:sp>
        <p:nvSpPr>
          <p:cNvPr id="92" name="Google Shape;92;p3"/>
          <p:cNvSpPr txBox="1"/>
          <p:nvPr/>
        </p:nvSpPr>
        <p:spPr>
          <a:xfrm>
            <a:off x="7571232" y="2962656"/>
            <a:ext cx="80467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072"/>
              </a:buClr>
              <a:buSzPts val="1000"/>
              <a:buFont typeface="Courier New"/>
              <a:buNone/>
            </a:pPr>
            <a:r>
              <a:rPr lang="en-US" sz="1000">
                <a:solidFill>
                  <a:srgbClr val="5A6072"/>
                </a:solidFill>
                <a:latin typeface="Courier New"/>
                <a:ea typeface="Courier New"/>
                <a:cs typeface="Courier New"/>
                <a:sym typeface="Courier New"/>
              </a:rPr>
              <a:t>1</a:t>
            </a:r>
            <a:endParaRPr sz="1000">
              <a:solidFill>
                <a:schemeClr val="dk1"/>
              </a:solidFill>
              <a:latin typeface="Calibri"/>
              <a:ea typeface="Calibri"/>
              <a:cs typeface="Calibri"/>
              <a:sym typeface="Calibri"/>
            </a:endParaRPr>
          </a:p>
        </p:txBody>
      </p:sp>
      <p:sp>
        <p:nvSpPr>
          <p:cNvPr id="93" name="Google Shape;93;p3"/>
          <p:cNvSpPr/>
          <p:nvPr/>
        </p:nvSpPr>
        <p:spPr>
          <a:xfrm>
            <a:off x="8467344" y="2286000"/>
            <a:ext cx="804672" cy="640080"/>
          </a:xfrm>
          <a:prstGeom prst="roundRect">
            <a:avLst>
              <a:gd fmla="val 10000"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3"/>
          <p:cNvSpPr txBox="1"/>
          <p:nvPr/>
        </p:nvSpPr>
        <p:spPr>
          <a:xfrm>
            <a:off x="8467344" y="2286000"/>
            <a:ext cx="804672"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333"/>
              </a:buClr>
              <a:buSzPts val="1600"/>
              <a:buFont typeface="Calibri"/>
              <a:buNone/>
            </a:pPr>
            <a:r>
              <a:rPr b="1" lang="en-US" sz="1600">
                <a:solidFill>
                  <a:srgbClr val="1F2333"/>
                </a:solidFill>
                <a:latin typeface="Calibri"/>
                <a:ea typeface="Calibri"/>
                <a:cs typeface="Calibri"/>
                <a:sym typeface="Calibri"/>
              </a:rPr>
              <a:t>19</a:t>
            </a:r>
            <a:endParaRPr sz="1600">
              <a:solidFill>
                <a:schemeClr val="dk1"/>
              </a:solidFill>
              <a:latin typeface="Calibri"/>
              <a:ea typeface="Calibri"/>
              <a:cs typeface="Calibri"/>
              <a:sym typeface="Calibri"/>
            </a:endParaRPr>
          </a:p>
        </p:txBody>
      </p:sp>
      <p:sp>
        <p:nvSpPr>
          <p:cNvPr id="95" name="Google Shape;95;p3"/>
          <p:cNvSpPr txBox="1"/>
          <p:nvPr/>
        </p:nvSpPr>
        <p:spPr>
          <a:xfrm>
            <a:off x="8467344" y="2962656"/>
            <a:ext cx="80467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072"/>
              </a:buClr>
              <a:buSzPts val="1000"/>
              <a:buFont typeface="Courier New"/>
              <a:buNone/>
            </a:pPr>
            <a:r>
              <a:rPr lang="en-US" sz="1000">
                <a:solidFill>
                  <a:srgbClr val="5A6072"/>
                </a:solidFill>
                <a:latin typeface="Courier New"/>
                <a:ea typeface="Courier New"/>
                <a:cs typeface="Courier New"/>
                <a:sym typeface="Courier New"/>
              </a:rPr>
              <a:t>2</a:t>
            </a:r>
            <a:endParaRPr sz="1000">
              <a:solidFill>
                <a:schemeClr val="dk1"/>
              </a:solidFill>
              <a:latin typeface="Calibri"/>
              <a:ea typeface="Calibri"/>
              <a:cs typeface="Calibri"/>
              <a:sym typeface="Calibri"/>
            </a:endParaRPr>
          </a:p>
        </p:txBody>
      </p:sp>
      <p:sp>
        <p:nvSpPr>
          <p:cNvPr id="96" name="Google Shape;96;p3"/>
          <p:cNvSpPr/>
          <p:nvPr/>
        </p:nvSpPr>
        <p:spPr>
          <a:xfrm>
            <a:off x="9363456" y="2286000"/>
            <a:ext cx="804672" cy="640080"/>
          </a:xfrm>
          <a:prstGeom prst="roundRect">
            <a:avLst>
              <a:gd fmla="val 10000"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3"/>
          <p:cNvSpPr txBox="1"/>
          <p:nvPr/>
        </p:nvSpPr>
        <p:spPr>
          <a:xfrm>
            <a:off x="9363456" y="2286000"/>
            <a:ext cx="804672"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333"/>
              </a:buClr>
              <a:buSzPts val="1600"/>
              <a:buFont typeface="Calibri"/>
              <a:buNone/>
            </a:pPr>
            <a:r>
              <a:rPr b="1" lang="en-US" sz="1600">
                <a:solidFill>
                  <a:srgbClr val="1F2333"/>
                </a:solidFill>
                <a:latin typeface="Calibri"/>
                <a:ea typeface="Calibri"/>
                <a:cs typeface="Calibri"/>
                <a:sym typeface="Calibri"/>
              </a:rPr>
              <a:t>88</a:t>
            </a:r>
            <a:endParaRPr sz="1600">
              <a:solidFill>
                <a:schemeClr val="dk1"/>
              </a:solidFill>
              <a:latin typeface="Calibri"/>
              <a:ea typeface="Calibri"/>
              <a:cs typeface="Calibri"/>
              <a:sym typeface="Calibri"/>
            </a:endParaRPr>
          </a:p>
        </p:txBody>
      </p:sp>
      <p:sp>
        <p:nvSpPr>
          <p:cNvPr id="98" name="Google Shape;98;p3"/>
          <p:cNvSpPr txBox="1"/>
          <p:nvPr/>
        </p:nvSpPr>
        <p:spPr>
          <a:xfrm>
            <a:off x="9363456" y="2962656"/>
            <a:ext cx="80467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072"/>
              </a:buClr>
              <a:buSzPts val="1000"/>
              <a:buFont typeface="Courier New"/>
              <a:buNone/>
            </a:pPr>
            <a:r>
              <a:rPr lang="en-US" sz="1000">
                <a:solidFill>
                  <a:srgbClr val="5A6072"/>
                </a:solidFill>
                <a:latin typeface="Courier New"/>
                <a:ea typeface="Courier New"/>
                <a:cs typeface="Courier New"/>
                <a:sym typeface="Courier New"/>
              </a:rPr>
              <a:t>3</a:t>
            </a:r>
            <a:endParaRPr sz="1000">
              <a:solidFill>
                <a:schemeClr val="dk1"/>
              </a:solidFill>
              <a:latin typeface="Calibri"/>
              <a:ea typeface="Calibri"/>
              <a:cs typeface="Calibri"/>
              <a:sym typeface="Calibri"/>
            </a:endParaRPr>
          </a:p>
        </p:txBody>
      </p:sp>
      <p:sp>
        <p:nvSpPr>
          <p:cNvPr id="99" name="Google Shape;99;p3"/>
          <p:cNvSpPr/>
          <p:nvPr/>
        </p:nvSpPr>
        <p:spPr>
          <a:xfrm>
            <a:off x="10259568" y="2286000"/>
            <a:ext cx="804672" cy="640080"/>
          </a:xfrm>
          <a:prstGeom prst="roundRect">
            <a:avLst>
              <a:gd fmla="val 10000"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3"/>
          <p:cNvSpPr txBox="1"/>
          <p:nvPr/>
        </p:nvSpPr>
        <p:spPr>
          <a:xfrm>
            <a:off x="10259568" y="2286000"/>
            <a:ext cx="804672"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333"/>
              </a:buClr>
              <a:buSzPts val="1600"/>
              <a:buFont typeface="Calibri"/>
              <a:buNone/>
            </a:pPr>
            <a:r>
              <a:rPr b="1" lang="en-US" sz="1600">
                <a:solidFill>
                  <a:srgbClr val="1F2333"/>
                </a:solidFill>
                <a:latin typeface="Calibri"/>
                <a:ea typeface="Calibri"/>
                <a:cs typeface="Calibri"/>
                <a:sym typeface="Calibri"/>
              </a:rPr>
              <a:t>5</a:t>
            </a:r>
            <a:endParaRPr sz="1600">
              <a:solidFill>
                <a:schemeClr val="dk1"/>
              </a:solidFill>
              <a:latin typeface="Calibri"/>
              <a:ea typeface="Calibri"/>
              <a:cs typeface="Calibri"/>
              <a:sym typeface="Calibri"/>
            </a:endParaRPr>
          </a:p>
        </p:txBody>
      </p:sp>
      <p:sp>
        <p:nvSpPr>
          <p:cNvPr id="101" name="Google Shape;101;p3"/>
          <p:cNvSpPr txBox="1"/>
          <p:nvPr/>
        </p:nvSpPr>
        <p:spPr>
          <a:xfrm>
            <a:off x="10259568" y="2962656"/>
            <a:ext cx="80467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072"/>
              </a:buClr>
              <a:buSzPts val="1000"/>
              <a:buFont typeface="Courier New"/>
              <a:buNone/>
            </a:pPr>
            <a:r>
              <a:rPr lang="en-US" sz="1000">
                <a:solidFill>
                  <a:srgbClr val="5A6072"/>
                </a:solidFill>
                <a:latin typeface="Courier New"/>
                <a:ea typeface="Courier New"/>
                <a:cs typeface="Courier New"/>
                <a:sym typeface="Courier New"/>
              </a:rPr>
              <a:t>4</a:t>
            </a:r>
            <a:endParaRPr sz="1000">
              <a:solidFill>
                <a:schemeClr val="dk1"/>
              </a:solidFill>
              <a:latin typeface="Calibri"/>
              <a:ea typeface="Calibri"/>
              <a:cs typeface="Calibri"/>
              <a:sym typeface="Calibri"/>
            </a:endParaRPr>
          </a:p>
        </p:txBody>
      </p:sp>
      <p:sp>
        <p:nvSpPr>
          <p:cNvPr id="102" name="Google Shape;102;p3"/>
          <p:cNvSpPr txBox="1"/>
          <p:nvPr/>
        </p:nvSpPr>
        <p:spPr>
          <a:xfrm>
            <a:off x="6675120" y="3218688"/>
            <a:ext cx="10972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000"/>
              <a:buFont typeface="Calibri"/>
              <a:buNone/>
            </a:pPr>
            <a:r>
              <a:rPr i="1" lang="en-US" sz="1000">
                <a:solidFill>
                  <a:srgbClr val="5A6072"/>
                </a:solidFill>
                <a:latin typeface="Calibri"/>
                <a:ea typeface="Calibri"/>
                <a:cs typeface="Calibri"/>
                <a:sym typeface="Calibri"/>
              </a:rPr>
              <a:t>index</a:t>
            </a:r>
            <a:endParaRPr sz="1000">
              <a:solidFill>
                <a:schemeClr val="dk1"/>
              </a:solidFill>
              <a:latin typeface="Calibri"/>
              <a:ea typeface="Calibri"/>
              <a:cs typeface="Calibri"/>
              <a:sym typeface="Calibri"/>
            </a:endParaRPr>
          </a:p>
        </p:txBody>
      </p:sp>
      <p:sp>
        <p:nvSpPr>
          <p:cNvPr id="103" name="Google Shape;103;p3"/>
          <p:cNvSpPr txBox="1"/>
          <p:nvPr/>
        </p:nvSpPr>
        <p:spPr>
          <a:xfrm>
            <a:off x="6675120" y="3703320"/>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400"/>
              <a:buFont typeface="Courier New"/>
              <a:buNone/>
            </a:pPr>
            <a:r>
              <a:rPr b="1" lang="en-US" sz="1400">
                <a:solidFill>
                  <a:srgbClr val="FF6B35"/>
                </a:solidFill>
                <a:latin typeface="Courier New"/>
                <a:ea typeface="Courier New"/>
                <a:cs typeface="Courier New"/>
                <a:sym typeface="Courier New"/>
              </a:rPr>
              <a:t>arr[3]  gives back  88</a:t>
            </a:r>
            <a:endParaRPr sz="1400">
              <a:solidFill>
                <a:schemeClr val="dk1"/>
              </a:solidFill>
              <a:latin typeface="Calibri"/>
              <a:ea typeface="Calibri"/>
              <a:cs typeface="Calibri"/>
              <a:sym typeface="Calibri"/>
            </a:endParaRPr>
          </a:p>
        </p:txBody>
      </p:sp>
      <p:sp>
        <p:nvSpPr>
          <p:cNvPr id="104" name="Google Shape;104;p3"/>
          <p:cNvSpPr txBox="1"/>
          <p:nvPr/>
        </p:nvSpPr>
        <p:spPr>
          <a:xfrm>
            <a:off x="6675120" y="4160520"/>
            <a:ext cx="4480560" cy="1280160"/>
          </a:xfrm>
          <a:prstGeom prst="rect">
            <a:avLst/>
          </a:prstGeom>
          <a:noFill/>
          <a:ln>
            <a:noFill/>
          </a:ln>
        </p:spPr>
        <p:txBody>
          <a:bodyPr anchorCtr="0" anchor="ctr" bIns="0" lIns="0" spcFirstLastPara="1" rIns="0" wrap="square" tIns="0">
            <a:noAutofit/>
          </a:bodyPr>
          <a:lstStyle/>
          <a:p>
            <a:pPr indent="0" lvl="0" marL="0" marR="0" rtl="0" algn="l">
              <a:lnSpc>
                <a:spcPct val="155555"/>
              </a:lnSpc>
              <a:spcBef>
                <a:spcPts val="0"/>
              </a:spcBef>
              <a:spcAft>
                <a:spcPts val="0"/>
              </a:spcAft>
              <a:buClr>
                <a:srgbClr val="5A6072"/>
              </a:buClr>
              <a:buSzPts val="1350"/>
              <a:buFont typeface="Calibri"/>
              <a:buNone/>
            </a:pPr>
            <a:r>
              <a:rPr lang="en-US" sz="1350">
                <a:solidFill>
                  <a:srgbClr val="5A6072"/>
                </a:solidFill>
                <a:latin typeface="Calibri"/>
                <a:ea typeface="Calibri"/>
                <a:cs typeface="Calibri"/>
                <a:sym typeface="Calibri"/>
              </a:rPr>
              <a:t>The computer finds it with arithmetic:</a:t>
            </a:r>
            <a:endParaRPr sz="1350">
              <a:solidFill>
                <a:schemeClr val="dk1"/>
              </a:solidFill>
              <a:latin typeface="Calibri"/>
              <a:ea typeface="Calibri"/>
              <a:cs typeface="Calibri"/>
              <a:sym typeface="Calibri"/>
            </a:endParaRPr>
          </a:p>
          <a:p>
            <a:pPr indent="0" lvl="0" marL="0" marR="0" rtl="0" algn="l">
              <a:lnSpc>
                <a:spcPct val="155555"/>
              </a:lnSpc>
              <a:spcBef>
                <a:spcPts val="0"/>
              </a:spcBef>
              <a:spcAft>
                <a:spcPts val="0"/>
              </a:spcAft>
              <a:buClr>
                <a:srgbClr val="5A6072"/>
              </a:buClr>
              <a:buSzPts val="1350"/>
              <a:buFont typeface="Calibri"/>
              <a:buNone/>
            </a:pPr>
            <a:r>
              <a:rPr lang="en-US" sz="1350">
                <a:solidFill>
                  <a:srgbClr val="5A6072"/>
                </a:solidFill>
                <a:latin typeface="Calibri"/>
                <a:ea typeface="Calibri"/>
                <a:cs typeface="Calibri"/>
                <a:sym typeface="Calibri"/>
              </a:rPr>
              <a:t>start address + (3 x size of one value).</a:t>
            </a:r>
            <a:endParaRPr sz="1350">
              <a:solidFill>
                <a:schemeClr val="dk1"/>
              </a:solidFill>
              <a:latin typeface="Calibri"/>
              <a:ea typeface="Calibri"/>
              <a:cs typeface="Calibri"/>
              <a:sym typeface="Calibri"/>
            </a:endParaRPr>
          </a:p>
          <a:p>
            <a:pPr indent="0" lvl="0" marL="0" marR="0" rtl="0" algn="l">
              <a:lnSpc>
                <a:spcPct val="155555"/>
              </a:lnSpc>
              <a:spcBef>
                <a:spcPts val="0"/>
              </a:spcBef>
              <a:spcAft>
                <a:spcPts val="0"/>
              </a:spcAft>
              <a:buClr>
                <a:srgbClr val="5A6072"/>
              </a:buClr>
              <a:buSzPts val="1350"/>
              <a:buFont typeface="Calibri"/>
              <a:buNone/>
            </a:pPr>
            <a:r>
              <a:rPr lang="en-US" sz="1350">
                <a:solidFill>
                  <a:srgbClr val="5A6072"/>
                </a:solidFill>
                <a:latin typeface="Calibri"/>
                <a:ea typeface="Calibri"/>
                <a:cs typeface="Calibri"/>
                <a:sym typeface="Calibri"/>
              </a:rPr>
              <a:t>No scanning, no loop, no matter how long the array is.</a:t>
            </a:r>
            <a:endParaRPr sz="135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109" name="Shape 109"/>
        <p:cNvGrpSpPr/>
        <p:nvPr/>
      </p:nvGrpSpPr>
      <p:grpSpPr>
        <a:xfrm>
          <a:off x="0" y="0"/>
          <a:ext cx="0" cy="0"/>
          <a:chOff x="0" y="0"/>
          <a:chExt cx="0" cy="0"/>
        </a:xfrm>
      </p:grpSpPr>
      <p:sp>
        <p:nvSpPr>
          <p:cNvPr id="110" name="Google Shape;110;p4"/>
          <p:cNvSpPr txBox="1"/>
          <p:nvPr/>
        </p:nvSpPr>
        <p:spPr>
          <a:xfrm>
            <a:off x="731520" y="713232"/>
            <a:ext cx="107899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3200"/>
              <a:buFont typeface="Arial"/>
              <a:buNone/>
            </a:pPr>
            <a:r>
              <a:rPr b="1" lang="en-US" sz="3200">
                <a:solidFill>
                  <a:srgbClr val="1F2333"/>
                </a:solidFill>
                <a:latin typeface="Arial"/>
                <a:ea typeface="Arial"/>
                <a:cs typeface="Arial"/>
                <a:sym typeface="Arial"/>
              </a:rPr>
              <a:t>Python lists and what they hide</a:t>
            </a:r>
            <a:endParaRPr sz="3200">
              <a:solidFill>
                <a:schemeClr val="dk1"/>
              </a:solidFill>
              <a:latin typeface="Calibri"/>
              <a:ea typeface="Calibri"/>
              <a:cs typeface="Calibri"/>
              <a:sym typeface="Calibri"/>
            </a:endParaRPr>
          </a:p>
        </p:txBody>
      </p:sp>
      <p:sp>
        <p:nvSpPr>
          <p:cNvPr id="111" name="Google Shape;111;p4"/>
          <p:cNvSpPr txBox="1"/>
          <p:nvPr/>
        </p:nvSpPr>
        <p:spPr>
          <a:xfrm>
            <a:off x="731520" y="1463040"/>
            <a:ext cx="10698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400"/>
              <a:buFont typeface="Calibri"/>
              <a:buNone/>
            </a:pPr>
            <a:r>
              <a:rPr i="1" lang="en-US" sz="1400">
                <a:solidFill>
                  <a:srgbClr val="5A6072"/>
                </a:solidFill>
                <a:latin typeface="Calibri"/>
                <a:ea typeface="Calibri"/>
                <a:cs typeface="Calibri"/>
                <a:sym typeface="Calibri"/>
              </a:rPr>
              <a:t>Prerequisite for this module: comfort with Python, plus variables, loops, and conditionals.</a:t>
            </a:r>
            <a:endParaRPr sz="1400">
              <a:solidFill>
                <a:schemeClr val="dk1"/>
              </a:solidFill>
              <a:latin typeface="Calibri"/>
              <a:ea typeface="Calibri"/>
              <a:cs typeface="Calibri"/>
              <a:sym typeface="Calibri"/>
            </a:endParaRPr>
          </a:p>
        </p:txBody>
      </p:sp>
      <p:sp>
        <p:nvSpPr>
          <p:cNvPr id="112" name="Google Shape;112;p4"/>
          <p:cNvSpPr/>
          <p:nvPr/>
        </p:nvSpPr>
        <p:spPr>
          <a:xfrm>
            <a:off x="731520" y="1965960"/>
            <a:ext cx="5212080" cy="3566160"/>
          </a:xfrm>
          <a:prstGeom prst="roundRect">
            <a:avLst>
              <a:gd fmla="val 1282"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4"/>
          <p:cNvSpPr txBox="1"/>
          <p:nvPr/>
        </p:nvSpPr>
        <p:spPr>
          <a:xfrm>
            <a:off x="1005840" y="2194560"/>
            <a:ext cx="4663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800"/>
              <a:buFont typeface="Arial"/>
              <a:buNone/>
            </a:pPr>
            <a:r>
              <a:rPr b="1" lang="en-US" sz="1800">
                <a:solidFill>
                  <a:srgbClr val="1F2333"/>
                </a:solidFill>
                <a:latin typeface="Arial"/>
                <a:ea typeface="Arial"/>
                <a:cs typeface="Arial"/>
                <a:sym typeface="Arial"/>
              </a:rPr>
              <a:t>What a list gives you</a:t>
            </a:r>
            <a:endParaRPr sz="1800">
              <a:solidFill>
                <a:schemeClr val="dk1"/>
              </a:solidFill>
              <a:latin typeface="Calibri"/>
              <a:ea typeface="Calibri"/>
              <a:cs typeface="Calibri"/>
              <a:sym typeface="Calibri"/>
            </a:endParaRPr>
          </a:p>
        </p:txBody>
      </p:sp>
      <p:sp>
        <p:nvSpPr>
          <p:cNvPr id="114" name="Google Shape;114;p4"/>
          <p:cNvSpPr txBox="1"/>
          <p:nvPr/>
        </p:nvSpPr>
        <p:spPr>
          <a:xfrm>
            <a:off x="1005840" y="2542032"/>
            <a:ext cx="4663440" cy="566928"/>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5A6072"/>
              </a:buClr>
              <a:buSzPts val="1350"/>
              <a:buFont typeface="Calibri"/>
              <a:buNone/>
            </a:pPr>
            <a:r>
              <a:rPr lang="en-US" sz="1350">
                <a:solidFill>
                  <a:srgbClr val="5A6072"/>
                </a:solidFill>
                <a:latin typeface="Calibri"/>
                <a:ea typeface="Calibri"/>
                <a:cs typeface="Calibri"/>
                <a:sym typeface="Calibri"/>
              </a:rPr>
              <a:t>It grows on demand, it holds any type, and you never declare a size.</a:t>
            </a:r>
            <a:endParaRPr sz="1350">
              <a:solidFill>
                <a:schemeClr val="dk1"/>
              </a:solidFill>
              <a:latin typeface="Calibri"/>
              <a:ea typeface="Calibri"/>
              <a:cs typeface="Calibri"/>
              <a:sym typeface="Calibri"/>
            </a:endParaRPr>
          </a:p>
        </p:txBody>
      </p:sp>
      <p:sp>
        <p:nvSpPr>
          <p:cNvPr id="115" name="Google Shape;115;p4"/>
          <p:cNvSpPr/>
          <p:nvPr/>
        </p:nvSpPr>
        <p:spPr>
          <a:xfrm>
            <a:off x="1005840" y="3200400"/>
            <a:ext cx="4663440" cy="1417320"/>
          </a:xfrm>
          <a:prstGeom prst="roundRect">
            <a:avLst>
              <a:gd fmla="val 3871" name="adj"/>
            </a:avLst>
          </a:prstGeom>
          <a:solidFill>
            <a:srgbClr val="1B1E33"/>
          </a:solidFill>
          <a:ln cap="flat" cmpd="sng" w="12700">
            <a:solidFill>
              <a:srgbClr val="1B1E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4"/>
          <p:cNvSpPr txBox="1"/>
          <p:nvPr/>
        </p:nvSpPr>
        <p:spPr>
          <a:xfrm>
            <a:off x="1207008" y="3291840"/>
            <a:ext cx="426110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000"/>
              <a:buFont typeface="Calibri"/>
              <a:buNone/>
            </a:pPr>
            <a:r>
              <a:rPr b="1" lang="en-US" sz="1000">
                <a:solidFill>
                  <a:srgbClr val="FF6B35"/>
                </a:solidFill>
                <a:latin typeface="Calibri"/>
                <a:ea typeface="Calibri"/>
                <a:cs typeface="Calibri"/>
                <a:sym typeface="Calibri"/>
              </a:rPr>
              <a:t>PYTHON</a:t>
            </a:r>
            <a:endParaRPr sz="1000">
              <a:solidFill>
                <a:schemeClr val="dk1"/>
              </a:solidFill>
              <a:latin typeface="Calibri"/>
              <a:ea typeface="Calibri"/>
              <a:cs typeface="Calibri"/>
              <a:sym typeface="Calibri"/>
            </a:endParaRPr>
          </a:p>
        </p:txBody>
      </p:sp>
      <p:sp>
        <p:nvSpPr>
          <p:cNvPr id="117" name="Google Shape;117;p4"/>
          <p:cNvSpPr txBox="1"/>
          <p:nvPr/>
        </p:nvSpPr>
        <p:spPr>
          <a:xfrm>
            <a:off x="1207008" y="3547872"/>
            <a:ext cx="4261104" cy="96012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E8EAF6"/>
              </a:buClr>
              <a:buSzPts val="1200"/>
              <a:buFont typeface="Courier New"/>
              <a:buNone/>
            </a:pPr>
            <a:r>
              <a:rPr lang="en-US" sz="1200">
                <a:solidFill>
                  <a:srgbClr val="E8EAF6"/>
                </a:solidFill>
                <a:latin typeface="Courier New"/>
                <a:ea typeface="Courier New"/>
                <a:cs typeface="Courier New"/>
                <a:sym typeface="Courier New"/>
              </a:rPr>
              <a:t>nums = [42, 5, 19, “hello”]</a:t>
            </a:r>
            <a:endParaRPr sz="1200">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E8EAF6"/>
              </a:buClr>
              <a:buSzPts val="1200"/>
              <a:buFont typeface="Courier New"/>
              <a:buNone/>
            </a:pPr>
            <a:r>
              <a:rPr lang="en-US" sz="1200">
                <a:solidFill>
                  <a:srgbClr val="E8EAF6"/>
                </a:solidFill>
                <a:latin typeface="Courier New"/>
                <a:ea typeface="Courier New"/>
                <a:cs typeface="Courier New"/>
                <a:sym typeface="Courier New"/>
              </a:rPr>
              <a:t>nums.append(88)</a:t>
            </a:r>
            <a:endParaRPr sz="1200">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E8EAF6"/>
              </a:buClr>
              <a:buSzPts val="1200"/>
              <a:buFont typeface="Courier New"/>
              <a:buNone/>
            </a:pPr>
            <a:r>
              <a:rPr lang="en-US" sz="1200">
                <a:solidFill>
                  <a:srgbClr val="E8EAF6"/>
                </a:solidFill>
                <a:latin typeface="Courier New"/>
                <a:ea typeface="Courier New"/>
                <a:cs typeface="Courier New"/>
                <a:sym typeface="Courier New"/>
              </a:rPr>
              <a:t>nums[0] = 5</a:t>
            </a:r>
            <a:endParaRPr sz="1200">
              <a:solidFill>
                <a:schemeClr val="dk1"/>
              </a:solidFill>
              <a:latin typeface="Calibri"/>
              <a:ea typeface="Calibri"/>
              <a:cs typeface="Calibri"/>
              <a:sym typeface="Calibri"/>
            </a:endParaRPr>
          </a:p>
        </p:txBody>
      </p:sp>
      <p:sp>
        <p:nvSpPr>
          <p:cNvPr id="118" name="Google Shape;118;p4"/>
          <p:cNvSpPr txBox="1"/>
          <p:nvPr/>
        </p:nvSpPr>
        <p:spPr>
          <a:xfrm>
            <a:off x="1005850" y="4754877"/>
            <a:ext cx="4663500" cy="3201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5A6072"/>
              </a:buClr>
              <a:buSzPts val="1300"/>
              <a:buFont typeface="Calibri"/>
              <a:buNone/>
            </a:pPr>
            <a:r>
              <a:rPr lang="en-US" sz="1300">
                <a:solidFill>
                  <a:srgbClr val="5A6072"/>
                </a:solidFill>
                <a:latin typeface="Calibri"/>
                <a:ea typeface="Calibri"/>
                <a:cs typeface="Calibri"/>
                <a:sym typeface="Calibri"/>
              </a:rPr>
              <a:t>Convenient, and nothing here looks expensive.</a:t>
            </a:r>
            <a:endParaRPr sz="1300">
              <a:solidFill>
                <a:schemeClr val="dk1"/>
              </a:solidFill>
              <a:latin typeface="Calibri"/>
              <a:ea typeface="Calibri"/>
              <a:cs typeface="Calibri"/>
              <a:sym typeface="Calibri"/>
            </a:endParaRPr>
          </a:p>
        </p:txBody>
      </p:sp>
      <p:sp>
        <p:nvSpPr>
          <p:cNvPr id="119" name="Google Shape;119;p4"/>
          <p:cNvSpPr/>
          <p:nvPr/>
        </p:nvSpPr>
        <p:spPr>
          <a:xfrm>
            <a:off x="6217920" y="1965960"/>
            <a:ext cx="5212200" cy="3566100"/>
          </a:xfrm>
          <a:prstGeom prst="roundRect">
            <a:avLst>
              <a:gd fmla="val 1282"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4"/>
          <p:cNvSpPr txBox="1"/>
          <p:nvPr/>
        </p:nvSpPr>
        <p:spPr>
          <a:xfrm>
            <a:off x="6492240" y="2194560"/>
            <a:ext cx="46635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800"/>
              <a:buFont typeface="Arial"/>
              <a:buNone/>
            </a:pPr>
            <a:r>
              <a:rPr b="1" lang="en-US" sz="1600">
                <a:solidFill>
                  <a:srgbClr val="1F2333"/>
                </a:solidFill>
              </a:rPr>
              <a:t>Built in Array</a:t>
            </a:r>
            <a:endParaRPr sz="1600">
              <a:solidFill>
                <a:schemeClr val="dk1"/>
              </a:solidFill>
              <a:latin typeface="Calibri"/>
              <a:ea typeface="Calibri"/>
              <a:cs typeface="Calibri"/>
              <a:sym typeface="Calibri"/>
            </a:endParaRPr>
          </a:p>
        </p:txBody>
      </p:sp>
      <p:sp>
        <p:nvSpPr>
          <p:cNvPr id="121" name="Google Shape;121;p4"/>
          <p:cNvSpPr/>
          <p:nvPr/>
        </p:nvSpPr>
        <p:spPr>
          <a:xfrm>
            <a:off x="6492275" y="2625580"/>
            <a:ext cx="4663500" cy="2504100"/>
          </a:xfrm>
          <a:prstGeom prst="roundRect">
            <a:avLst>
              <a:gd fmla="val 3871" name="adj"/>
            </a:avLst>
          </a:prstGeom>
          <a:solidFill>
            <a:srgbClr val="1B1E33"/>
          </a:solidFill>
          <a:ln cap="flat" cmpd="sng" w="12700">
            <a:solidFill>
              <a:srgbClr val="1B1E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4"/>
          <p:cNvSpPr txBox="1"/>
          <p:nvPr/>
        </p:nvSpPr>
        <p:spPr>
          <a:xfrm>
            <a:off x="6647608" y="2717005"/>
            <a:ext cx="4261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000"/>
              <a:buFont typeface="Calibri"/>
              <a:buNone/>
            </a:pPr>
            <a:r>
              <a:rPr b="1" lang="en-US" sz="1000">
                <a:solidFill>
                  <a:srgbClr val="FF6B35"/>
                </a:solidFill>
                <a:latin typeface="Calibri"/>
                <a:ea typeface="Calibri"/>
                <a:cs typeface="Calibri"/>
                <a:sym typeface="Calibri"/>
              </a:rPr>
              <a:t>PYTHON</a:t>
            </a:r>
            <a:endParaRPr sz="1000">
              <a:solidFill>
                <a:schemeClr val="dk1"/>
              </a:solidFill>
              <a:latin typeface="Calibri"/>
              <a:ea typeface="Calibri"/>
              <a:cs typeface="Calibri"/>
              <a:sym typeface="Calibri"/>
            </a:endParaRPr>
          </a:p>
        </p:txBody>
      </p:sp>
      <p:sp>
        <p:nvSpPr>
          <p:cNvPr id="123" name="Google Shape;123;p4"/>
          <p:cNvSpPr txBox="1"/>
          <p:nvPr/>
        </p:nvSpPr>
        <p:spPr>
          <a:xfrm>
            <a:off x="6647600" y="2973042"/>
            <a:ext cx="4261200" cy="1608600"/>
          </a:xfrm>
          <a:prstGeom prst="rect">
            <a:avLst/>
          </a:prstGeom>
          <a:noFill/>
          <a:ln>
            <a:noFill/>
          </a:ln>
        </p:spPr>
        <p:txBody>
          <a:bodyPr anchorCtr="0" anchor="t" bIns="0" lIns="0" spcFirstLastPara="1" rIns="0" wrap="square" tIns="0">
            <a:noAutofit/>
          </a:bodyPr>
          <a:lstStyle/>
          <a:p>
            <a:pPr indent="0" lvl="0" marL="0" marR="0" rtl="0" algn="l">
              <a:lnSpc>
                <a:spcPct val="145043"/>
              </a:lnSpc>
              <a:spcBef>
                <a:spcPts val="0"/>
              </a:spcBef>
              <a:spcAft>
                <a:spcPts val="0"/>
              </a:spcAft>
              <a:buClr>
                <a:srgbClr val="E8EAF6"/>
              </a:buClr>
              <a:buSzPts val="1150"/>
              <a:buFont typeface="Courier New"/>
              <a:buNone/>
            </a:pPr>
            <a:r>
              <a:rPr lang="en-US" sz="950">
                <a:solidFill>
                  <a:schemeClr val="lt1"/>
                </a:solidFill>
                <a:latin typeface="Courier New"/>
                <a:ea typeface="Courier New"/>
                <a:cs typeface="Courier New"/>
                <a:sym typeface="Courier New"/>
              </a:rPr>
              <a:t>import array </a:t>
            </a:r>
            <a:endParaRPr sz="950">
              <a:solidFill>
                <a:schemeClr val="lt1"/>
              </a:solidFill>
              <a:latin typeface="Courier New"/>
              <a:ea typeface="Courier New"/>
              <a:cs typeface="Courier New"/>
              <a:sym typeface="Courier New"/>
            </a:endParaRPr>
          </a:p>
          <a:p>
            <a:pPr indent="0" lvl="0" marL="0" marR="0" rtl="0" algn="l">
              <a:lnSpc>
                <a:spcPct val="145043"/>
              </a:lnSpc>
              <a:spcBef>
                <a:spcPts val="0"/>
              </a:spcBef>
              <a:spcAft>
                <a:spcPts val="0"/>
              </a:spcAft>
              <a:buClr>
                <a:srgbClr val="E8EAF6"/>
              </a:buClr>
              <a:buSzPts val="1150"/>
              <a:buFont typeface="Courier New"/>
              <a:buNone/>
            </a:pPr>
            <a:r>
              <a:t/>
            </a:r>
            <a:endParaRPr sz="950">
              <a:solidFill>
                <a:schemeClr val="lt1"/>
              </a:solidFill>
              <a:latin typeface="Courier New"/>
              <a:ea typeface="Courier New"/>
              <a:cs typeface="Courier New"/>
              <a:sym typeface="Courier New"/>
            </a:endParaRPr>
          </a:p>
          <a:p>
            <a:pPr indent="0" lvl="0" marL="0" marR="0" rtl="0" algn="l">
              <a:lnSpc>
                <a:spcPct val="145043"/>
              </a:lnSpc>
              <a:spcBef>
                <a:spcPts val="0"/>
              </a:spcBef>
              <a:spcAft>
                <a:spcPts val="0"/>
              </a:spcAft>
              <a:buClr>
                <a:srgbClr val="E8EAF6"/>
              </a:buClr>
              <a:buSzPts val="1150"/>
              <a:buFont typeface="Courier New"/>
              <a:buNone/>
            </a:pPr>
            <a:r>
              <a:rPr lang="en-US" sz="950">
                <a:solidFill>
                  <a:schemeClr val="lt1"/>
                </a:solidFill>
                <a:latin typeface="Courier New"/>
                <a:ea typeface="Courier New"/>
                <a:cs typeface="Courier New"/>
                <a:sym typeface="Courier New"/>
              </a:rPr>
              <a:t># Create an array of integers ('i') </a:t>
            </a:r>
            <a:endParaRPr sz="950">
              <a:solidFill>
                <a:schemeClr val="lt1"/>
              </a:solidFill>
              <a:latin typeface="Courier New"/>
              <a:ea typeface="Courier New"/>
              <a:cs typeface="Courier New"/>
              <a:sym typeface="Courier New"/>
            </a:endParaRPr>
          </a:p>
          <a:p>
            <a:pPr indent="0" lvl="0" marL="0" marR="0" rtl="0" algn="l">
              <a:lnSpc>
                <a:spcPct val="145043"/>
              </a:lnSpc>
              <a:spcBef>
                <a:spcPts val="0"/>
              </a:spcBef>
              <a:spcAft>
                <a:spcPts val="0"/>
              </a:spcAft>
              <a:buClr>
                <a:srgbClr val="E8EAF6"/>
              </a:buClr>
              <a:buSzPts val="1150"/>
              <a:buFont typeface="Courier New"/>
              <a:buNone/>
            </a:pPr>
            <a:r>
              <a:rPr lang="en-US" sz="950">
                <a:solidFill>
                  <a:schemeClr val="lt1"/>
                </a:solidFill>
                <a:latin typeface="Courier New"/>
                <a:ea typeface="Courier New"/>
                <a:cs typeface="Courier New"/>
                <a:sym typeface="Courier New"/>
              </a:rPr>
              <a:t>numbers = array.array('i', [1, 2, 3, 4])</a:t>
            </a:r>
            <a:endParaRPr sz="950">
              <a:solidFill>
                <a:schemeClr val="lt1"/>
              </a:solidFill>
              <a:latin typeface="Courier New"/>
              <a:ea typeface="Courier New"/>
              <a:cs typeface="Courier New"/>
              <a:sym typeface="Courier New"/>
            </a:endParaRPr>
          </a:p>
          <a:p>
            <a:pPr indent="0" lvl="0" marL="0" marR="0" rtl="0" algn="l">
              <a:lnSpc>
                <a:spcPct val="145043"/>
              </a:lnSpc>
              <a:spcBef>
                <a:spcPts val="0"/>
              </a:spcBef>
              <a:spcAft>
                <a:spcPts val="0"/>
              </a:spcAft>
              <a:buClr>
                <a:srgbClr val="E8EAF6"/>
              </a:buClr>
              <a:buSzPts val="1150"/>
              <a:buFont typeface="Courier New"/>
              <a:buNone/>
            </a:pPr>
            <a:r>
              <a:rPr lang="en-US" sz="950">
                <a:solidFill>
                  <a:schemeClr val="lt1"/>
                </a:solidFill>
                <a:latin typeface="Courier New"/>
                <a:ea typeface="Courier New"/>
                <a:cs typeface="Courier New"/>
                <a:sym typeface="Courier New"/>
              </a:rPr>
              <a:t> </a:t>
            </a:r>
            <a:endParaRPr sz="950">
              <a:solidFill>
                <a:schemeClr val="lt1"/>
              </a:solidFill>
              <a:latin typeface="Courier New"/>
              <a:ea typeface="Courier New"/>
              <a:cs typeface="Courier New"/>
              <a:sym typeface="Courier New"/>
            </a:endParaRPr>
          </a:p>
          <a:p>
            <a:pPr indent="0" lvl="0" marL="0" marR="0" rtl="0" algn="l">
              <a:lnSpc>
                <a:spcPct val="145043"/>
              </a:lnSpc>
              <a:spcBef>
                <a:spcPts val="0"/>
              </a:spcBef>
              <a:spcAft>
                <a:spcPts val="0"/>
              </a:spcAft>
              <a:buClr>
                <a:srgbClr val="E8EAF6"/>
              </a:buClr>
              <a:buSzPts val="1150"/>
              <a:buFont typeface="Courier New"/>
              <a:buNone/>
            </a:pPr>
            <a:r>
              <a:rPr lang="en-US" sz="950">
                <a:solidFill>
                  <a:schemeClr val="lt1"/>
                </a:solidFill>
                <a:latin typeface="Courier New"/>
                <a:ea typeface="Courier New"/>
                <a:cs typeface="Courier New"/>
                <a:sym typeface="Courier New"/>
              </a:rPr>
              <a:t># Access </a:t>
            </a:r>
            <a:r>
              <a:rPr lang="en-US" sz="950">
                <a:solidFill>
                  <a:schemeClr val="lt1"/>
                </a:solidFill>
                <a:latin typeface="Courier New"/>
                <a:ea typeface="Courier New"/>
                <a:cs typeface="Courier New"/>
                <a:sym typeface="Courier New"/>
              </a:rPr>
              <a:t>elements </a:t>
            </a:r>
            <a:endParaRPr sz="950">
              <a:solidFill>
                <a:schemeClr val="lt1"/>
              </a:solidFill>
              <a:latin typeface="Courier New"/>
              <a:ea typeface="Courier New"/>
              <a:cs typeface="Courier New"/>
              <a:sym typeface="Courier New"/>
            </a:endParaRPr>
          </a:p>
          <a:p>
            <a:pPr indent="0" lvl="0" marL="0" marR="0" rtl="0" algn="l">
              <a:lnSpc>
                <a:spcPct val="145043"/>
              </a:lnSpc>
              <a:spcBef>
                <a:spcPts val="0"/>
              </a:spcBef>
              <a:spcAft>
                <a:spcPts val="0"/>
              </a:spcAft>
              <a:buClr>
                <a:srgbClr val="E8EAF6"/>
              </a:buClr>
              <a:buSzPts val="1150"/>
              <a:buFont typeface="Courier New"/>
              <a:buNone/>
            </a:pPr>
            <a:r>
              <a:rPr lang="en-US" sz="950">
                <a:solidFill>
                  <a:schemeClr val="lt1"/>
                </a:solidFill>
                <a:latin typeface="Courier New"/>
                <a:ea typeface="Courier New"/>
                <a:cs typeface="Courier New"/>
                <a:sym typeface="Courier New"/>
              </a:rPr>
              <a:t>print(numbers[2]) </a:t>
            </a:r>
            <a:endParaRPr sz="950">
              <a:solidFill>
                <a:schemeClr val="lt1"/>
              </a:solidFill>
              <a:latin typeface="Courier New"/>
              <a:ea typeface="Courier New"/>
              <a:cs typeface="Courier New"/>
              <a:sym typeface="Courier New"/>
            </a:endParaRPr>
          </a:p>
          <a:p>
            <a:pPr indent="0" lvl="0" marL="0" marR="0" rtl="0" algn="l">
              <a:lnSpc>
                <a:spcPct val="145043"/>
              </a:lnSpc>
              <a:spcBef>
                <a:spcPts val="0"/>
              </a:spcBef>
              <a:spcAft>
                <a:spcPts val="0"/>
              </a:spcAft>
              <a:buClr>
                <a:srgbClr val="E8EAF6"/>
              </a:buClr>
              <a:buSzPts val="1150"/>
              <a:buFont typeface="Courier New"/>
              <a:buNone/>
            </a:pPr>
            <a:r>
              <a:t/>
            </a:r>
            <a:endParaRPr sz="950">
              <a:solidFill>
                <a:schemeClr val="lt1"/>
              </a:solidFill>
              <a:latin typeface="Courier New"/>
              <a:ea typeface="Courier New"/>
              <a:cs typeface="Courier New"/>
              <a:sym typeface="Courier New"/>
            </a:endParaRPr>
          </a:p>
          <a:p>
            <a:pPr indent="0" lvl="0" marL="0" marR="0" rtl="0" algn="l">
              <a:lnSpc>
                <a:spcPct val="145043"/>
              </a:lnSpc>
              <a:spcBef>
                <a:spcPts val="0"/>
              </a:spcBef>
              <a:spcAft>
                <a:spcPts val="0"/>
              </a:spcAft>
              <a:buClr>
                <a:srgbClr val="E8EAF6"/>
              </a:buClr>
              <a:buSzPts val="1150"/>
              <a:buFont typeface="Courier New"/>
              <a:buNone/>
            </a:pPr>
            <a:r>
              <a:rPr lang="en-US" sz="950">
                <a:solidFill>
                  <a:schemeClr val="lt1"/>
                </a:solidFill>
                <a:latin typeface="Courier New"/>
                <a:ea typeface="Courier New"/>
                <a:cs typeface="Courier New"/>
                <a:sym typeface="Courier New"/>
              </a:rPr>
              <a:t># Add an item </a:t>
            </a:r>
            <a:endParaRPr sz="950">
              <a:solidFill>
                <a:schemeClr val="lt1"/>
              </a:solidFill>
              <a:latin typeface="Courier New"/>
              <a:ea typeface="Courier New"/>
              <a:cs typeface="Courier New"/>
              <a:sym typeface="Courier New"/>
            </a:endParaRPr>
          </a:p>
          <a:p>
            <a:pPr indent="0" lvl="0" marL="0" marR="0" rtl="0" algn="l">
              <a:lnSpc>
                <a:spcPct val="145043"/>
              </a:lnSpc>
              <a:spcBef>
                <a:spcPts val="0"/>
              </a:spcBef>
              <a:spcAft>
                <a:spcPts val="0"/>
              </a:spcAft>
              <a:buClr>
                <a:srgbClr val="E8EAF6"/>
              </a:buClr>
              <a:buSzPts val="1150"/>
              <a:buFont typeface="Courier New"/>
              <a:buNone/>
            </a:pPr>
            <a:r>
              <a:rPr lang="en-US" sz="950">
                <a:solidFill>
                  <a:schemeClr val="lt1"/>
                </a:solidFill>
                <a:latin typeface="Courier New"/>
                <a:ea typeface="Courier New"/>
                <a:cs typeface="Courier New"/>
                <a:sym typeface="Courier New"/>
              </a:rPr>
              <a:t>numbers.append(5)</a:t>
            </a:r>
            <a:endParaRPr sz="1050">
              <a:solidFill>
                <a:schemeClr val="lt1"/>
              </a:solidFill>
              <a:latin typeface="Calibri"/>
              <a:ea typeface="Calibri"/>
              <a:cs typeface="Calibri"/>
              <a:sym typeface="Calibri"/>
            </a:endParaRPr>
          </a:p>
        </p:txBody>
      </p:sp>
      <p:sp>
        <p:nvSpPr>
          <p:cNvPr id="124" name="Google Shape;124;p4"/>
          <p:cNvSpPr txBox="1"/>
          <p:nvPr/>
        </p:nvSpPr>
        <p:spPr>
          <a:xfrm>
            <a:off x="731520" y="5715000"/>
            <a:ext cx="10698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300"/>
              <a:buFont typeface="Calibri"/>
              <a:buNone/>
            </a:pPr>
            <a:r>
              <a:rPr i="1" lang="en-US" sz="1300">
                <a:solidFill>
                  <a:srgbClr val="5A6072"/>
                </a:solidFill>
                <a:latin typeface="Calibri"/>
                <a:ea typeface="Calibri"/>
                <a:cs typeface="Calibri"/>
                <a:sym typeface="Calibri"/>
              </a:rPr>
              <a:t>Other languages make the size and type explicit up front, but the costs underneath are the same everywhere.</a:t>
            </a:r>
            <a:endParaRPr sz="13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129" name="Shape 129"/>
        <p:cNvGrpSpPr/>
        <p:nvPr/>
      </p:nvGrpSpPr>
      <p:grpSpPr>
        <a:xfrm>
          <a:off x="0" y="0"/>
          <a:ext cx="0" cy="0"/>
          <a:chOff x="0" y="0"/>
          <a:chExt cx="0" cy="0"/>
        </a:xfrm>
      </p:grpSpPr>
      <p:sp>
        <p:nvSpPr>
          <p:cNvPr id="130" name="Google Shape;130;p5"/>
          <p:cNvSpPr txBox="1"/>
          <p:nvPr/>
        </p:nvSpPr>
        <p:spPr>
          <a:xfrm>
            <a:off x="731520" y="713232"/>
            <a:ext cx="107899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3200"/>
              <a:buFont typeface="Arial"/>
              <a:buNone/>
            </a:pPr>
            <a:r>
              <a:rPr b="1" lang="en-US" sz="3200">
                <a:solidFill>
                  <a:srgbClr val="1F2333"/>
                </a:solidFill>
                <a:latin typeface="Arial"/>
                <a:ea typeface="Arial"/>
                <a:cs typeface="Arial"/>
                <a:sym typeface="Arial"/>
              </a:rPr>
              <a:t>The operations you will use constantly</a:t>
            </a:r>
            <a:endParaRPr sz="3200">
              <a:solidFill>
                <a:schemeClr val="dk1"/>
              </a:solidFill>
              <a:latin typeface="Calibri"/>
              <a:ea typeface="Calibri"/>
              <a:cs typeface="Calibri"/>
              <a:sym typeface="Calibri"/>
            </a:endParaRPr>
          </a:p>
        </p:txBody>
      </p:sp>
      <p:sp>
        <p:nvSpPr>
          <p:cNvPr id="131" name="Google Shape;131;p5"/>
          <p:cNvSpPr/>
          <p:nvPr/>
        </p:nvSpPr>
        <p:spPr>
          <a:xfrm>
            <a:off x="731520" y="1600200"/>
            <a:ext cx="3429000" cy="2926080"/>
          </a:xfrm>
          <a:prstGeom prst="roundRect">
            <a:avLst>
              <a:gd fmla="val 1563"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5"/>
          <p:cNvSpPr txBox="1"/>
          <p:nvPr/>
        </p:nvSpPr>
        <p:spPr>
          <a:xfrm>
            <a:off x="987552" y="1810512"/>
            <a:ext cx="2926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800"/>
              <a:buFont typeface="Arial"/>
              <a:buNone/>
            </a:pPr>
            <a:r>
              <a:rPr b="1" lang="en-US" sz="1800">
                <a:solidFill>
                  <a:srgbClr val="1F2333"/>
                </a:solidFill>
                <a:latin typeface="Arial"/>
                <a:ea typeface="Arial"/>
                <a:cs typeface="Arial"/>
                <a:sym typeface="Arial"/>
              </a:rPr>
              <a:t>Access</a:t>
            </a:r>
            <a:endParaRPr sz="1800">
              <a:solidFill>
                <a:schemeClr val="dk1"/>
              </a:solidFill>
              <a:latin typeface="Calibri"/>
              <a:ea typeface="Calibri"/>
              <a:cs typeface="Calibri"/>
              <a:sym typeface="Calibri"/>
            </a:endParaRPr>
          </a:p>
        </p:txBody>
      </p:sp>
      <p:sp>
        <p:nvSpPr>
          <p:cNvPr id="133" name="Google Shape;133;p5"/>
          <p:cNvSpPr txBox="1"/>
          <p:nvPr/>
        </p:nvSpPr>
        <p:spPr>
          <a:xfrm>
            <a:off x="987552" y="2157984"/>
            <a:ext cx="2926080" cy="548640"/>
          </a:xfrm>
          <a:prstGeom prst="rect">
            <a:avLst/>
          </a:prstGeom>
          <a:noFill/>
          <a:ln>
            <a:noFill/>
          </a:ln>
        </p:spPr>
        <p:txBody>
          <a:bodyPr anchorCtr="0" anchor="ctr" bIns="0" lIns="0" spcFirstLastPara="1" rIns="0" wrap="square" tIns="0">
            <a:noAutofit/>
          </a:bodyPr>
          <a:lstStyle/>
          <a:p>
            <a:pPr indent="0" lvl="0" marL="0" marR="0" rtl="0" algn="l">
              <a:lnSpc>
                <a:spcPct val="148148"/>
              </a:lnSpc>
              <a:spcBef>
                <a:spcPts val="0"/>
              </a:spcBef>
              <a:spcAft>
                <a:spcPts val="0"/>
              </a:spcAft>
              <a:buClr>
                <a:srgbClr val="5A6072"/>
              </a:buClr>
              <a:buSzPts val="1350"/>
              <a:buFont typeface="Calibri"/>
              <a:buNone/>
            </a:pPr>
            <a:r>
              <a:rPr lang="en-US" sz="1350">
                <a:solidFill>
                  <a:srgbClr val="5A6072"/>
                </a:solidFill>
                <a:latin typeface="Calibri"/>
                <a:ea typeface="Calibri"/>
                <a:cs typeface="Calibri"/>
                <a:sym typeface="Calibri"/>
              </a:rPr>
              <a:t>Read a value at a position.</a:t>
            </a:r>
            <a:endParaRPr sz="1350">
              <a:solidFill>
                <a:schemeClr val="dk1"/>
              </a:solidFill>
              <a:latin typeface="Calibri"/>
              <a:ea typeface="Calibri"/>
              <a:cs typeface="Calibri"/>
              <a:sym typeface="Calibri"/>
            </a:endParaRPr>
          </a:p>
        </p:txBody>
      </p:sp>
      <p:sp>
        <p:nvSpPr>
          <p:cNvPr id="134" name="Google Shape;134;p5"/>
          <p:cNvSpPr/>
          <p:nvPr/>
        </p:nvSpPr>
        <p:spPr>
          <a:xfrm>
            <a:off x="987552" y="2743200"/>
            <a:ext cx="2926080" cy="1005840"/>
          </a:xfrm>
          <a:prstGeom prst="roundRect">
            <a:avLst>
              <a:gd fmla="val 5455" name="adj"/>
            </a:avLst>
          </a:prstGeom>
          <a:solidFill>
            <a:srgbClr val="1B1E33"/>
          </a:solidFill>
          <a:ln cap="flat" cmpd="sng" w="12700">
            <a:solidFill>
              <a:srgbClr val="1B1E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5"/>
          <p:cNvSpPr txBox="1"/>
          <p:nvPr/>
        </p:nvSpPr>
        <p:spPr>
          <a:xfrm>
            <a:off x="1188720" y="2889504"/>
            <a:ext cx="2523744" cy="731520"/>
          </a:xfrm>
          <a:prstGeom prst="rect">
            <a:avLst/>
          </a:prstGeom>
          <a:noFill/>
          <a:ln>
            <a:noFill/>
          </a:ln>
        </p:spPr>
        <p:txBody>
          <a:bodyPr anchorCtr="0" anchor="t" bIns="0" lIns="0" spcFirstLastPara="1" rIns="0" wrap="square" tIns="0">
            <a:noAutofit/>
          </a:bodyPr>
          <a:lstStyle/>
          <a:p>
            <a:pPr indent="0" lvl="0" marL="0" marR="0" rtl="0" algn="l">
              <a:lnSpc>
                <a:spcPct val="145043"/>
              </a:lnSpc>
              <a:spcBef>
                <a:spcPts val="0"/>
              </a:spcBef>
              <a:spcAft>
                <a:spcPts val="0"/>
              </a:spcAft>
              <a:buClr>
                <a:srgbClr val="E8EAF6"/>
              </a:buClr>
              <a:buSzPts val="1150"/>
              <a:buFont typeface="Courier New"/>
              <a:buNone/>
            </a:pPr>
            <a:r>
              <a:rPr lang="en-US" sz="1150">
                <a:solidFill>
                  <a:srgbClr val="E8EAF6"/>
                </a:solidFill>
                <a:latin typeface="Courier New"/>
                <a:ea typeface="Courier New"/>
                <a:cs typeface="Courier New"/>
                <a:sym typeface="Courier New"/>
              </a:rPr>
              <a:t>x = arr[2]</a:t>
            </a:r>
            <a:endParaRPr sz="1150">
              <a:solidFill>
                <a:schemeClr val="dk1"/>
              </a:solidFill>
              <a:latin typeface="Calibri"/>
              <a:ea typeface="Calibri"/>
              <a:cs typeface="Calibri"/>
              <a:sym typeface="Calibri"/>
            </a:endParaRPr>
          </a:p>
        </p:txBody>
      </p:sp>
      <p:sp>
        <p:nvSpPr>
          <p:cNvPr id="136" name="Google Shape;136;p5"/>
          <p:cNvSpPr txBox="1"/>
          <p:nvPr/>
        </p:nvSpPr>
        <p:spPr>
          <a:xfrm>
            <a:off x="987552" y="3858768"/>
            <a:ext cx="2926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500"/>
              <a:buFont typeface="Courier New"/>
              <a:buNone/>
            </a:pPr>
            <a:r>
              <a:rPr b="1" lang="en-US" sz="1500">
                <a:solidFill>
                  <a:srgbClr val="2A9D8F"/>
                </a:solidFill>
                <a:latin typeface="Courier New"/>
                <a:ea typeface="Courier New"/>
                <a:cs typeface="Courier New"/>
                <a:sym typeface="Courier New"/>
              </a:rPr>
              <a:t>O(1)</a:t>
            </a:r>
            <a:endParaRPr sz="1500">
              <a:solidFill>
                <a:schemeClr val="dk1"/>
              </a:solidFill>
              <a:latin typeface="Calibri"/>
              <a:ea typeface="Calibri"/>
              <a:cs typeface="Calibri"/>
              <a:sym typeface="Calibri"/>
            </a:endParaRPr>
          </a:p>
        </p:txBody>
      </p:sp>
      <p:sp>
        <p:nvSpPr>
          <p:cNvPr id="137" name="Google Shape;137;p5"/>
          <p:cNvSpPr/>
          <p:nvPr/>
        </p:nvSpPr>
        <p:spPr>
          <a:xfrm>
            <a:off x="4434840" y="1600200"/>
            <a:ext cx="3429000" cy="2926080"/>
          </a:xfrm>
          <a:prstGeom prst="roundRect">
            <a:avLst>
              <a:gd fmla="val 1563"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5"/>
          <p:cNvSpPr txBox="1"/>
          <p:nvPr/>
        </p:nvSpPr>
        <p:spPr>
          <a:xfrm>
            <a:off x="4690872" y="1810512"/>
            <a:ext cx="2926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800"/>
              <a:buFont typeface="Arial"/>
              <a:buNone/>
            </a:pPr>
            <a:r>
              <a:rPr b="1" lang="en-US" sz="1800">
                <a:solidFill>
                  <a:srgbClr val="1F2333"/>
                </a:solidFill>
                <a:latin typeface="Arial"/>
                <a:ea typeface="Arial"/>
                <a:cs typeface="Arial"/>
                <a:sym typeface="Arial"/>
              </a:rPr>
              <a:t>Modify</a:t>
            </a:r>
            <a:endParaRPr sz="1800">
              <a:solidFill>
                <a:schemeClr val="dk1"/>
              </a:solidFill>
              <a:latin typeface="Calibri"/>
              <a:ea typeface="Calibri"/>
              <a:cs typeface="Calibri"/>
              <a:sym typeface="Calibri"/>
            </a:endParaRPr>
          </a:p>
        </p:txBody>
      </p:sp>
      <p:sp>
        <p:nvSpPr>
          <p:cNvPr id="139" name="Google Shape;139;p5"/>
          <p:cNvSpPr txBox="1"/>
          <p:nvPr/>
        </p:nvSpPr>
        <p:spPr>
          <a:xfrm>
            <a:off x="4690872" y="2157984"/>
            <a:ext cx="2926080" cy="548640"/>
          </a:xfrm>
          <a:prstGeom prst="rect">
            <a:avLst/>
          </a:prstGeom>
          <a:noFill/>
          <a:ln>
            <a:noFill/>
          </a:ln>
        </p:spPr>
        <p:txBody>
          <a:bodyPr anchorCtr="0" anchor="ctr" bIns="0" lIns="0" spcFirstLastPara="1" rIns="0" wrap="square" tIns="0">
            <a:noAutofit/>
          </a:bodyPr>
          <a:lstStyle/>
          <a:p>
            <a:pPr indent="0" lvl="0" marL="0" marR="0" rtl="0" algn="l">
              <a:lnSpc>
                <a:spcPct val="148148"/>
              </a:lnSpc>
              <a:spcBef>
                <a:spcPts val="0"/>
              </a:spcBef>
              <a:spcAft>
                <a:spcPts val="0"/>
              </a:spcAft>
              <a:buClr>
                <a:srgbClr val="5A6072"/>
              </a:buClr>
              <a:buSzPts val="1350"/>
              <a:buFont typeface="Calibri"/>
              <a:buNone/>
            </a:pPr>
            <a:r>
              <a:rPr lang="en-US" sz="1350">
                <a:solidFill>
                  <a:srgbClr val="5A6072"/>
                </a:solidFill>
                <a:latin typeface="Calibri"/>
                <a:ea typeface="Calibri"/>
                <a:cs typeface="Calibri"/>
                <a:sym typeface="Calibri"/>
              </a:rPr>
              <a:t>Write a new value in place.</a:t>
            </a:r>
            <a:endParaRPr sz="1350">
              <a:solidFill>
                <a:schemeClr val="dk1"/>
              </a:solidFill>
              <a:latin typeface="Calibri"/>
              <a:ea typeface="Calibri"/>
              <a:cs typeface="Calibri"/>
              <a:sym typeface="Calibri"/>
            </a:endParaRPr>
          </a:p>
        </p:txBody>
      </p:sp>
      <p:sp>
        <p:nvSpPr>
          <p:cNvPr id="140" name="Google Shape;140;p5"/>
          <p:cNvSpPr/>
          <p:nvPr/>
        </p:nvSpPr>
        <p:spPr>
          <a:xfrm>
            <a:off x="4690872" y="2743200"/>
            <a:ext cx="2926080" cy="1005840"/>
          </a:xfrm>
          <a:prstGeom prst="roundRect">
            <a:avLst>
              <a:gd fmla="val 5455" name="adj"/>
            </a:avLst>
          </a:prstGeom>
          <a:solidFill>
            <a:srgbClr val="1B1E33"/>
          </a:solidFill>
          <a:ln cap="flat" cmpd="sng" w="12700">
            <a:solidFill>
              <a:srgbClr val="1B1E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5"/>
          <p:cNvSpPr txBox="1"/>
          <p:nvPr/>
        </p:nvSpPr>
        <p:spPr>
          <a:xfrm>
            <a:off x="4892040" y="2889504"/>
            <a:ext cx="2523744" cy="731520"/>
          </a:xfrm>
          <a:prstGeom prst="rect">
            <a:avLst/>
          </a:prstGeom>
          <a:noFill/>
          <a:ln>
            <a:noFill/>
          </a:ln>
        </p:spPr>
        <p:txBody>
          <a:bodyPr anchorCtr="0" anchor="t" bIns="0" lIns="0" spcFirstLastPara="1" rIns="0" wrap="square" tIns="0">
            <a:noAutofit/>
          </a:bodyPr>
          <a:lstStyle/>
          <a:p>
            <a:pPr indent="0" lvl="0" marL="0" marR="0" rtl="0" algn="l">
              <a:lnSpc>
                <a:spcPct val="145043"/>
              </a:lnSpc>
              <a:spcBef>
                <a:spcPts val="0"/>
              </a:spcBef>
              <a:spcAft>
                <a:spcPts val="0"/>
              </a:spcAft>
              <a:buClr>
                <a:srgbClr val="E8EAF6"/>
              </a:buClr>
              <a:buSzPts val="1150"/>
              <a:buFont typeface="Courier New"/>
              <a:buNone/>
            </a:pPr>
            <a:r>
              <a:rPr lang="en-US" sz="1150">
                <a:solidFill>
                  <a:srgbClr val="E8EAF6"/>
                </a:solidFill>
                <a:latin typeface="Courier New"/>
                <a:ea typeface="Courier New"/>
                <a:cs typeface="Courier New"/>
                <a:sym typeface="Courier New"/>
              </a:rPr>
              <a:t>arr[2] = 99</a:t>
            </a:r>
            <a:endParaRPr sz="1150">
              <a:solidFill>
                <a:schemeClr val="dk1"/>
              </a:solidFill>
              <a:latin typeface="Calibri"/>
              <a:ea typeface="Calibri"/>
              <a:cs typeface="Calibri"/>
              <a:sym typeface="Calibri"/>
            </a:endParaRPr>
          </a:p>
        </p:txBody>
      </p:sp>
      <p:sp>
        <p:nvSpPr>
          <p:cNvPr id="142" name="Google Shape;142;p5"/>
          <p:cNvSpPr txBox="1"/>
          <p:nvPr/>
        </p:nvSpPr>
        <p:spPr>
          <a:xfrm>
            <a:off x="4690872" y="3858768"/>
            <a:ext cx="2926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500"/>
              <a:buFont typeface="Courier New"/>
              <a:buNone/>
            </a:pPr>
            <a:r>
              <a:rPr b="1" lang="en-US" sz="1500">
                <a:solidFill>
                  <a:srgbClr val="2A9D8F"/>
                </a:solidFill>
                <a:latin typeface="Courier New"/>
                <a:ea typeface="Courier New"/>
                <a:cs typeface="Courier New"/>
                <a:sym typeface="Courier New"/>
              </a:rPr>
              <a:t>O(1)</a:t>
            </a:r>
            <a:endParaRPr sz="1500">
              <a:solidFill>
                <a:schemeClr val="dk1"/>
              </a:solidFill>
              <a:latin typeface="Calibri"/>
              <a:ea typeface="Calibri"/>
              <a:cs typeface="Calibri"/>
              <a:sym typeface="Calibri"/>
            </a:endParaRPr>
          </a:p>
        </p:txBody>
      </p:sp>
      <p:sp>
        <p:nvSpPr>
          <p:cNvPr id="143" name="Google Shape;143;p5"/>
          <p:cNvSpPr/>
          <p:nvPr/>
        </p:nvSpPr>
        <p:spPr>
          <a:xfrm>
            <a:off x="8138160" y="1600200"/>
            <a:ext cx="3429000" cy="2926080"/>
          </a:xfrm>
          <a:prstGeom prst="roundRect">
            <a:avLst>
              <a:gd fmla="val 1563"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5"/>
          <p:cNvSpPr txBox="1"/>
          <p:nvPr/>
        </p:nvSpPr>
        <p:spPr>
          <a:xfrm>
            <a:off x="8394192" y="1810512"/>
            <a:ext cx="2926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800"/>
              <a:buFont typeface="Arial"/>
              <a:buNone/>
            </a:pPr>
            <a:r>
              <a:rPr b="1" lang="en-US" sz="1800">
                <a:solidFill>
                  <a:srgbClr val="1F2333"/>
                </a:solidFill>
                <a:latin typeface="Arial"/>
                <a:ea typeface="Arial"/>
                <a:cs typeface="Arial"/>
                <a:sym typeface="Arial"/>
              </a:rPr>
              <a:t>Iterate</a:t>
            </a:r>
            <a:endParaRPr sz="1800">
              <a:solidFill>
                <a:schemeClr val="dk1"/>
              </a:solidFill>
              <a:latin typeface="Calibri"/>
              <a:ea typeface="Calibri"/>
              <a:cs typeface="Calibri"/>
              <a:sym typeface="Calibri"/>
            </a:endParaRPr>
          </a:p>
        </p:txBody>
      </p:sp>
      <p:sp>
        <p:nvSpPr>
          <p:cNvPr id="145" name="Google Shape;145;p5"/>
          <p:cNvSpPr txBox="1"/>
          <p:nvPr/>
        </p:nvSpPr>
        <p:spPr>
          <a:xfrm>
            <a:off x="8394192" y="2157984"/>
            <a:ext cx="2926080" cy="548640"/>
          </a:xfrm>
          <a:prstGeom prst="rect">
            <a:avLst/>
          </a:prstGeom>
          <a:noFill/>
          <a:ln>
            <a:noFill/>
          </a:ln>
        </p:spPr>
        <p:txBody>
          <a:bodyPr anchorCtr="0" anchor="ctr" bIns="0" lIns="0" spcFirstLastPara="1" rIns="0" wrap="square" tIns="0">
            <a:noAutofit/>
          </a:bodyPr>
          <a:lstStyle/>
          <a:p>
            <a:pPr indent="0" lvl="0" marL="0" marR="0" rtl="0" algn="l">
              <a:lnSpc>
                <a:spcPct val="148148"/>
              </a:lnSpc>
              <a:spcBef>
                <a:spcPts val="0"/>
              </a:spcBef>
              <a:spcAft>
                <a:spcPts val="0"/>
              </a:spcAft>
              <a:buClr>
                <a:srgbClr val="5A6072"/>
              </a:buClr>
              <a:buSzPts val="1350"/>
              <a:buFont typeface="Calibri"/>
              <a:buNone/>
            </a:pPr>
            <a:r>
              <a:rPr lang="en-US" sz="1350">
                <a:solidFill>
                  <a:srgbClr val="5A6072"/>
                </a:solidFill>
                <a:latin typeface="Calibri"/>
                <a:ea typeface="Calibri"/>
                <a:cs typeface="Calibri"/>
                <a:sym typeface="Calibri"/>
              </a:rPr>
              <a:t>Visit every element in order.</a:t>
            </a:r>
            <a:endParaRPr sz="1350">
              <a:solidFill>
                <a:schemeClr val="dk1"/>
              </a:solidFill>
              <a:latin typeface="Calibri"/>
              <a:ea typeface="Calibri"/>
              <a:cs typeface="Calibri"/>
              <a:sym typeface="Calibri"/>
            </a:endParaRPr>
          </a:p>
        </p:txBody>
      </p:sp>
      <p:sp>
        <p:nvSpPr>
          <p:cNvPr id="146" name="Google Shape;146;p5"/>
          <p:cNvSpPr/>
          <p:nvPr/>
        </p:nvSpPr>
        <p:spPr>
          <a:xfrm>
            <a:off x="8394192" y="2743200"/>
            <a:ext cx="2926080" cy="1005840"/>
          </a:xfrm>
          <a:prstGeom prst="roundRect">
            <a:avLst>
              <a:gd fmla="val 5455" name="adj"/>
            </a:avLst>
          </a:prstGeom>
          <a:solidFill>
            <a:srgbClr val="1B1E33"/>
          </a:solidFill>
          <a:ln cap="flat" cmpd="sng" w="12700">
            <a:solidFill>
              <a:srgbClr val="1B1E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5"/>
          <p:cNvSpPr txBox="1"/>
          <p:nvPr/>
        </p:nvSpPr>
        <p:spPr>
          <a:xfrm>
            <a:off x="8595360" y="2889504"/>
            <a:ext cx="2523744" cy="731520"/>
          </a:xfrm>
          <a:prstGeom prst="rect">
            <a:avLst/>
          </a:prstGeom>
          <a:noFill/>
          <a:ln>
            <a:noFill/>
          </a:ln>
        </p:spPr>
        <p:txBody>
          <a:bodyPr anchorCtr="0" anchor="t" bIns="0" lIns="0" spcFirstLastPara="1" rIns="0" wrap="square" tIns="0">
            <a:noAutofit/>
          </a:bodyPr>
          <a:lstStyle/>
          <a:p>
            <a:pPr indent="0" lvl="0" marL="0" marR="0" rtl="0" algn="l">
              <a:lnSpc>
                <a:spcPct val="145043"/>
              </a:lnSpc>
              <a:spcBef>
                <a:spcPts val="0"/>
              </a:spcBef>
              <a:spcAft>
                <a:spcPts val="0"/>
              </a:spcAft>
              <a:buClr>
                <a:srgbClr val="E8EAF6"/>
              </a:buClr>
              <a:buSzPts val="1150"/>
              <a:buFont typeface="Courier New"/>
              <a:buNone/>
            </a:pPr>
            <a:r>
              <a:rPr lang="en-US" sz="1150">
                <a:solidFill>
                  <a:srgbClr val="E8EAF6"/>
                </a:solidFill>
                <a:latin typeface="Courier New"/>
                <a:ea typeface="Courier New"/>
                <a:cs typeface="Courier New"/>
                <a:sym typeface="Courier New"/>
              </a:rPr>
              <a:t>for v in arr:</a:t>
            </a:r>
            <a:endParaRPr sz="1150">
              <a:solidFill>
                <a:schemeClr val="dk1"/>
              </a:solidFill>
              <a:latin typeface="Calibri"/>
              <a:ea typeface="Calibri"/>
              <a:cs typeface="Calibri"/>
              <a:sym typeface="Calibri"/>
            </a:endParaRPr>
          </a:p>
          <a:p>
            <a:pPr indent="0" lvl="0" marL="0" marR="0" rtl="0" algn="l">
              <a:lnSpc>
                <a:spcPct val="145043"/>
              </a:lnSpc>
              <a:spcBef>
                <a:spcPts val="0"/>
              </a:spcBef>
              <a:spcAft>
                <a:spcPts val="0"/>
              </a:spcAft>
              <a:buClr>
                <a:srgbClr val="E8EAF6"/>
              </a:buClr>
              <a:buSzPts val="1150"/>
              <a:buFont typeface="Courier New"/>
              <a:buNone/>
            </a:pPr>
            <a:r>
              <a:rPr lang="en-US" sz="1150">
                <a:solidFill>
                  <a:srgbClr val="E8EAF6"/>
                </a:solidFill>
                <a:latin typeface="Courier New"/>
                <a:ea typeface="Courier New"/>
                <a:cs typeface="Courier New"/>
                <a:sym typeface="Courier New"/>
              </a:rPr>
              <a:t>    total += v</a:t>
            </a:r>
            <a:endParaRPr sz="1150">
              <a:solidFill>
                <a:schemeClr val="dk1"/>
              </a:solidFill>
              <a:latin typeface="Calibri"/>
              <a:ea typeface="Calibri"/>
              <a:cs typeface="Calibri"/>
              <a:sym typeface="Calibri"/>
            </a:endParaRPr>
          </a:p>
        </p:txBody>
      </p:sp>
      <p:sp>
        <p:nvSpPr>
          <p:cNvPr id="148" name="Google Shape;148;p5"/>
          <p:cNvSpPr txBox="1"/>
          <p:nvPr/>
        </p:nvSpPr>
        <p:spPr>
          <a:xfrm>
            <a:off x="8394192" y="3858768"/>
            <a:ext cx="2926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500"/>
              <a:buFont typeface="Courier New"/>
              <a:buNone/>
            </a:pPr>
            <a:r>
              <a:rPr b="1" lang="en-US" sz="1500">
                <a:solidFill>
                  <a:srgbClr val="FF6B35"/>
                </a:solidFill>
                <a:latin typeface="Courier New"/>
                <a:ea typeface="Courier New"/>
                <a:cs typeface="Courier New"/>
                <a:sym typeface="Courier New"/>
              </a:rPr>
              <a:t>O(n)</a:t>
            </a:r>
            <a:endParaRPr sz="1500">
              <a:solidFill>
                <a:schemeClr val="dk1"/>
              </a:solidFill>
              <a:latin typeface="Calibri"/>
              <a:ea typeface="Calibri"/>
              <a:cs typeface="Calibri"/>
              <a:sym typeface="Calibri"/>
            </a:endParaRPr>
          </a:p>
        </p:txBody>
      </p:sp>
      <p:sp>
        <p:nvSpPr>
          <p:cNvPr id="149" name="Google Shape;149;p5"/>
          <p:cNvSpPr/>
          <p:nvPr/>
        </p:nvSpPr>
        <p:spPr>
          <a:xfrm>
            <a:off x="731520" y="4800600"/>
            <a:ext cx="10698480" cy="960120"/>
          </a:xfrm>
          <a:prstGeom prst="roundRect">
            <a:avLst>
              <a:gd fmla="val 4762"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5"/>
          <p:cNvSpPr txBox="1"/>
          <p:nvPr/>
        </p:nvSpPr>
        <p:spPr>
          <a:xfrm>
            <a:off x="1005840" y="4983480"/>
            <a:ext cx="10149840" cy="59436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1F2333"/>
              </a:buClr>
              <a:buSzPts val="1400"/>
              <a:buFont typeface="Calibri"/>
              <a:buNone/>
            </a:pPr>
            <a:r>
              <a:rPr b="1" lang="en-US" sz="1400">
                <a:solidFill>
                  <a:srgbClr val="1F2333"/>
                </a:solidFill>
                <a:latin typeface="Calibri"/>
                <a:ea typeface="Calibri"/>
                <a:cs typeface="Calibri"/>
                <a:sym typeface="Calibri"/>
              </a:rPr>
              <a:t>Build from these. </a:t>
            </a:r>
            <a:r>
              <a:rPr lang="en-US" sz="1400">
                <a:solidFill>
                  <a:srgbClr val="5A6072"/>
                </a:solidFill>
                <a:latin typeface="Calibri"/>
                <a:ea typeface="Calibri"/>
                <a:cs typeface="Calibri"/>
                <a:sym typeface="Calibri"/>
              </a:rPr>
              <a:t>Finding a sum, an average, or a maximum is just iteration plus one variable you carry along. Most easy array problems are exactly this shape.</a:t>
            </a:r>
            <a:endParaRPr sz="14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155" name="Shape 155"/>
        <p:cNvGrpSpPr/>
        <p:nvPr/>
      </p:nvGrpSpPr>
      <p:grpSpPr>
        <a:xfrm>
          <a:off x="0" y="0"/>
          <a:ext cx="0" cy="0"/>
          <a:chOff x="0" y="0"/>
          <a:chExt cx="0" cy="0"/>
        </a:xfrm>
      </p:grpSpPr>
      <p:sp>
        <p:nvSpPr>
          <p:cNvPr id="156" name="Google Shape;156;p6"/>
          <p:cNvSpPr txBox="1"/>
          <p:nvPr/>
        </p:nvSpPr>
        <p:spPr>
          <a:xfrm>
            <a:off x="731520" y="713232"/>
            <a:ext cx="107899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3200"/>
              <a:buFont typeface="Arial"/>
              <a:buNone/>
            </a:pPr>
            <a:r>
              <a:rPr b="1" lang="en-US" sz="3200">
                <a:solidFill>
                  <a:srgbClr val="1F2333"/>
                </a:solidFill>
                <a:latin typeface="Arial"/>
                <a:ea typeface="Arial"/>
                <a:cs typeface="Arial"/>
                <a:sym typeface="Arial"/>
              </a:rPr>
              <a:t>What each operation costs</a:t>
            </a:r>
            <a:endParaRPr sz="3200">
              <a:solidFill>
                <a:schemeClr val="dk1"/>
              </a:solidFill>
              <a:latin typeface="Calibri"/>
              <a:ea typeface="Calibri"/>
              <a:cs typeface="Calibri"/>
              <a:sym typeface="Calibri"/>
            </a:endParaRPr>
          </a:p>
        </p:txBody>
      </p:sp>
      <p:sp>
        <p:nvSpPr>
          <p:cNvPr id="157" name="Google Shape;157;p6"/>
          <p:cNvSpPr txBox="1"/>
          <p:nvPr/>
        </p:nvSpPr>
        <p:spPr>
          <a:xfrm>
            <a:off x="731520" y="1444752"/>
            <a:ext cx="10698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450"/>
              <a:buFont typeface="Calibri"/>
              <a:buNone/>
            </a:pPr>
            <a:r>
              <a:rPr lang="en-US" sz="1450">
                <a:solidFill>
                  <a:srgbClr val="5A6072"/>
                </a:solidFill>
                <a:latin typeface="Calibri"/>
                <a:ea typeface="Calibri"/>
                <a:cs typeface="Calibri"/>
                <a:sym typeface="Calibri"/>
              </a:rPr>
              <a:t>Interviewers expect you to speak to these without hesitating.</a:t>
            </a:r>
            <a:endParaRPr sz="1450">
              <a:solidFill>
                <a:schemeClr val="dk1"/>
              </a:solidFill>
              <a:latin typeface="Calibri"/>
              <a:ea typeface="Calibri"/>
              <a:cs typeface="Calibri"/>
              <a:sym typeface="Calibri"/>
            </a:endParaRPr>
          </a:p>
        </p:txBody>
      </p:sp>
      <p:graphicFrame>
        <p:nvGraphicFramePr>
          <p:cNvPr id="158" name="Google Shape;158;p6"/>
          <p:cNvGraphicFramePr/>
          <p:nvPr/>
        </p:nvGraphicFramePr>
        <p:xfrm>
          <a:off x="731520" y="1965960"/>
          <a:ext cx="3000000" cy="3000000"/>
        </p:xfrm>
        <a:graphic>
          <a:graphicData uri="http://schemas.openxmlformats.org/drawingml/2006/table">
            <a:tbl>
              <a:tblPr>
                <a:noFill/>
                <a:tableStyleId>{19FD2483-71B1-4EF4-80CE-BD7A565EAD4B}</a:tableStyleId>
              </a:tblPr>
              <a:tblGrid>
                <a:gridCol w="3566150"/>
                <a:gridCol w="2377450"/>
                <a:gridCol w="4754875"/>
              </a:tblGrid>
              <a:tr h="502925">
                <a:tc>
                  <a:txBody>
                    <a:bodyPr/>
                    <a:lstStyle/>
                    <a:p>
                      <a:pPr indent="0" lvl="0" marL="0" marR="0" rtl="0" algn="l">
                        <a:spcBef>
                          <a:spcPts val="0"/>
                        </a:spcBef>
                        <a:spcAft>
                          <a:spcPts val="0"/>
                        </a:spcAft>
                        <a:buClr>
                          <a:srgbClr val="FFFFFF"/>
                        </a:buClr>
                        <a:buSzPts val="1400"/>
                        <a:buFont typeface="Arial"/>
                        <a:buNone/>
                      </a:pPr>
                      <a:r>
                        <a:rPr b="1" lang="en-US" sz="1400" u="none" cap="none" strike="noStrike">
                          <a:solidFill>
                            <a:srgbClr val="FFFFFF"/>
                          </a:solidFill>
                          <a:latin typeface="Arial"/>
                          <a:ea typeface="Arial"/>
                          <a:cs typeface="Arial"/>
                          <a:sym typeface="Arial"/>
                        </a:rPr>
                        <a:t>Operation</a:t>
                      </a:r>
                      <a:endParaRPr sz="1400" u="none" cap="none" strike="noStrike">
                        <a:latin typeface="Arial"/>
                        <a:ea typeface="Arial"/>
                        <a:cs typeface="Arial"/>
                        <a:sym typeface="Arial"/>
                      </a:endParaRPr>
                    </a:p>
                  </a:txBody>
                  <a:tcPr marT="76200" marB="76200" marR="152400" marL="152400" anchor="ctr">
                    <a:lnL cap="flat" cmpd="sng" w="12700">
                      <a:solidFill>
                        <a:srgbClr val="DDE1EC"/>
                      </a:solidFill>
                      <a:prstDash val="solid"/>
                      <a:round/>
                      <a:headEnd len="sm" w="sm" type="none"/>
                      <a:tailEnd len="sm" w="sm" type="none"/>
                    </a:lnL>
                    <a:lnR cap="flat" cmpd="sng" w="12700">
                      <a:solidFill>
                        <a:srgbClr val="DDE1EC"/>
                      </a:solidFill>
                      <a:prstDash val="solid"/>
                      <a:round/>
                      <a:headEnd len="sm" w="sm" type="none"/>
                      <a:tailEnd len="sm" w="sm" type="none"/>
                    </a:lnR>
                    <a:lnT cap="flat" cmpd="sng" w="12700">
                      <a:solidFill>
                        <a:srgbClr val="DDE1EC"/>
                      </a:solidFill>
                      <a:prstDash val="solid"/>
                      <a:round/>
                      <a:headEnd len="sm" w="sm" type="none"/>
                      <a:tailEnd len="sm" w="sm" type="none"/>
                    </a:lnT>
                    <a:lnB cap="flat" cmpd="sng" w="12700">
                      <a:solidFill>
                        <a:srgbClr val="DDE1EC"/>
                      </a:solidFill>
                      <a:prstDash val="solid"/>
                      <a:round/>
                      <a:headEnd len="sm" w="sm" type="none"/>
                      <a:tailEnd len="sm" w="sm" type="none"/>
                    </a:lnB>
                    <a:solidFill>
                      <a:srgbClr val="1F2333"/>
                    </a:solidFill>
                  </a:tcPr>
                </a:tc>
                <a:tc>
                  <a:txBody>
                    <a:bodyPr/>
                    <a:lstStyle/>
                    <a:p>
                      <a:pPr indent="0" lvl="0" marL="0" marR="0" rtl="0" algn="l">
                        <a:spcBef>
                          <a:spcPts val="0"/>
                        </a:spcBef>
                        <a:spcAft>
                          <a:spcPts val="0"/>
                        </a:spcAft>
                        <a:buClr>
                          <a:srgbClr val="FFFFFF"/>
                        </a:buClr>
                        <a:buSzPts val="1400"/>
                        <a:buFont typeface="Arial"/>
                        <a:buNone/>
                      </a:pPr>
                      <a:r>
                        <a:rPr b="1" lang="en-US" sz="1400" u="none" cap="none" strike="noStrike">
                          <a:solidFill>
                            <a:srgbClr val="FFFFFF"/>
                          </a:solidFill>
                          <a:latin typeface="Arial"/>
                          <a:ea typeface="Arial"/>
                          <a:cs typeface="Arial"/>
                          <a:sym typeface="Arial"/>
                        </a:rPr>
                        <a:t>Time</a:t>
                      </a:r>
                      <a:endParaRPr sz="1400" u="none" cap="none" strike="noStrike">
                        <a:latin typeface="Arial"/>
                        <a:ea typeface="Arial"/>
                        <a:cs typeface="Arial"/>
                        <a:sym typeface="Arial"/>
                      </a:endParaRPr>
                    </a:p>
                  </a:txBody>
                  <a:tcPr marT="76200" marB="76200" marR="152400" marL="152400" anchor="ctr">
                    <a:lnL cap="flat" cmpd="sng" w="12700">
                      <a:solidFill>
                        <a:srgbClr val="DDE1EC"/>
                      </a:solidFill>
                      <a:prstDash val="solid"/>
                      <a:round/>
                      <a:headEnd len="sm" w="sm" type="none"/>
                      <a:tailEnd len="sm" w="sm" type="none"/>
                    </a:lnL>
                    <a:lnR cap="flat" cmpd="sng" w="12700">
                      <a:solidFill>
                        <a:srgbClr val="DDE1EC"/>
                      </a:solidFill>
                      <a:prstDash val="solid"/>
                      <a:round/>
                      <a:headEnd len="sm" w="sm" type="none"/>
                      <a:tailEnd len="sm" w="sm" type="none"/>
                    </a:lnR>
                    <a:lnT cap="flat" cmpd="sng" w="12700">
                      <a:solidFill>
                        <a:srgbClr val="DDE1EC"/>
                      </a:solidFill>
                      <a:prstDash val="solid"/>
                      <a:round/>
                      <a:headEnd len="sm" w="sm" type="none"/>
                      <a:tailEnd len="sm" w="sm" type="none"/>
                    </a:lnT>
                    <a:lnB cap="flat" cmpd="sng" w="12700">
                      <a:solidFill>
                        <a:srgbClr val="DDE1EC"/>
                      </a:solidFill>
                      <a:prstDash val="solid"/>
                      <a:round/>
                      <a:headEnd len="sm" w="sm" type="none"/>
                      <a:tailEnd len="sm" w="sm" type="none"/>
                    </a:lnB>
                    <a:solidFill>
                      <a:srgbClr val="1F2333"/>
                    </a:solidFill>
                  </a:tcPr>
                </a:tc>
                <a:tc>
                  <a:txBody>
                    <a:bodyPr/>
                    <a:lstStyle/>
                    <a:p>
                      <a:pPr indent="0" lvl="0" marL="0" marR="0" rtl="0" algn="l">
                        <a:spcBef>
                          <a:spcPts val="0"/>
                        </a:spcBef>
                        <a:spcAft>
                          <a:spcPts val="0"/>
                        </a:spcAft>
                        <a:buClr>
                          <a:srgbClr val="FFFFFF"/>
                        </a:buClr>
                        <a:buSzPts val="1400"/>
                        <a:buFont typeface="Arial"/>
                        <a:buNone/>
                      </a:pPr>
                      <a:r>
                        <a:rPr b="1" lang="en-US" sz="1400" u="none" cap="none" strike="noStrike">
                          <a:solidFill>
                            <a:srgbClr val="FFFFFF"/>
                          </a:solidFill>
                          <a:latin typeface="Arial"/>
                          <a:ea typeface="Arial"/>
                          <a:cs typeface="Arial"/>
                          <a:sym typeface="Arial"/>
                        </a:rPr>
                        <a:t>Why</a:t>
                      </a:r>
                      <a:endParaRPr sz="1400" u="none" cap="none" strike="noStrike">
                        <a:latin typeface="Arial"/>
                        <a:ea typeface="Arial"/>
                        <a:cs typeface="Arial"/>
                        <a:sym typeface="Arial"/>
                      </a:endParaRPr>
                    </a:p>
                  </a:txBody>
                  <a:tcPr marT="76200" marB="76200" marR="152400" marL="152400" anchor="ctr">
                    <a:lnL cap="flat" cmpd="sng" w="12700">
                      <a:solidFill>
                        <a:srgbClr val="DDE1EC"/>
                      </a:solidFill>
                      <a:prstDash val="solid"/>
                      <a:round/>
                      <a:headEnd len="sm" w="sm" type="none"/>
                      <a:tailEnd len="sm" w="sm" type="none"/>
                    </a:lnL>
                    <a:lnR cap="flat" cmpd="sng" w="12700">
                      <a:solidFill>
                        <a:srgbClr val="DDE1EC"/>
                      </a:solidFill>
                      <a:prstDash val="solid"/>
                      <a:round/>
                      <a:headEnd len="sm" w="sm" type="none"/>
                      <a:tailEnd len="sm" w="sm" type="none"/>
                    </a:lnR>
                    <a:lnT cap="flat" cmpd="sng" w="12700">
                      <a:solidFill>
                        <a:srgbClr val="DDE1EC"/>
                      </a:solidFill>
                      <a:prstDash val="solid"/>
                      <a:round/>
                      <a:headEnd len="sm" w="sm" type="none"/>
                      <a:tailEnd len="sm" w="sm" type="none"/>
                    </a:lnT>
                    <a:lnB cap="flat" cmpd="sng" w="12700">
                      <a:solidFill>
                        <a:srgbClr val="DDE1EC"/>
                      </a:solidFill>
                      <a:prstDash val="solid"/>
                      <a:round/>
                      <a:headEnd len="sm" w="sm" type="none"/>
                      <a:tailEnd len="sm" w="sm" type="none"/>
                    </a:lnB>
                    <a:solidFill>
                      <a:srgbClr val="1F2333"/>
                    </a:solidFill>
                  </a:tcPr>
                </a:tc>
              </a:tr>
              <a:tr h="713225">
                <a:tc>
                  <a:txBody>
                    <a:bodyPr/>
                    <a:lstStyle/>
                    <a:p>
                      <a:pPr indent="0" lvl="0" marL="0" marR="0" rtl="0" algn="l">
                        <a:spcBef>
                          <a:spcPts val="0"/>
                        </a:spcBef>
                        <a:spcAft>
                          <a:spcPts val="0"/>
                        </a:spcAft>
                        <a:buClr>
                          <a:srgbClr val="1F2333"/>
                        </a:buClr>
                        <a:buSzPts val="1400"/>
                        <a:buFont typeface="Calibri"/>
                        <a:buNone/>
                      </a:pPr>
                      <a:r>
                        <a:rPr lang="en-US" sz="1400" u="none" cap="none" strike="noStrike">
                          <a:solidFill>
                            <a:srgbClr val="1F2333"/>
                          </a:solidFill>
                          <a:latin typeface="Calibri"/>
                          <a:ea typeface="Calibri"/>
                          <a:cs typeface="Calibri"/>
                          <a:sym typeface="Calibri"/>
                        </a:rPr>
                        <a:t>Access by index</a:t>
                      </a:r>
                      <a:endParaRPr sz="1400" u="none" cap="none" strike="noStrike">
                        <a:latin typeface="Calibri"/>
                        <a:ea typeface="Calibri"/>
                        <a:cs typeface="Calibri"/>
                        <a:sym typeface="Calibri"/>
                      </a:endParaRPr>
                    </a:p>
                  </a:txBody>
                  <a:tcPr marT="76200" marB="76200" marR="152400" marL="152400" anchor="ctr">
                    <a:lnL cap="flat" cmpd="sng" w="12700">
                      <a:solidFill>
                        <a:srgbClr val="DDE1EC"/>
                      </a:solidFill>
                      <a:prstDash val="solid"/>
                      <a:round/>
                      <a:headEnd len="sm" w="sm" type="none"/>
                      <a:tailEnd len="sm" w="sm" type="none"/>
                    </a:lnL>
                    <a:lnR cap="flat" cmpd="sng" w="12700">
                      <a:solidFill>
                        <a:srgbClr val="DDE1EC"/>
                      </a:solidFill>
                      <a:prstDash val="solid"/>
                      <a:round/>
                      <a:headEnd len="sm" w="sm" type="none"/>
                      <a:tailEnd len="sm" w="sm" type="none"/>
                    </a:lnR>
                    <a:lnT cap="flat" cmpd="sng" w="12700">
                      <a:solidFill>
                        <a:srgbClr val="DDE1EC"/>
                      </a:solidFill>
                      <a:prstDash val="solid"/>
                      <a:round/>
                      <a:headEnd len="sm" w="sm" type="none"/>
                      <a:tailEnd len="sm" w="sm" type="none"/>
                    </a:lnT>
                    <a:lnB cap="flat" cmpd="sng" w="12700">
                      <a:solidFill>
                        <a:srgbClr val="DDE1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A9D8F"/>
                        </a:buClr>
                        <a:buSzPts val="1400"/>
                        <a:buFont typeface="Courier New"/>
                        <a:buNone/>
                      </a:pPr>
                      <a:r>
                        <a:rPr b="1" lang="en-US" sz="1400" u="none" cap="none" strike="noStrike">
                          <a:solidFill>
                            <a:srgbClr val="2A9D8F"/>
                          </a:solidFill>
                          <a:latin typeface="Courier New"/>
                          <a:ea typeface="Courier New"/>
                          <a:cs typeface="Courier New"/>
                          <a:sym typeface="Courier New"/>
                        </a:rPr>
                        <a:t>O(1)</a:t>
                      </a:r>
                      <a:endParaRPr sz="1400" u="none" cap="none" strike="noStrike">
                        <a:latin typeface="Courier New"/>
                        <a:ea typeface="Courier New"/>
                        <a:cs typeface="Courier New"/>
                        <a:sym typeface="Courier New"/>
                      </a:endParaRPr>
                    </a:p>
                  </a:txBody>
                  <a:tcPr marT="76200" marB="76200" marR="152400" marL="152400" anchor="ctr">
                    <a:lnL cap="flat" cmpd="sng" w="12700">
                      <a:solidFill>
                        <a:srgbClr val="DDE1EC"/>
                      </a:solidFill>
                      <a:prstDash val="solid"/>
                      <a:round/>
                      <a:headEnd len="sm" w="sm" type="none"/>
                      <a:tailEnd len="sm" w="sm" type="none"/>
                    </a:lnL>
                    <a:lnR cap="flat" cmpd="sng" w="12700">
                      <a:solidFill>
                        <a:srgbClr val="DDE1EC"/>
                      </a:solidFill>
                      <a:prstDash val="solid"/>
                      <a:round/>
                      <a:headEnd len="sm" w="sm" type="none"/>
                      <a:tailEnd len="sm" w="sm" type="none"/>
                    </a:lnR>
                    <a:lnT cap="flat" cmpd="sng" w="12700">
                      <a:solidFill>
                        <a:srgbClr val="DDE1EC"/>
                      </a:solidFill>
                      <a:prstDash val="solid"/>
                      <a:round/>
                      <a:headEnd len="sm" w="sm" type="none"/>
                      <a:tailEnd len="sm" w="sm" type="none"/>
                    </a:lnT>
                    <a:lnB cap="flat" cmpd="sng" w="12700">
                      <a:solidFill>
                        <a:srgbClr val="DDE1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333"/>
                        </a:buClr>
                        <a:buSzPts val="1400"/>
                        <a:buFont typeface="Calibri"/>
                        <a:buNone/>
                      </a:pPr>
                      <a:r>
                        <a:rPr lang="en-US" sz="1400" u="none" cap="none" strike="noStrike">
                          <a:solidFill>
                            <a:srgbClr val="1F2333"/>
                          </a:solidFill>
                          <a:latin typeface="Calibri"/>
                          <a:ea typeface="Calibri"/>
                          <a:cs typeface="Calibri"/>
                          <a:sym typeface="Calibri"/>
                        </a:rPr>
                        <a:t>One address calculation, no searching</a:t>
                      </a:r>
                      <a:endParaRPr sz="1400" u="none" cap="none" strike="noStrike">
                        <a:latin typeface="Calibri"/>
                        <a:ea typeface="Calibri"/>
                        <a:cs typeface="Calibri"/>
                        <a:sym typeface="Calibri"/>
                      </a:endParaRPr>
                    </a:p>
                  </a:txBody>
                  <a:tcPr marT="76200" marB="76200" marR="152400" marL="152400" anchor="ctr">
                    <a:lnL cap="flat" cmpd="sng" w="12700">
                      <a:solidFill>
                        <a:srgbClr val="DDE1EC"/>
                      </a:solidFill>
                      <a:prstDash val="solid"/>
                      <a:round/>
                      <a:headEnd len="sm" w="sm" type="none"/>
                      <a:tailEnd len="sm" w="sm" type="none"/>
                    </a:lnL>
                    <a:lnR cap="flat" cmpd="sng" w="12700">
                      <a:solidFill>
                        <a:srgbClr val="DDE1EC"/>
                      </a:solidFill>
                      <a:prstDash val="solid"/>
                      <a:round/>
                      <a:headEnd len="sm" w="sm" type="none"/>
                      <a:tailEnd len="sm" w="sm" type="none"/>
                    </a:lnR>
                    <a:lnT cap="flat" cmpd="sng" w="12700">
                      <a:solidFill>
                        <a:srgbClr val="DDE1EC"/>
                      </a:solidFill>
                      <a:prstDash val="solid"/>
                      <a:round/>
                      <a:headEnd len="sm" w="sm" type="none"/>
                      <a:tailEnd len="sm" w="sm" type="none"/>
                    </a:lnT>
                    <a:lnB cap="flat" cmpd="sng" w="12700">
                      <a:solidFill>
                        <a:srgbClr val="DDE1EC"/>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F2333"/>
                        </a:buClr>
                        <a:buSzPts val="1400"/>
                        <a:buFont typeface="Calibri"/>
                        <a:buNone/>
                      </a:pPr>
                      <a:r>
                        <a:rPr lang="en-US" sz="1400" u="none" cap="none" strike="noStrike">
                          <a:solidFill>
                            <a:srgbClr val="1F2333"/>
                          </a:solidFill>
                          <a:latin typeface="Calibri"/>
                          <a:ea typeface="Calibri"/>
                          <a:cs typeface="Calibri"/>
                          <a:sym typeface="Calibri"/>
                        </a:rPr>
                        <a:t>Search (unsorted)</a:t>
                      </a:r>
                      <a:endParaRPr sz="1400" u="none" cap="none" strike="noStrike">
                        <a:latin typeface="Calibri"/>
                        <a:ea typeface="Calibri"/>
                        <a:cs typeface="Calibri"/>
                        <a:sym typeface="Calibri"/>
                      </a:endParaRPr>
                    </a:p>
                  </a:txBody>
                  <a:tcPr marT="76200" marB="76200" marR="152400" marL="152400" anchor="ctr">
                    <a:lnL cap="flat" cmpd="sng" w="12700">
                      <a:solidFill>
                        <a:srgbClr val="DDE1EC"/>
                      </a:solidFill>
                      <a:prstDash val="solid"/>
                      <a:round/>
                      <a:headEnd len="sm" w="sm" type="none"/>
                      <a:tailEnd len="sm" w="sm" type="none"/>
                    </a:lnL>
                    <a:lnR cap="flat" cmpd="sng" w="12700">
                      <a:solidFill>
                        <a:srgbClr val="DDE1EC"/>
                      </a:solidFill>
                      <a:prstDash val="solid"/>
                      <a:round/>
                      <a:headEnd len="sm" w="sm" type="none"/>
                      <a:tailEnd len="sm" w="sm" type="none"/>
                    </a:lnR>
                    <a:lnT cap="flat" cmpd="sng" w="12700">
                      <a:solidFill>
                        <a:srgbClr val="DDE1EC"/>
                      </a:solidFill>
                      <a:prstDash val="solid"/>
                      <a:round/>
                      <a:headEnd len="sm" w="sm" type="none"/>
                      <a:tailEnd len="sm" w="sm" type="none"/>
                    </a:lnT>
                    <a:lnB cap="flat" cmpd="sng" w="12700">
                      <a:solidFill>
                        <a:srgbClr val="DDE1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FF6B35"/>
                        </a:buClr>
                        <a:buSzPts val="1400"/>
                        <a:buFont typeface="Courier New"/>
                        <a:buNone/>
                      </a:pPr>
                      <a:r>
                        <a:rPr b="1" lang="en-US" sz="1400" u="none" cap="none" strike="noStrike">
                          <a:solidFill>
                            <a:srgbClr val="FF6B35"/>
                          </a:solidFill>
                          <a:latin typeface="Courier New"/>
                          <a:ea typeface="Courier New"/>
                          <a:cs typeface="Courier New"/>
                          <a:sym typeface="Courier New"/>
                        </a:rPr>
                        <a:t>O(n)</a:t>
                      </a:r>
                      <a:endParaRPr sz="1400" u="none" cap="none" strike="noStrike">
                        <a:latin typeface="Courier New"/>
                        <a:ea typeface="Courier New"/>
                        <a:cs typeface="Courier New"/>
                        <a:sym typeface="Courier New"/>
                      </a:endParaRPr>
                    </a:p>
                  </a:txBody>
                  <a:tcPr marT="76200" marB="76200" marR="152400" marL="152400" anchor="ctr">
                    <a:lnL cap="flat" cmpd="sng" w="12700">
                      <a:solidFill>
                        <a:srgbClr val="DDE1EC"/>
                      </a:solidFill>
                      <a:prstDash val="solid"/>
                      <a:round/>
                      <a:headEnd len="sm" w="sm" type="none"/>
                      <a:tailEnd len="sm" w="sm" type="none"/>
                    </a:lnL>
                    <a:lnR cap="flat" cmpd="sng" w="12700">
                      <a:solidFill>
                        <a:srgbClr val="DDE1EC"/>
                      </a:solidFill>
                      <a:prstDash val="solid"/>
                      <a:round/>
                      <a:headEnd len="sm" w="sm" type="none"/>
                      <a:tailEnd len="sm" w="sm" type="none"/>
                    </a:lnR>
                    <a:lnT cap="flat" cmpd="sng" w="12700">
                      <a:solidFill>
                        <a:srgbClr val="DDE1EC"/>
                      </a:solidFill>
                      <a:prstDash val="solid"/>
                      <a:round/>
                      <a:headEnd len="sm" w="sm" type="none"/>
                      <a:tailEnd len="sm" w="sm" type="none"/>
                    </a:lnT>
                    <a:lnB cap="flat" cmpd="sng" w="12700">
                      <a:solidFill>
                        <a:srgbClr val="DDE1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333"/>
                        </a:buClr>
                        <a:buSzPts val="1400"/>
                        <a:buFont typeface="Calibri"/>
                        <a:buNone/>
                      </a:pPr>
                      <a:r>
                        <a:rPr lang="en-US" sz="1400" u="none" cap="none" strike="noStrike">
                          <a:solidFill>
                            <a:srgbClr val="1F2333"/>
                          </a:solidFill>
                          <a:latin typeface="Calibri"/>
                          <a:ea typeface="Calibri"/>
                          <a:cs typeface="Calibri"/>
                          <a:sym typeface="Calibri"/>
                        </a:rPr>
                        <a:t>You may have to look at every element</a:t>
                      </a:r>
                      <a:endParaRPr sz="1400" u="none" cap="none" strike="noStrike">
                        <a:latin typeface="Calibri"/>
                        <a:ea typeface="Calibri"/>
                        <a:cs typeface="Calibri"/>
                        <a:sym typeface="Calibri"/>
                      </a:endParaRPr>
                    </a:p>
                  </a:txBody>
                  <a:tcPr marT="76200" marB="76200" marR="152400" marL="152400" anchor="ctr">
                    <a:lnL cap="flat" cmpd="sng" w="12700">
                      <a:solidFill>
                        <a:srgbClr val="DDE1EC"/>
                      </a:solidFill>
                      <a:prstDash val="solid"/>
                      <a:round/>
                      <a:headEnd len="sm" w="sm" type="none"/>
                      <a:tailEnd len="sm" w="sm" type="none"/>
                    </a:lnL>
                    <a:lnR cap="flat" cmpd="sng" w="12700">
                      <a:solidFill>
                        <a:srgbClr val="DDE1EC"/>
                      </a:solidFill>
                      <a:prstDash val="solid"/>
                      <a:round/>
                      <a:headEnd len="sm" w="sm" type="none"/>
                      <a:tailEnd len="sm" w="sm" type="none"/>
                    </a:lnR>
                    <a:lnT cap="flat" cmpd="sng" w="12700">
                      <a:solidFill>
                        <a:srgbClr val="DDE1EC"/>
                      </a:solidFill>
                      <a:prstDash val="solid"/>
                      <a:round/>
                      <a:headEnd len="sm" w="sm" type="none"/>
                      <a:tailEnd len="sm" w="sm" type="none"/>
                    </a:lnT>
                    <a:lnB cap="flat" cmpd="sng" w="12700">
                      <a:solidFill>
                        <a:srgbClr val="DDE1EC"/>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F2333"/>
                        </a:buClr>
                        <a:buSzPts val="1400"/>
                        <a:buFont typeface="Calibri"/>
                        <a:buNone/>
                      </a:pPr>
                      <a:r>
                        <a:rPr lang="en-US" sz="1400" u="none" cap="none" strike="noStrike">
                          <a:solidFill>
                            <a:srgbClr val="1F2333"/>
                          </a:solidFill>
                          <a:latin typeface="Calibri"/>
                          <a:ea typeface="Calibri"/>
                          <a:cs typeface="Calibri"/>
                          <a:sym typeface="Calibri"/>
                        </a:rPr>
                        <a:t>Insert or delete at end</a:t>
                      </a:r>
                      <a:endParaRPr sz="1400" u="none" cap="none" strike="noStrike">
                        <a:latin typeface="Calibri"/>
                        <a:ea typeface="Calibri"/>
                        <a:cs typeface="Calibri"/>
                        <a:sym typeface="Calibri"/>
                      </a:endParaRPr>
                    </a:p>
                  </a:txBody>
                  <a:tcPr marT="76200" marB="76200" marR="152400" marL="152400" anchor="ctr">
                    <a:lnL cap="flat" cmpd="sng" w="12700">
                      <a:solidFill>
                        <a:srgbClr val="DDE1EC"/>
                      </a:solidFill>
                      <a:prstDash val="solid"/>
                      <a:round/>
                      <a:headEnd len="sm" w="sm" type="none"/>
                      <a:tailEnd len="sm" w="sm" type="none"/>
                    </a:lnL>
                    <a:lnR cap="flat" cmpd="sng" w="12700">
                      <a:solidFill>
                        <a:srgbClr val="DDE1EC"/>
                      </a:solidFill>
                      <a:prstDash val="solid"/>
                      <a:round/>
                      <a:headEnd len="sm" w="sm" type="none"/>
                      <a:tailEnd len="sm" w="sm" type="none"/>
                    </a:lnR>
                    <a:lnT cap="flat" cmpd="sng" w="12700">
                      <a:solidFill>
                        <a:srgbClr val="DDE1EC"/>
                      </a:solidFill>
                      <a:prstDash val="solid"/>
                      <a:round/>
                      <a:headEnd len="sm" w="sm" type="none"/>
                      <a:tailEnd len="sm" w="sm" type="none"/>
                    </a:lnT>
                    <a:lnB cap="flat" cmpd="sng" w="12700">
                      <a:solidFill>
                        <a:srgbClr val="DDE1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A9D8F"/>
                        </a:buClr>
                        <a:buSzPts val="1400"/>
                        <a:buFont typeface="Courier New"/>
                        <a:buNone/>
                      </a:pPr>
                      <a:r>
                        <a:rPr b="1" lang="en-US" sz="1400" u="none" cap="none" strike="noStrike">
                          <a:solidFill>
                            <a:srgbClr val="2A9D8F"/>
                          </a:solidFill>
                          <a:latin typeface="Courier New"/>
                          <a:ea typeface="Courier New"/>
                          <a:cs typeface="Courier New"/>
                          <a:sym typeface="Courier New"/>
                        </a:rPr>
                        <a:t>O(1) amortized</a:t>
                      </a:r>
                      <a:endParaRPr sz="1400" u="none" cap="none" strike="noStrike">
                        <a:latin typeface="Courier New"/>
                        <a:ea typeface="Courier New"/>
                        <a:cs typeface="Courier New"/>
                        <a:sym typeface="Courier New"/>
                      </a:endParaRPr>
                    </a:p>
                  </a:txBody>
                  <a:tcPr marT="76200" marB="76200" marR="152400" marL="152400" anchor="ctr">
                    <a:lnL cap="flat" cmpd="sng" w="12700">
                      <a:solidFill>
                        <a:srgbClr val="DDE1EC"/>
                      </a:solidFill>
                      <a:prstDash val="solid"/>
                      <a:round/>
                      <a:headEnd len="sm" w="sm" type="none"/>
                      <a:tailEnd len="sm" w="sm" type="none"/>
                    </a:lnL>
                    <a:lnR cap="flat" cmpd="sng" w="12700">
                      <a:solidFill>
                        <a:srgbClr val="DDE1EC"/>
                      </a:solidFill>
                      <a:prstDash val="solid"/>
                      <a:round/>
                      <a:headEnd len="sm" w="sm" type="none"/>
                      <a:tailEnd len="sm" w="sm" type="none"/>
                    </a:lnR>
                    <a:lnT cap="flat" cmpd="sng" w="12700">
                      <a:solidFill>
                        <a:srgbClr val="DDE1EC"/>
                      </a:solidFill>
                      <a:prstDash val="solid"/>
                      <a:round/>
                      <a:headEnd len="sm" w="sm" type="none"/>
                      <a:tailEnd len="sm" w="sm" type="none"/>
                    </a:lnT>
                    <a:lnB cap="flat" cmpd="sng" w="12700">
                      <a:solidFill>
                        <a:srgbClr val="DDE1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333"/>
                        </a:buClr>
                        <a:buSzPts val="1400"/>
                        <a:buFont typeface="Calibri"/>
                        <a:buNone/>
                      </a:pPr>
                      <a:r>
                        <a:rPr lang="en-US" sz="1400" u="none" cap="none" strike="noStrike">
                          <a:solidFill>
                            <a:srgbClr val="1F2333"/>
                          </a:solidFill>
                          <a:latin typeface="Calibri"/>
                          <a:ea typeface="Calibri"/>
                          <a:cs typeface="Calibri"/>
                          <a:sym typeface="Calibri"/>
                        </a:rPr>
                        <a:t>Nothing after it needs to move</a:t>
                      </a:r>
                      <a:endParaRPr sz="1400" u="none" cap="none" strike="noStrike">
                        <a:latin typeface="Calibri"/>
                        <a:ea typeface="Calibri"/>
                        <a:cs typeface="Calibri"/>
                        <a:sym typeface="Calibri"/>
                      </a:endParaRPr>
                    </a:p>
                  </a:txBody>
                  <a:tcPr marT="76200" marB="76200" marR="152400" marL="152400" anchor="ctr">
                    <a:lnL cap="flat" cmpd="sng" w="12700">
                      <a:solidFill>
                        <a:srgbClr val="DDE1EC"/>
                      </a:solidFill>
                      <a:prstDash val="solid"/>
                      <a:round/>
                      <a:headEnd len="sm" w="sm" type="none"/>
                      <a:tailEnd len="sm" w="sm" type="none"/>
                    </a:lnL>
                    <a:lnR cap="flat" cmpd="sng" w="12700">
                      <a:solidFill>
                        <a:srgbClr val="DDE1EC"/>
                      </a:solidFill>
                      <a:prstDash val="solid"/>
                      <a:round/>
                      <a:headEnd len="sm" w="sm" type="none"/>
                      <a:tailEnd len="sm" w="sm" type="none"/>
                    </a:lnR>
                    <a:lnT cap="flat" cmpd="sng" w="12700">
                      <a:solidFill>
                        <a:srgbClr val="DDE1EC"/>
                      </a:solidFill>
                      <a:prstDash val="solid"/>
                      <a:round/>
                      <a:headEnd len="sm" w="sm" type="none"/>
                      <a:tailEnd len="sm" w="sm" type="none"/>
                    </a:lnT>
                    <a:lnB cap="flat" cmpd="sng" w="12700">
                      <a:solidFill>
                        <a:srgbClr val="DDE1EC"/>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F2333"/>
                        </a:buClr>
                        <a:buSzPts val="1400"/>
                        <a:buFont typeface="Calibri"/>
                        <a:buNone/>
                      </a:pPr>
                      <a:r>
                        <a:rPr lang="en-US" sz="1400" u="none" cap="none" strike="noStrike">
                          <a:solidFill>
                            <a:srgbClr val="1F2333"/>
                          </a:solidFill>
                          <a:latin typeface="Calibri"/>
                          <a:ea typeface="Calibri"/>
                          <a:cs typeface="Calibri"/>
                          <a:sym typeface="Calibri"/>
                        </a:rPr>
                        <a:t>Insert or delete in middle</a:t>
                      </a:r>
                      <a:endParaRPr sz="1400" u="none" cap="none" strike="noStrike">
                        <a:latin typeface="Calibri"/>
                        <a:ea typeface="Calibri"/>
                        <a:cs typeface="Calibri"/>
                        <a:sym typeface="Calibri"/>
                      </a:endParaRPr>
                    </a:p>
                  </a:txBody>
                  <a:tcPr marT="76200" marB="76200" marR="152400" marL="152400" anchor="ctr">
                    <a:lnL cap="flat" cmpd="sng" w="12700">
                      <a:solidFill>
                        <a:srgbClr val="DDE1EC"/>
                      </a:solidFill>
                      <a:prstDash val="solid"/>
                      <a:round/>
                      <a:headEnd len="sm" w="sm" type="none"/>
                      <a:tailEnd len="sm" w="sm" type="none"/>
                    </a:lnL>
                    <a:lnR cap="flat" cmpd="sng" w="12700">
                      <a:solidFill>
                        <a:srgbClr val="DDE1EC"/>
                      </a:solidFill>
                      <a:prstDash val="solid"/>
                      <a:round/>
                      <a:headEnd len="sm" w="sm" type="none"/>
                      <a:tailEnd len="sm" w="sm" type="none"/>
                    </a:lnR>
                    <a:lnT cap="flat" cmpd="sng" w="12700">
                      <a:solidFill>
                        <a:srgbClr val="DDE1EC"/>
                      </a:solidFill>
                      <a:prstDash val="solid"/>
                      <a:round/>
                      <a:headEnd len="sm" w="sm" type="none"/>
                      <a:tailEnd len="sm" w="sm" type="none"/>
                    </a:lnT>
                    <a:lnB cap="flat" cmpd="sng" w="12700">
                      <a:solidFill>
                        <a:srgbClr val="DDE1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FF6B35"/>
                        </a:buClr>
                        <a:buSzPts val="1400"/>
                        <a:buFont typeface="Courier New"/>
                        <a:buNone/>
                      </a:pPr>
                      <a:r>
                        <a:rPr b="1" lang="en-US" sz="1400" u="none" cap="none" strike="noStrike">
                          <a:solidFill>
                            <a:srgbClr val="FF6B35"/>
                          </a:solidFill>
                          <a:latin typeface="Courier New"/>
                          <a:ea typeface="Courier New"/>
                          <a:cs typeface="Courier New"/>
                          <a:sym typeface="Courier New"/>
                        </a:rPr>
                        <a:t>O(n)</a:t>
                      </a:r>
                      <a:endParaRPr sz="1400" u="none" cap="none" strike="noStrike">
                        <a:latin typeface="Courier New"/>
                        <a:ea typeface="Courier New"/>
                        <a:cs typeface="Courier New"/>
                        <a:sym typeface="Courier New"/>
                      </a:endParaRPr>
                    </a:p>
                  </a:txBody>
                  <a:tcPr marT="76200" marB="76200" marR="152400" marL="152400" anchor="ctr">
                    <a:lnL cap="flat" cmpd="sng" w="12700">
                      <a:solidFill>
                        <a:srgbClr val="DDE1EC"/>
                      </a:solidFill>
                      <a:prstDash val="solid"/>
                      <a:round/>
                      <a:headEnd len="sm" w="sm" type="none"/>
                      <a:tailEnd len="sm" w="sm" type="none"/>
                    </a:lnL>
                    <a:lnR cap="flat" cmpd="sng" w="12700">
                      <a:solidFill>
                        <a:srgbClr val="DDE1EC"/>
                      </a:solidFill>
                      <a:prstDash val="solid"/>
                      <a:round/>
                      <a:headEnd len="sm" w="sm" type="none"/>
                      <a:tailEnd len="sm" w="sm" type="none"/>
                    </a:lnR>
                    <a:lnT cap="flat" cmpd="sng" w="12700">
                      <a:solidFill>
                        <a:srgbClr val="DDE1EC"/>
                      </a:solidFill>
                      <a:prstDash val="solid"/>
                      <a:round/>
                      <a:headEnd len="sm" w="sm" type="none"/>
                      <a:tailEnd len="sm" w="sm" type="none"/>
                    </a:lnT>
                    <a:lnB cap="flat" cmpd="sng" w="12700">
                      <a:solidFill>
                        <a:srgbClr val="DDE1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333"/>
                        </a:buClr>
                        <a:buSzPts val="1400"/>
                        <a:buFont typeface="Calibri"/>
                        <a:buNone/>
                      </a:pPr>
                      <a:r>
                        <a:rPr lang="en-US" sz="1400" u="none" cap="none" strike="noStrike">
                          <a:solidFill>
                            <a:srgbClr val="1F2333"/>
                          </a:solidFill>
                          <a:latin typeface="Calibri"/>
                          <a:ea typeface="Calibri"/>
                          <a:cs typeface="Calibri"/>
                          <a:sym typeface="Calibri"/>
                        </a:rPr>
                        <a:t>Everything after it shifts by one spot</a:t>
                      </a:r>
                      <a:endParaRPr sz="1400" u="none" cap="none" strike="noStrike">
                        <a:latin typeface="Calibri"/>
                        <a:ea typeface="Calibri"/>
                        <a:cs typeface="Calibri"/>
                        <a:sym typeface="Calibri"/>
                      </a:endParaRPr>
                    </a:p>
                  </a:txBody>
                  <a:tcPr marT="76200" marB="76200" marR="152400" marL="152400" anchor="ctr">
                    <a:lnL cap="flat" cmpd="sng" w="12700">
                      <a:solidFill>
                        <a:srgbClr val="DDE1EC"/>
                      </a:solidFill>
                      <a:prstDash val="solid"/>
                      <a:round/>
                      <a:headEnd len="sm" w="sm" type="none"/>
                      <a:tailEnd len="sm" w="sm" type="none"/>
                    </a:lnL>
                    <a:lnR cap="flat" cmpd="sng" w="12700">
                      <a:solidFill>
                        <a:srgbClr val="DDE1EC"/>
                      </a:solidFill>
                      <a:prstDash val="solid"/>
                      <a:round/>
                      <a:headEnd len="sm" w="sm" type="none"/>
                      <a:tailEnd len="sm" w="sm" type="none"/>
                    </a:lnR>
                    <a:lnT cap="flat" cmpd="sng" w="12700">
                      <a:solidFill>
                        <a:srgbClr val="DDE1EC"/>
                      </a:solidFill>
                      <a:prstDash val="solid"/>
                      <a:round/>
                      <a:headEnd len="sm" w="sm" type="none"/>
                      <a:tailEnd len="sm" w="sm" type="none"/>
                    </a:lnT>
                    <a:lnB cap="flat" cmpd="sng" w="12700">
                      <a:solidFill>
                        <a:srgbClr val="DDE1EC"/>
                      </a:solidFill>
                      <a:prstDash val="solid"/>
                      <a:round/>
                      <a:headEnd len="sm" w="sm" type="none"/>
                      <a:tailEnd len="sm" w="sm" type="none"/>
                    </a:lnB>
                    <a:solidFill>
                      <a:srgbClr val="FFFFFF"/>
                    </a:solidFill>
                  </a:tcPr>
                </a:tc>
              </a:tr>
            </a:tbl>
          </a:graphicData>
        </a:graphic>
      </p:graphicFrame>
      <p:sp>
        <p:nvSpPr>
          <p:cNvPr id="159" name="Google Shape;159;p6"/>
          <p:cNvSpPr txBox="1"/>
          <p:nvPr/>
        </p:nvSpPr>
        <p:spPr>
          <a:xfrm>
            <a:off x="731520" y="5532120"/>
            <a:ext cx="10698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350"/>
              <a:buFont typeface="Calibri"/>
              <a:buNone/>
            </a:pPr>
            <a:r>
              <a:rPr i="1" lang="en-US" sz="1350">
                <a:solidFill>
                  <a:srgbClr val="5A6072"/>
                </a:solidFill>
                <a:latin typeface="Calibri"/>
                <a:ea typeface="Calibri"/>
                <a:cs typeface="Calibri"/>
                <a:sym typeface="Calibri"/>
              </a:rPr>
              <a:t>Amortized means the occasional slow resize is spread across many fast appends, so the average stays constant.</a:t>
            </a:r>
            <a:endParaRPr sz="13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164" name="Shape 164"/>
        <p:cNvGrpSpPr/>
        <p:nvPr/>
      </p:nvGrpSpPr>
      <p:grpSpPr>
        <a:xfrm>
          <a:off x="0" y="0"/>
          <a:ext cx="0" cy="0"/>
          <a:chOff x="0" y="0"/>
          <a:chExt cx="0" cy="0"/>
        </a:xfrm>
      </p:grpSpPr>
      <p:sp>
        <p:nvSpPr>
          <p:cNvPr id="165" name="Google Shape;165;p7"/>
          <p:cNvSpPr txBox="1"/>
          <p:nvPr/>
        </p:nvSpPr>
        <p:spPr>
          <a:xfrm>
            <a:off x="731520" y="713232"/>
            <a:ext cx="107899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3200"/>
              <a:buFont typeface="Arial"/>
              <a:buNone/>
            </a:pPr>
            <a:r>
              <a:rPr b="1" lang="en-US" sz="3200">
                <a:solidFill>
                  <a:srgbClr val="1F2333"/>
                </a:solidFill>
                <a:latin typeface="Arial"/>
                <a:ea typeface="Arial"/>
                <a:cs typeface="Arial"/>
                <a:sym typeface="Arial"/>
              </a:rPr>
              <a:t>Why the middle costs more</a:t>
            </a:r>
            <a:endParaRPr sz="3200">
              <a:solidFill>
                <a:schemeClr val="dk1"/>
              </a:solidFill>
              <a:latin typeface="Calibri"/>
              <a:ea typeface="Calibri"/>
              <a:cs typeface="Calibri"/>
              <a:sym typeface="Calibri"/>
            </a:endParaRPr>
          </a:p>
        </p:txBody>
      </p:sp>
      <p:sp>
        <p:nvSpPr>
          <p:cNvPr id="166" name="Google Shape;166;p7"/>
          <p:cNvSpPr txBox="1"/>
          <p:nvPr/>
        </p:nvSpPr>
        <p:spPr>
          <a:xfrm>
            <a:off x="731520" y="1481328"/>
            <a:ext cx="10698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500"/>
              <a:buFont typeface="Calibri"/>
              <a:buNone/>
            </a:pPr>
            <a:r>
              <a:rPr lang="en-US" sz="1500">
                <a:solidFill>
                  <a:srgbClr val="5A6072"/>
                </a:solidFill>
                <a:latin typeface="Calibri"/>
                <a:ea typeface="Calibri"/>
                <a:cs typeface="Calibri"/>
                <a:sym typeface="Calibri"/>
              </a:rPr>
              <a:t>Deleting arr[1] from a five element array</a:t>
            </a:r>
            <a:endParaRPr sz="1500">
              <a:solidFill>
                <a:schemeClr val="dk1"/>
              </a:solidFill>
              <a:latin typeface="Calibri"/>
              <a:ea typeface="Calibri"/>
              <a:cs typeface="Calibri"/>
              <a:sym typeface="Calibri"/>
            </a:endParaRPr>
          </a:p>
        </p:txBody>
      </p:sp>
      <p:sp>
        <p:nvSpPr>
          <p:cNvPr id="167" name="Google Shape;167;p7"/>
          <p:cNvSpPr txBox="1"/>
          <p:nvPr/>
        </p:nvSpPr>
        <p:spPr>
          <a:xfrm>
            <a:off x="731520" y="205740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300"/>
              <a:buFont typeface="Arial"/>
              <a:buNone/>
            </a:pPr>
            <a:r>
              <a:rPr b="1" lang="en-US" sz="1300">
                <a:solidFill>
                  <a:srgbClr val="1F2333"/>
                </a:solidFill>
                <a:latin typeface="Arial"/>
                <a:ea typeface="Arial"/>
                <a:cs typeface="Arial"/>
                <a:sym typeface="Arial"/>
              </a:rPr>
              <a:t>Before</a:t>
            </a:r>
            <a:endParaRPr sz="1300">
              <a:solidFill>
                <a:schemeClr val="dk1"/>
              </a:solidFill>
              <a:latin typeface="Calibri"/>
              <a:ea typeface="Calibri"/>
              <a:cs typeface="Calibri"/>
              <a:sym typeface="Calibri"/>
            </a:endParaRPr>
          </a:p>
        </p:txBody>
      </p:sp>
      <p:sp>
        <p:nvSpPr>
          <p:cNvPr id="168" name="Google Shape;168;p7"/>
          <p:cNvSpPr/>
          <p:nvPr/>
        </p:nvSpPr>
        <p:spPr>
          <a:xfrm>
            <a:off x="731520" y="2423160"/>
            <a:ext cx="868680" cy="658368"/>
          </a:xfrm>
          <a:prstGeom prst="roundRect">
            <a:avLst>
              <a:gd fmla="val 9722"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7"/>
          <p:cNvSpPr txBox="1"/>
          <p:nvPr/>
        </p:nvSpPr>
        <p:spPr>
          <a:xfrm>
            <a:off x="731520" y="2423160"/>
            <a:ext cx="86868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333"/>
              </a:buClr>
              <a:buSzPts val="1600"/>
              <a:buFont typeface="Calibri"/>
              <a:buNone/>
            </a:pPr>
            <a:r>
              <a:rPr b="1" lang="en-US" sz="1600">
                <a:solidFill>
                  <a:srgbClr val="1F2333"/>
                </a:solidFill>
                <a:latin typeface="Calibri"/>
                <a:ea typeface="Calibri"/>
                <a:cs typeface="Calibri"/>
                <a:sym typeface="Calibri"/>
              </a:rPr>
              <a:t>42</a:t>
            </a:r>
            <a:endParaRPr sz="1600">
              <a:solidFill>
                <a:schemeClr val="dk1"/>
              </a:solidFill>
              <a:latin typeface="Calibri"/>
              <a:ea typeface="Calibri"/>
              <a:cs typeface="Calibri"/>
              <a:sym typeface="Calibri"/>
            </a:endParaRPr>
          </a:p>
        </p:txBody>
      </p:sp>
      <p:sp>
        <p:nvSpPr>
          <p:cNvPr id="170" name="Google Shape;170;p7"/>
          <p:cNvSpPr txBox="1"/>
          <p:nvPr/>
        </p:nvSpPr>
        <p:spPr>
          <a:xfrm>
            <a:off x="731520" y="3118104"/>
            <a:ext cx="8686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072"/>
              </a:buClr>
              <a:buSzPts val="1000"/>
              <a:buFont typeface="Courier New"/>
              <a:buNone/>
            </a:pPr>
            <a:r>
              <a:rPr lang="en-US" sz="1000">
                <a:solidFill>
                  <a:srgbClr val="5A6072"/>
                </a:solidFill>
                <a:latin typeface="Courier New"/>
                <a:ea typeface="Courier New"/>
                <a:cs typeface="Courier New"/>
                <a:sym typeface="Courier New"/>
              </a:rPr>
              <a:t>0</a:t>
            </a:r>
            <a:endParaRPr sz="1000">
              <a:solidFill>
                <a:schemeClr val="dk1"/>
              </a:solidFill>
              <a:latin typeface="Calibri"/>
              <a:ea typeface="Calibri"/>
              <a:cs typeface="Calibri"/>
              <a:sym typeface="Calibri"/>
            </a:endParaRPr>
          </a:p>
        </p:txBody>
      </p:sp>
      <p:sp>
        <p:nvSpPr>
          <p:cNvPr id="171" name="Google Shape;171;p7"/>
          <p:cNvSpPr/>
          <p:nvPr/>
        </p:nvSpPr>
        <p:spPr>
          <a:xfrm>
            <a:off x="1709928" y="2423160"/>
            <a:ext cx="868680" cy="658368"/>
          </a:xfrm>
          <a:prstGeom prst="roundRect">
            <a:avLst>
              <a:gd fmla="val 9722" name="adj"/>
            </a:avLst>
          </a:prstGeom>
          <a:solidFill>
            <a:srgbClr val="FF6B35"/>
          </a:solidFill>
          <a:ln cap="flat" cmpd="sng" w="12700">
            <a:solidFill>
              <a:srgbClr val="FF6B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7"/>
          <p:cNvSpPr txBox="1"/>
          <p:nvPr/>
        </p:nvSpPr>
        <p:spPr>
          <a:xfrm>
            <a:off x="1709928" y="2423160"/>
            <a:ext cx="86868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7</a:t>
            </a:r>
            <a:endParaRPr sz="1600">
              <a:solidFill>
                <a:schemeClr val="dk1"/>
              </a:solidFill>
              <a:latin typeface="Calibri"/>
              <a:ea typeface="Calibri"/>
              <a:cs typeface="Calibri"/>
              <a:sym typeface="Calibri"/>
            </a:endParaRPr>
          </a:p>
        </p:txBody>
      </p:sp>
      <p:sp>
        <p:nvSpPr>
          <p:cNvPr id="173" name="Google Shape;173;p7"/>
          <p:cNvSpPr txBox="1"/>
          <p:nvPr/>
        </p:nvSpPr>
        <p:spPr>
          <a:xfrm>
            <a:off x="1709928" y="3118104"/>
            <a:ext cx="8686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072"/>
              </a:buClr>
              <a:buSzPts val="1000"/>
              <a:buFont typeface="Courier New"/>
              <a:buNone/>
            </a:pPr>
            <a:r>
              <a:rPr lang="en-US" sz="1000">
                <a:solidFill>
                  <a:srgbClr val="5A6072"/>
                </a:solidFill>
                <a:latin typeface="Courier New"/>
                <a:ea typeface="Courier New"/>
                <a:cs typeface="Courier New"/>
                <a:sym typeface="Courier New"/>
              </a:rPr>
              <a:t>1</a:t>
            </a:r>
            <a:endParaRPr sz="1000">
              <a:solidFill>
                <a:schemeClr val="dk1"/>
              </a:solidFill>
              <a:latin typeface="Calibri"/>
              <a:ea typeface="Calibri"/>
              <a:cs typeface="Calibri"/>
              <a:sym typeface="Calibri"/>
            </a:endParaRPr>
          </a:p>
        </p:txBody>
      </p:sp>
      <p:sp>
        <p:nvSpPr>
          <p:cNvPr id="174" name="Google Shape;174;p7"/>
          <p:cNvSpPr/>
          <p:nvPr/>
        </p:nvSpPr>
        <p:spPr>
          <a:xfrm>
            <a:off x="2688336" y="2423160"/>
            <a:ext cx="868680" cy="658368"/>
          </a:xfrm>
          <a:prstGeom prst="roundRect">
            <a:avLst>
              <a:gd fmla="val 9722"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7"/>
          <p:cNvSpPr txBox="1"/>
          <p:nvPr/>
        </p:nvSpPr>
        <p:spPr>
          <a:xfrm>
            <a:off x="2688336" y="2423160"/>
            <a:ext cx="86868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333"/>
              </a:buClr>
              <a:buSzPts val="1600"/>
              <a:buFont typeface="Calibri"/>
              <a:buNone/>
            </a:pPr>
            <a:r>
              <a:rPr b="1" lang="en-US" sz="1600">
                <a:solidFill>
                  <a:srgbClr val="1F2333"/>
                </a:solidFill>
                <a:latin typeface="Calibri"/>
                <a:ea typeface="Calibri"/>
                <a:cs typeface="Calibri"/>
                <a:sym typeface="Calibri"/>
              </a:rPr>
              <a:t>19</a:t>
            </a:r>
            <a:endParaRPr sz="1600">
              <a:solidFill>
                <a:schemeClr val="dk1"/>
              </a:solidFill>
              <a:latin typeface="Calibri"/>
              <a:ea typeface="Calibri"/>
              <a:cs typeface="Calibri"/>
              <a:sym typeface="Calibri"/>
            </a:endParaRPr>
          </a:p>
        </p:txBody>
      </p:sp>
      <p:sp>
        <p:nvSpPr>
          <p:cNvPr id="176" name="Google Shape;176;p7"/>
          <p:cNvSpPr txBox="1"/>
          <p:nvPr/>
        </p:nvSpPr>
        <p:spPr>
          <a:xfrm>
            <a:off x="2688336" y="3118104"/>
            <a:ext cx="8686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072"/>
              </a:buClr>
              <a:buSzPts val="1000"/>
              <a:buFont typeface="Courier New"/>
              <a:buNone/>
            </a:pPr>
            <a:r>
              <a:rPr lang="en-US" sz="1000">
                <a:solidFill>
                  <a:srgbClr val="5A6072"/>
                </a:solidFill>
                <a:latin typeface="Courier New"/>
                <a:ea typeface="Courier New"/>
                <a:cs typeface="Courier New"/>
                <a:sym typeface="Courier New"/>
              </a:rPr>
              <a:t>2</a:t>
            </a:r>
            <a:endParaRPr sz="1000">
              <a:solidFill>
                <a:schemeClr val="dk1"/>
              </a:solidFill>
              <a:latin typeface="Calibri"/>
              <a:ea typeface="Calibri"/>
              <a:cs typeface="Calibri"/>
              <a:sym typeface="Calibri"/>
            </a:endParaRPr>
          </a:p>
        </p:txBody>
      </p:sp>
      <p:sp>
        <p:nvSpPr>
          <p:cNvPr id="177" name="Google Shape;177;p7"/>
          <p:cNvSpPr/>
          <p:nvPr/>
        </p:nvSpPr>
        <p:spPr>
          <a:xfrm>
            <a:off x="3666744" y="2423160"/>
            <a:ext cx="868680" cy="658368"/>
          </a:xfrm>
          <a:prstGeom prst="roundRect">
            <a:avLst>
              <a:gd fmla="val 9722"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7"/>
          <p:cNvSpPr txBox="1"/>
          <p:nvPr/>
        </p:nvSpPr>
        <p:spPr>
          <a:xfrm>
            <a:off x="3666744" y="2423160"/>
            <a:ext cx="86868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333"/>
              </a:buClr>
              <a:buSzPts val="1600"/>
              <a:buFont typeface="Calibri"/>
              <a:buNone/>
            </a:pPr>
            <a:r>
              <a:rPr b="1" lang="en-US" sz="1600">
                <a:solidFill>
                  <a:srgbClr val="1F2333"/>
                </a:solidFill>
                <a:latin typeface="Calibri"/>
                <a:ea typeface="Calibri"/>
                <a:cs typeface="Calibri"/>
                <a:sym typeface="Calibri"/>
              </a:rPr>
              <a:t>88</a:t>
            </a:r>
            <a:endParaRPr sz="1600">
              <a:solidFill>
                <a:schemeClr val="dk1"/>
              </a:solidFill>
              <a:latin typeface="Calibri"/>
              <a:ea typeface="Calibri"/>
              <a:cs typeface="Calibri"/>
              <a:sym typeface="Calibri"/>
            </a:endParaRPr>
          </a:p>
        </p:txBody>
      </p:sp>
      <p:sp>
        <p:nvSpPr>
          <p:cNvPr id="179" name="Google Shape;179;p7"/>
          <p:cNvSpPr txBox="1"/>
          <p:nvPr/>
        </p:nvSpPr>
        <p:spPr>
          <a:xfrm>
            <a:off x="3666744" y="3118104"/>
            <a:ext cx="8686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072"/>
              </a:buClr>
              <a:buSzPts val="1000"/>
              <a:buFont typeface="Courier New"/>
              <a:buNone/>
            </a:pPr>
            <a:r>
              <a:rPr lang="en-US" sz="1000">
                <a:solidFill>
                  <a:srgbClr val="5A6072"/>
                </a:solidFill>
                <a:latin typeface="Courier New"/>
                <a:ea typeface="Courier New"/>
                <a:cs typeface="Courier New"/>
                <a:sym typeface="Courier New"/>
              </a:rPr>
              <a:t>3</a:t>
            </a:r>
            <a:endParaRPr sz="1000">
              <a:solidFill>
                <a:schemeClr val="dk1"/>
              </a:solidFill>
              <a:latin typeface="Calibri"/>
              <a:ea typeface="Calibri"/>
              <a:cs typeface="Calibri"/>
              <a:sym typeface="Calibri"/>
            </a:endParaRPr>
          </a:p>
        </p:txBody>
      </p:sp>
      <p:sp>
        <p:nvSpPr>
          <p:cNvPr id="180" name="Google Shape;180;p7"/>
          <p:cNvSpPr/>
          <p:nvPr/>
        </p:nvSpPr>
        <p:spPr>
          <a:xfrm>
            <a:off x="4645152" y="2423160"/>
            <a:ext cx="868680" cy="658368"/>
          </a:xfrm>
          <a:prstGeom prst="roundRect">
            <a:avLst>
              <a:gd fmla="val 9722"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7"/>
          <p:cNvSpPr txBox="1"/>
          <p:nvPr/>
        </p:nvSpPr>
        <p:spPr>
          <a:xfrm>
            <a:off x="4645152" y="2423160"/>
            <a:ext cx="86868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333"/>
              </a:buClr>
              <a:buSzPts val="1600"/>
              <a:buFont typeface="Calibri"/>
              <a:buNone/>
            </a:pPr>
            <a:r>
              <a:rPr b="1" lang="en-US" sz="1600">
                <a:solidFill>
                  <a:srgbClr val="1F2333"/>
                </a:solidFill>
                <a:latin typeface="Calibri"/>
                <a:ea typeface="Calibri"/>
                <a:cs typeface="Calibri"/>
                <a:sym typeface="Calibri"/>
              </a:rPr>
              <a:t>5</a:t>
            </a:r>
            <a:endParaRPr sz="1600">
              <a:solidFill>
                <a:schemeClr val="dk1"/>
              </a:solidFill>
              <a:latin typeface="Calibri"/>
              <a:ea typeface="Calibri"/>
              <a:cs typeface="Calibri"/>
              <a:sym typeface="Calibri"/>
            </a:endParaRPr>
          </a:p>
        </p:txBody>
      </p:sp>
      <p:sp>
        <p:nvSpPr>
          <p:cNvPr id="182" name="Google Shape;182;p7"/>
          <p:cNvSpPr txBox="1"/>
          <p:nvPr/>
        </p:nvSpPr>
        <p:spPr>
          <a:xfrm>
            <a:off x="4645152" y="3118104"/>
            <a:ext cx="8686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072"/>
              </a:buClr>
              <a:buSzPts val="1000"/>
              <a:buFont typeface="Courier New"/>
              <a:buNone/>
            </a:pPr>
            <a:r>
              <a:rPr lang="en-US" sz="1000">
                <a:solidFill>
                  <a:srgbClr val="5A6072"/>
                </a:solidFill>
                <a:latin typeface="Courier New"/>
                <a:ea typeface="Courier New"/>
                <a:cs typeface="Courier New"/>
                <a:sym typeface="Courier New"/>
              </a:rPr>
              <a:t>4</a:t>
            </a:r>
            <a:endParaRPr sz="1000">
              <a:solidFill>
                <a:schemeClr val="dk1"/>
              </a:solidFill>
              <a:latin typeface="Calibri"/>
              <a:ea typeface="Calibri"/>
              <a:cs typeface="Calibri"/>
              <a:sym typeface="Calibri"/>
            </a:endParaRPr>
          </a:p>
        </p:txBody>
      </p:sp>
      <p:sp>
        <p:nvSpPr>
          <p:cNvPr id="183" name="Google Shape;183;p7"/>
          <p:cNvSpPr txBox="1"/>
          <p:nvPr/>
        </p:nvSpPr>
        <p:spPr>
          <a:xfrm>
            <a:off x="731520" y="397764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300"/>
              <a:buFont typeface="Arial"/>
              <a:buNone/>
            </a:pPr>
            <a:r>
              <a:rPr b="1" lang="en-US" sz="1300">
                <a:solidFill>
                  <a:srgbClr val="1F2333"/>
                </a:solidFill>
                <a:latin typeface="Arial"/>
                <a:ea typeface="Arial"/>
                <a:cs typeface="Arial"/>
                <a:sym typeface="Arial"/>
              </a:rPr>
              <a:t>After</a:t>
            </a:r>
            <a:endParaRPr sz="1300">
              <a:solidFill>
                <a:schemeClr val="dk1"/>
              </a:solidFill>
              <a:latin typeface="Calibri"/>
              <a:ea typeface="Calibri"/>
              <a:cs typeface="Calibri"/>
              <a:sym typeface="Calibri"/>
            </a:endParaRPr>
          </a:p>
        </p:txBody>
      </p:sp>
      <p:sp>
        <p:nvSpPr>
          <p:cNvPr id="184" name="Google Shape;184;p7"/>
          <p:cNvSpPr/>
          <p:nvPr/>
        </p:nvSpPr>
        <p:spPr>
          <a:xfrm>
            <a:off x="731520" y="4343400"/>
            <a:ext cx="868680" cy="658368"/>
          </a:xfrm>
          <a:prstGeom prst="roundRect">
            <a:avLst>
              <a:gd fmla="val 9722"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7"/>
          <p:cNvSpPr txBox="1"/>
          <p:nvPr/>
        </p:nvSpPr>
        <p:spPr>
          <a:xfrm>
            <a:off x="731520" y="4343400"/>
            <a:ext cx="86868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333"/>
              </a:buClr>
              <a:buSzPts val="1600"/>
              <a:buFont typeface="Calibri"/>
              <a:buNone/>
            </a:pPr>
            <a:r>
              <a:rPr b="1" lang="en-US" sz="1600">
                <a:solidFill>
                  <a:srgbClr val="1F2333"/>
                </a:solidFill>
                <a:latin typeface="Calibri"/>
                <a:ea typeface="Calibri"/>
                <a:cs typeface="Calibri"/>
                <a:sym typeface="Calibri"/>
              </a:rPr>
              <a:t>42</a:t>
            </a:r>
            <a:endParaRPr sz="1600">
              <a:solidFill>
                <a:schemeClr val="dk1"/>
              </a:solidFill>
              <a:latin typeface="Calibri"/>
              <a:ea typeface="Calibri"/>
              <a:cs typeface="Calibri"/>
              <a:sym typeface="Calibri"/>
            </a:endParaRPr>
          </a:p>
        </p:txBody>
      </p:sp>
      <p:sp>
        <p:nvSpPr>
          <p:cNvPr id="186" name="Google Shape;186;p7"/>
          <p:cNvSpPr txBox="1"/>
          <p:nvPr/>
        </p:nvSpPr>
        <p:spPr>
          <a:xfrm>
            <a:off x="731520" y="5038344"/>
            <a:ext cx="8686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072"/>
              </a:buClr>
              <a:buSzPts val="1000"/>
              <a:buFont typeface="Courier New"/>
              <a:buNone/>
            </a:pPr>
            <a:r>
              <a:rPr lang="en-US" sz="1000">
                <a:solidFill>
                  <a:srgbClr val="5A6072"/>
                </a:solidFill>
                <a:latin typeface="Courier New"/>
                <a:ea typeface="Courier New"/>
                <a:cs typeface="Courier New"/>
                <a:sym typeface="Courier New"/>
              </a:rPr>
              <a:t>0</a:t>
            </a:r>
            <a:endParaRPr sz="1000">
              <a:solidFill>
                <a:schemeClr val="dk1"/>
              </a:solidFill>
              <a:latin typeface="Calibri"/>
              <a:ea typeface="Calibri"/>
              <a:cs typeface="Calibri"/>
              <a:sym typeface="Calibri"/>
            </a:endParaRPr>
          </a:p>
        </p:txBody>
      </p:sp>
      <p:sp>
        <p:nvSpPr>
          <p:cNvPr id="187" name="Google Shape;187;p7"/>
          <p:cNvSpPr/>
          <p:nvPr/>
        </p:nvSpPr>
        <p:spPr>
          <a:xfrm>
            <a:off x="1709928" y="4343400"/>
            <a:ext cx="868680" cy="658368"/>
          </a:xfrm>
          <a:prstGeom prst="roundRect">
            <a:avLst>
              <a:gd fmla="val 9722"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7"/>
          <p:cNvSpPr txBox="1"/>
          <p:nvPr/>
        </p:nvSpPr>
        <p:spPr>
          <a:xfrm>
            <a:off x="1709928" y="4343400"/>
            <a:ext cx="86868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333"/>
              </a:buClr>
              <a:buSzPts val="1600"/>
              <a:buFont typeface="Calibri"/>
              <a:buNone/>
            </a:pPr>
            <a:r>
              <a:rPr b="1" lang="en-US" sz="1600">
                <a:solidFill>
                  <a:srgbClr val="1F2333"/>
                </a:solidFill>
                <a:latin typeface="Calibri"/>
                <a:ea typeface="Calibri"/>
                <a:cs typeface="Calibri"/>
                <a:sym typeface="Calibri"/>
              </a:rPr>
              <a:t>19</a:t>
            </a:r>
            <a:endParaRPr sz="1600">
              <a:solidFill>
                <a:schemeClr val="dk1"/>
              </a:solidFill>
              <a:latin typeface="Calibri"/>
              <a:ea typeface="Calibri"/>
              <a:cs typeface="Calibri"/>
              <a:sym typeface="Calibri"/>
            </a:endParaRPr>
          </a:p>
        </p:txBody>
      </p:sp>
      <p:sp>
        <p:nvSpPr>
          <p:cNvPr id="189" name="Google Shape;189;p7"/>
          <p:cNvSpPr txBox="1"/>
          <p:nvPr/>
        </p:nvSpPr>
        <p:spPr>
          <a:xfrm>
            <a:off x="1709928" y="5038344"/>
            <a:ext cx="8686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072"/>
              </a:buClr>
              <a:buSzPts val="1000"/>
              <a:buFont typeface="Courier New"/>
              <a:buNone/>
            </a:pPr>
            <a:r>
              <a:rPr lang="en-US" sz="1000">
                <a:solidFill>
                  <a:srgbClr val="5A6072"/>
                </a:solidFill>
                <a:latin typeface="Courier New"/>
                <a:ea typeface="Courier New"/>
                <a:cs typeface="Courier New"/>
                <a:sym typeface="Courier New"/>
              </a:rPr>
              <a:t>1</a:t>
            </a:r>
            <a:endParaRPr sz="1000">
              <a:solidFill>
                <a:schemeClr val="dk1"/>
              </a:solidFill>
              <a:latin typeface="Calibri"/>
              <a:ea typeface="Calibri"/>
              <a:cs typeface="Calibri"/>
              <a:sym typeface="Calibri"/>
            </a:endParaRPr>
          </a:p>
        </p:txBody>
      </p:sp>
      <p:sp>
        <p:nvSpPr>
          <p:cNvPr id="190" name="Google Shape;190;p7"/>
          <p:cNvSpPr/>
          <p:nvPr/>
        </p:nvSpPr>
        <p:spPr>
          <a:xfrm>
            <a:off x="2688336" y="4343400"/>
            <a:ext cx="868680" cy="658368"/>
          </a:xfrm>
          <a:prstGeom prst="roundRect">
            <a:avLst>
              <a:gd fmla="val 9722"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7"/>
          <p:cNvSpPr txBox="1"/>
          <p:nvPr/>
        </p:nvSpPr>
        <p:spPr>
          <a:xfrm>
            <a:off x="2688336" y="4343400"/>
            <a:ext cx="86868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333"/>
              </a:buClr>
              <a:buSzPts val="1600"/>
              <a:buFont typeface="Calibri"/>
              <a:buNone/>
            </a:pPr>
            <a:r>
              <a:rPr b="1" lang="en-US" sz="1600">
                <a:solidFill>
                  <a:srgbClr val="1F2333"/>
                </a:solidFill>
                <a:latin typeface="Calibri"/>
                <a:ea typeface="Calibri"/>
                <a:cs typeface="Calibri"/>
                <a:sym typeface="Calibri"/>
              </a:rPr>
              <a:t>88</a:t>
            </a:r>
            <a:endParaRPr sz="1600">
              <a:solidFill>
                <a:schemeClr val="dk1"/>
              </a:solidFill>
              <a:latin typeface="Calibri"/>
              <a:ea typeface="Calibri"/>
              <a:cs typeface="Calibri"/>
              <a:sym typeface="Calibri"/>
            </a:endParaRPr>
          </a:p>
        </p:txBody>
      </p:sp>
      <p:sp>
        <p:nvSpPr>
          <p:cNvPr id="192" name="Google Shape;192;p7"/>
          <p:cNvSpPr txBox="1"/>
          <p:nvPr/>
        </p:nvSpPr>
        <p:spPr>
          <a:xfrm>
            <a:off x="2688336" y="5038344"/>
            <a:ext cx="8686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072"/>
              </a:buClr>
              <a:buSzPts val="1000"/>
              <a:buFont typeface="Courier New"/>
              <a:buNone/>
            </a:pPr>
            <a:r>
              <a:rPr lang="en-US" sz="1000">
                <a:solidFill>
                  <a:srgbClr val="5A6072"/>
                </a:solidFill>
                <a:latin typeface="Courier New"/>
                <a:ea typeface="Courier New"/>
                <a:cs typeface="Courier New"/>
                <a:sym typeface="Courier New"/>
              </a:rPr>
              <a:t>2</a:t>
            </a:r>
            <a:endParaRPr sz="1000">
              <a:solidFill>
                <a:schemeClr val="dk1"/>
              </a:solidFill>
              <a:latin typeface="Calibri"/>
              <a:ea typeface="Calibri"/>
              <a:cs typeface="Calibri"/>
              <a:sym typeface="Calibri"/>
            </a:endParaRPr>
          </a:p>
        </p:txBody>
      </p:sp>
      <p:sp>
        <p:nvSpPr>
          <p:cNvPr id="193" name="Google Shape;193;p7"/>
          <p:cNvSpPr/>
          <p:nvPr/>
        </p:nvSpPr>
        <p:spPr>
          <a:xfrm>
            <a:off x="3666744" y="4343400"/>
            <a:ext cx="868680" cy="658368"/>
          </a:xfrm>
          <a:prstGeom prst="roundRect">
            <a:avLst>
              <a:gd fmla="val 9722"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7"/>
          <p:cNvSpPr txBox="1"/>
          <p:nvPr/>
        </p:nvSpPr>
        <p:spPr>
          <a:xfrm>
            <a:off x="3666744" y="4343400"/>
            <a:ext cx="86868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333"/>
              </a:buClr>
              <a:buSzPts val="1600"/>
              <a:buFont typeface="Calibri"/>
              <a:buNone/>
            </a:pPr>
            <a:r>
              <a:rPr b="1" lang="en-US" sz="1600">
                <a:solidFill>
                  <a:srgbClr val="1F2333"/>
                </a:solidFill>
                <a:latin typeface="Calibri"/>
                <a:ea typeface="Calibri"/>
                <a:cs typeface="Calibri"/>
                <a:sym typeface="Calibri"/>
              </a:rPr>
              <a:t>5</a:t>
            </a:r>
            <a:endParaRPr sz="1600">
              <a:solidFill>
                <a:schemeClr val="dk1"/>
              </a:solidFill>
              <a:latin typeface="Calibri"/>
              <a:ea typeface="Calibri"/>
              <a:cs typeface="Calibri"/>
              <a:sym typeface="Calibri"/>
            </a:endParaRPr>
          </a:p>
        </p:txBody>
      </p:sp>
      <p:sp>
        <p:nvSpPr>
          <p:cNvPr id="195" name="Google Shape;195;p7"/>
          <p:cNvSpPr txBox="1"/>
          <p:nvPr/>
        </p:nvSpPr>
        <p:spPr>
          <a:xfrm>
            <a:off x="3666744" y="5038344"/>
            <a:ext cx="8686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072"/>
              </a:buClr>
              <a:buSzPts val="1000"/>
              <a:buFont typeface="Courier New"/>
              <a:buNone/>
            </a:pPr>
            <a:r>
              <a:rPr lang="en-US" sz="1000">
                <a:solidFill>
                  <a:srgbClr val="5A6072"/>
                </a:solidFill>
                <a:latin typeface="Courier New"/>
                <a:ea typeface="Courier New"/>
                <a:cs typeface="Courier New"/>
                <a:sym typeface="Courier New"/>
              </a:rPr>
              <a:t>3</a:t>
            </a:r>
            <a:endParaRPr sz="1000">
              <a:solidFill>
                <a:schemeClr val="dk1"/>
              </a:solidFill>
              <a:latin typeface="Calibri"/>
              <a:ea typeface="Calibri"/>
              <a:cs typeface="Calibri"/>
              <a:sym typeface="Calibri"/>
            </a:endParaRPr>
          </a:p>
        </p:txBody>
      </p:sp>
      <p:cxnSp>
        <p:nvCxnSpPr>
          <p:cNvPr id="196" name="Google Shape;196;p7"/>
          <p:cNvCxnSpPr/>
          <p:nvPr/>
        </p:nvCxnSpPr>
        <p:spPr>
          <a:xfrm flipH="1">
            <a:off x="2651760" y="3429000"/>
            <a:ext cx="1463040" cy="777240"/>
          </a:xfrm>
          <a:prstGeom prst="straightConnector1">
            <a:avLst/>
          </a:prstGeom>
          <a:noFill/>
          <a:ln cap="flat" cmpd="sng" w="25400">
            <a:solidFill>
              <a:srgbClr val="FF6B35"/>
            </a:solidFill>
            <a:prstDash val="solid"/>
            <a:round/>
            <a:headEnd len="sm" w="sm" type="none"/>
            <a:tailEnd len="med" w="med" type="triangle"/>
          </a:ln>
        </p:spPr>
      </p:cxnSp>
      <p:sp>
        <p:nvSpPr>
          <p:cNvPr id="197" name="Google Shape;197;p7"/>
          <p:cNvSpPr txBox="1"/>
          <p:nvPr/>
        </p:nvSpPr>
        <p:spPr>
          <a:xfrm>
            <a:off x="4206240" y="3611880"/>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200"/>
              <a:buFont typeface="Calibri"/>
              <a:buNone/>
            </a:pPr>
            <a:r>
              <a:rPr i="1" lang="en-US" sz="1200">
                <a:solidFill>
                  <a:srgbClr val="FF6B35"/>
                </a:solidFill>
                <a:latin typeface="Calibri"/>
                <a:ea typeface="Calibri"/>
                <a:cs typeface="Calibri"/>
                <a:sym typeface="Calibri"/>
              </a:rPr>
              <a:t>three values shift left</a:t>
            </a:r>
            <a:endParaRPr sz="1200">
              <a:solidFill>
                <a:schemeClr val="dk1"/>
              </a:solidFill>
              <a:latin typeface="Calibri"/>
              <a:ea typeface="Calibri"/>
              <a:cs typeface="Calibri"/>
              <a:sym typeface="Calibri"/>
            </a:endParaRPr>
          </a:p>
        </p:txBody>
      </p:sp>
      <p:sp>
        <p:nvSpPr>
          <p:cNvPr id="198" name="Google Shape;198;p7"/>
          <p:cNvSpPr/>
          <p:nvPr/>
        </p:nvSpPr>
        <p:spPr>
          <a:xfrm>
            <a:off x="6949440" y="2057400"/>
            <a:ext cx="4480560" cy="3611880"/>
          </a:xfrm>
          <a:prstGeom prst="roundRect">
            <a:avLst>
              <a:gd fmla="val 1266"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7"/>
          <p:cNvSpPr txBox="1"/>
          <p:nvPr/>
        </p:nvSpPr>
        <p:spPr>
          <a:xfrm>
            <a:off x="7223760" y="2286000"/>
            <a:ext cx="3931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800"/>
              <a:buFont typeface="Arial"/>
              <a:buNone/>
            </a:pPr>
            <a:r>
              <a:rPr b="1" lang="en-US" sz="1800">
                <a:solidFill>
                  <a:srgbClr val="1F2333"/>
                </a:solidFill>
                <a:latin typeface="Arial"/>
                <a:ea typeface="Arial"/>
                <a:cs typeface="Arial"/>
                <a:sym typeface="Arial"/>
              </a:rPr>
              <a:t>The takeaway</a:t>
            </a:r>
            <a:endParaRPr sz="1800">
              <a:solidFill>
                <a:schemeClr val="dk1"/>
              </a:solidFill>
              <a:latin typeface="Calibri"/>
              <a:ea typeface="Calibri"/>
              <a:cs typeface="Calibri"/>
              <a:sym typeface="Calibri"/>
            </a:endParaRPr>
          </a:p>
        </p:txBody>
      </p:sp>
      <p:sp>
        <p:nvSpPr>
          <p:cNvPr id="200" name="Google Shape;200;p7"/>
          <p:cNvSpPr txBox="1"/>
          <p:nvPr/>
        </p:nvSpPr>
        <p:spPr>
          <a:xfrm>
            <a:off x="7223760" y="2697480"/>
            <a:ext cx="3931920" cy="2743200"/>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1F2333"/>
              </a:buClr>
              <a:buSzPts val="1350"/>
              <a:buFont typeface="Calibri"/>
              <a:buNone/>
            </a:pPr>
            <a:r>
              <a:rPr b="1" lang="en-US" sz="1350">
                <a:solidFill>
                  <a:srgbClr val="1F2333"/>
                </a:solidFill>
                <a:latin typeface="Calibri"/>
                <a:ea typeface="Calibri"/>
                <a:cs typeface="Calibri"/>
                <a:sym typeface="Calibri"/>
              </a:rPr>
              <a:t>Arrays have no gaps.</a:t>
            </a:r>
            <a:r>
              <a:rPr lang="en-US" sz="1350">
                <a:solidFill>
                  <a:srgbClr val="5A6072"/>
                </a:solidFill>
                <a:latin typeface="Calibri"/>
                <a:ea typeface="Calibri"/>
                <a:cs typeface="Calibri"/>
                <a:sym typeface="Calibri"/>
              </a:rPr>
              <a:t> Removing or inserting anywhere except the end forces every later element to move over.</a:t>
            </a:r>
            <a:br>
              <a:rPr lang="en-US" sz="1350">
                <a:solidFill>
                  <a:srgbClr val="5A6072"/>
                </a:solidFill>
                <a:latin typeface="Calibri"/>
                <a:ea typeface="Calibri"/>
                <a:cs typeface="Calibri"/>
                <a:sym typeface="Calibri"/>
              </a:rPr>
            </a:br>
            <a:br>
              <a:rPr lang="en-US" sz="1350">
                <a:solidFill>
                  <a:srgbClr val="5A6072"/>
                </a:solidFill>
                <a:latin typeface="Calibri"/>
                <a:ea typeface="Calibri"/>
                <a:cs typeface="Calibri"/>
                <a:sym typeface="Calibri"/>
              </a:rPr>
            </a:br>
            <a:r>
              <a:rPr b="1" lang="en-US" sz="1350">
                <a:solidFill>
                  <a:srgbClr val="1F2333"/>
                </a:solidFill>
                <a:latin typeface="Calibri"/>
                <a:ea typeface="Calibri"/>
                <a:cs typeface="Calibri"/>
                <a:sym typeface="Calibri"/>
              </a:rPr>
              <a:t>In the worst case</a:t>
            </a:r>
            <a:r>
              <a:rPr lang="en-US" sz="1350">
                <a:solidFill>
                  <a:srgbClr val="5A6072"/>
                </a:solidFill>
                <a:latin typeface="Calibri"/>
                <a:ea typeface="Calibri"/>
                <a:cs typeface="Calibri"/>
                <a:sym typeface="Calibri"/>
              </a:rPr>
              <a:t> you touch the whole array, so the cost grows with n.</a:t>
            </a:r>
            <a:br>
              <a:rPr lang="en-US" sz="1350">
                <a:solidFill>
                  <a:srgbClr val="5A6072"/>
                </a:solidFill>
                <a:latin typeface="Calibri"/>
                <a:ea typeface="Calibri"/>
                <a:cs typeface="Calibri"/>
                <a:sym typeface="Calibri"/>
              </a:rPr>
            </a:br>
            <a:br>
              <a:rPr lang="en-US" sz="1350">
                <a:solidFill>
                  <a:srgbClr val="5A6072"/>
                </a:solidFill>
                <a:latin typeface="Calibri"/>
                <a:ea typeface="Calibri"/>
                <a:cs typeface="Calibri"/>
                <a:sym typeface="Calibri"/>
              </a:rPr>
            </a:br>
            <a:r>
              <a:rPr b="1" lang="en-US" sz="1350">
                <a:solidFill>
                  <a:srgbClr val="1F2333"/>
                </a:solidFill>
                <a:latin typeface="Calibri"/>
                <a:ea typeface="Calibri"/>
                <a:cs typeface="Calibri"/>
                <a:sym typeface="Calibri"/>
              </a:rPr>
              <a:t>This is the tradeoff</a:t>
            </a:r>
            <a:r>
              <a:rPr lang="en-US" sz="1350">
                <a:solidFill>
                  <a:srgbClr val="5A6072"/>
                </a:solidFill>
                <a:latin typeface="Calibri"/>
                <a:ea typeface="Calibri"/>
                <a:cs typeface="Calibri"/>
                <a:sym typeface="Calibri"/>
              </a:rPr>
              <a:t> you give up to get instant access by index. Other structures make the opposite trade.</a:t>
            </a:r>
            <a:endParaRPr sz="135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205" name="Shape 205"/>
        <p:cNvGrpSpPr/>
        <p:nvPr/>
      </p:nvGrpSpPr>
      <p:grpSpPr>
        <a:xfrm>
          <a:off x="0" y="0"/>
          <a:ext cx="0" cy="0"/>
          <a:chOff x="0" y="0"/>
          <a:chExt cx="0" cy="0"/>
        </a:xfrm>
      </p:grpSpPr>
      <p:sp>
        <p:nvSpPr>
          <p:cNvPr id="206" name="Google Shape;206;p8"/>
          <p:cNvSpPr txBox="1"/>
          <p:nvPr/>
        </p:nvSpPr>
        <p:spPr>
          <a:xfrm>
            <a:off x="731520" y="713232"/>
            <a:ext cx="107899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3200"/>
              <a:buFont typeface="Arial"/>
              <a:buNone/>
            </a:pPr>
            <a:r>
              <a:rPr b="1" lang="en-US" sz="3200">
                <a:solidFill>
                  <a:srgbClr val="1F2333"/>
                </a:solidFill>
                <a:latin typeface="Arial"/>
                <a:ea typeface="Arial"/>
                <a:cs typeface="Arial"/>
                <a:sym typeface="Arial"/>
              </a:rPr>
              <a:t>Reading Big O without the math</a:t>
            </a:r>
            <a:endParaRPr sz="3200">
              <a:solidFill>
                <a:schemeClr val="dk1"/>
              </a:solidFill>
              <a:latin typeface="Calibri"/>
              <a:ea typeface="Calibri"/>
              <a:cs typeface="Calibri"/>
              <a:sym typeface="Calibri"/>
            </a:endParaRPr>
          </a:p>
        </p:txBody>
      </p:sp>
      <p:sp>
        <p:nvSpPr>
          <p:cNvPr id="207" name="Google Shape;207;p8"/>
          <p:cNvSpPr txBox="1"/>
          <p:nvPr/>
        </p:nvSpPr>
        <p:spPr>
          <a:xfrm>
            <a:off x="731520" y="1463040"/>
            <a:ext cx="10698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500"/>
              <a:buFont typeface="Calibri"/>
              <a:buNone/>
            </a:pPr>
            <a:r>
              <a:rPr lang="en-US" sz="1500">
                <a:solidFill>
                  <a:srgbClr val="5A6072"/>
                </a:solidFill>
                <a:latin typeface="Calibri"/>
                <a:ea typeface="Calibri"/>
                <a:cs typeface="Calibri"/>
                <a:sym typeface="Calibri"/>
              </a:rPr>
              <a:t>Big O answers one question: as the input grows, how fast does the work grow?</a:t>
            </a:r>
            <a:endParaRPr sz="1500">
              <a:solidFill>
                <a:schemeClr val="dk1"/>
              </a:solidFill>
              <a:latin typeface="Calibri"/>
              <a:ea typeface="Calibri"/>
              <a:cs typeface="Calibri"/>
              <a:sym typeface="Calibri"/>
            </a:endParaRPr>
          </a:p>
        </p:txBody>
      </p:sp>
      <p:sp>
        <p:nvSpPr>
          <p:cNvPr id="208" name="Google Shape;208;p8"/>
          <p:cNvSpPr/>
          <p:nvPr/>
        </p:nvSpPr>
        <p:spPr>
          <a:xfrm>
            <a:off x="731520" y="2057400"/>
            <a:ext cx="5760720" cy="1097280"/>
          </a:xfrm>
          <a:prstGeom prst="roundRect">
            <a:avLst>
              <a:gd fmla="val 4167"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8"/>
          <p:cNvSpPr txBox="1"/>
          <p:nvPr/>
        </p:nvSpPr>
        <p:spPr>
          <a:xfrm>
            <a:off x="960120" y="2221992"/>
            <a:ext cx="1143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2000"/>
              <a:buFont typeface="Courier New"/>
              <a:buNone/>
            </a:pPr>
            <a:r>
              <a:rPr b="1" lang="en-US" sz="2000">
                <a:solidFill>
                  <a:srgbClr val="2A9D8F"/>
                </a:solidFill>
                <a:latin typeface="Courier New"/>
                <a:ea typeface="Courier New"/>
                <a:cs typeface="Courier New"/>
                <a:sym typeface="Courier New"/>
              </a:rPr>
              <a:t>O(1)</a:t>
            </a:r>
            <a:endParaRPr sz="2000">
              <a:solidFill>
                <a:schemeClr val="dk1"/>
              </a:solidFill>
              <a:latin typeface="Calibri"/>
              <a:ea typeface="Calibri"/>
              <a:cs typeface="Calibri"/>
              <a:sym typeface="Calibri"/>
            </a:endParaRPr>
          </a:p>
        </p:txBody>
      </p:sp>
      <p:sp>
        <p:nvSpPr>
          <p:cNvPr id="210" name="Google Shape;210;p8"/>
          <p:cNvSpPr txBox="1"/>
          <p:nvPr/>
        </p:nvSpPr>
        <p:spPr>
          <a:xfrm>
            <a:off x="2148840" y="2203704"/>
            <a:ext cx="4023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400"/>
              <a:buFont typeface="Arial"/>
              <a:buNone/>
            </a:pPr>
            <a:r>
              <a:rPr b="1" lang="en-US" sz="1400">
                <a:solidFill>
                  <a:srgbClr val="1F2333"/>
                </a:solidFill>
                <a:latin typeface="Arial"/>
                <a:ea typeface="Arial"/>
                <a:cs typeface="Arial"/>
                <a:sym typeface="Arial"/>
              </a:rPr>
              <a:t>Constant</a:t>
            </a:r>
            <a:endParaRPr sz="1400">
              <a:solidFill>
                <a:schemeClr val="dk1"/>
              </a:solidFill>
              <a:latin typeface="Calibri"/>
              <a:ea typeface="Calibri"/>
              <a:cs typeface="Calibri"/>
              <a:sym typeface="Calibri"/>
            </a:endParaRPr>
          </a:p>
        </p:txBody>
      </p:sp>
      <p:sp>
        <p:nvSpPr>
          <p:cNvPr id="211" name="Google Shape;211;p8"/>
          <p:cNvSpPr txBox="1"/>
          <p:nvPr/>
        </p:nvSpPr>
        <p:spPr>
          <a:xfrm>
            <a:off x="2148840" y="2478024"/>
            <a:ext cx="4114800" cy="566928"/>
          </a:xfrm>
          <a:prstGeom prst="rect">
            <a:avLst/>
          </a:prstGeom>
          <a:noFill/>
          <a:ln>
            <a:noFill/>
          </a:ln>
        </p:spPr>
        <p:txBody>
          <a:bodyPr anchorCtr="0" anchor="ctr" bIns="0" lIns="0" spcFirstLastPara="1" rIns="0" wrap="square" tIns="0">
            <a:noAutofit/>
          </a:bodyPr>
          <a:lstStyle/>
          <a:p>
            <a:pPr indent="0" lvl="0" marL="0" marR="0" rtl="0" algn="l">
              <a:lnSpc>
                <a:spcPct val="144000"/>
              </a:lnSpc>
              <a:spcBef>
                <a:spcPts val="0"/>
              </a:spcBef>
              <a:spcAft>
                <a:spcPts val="0"/>
              </a:spcAft>
              <a:buClr>
                <a:srgbClr val="5A6072"/>
              </a:buClr>
              <a:buSzPts val="1250"/>
              <a:buFont typeface="Calibri"/>
              <a:buNone/>
            </a:pPr>
            <a:r>
              <a:rPr lang="en-US" sz="1250">
                <a:solidFill>
                  <a:srgbClr val="5A6072"/>
                </a:solidFill>
                <a:latin typeface="Calibri"/>
                <a:ea typeface="Calibri"/>
                <a:cs typeface="Calibri"/>
                <a:sym typeface="Calibri"/>
              </a:rPr>
              <a:t>The work never changes. Reading arr[7] from a million values costs the same as from ten.</a:t>
            </a:r>
            <a:endParaRPr sz="1250">
              <a:solidFill>
                <a:schemeClr val="dk1"/>
              </a:solidFill>
              <a:latin typeface="Calibri"/>
              <a:ea typeface="Calibri"/>
              <a:cs typeface="Calibri"/>
              <a:sym typeface="Calibri"/>
            </a:endParaRPr>
          </a:p>
        </p:txBody>
      </p:sp>
      <p:sp>
        <p:nvSpPr>
          <p:cNvPr id="212" name="Google Shape;212;p8"/>
          <p:cNvSpPr/>
          <p:nvPr/>
        </p:nvSpPr>
        <p:spPr>
          <a:xfrm>
            <a:off x="731520" y="3337560"/>
            <a:ext cx="5760720" cy="1097280"/>
          </a:xfrm>
          <a:prstGeom prst="roundRect">
            <a:avLst>
              <a:gd fmla="val 4167"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8"/>
          <p:cNvSpPr txBox="1"/>
          <p:nvPr/>
        </p:nvSpPr>
        <p:spPr>
          <a:xfrm>
            <a:off x="960120" y="3502152"/>
            <a:ext cx="1143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2000"/>
              <a:buFont typeface="Courier New"/>
              <a:buNone/>
            </a:pPr>
            <a:r>
              <a:rPr b="1" lang="en-US" sz="2000">
                <a:solidFill>
                  <a:srgbClr val="FF6B35"/>
                </a:solidFill>
                <a:latin typeface="Courier New"/>
                <a:ea typeface="Courier New"/>
                <a:cs typeface="Courier New"/>
                <a:sym typeface="Courier New"/>
              </a:rPr>
              <a:t>O(n)</a:t>
            </a:r>
            <a:endParaRPr sz="2000">
              <a:solidFill>
                <a:schemeClr val="dk1"/>
              </a:solidFill>
              <a:latin typeface="Calibri"/>
              <a:ea typeface="Calibri"/>
              <a:cs typeface="Calibri"/>
              <a:sym typeface="Calibri"/>
            </a:endParaRPr>
          </a:p>
        </p:txBody>
      </p:sp>
      <p:sp>
        <p:nvSpPr>
          <p:cNvPr id="214" name="Google Shape;214;p8"/>
          <p:cNvSpPr txBox="1"/>
          <p:nvPr/>
        </p:nvSpPr>
        <p:spPr>
          <a:xfrm>
            <a:off x="2148840" y="3483864"/>
            <a:ext cx="4023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400"/>
              <a:buFont typeface="Arial"/>
              <a:buNone/>
            </a:pPr>
            <a:r>
              <a:rPr b="1" lang="en-US" sz="1400">
                <a:solidFill>
                  <a:srgbClr val="1F2333"/>
                </a:solidFill>
                <a:latin typeface="Arial"/>
                <a:ea typeface="Arial"/>
                <a:cs typeface="Arial"/>
                <a:sym typeface="Arial"/>
              </a:rPr>
              <a:t>Linear</a:t>
            </a:r>
            <a:endParaRPr sz="1400">
              <a:solidFill>
                <a:schemeClr val="dk1"/>
              </a:solidFill>
              <a:latin typeface="Calibri"/>
              <a:ea typeface="Calibri"/>
              <a:cs typeface="Calibri"/>
              <a:sym typeface="Calibri"/>
            </a:endParaRPr>
          </a:p>
        </p:txBody>
      </p:sp>
      <p:sp>
        <p:nvSpPr>
          <p:cNvPr id="215" name="Google Shape;215;p8"/>
          <p:cNvSpPr txBox="1"/>
          <p:nvPr/>
        </p:nvSpPr>
        <p:spPr>
          <a:xfrm>
            <a:off x="2148840" y="3758184"/>
            <a:ext cx="4114800" cy="566928"/>
          </a:xfrm>
          <a:prstGeom prst="rect">
            <a:avLst/>
          </a:prstGeom>
          <a:noFill/>
          <a:ln>
            <a:noFill/>
          </a:ln>
        </p:spPr>
        <p:txBody>
          <a:bodyPr anchorCtr="0" anchor="ctr" bIns="0" lIns="0" spcFirstLastPara="1" rIns="0" wrap="square" tIns="0">
            <a:noAutofit/>
          </a:bodyPr>
          <a:lstStyle/>
          <a:p>
            <a:pPr indent="0" lvl="0" marL="0" marR="0" rtl="0" algn="l">
              <a:lnSpc>
                <a:spcPct val="144000"/>
              </a:lnSpc>
              <a:spcBef>
                <a:spcPts val="0"/>
              </a:spcBef>
              <a:spcAft>
                <a:spcPts val="0"/>
              </a:spcAft>
              <a:buClr>
                <a:srgbClr val="5A6072"/>
              </a:buClr>
              <a:buSzPts val="1250"/>
              <a:buFont typeface="Calibri"/>
              <a:buNone/>
            </a:pPr>
            <a:r>
              <a:rPr lang="en-US" sz="1250">
                <a:solidFill>
                  <a:srgbClr val="5A6072"/>
                </a:solidFill>
                <a:latin typeface="Calibri"/>
                <a:ea typeface="Calibri"/>
                <a:cs typeface="Calibri"/>
                <a:sym typeface="Calibri"/>
              </a:rPr>
              <a:t>One pass. Double the input, double the work. A single loop over the array.</a:t>
            </a:r>
            <a:endParaRPr sz="1250">
              <a:solidFill>
                <a:schemeClr val="dk1"/>
              </a:solidFill>
              <a:latin typeface="Calibri"/>
              <a:ea typeface="Calibri"/>
              <a:cs typeface="Calibri"/>
              <a:sym typeface="Calibri"/>
            </a:endParaRPr>
          </a:p>
        </p:txBody>
      </p:sp>
      <p:sp>
        <p:nvSpPr>
          <p:cNvPr id="216" name="Google Shape;216;p8"/>
          <p:cNvSpPr/>
          <p:nvPr/>
        </p:nvSpPr>
        <p:spPr>
          <a:xfrm>
            <a:off x="731520" y="4617720"/>
            <a:ext cx="5760720" cy="1097280"/>
          </a:xfrm>
          <a:prstGeom prst="roundRect">
            <a:avLst>
              <a:gd fmla="val 4167"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8"/>
          <p:cNvSpPr txBox="1"/>
          <p:nvPr/>
        </p:nvSpPr>
        <p:spPr>
          <a:xfrm>
            <a:off x="960120" y="4782312"/>
            <a:ext cx="1143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5252"/>
              </a:buClr>
              <a:buSzPts val="2000"/>
              <a:buFont typeface="Courier New"/>
              <a:buNone/>
            </a:pPr>
            <a:r>
              <a:rPr b="1" lang="en-US" sz="2000">
                <a:solidFill>
                  <a:srgbClr val="E05252"/>
                </a:solidFill>
                <a:latin typeface="Courier New"/>
                <a:ea typeface="Courier New"/>
                <a:cs typeface="Courier New"/>
                <a:sym typeface="Courier New"/>
              </a:rPr>
              <a:t>O(n²)</a:t>
            </a:r>
            <a:endParaRPr sz="2000">
              <a:solidFill>
                <a:schemeClr val="dk1"/>
              </a:solidFill>
              <a:latin typeface="Calibri"/>
              <a:ea typeface="Calibri"/>
              <a:cs typeface="Calibri"/>
              <a:sym typeface="Calibri"/>
            </a:endParaRPr>
          </a:p>
        </p:txBody>
      </p:sp>
      <p:sp>
        <p:nvSpPr>
          <p:cNvPr id="218" name="Google Shape;218;p8"/>
          <p:cNvSpPr txBox="1"/>
          <p:nvPr/>
        </p:nvSpPr>
        <p:spPr>
          <a:xfrm>
            <a:off x="2148840" y="4764024"/>
            <a:ext cx="4023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400"/>
              <a:buFont typeface="Arial"/>
              <a:buNone/>
            </a:pPr>
            <a:r>
              <a:rPr b="1" lang="en-US" sz="1400">
                <a:solidFill>
                  <a:srgbClr val="1F2333"/>
                </a:solidFill>
                <a:latin typeface="Arial"/>
                <a:ea typeface="Arial"/>
                <a:cs typeface="Arial"/>
                <a:sym typeface="Arial"/>
              </a:rPr>
              <a:t>Quadratic</a:t>
            </a:r>
            <a:endParaRPr sz="1400">
              <a:solidFill>
                <a:schemeClr val="dk1"/>
              </a:solidFill>
              <a:latin typeface="Calibri"/>
              <a:ea typeface="Calibri"/>
              <a:cs typeface="Calibri"/>
              <a:sym typeface="Calibri"/>
            </a:endParaRPr>
          </a:p>
        </p:txBody>
      </p:sp>
      <p:sp>
        <p:nvSpPr>
          <p:cNvPr id="219" name="Google Shape;219;p8"/>
          <p:cNvSpPr txBox="1"/>
          <p:nvPr/>
        </p:nvSpPr>
        <p:spPr>
          <a:xfrm>
            <a:off x="2148840" y="5038344"/>
            <a:ext cx="4114800" cy="566928"/>
          </a:xfrm>
          <a:prstGeom prst="rect">
            <a:avLst/>
          </a:prstGeom>
          <a:noFill/>
          <a:ln>
            <a:noFill/>
          </a:ln>
        </p:spPr>
        <p:txBody>
          <a:bodyPr anchorCtr="0" anchor="ctr" bIns="0" lIns="0" spcFirstLastPara="1" rIns="0" wrap="square" tIns="0">
            <a:noAutofit/>
          </a:bodyPr>
          <a:lstStyle/>
          <a:p>
            <a:pPr indent="0" lvl="0" marL="0" marR="0" rtl="0" algn="l">
              <a:lnSpc>
                <a:spcPct val="144000"/>
              </a:lnSpc>
              <a:spcBef>
                <a:spcPts val="0"/>
              </a:spcBef>
              <a:spcAft>
                <a:spcPts val="0"/>
              </a:spcAft>
              <a:buClr>
                <a:srgbClr val="5A6072"/>
              </a:buClr>
              <a:buSzPts val="1250"/>
              <a:buFont typeface="Calibri"/>
              <a:buNone/>
            </a:pPr>
            <a:r>
              <a:rPr lang="en-US" sz="1250">
                <a:solidFill>
                  <a:srgbClr val="5A6072"/>
                </a:solidFill>
                <a:latin typeface="Calibri"/>
                <a:ea typeface="Calibri"/>
                <a:cs typeface="Calibri"/>
                <a:sym typeface="Calibri"/>
              </a:rPr>
              <a:t>A loop inside a loop. This is the one interviewers push you to improve.</a:t>
            </a:r>
            <a:endParaRPr sz="1250">
              <a:solidFill>
                <a:schemeClr val="dk1"/>
              </a:solidFill>
              <a:latin typeface="Calibri"/>
              <a:ea typeface="Calibri"/>
              <a:cs typeface="Calibri"/>
              <a:sym typeface="Calibri"/>
            </a:endParaRPr>
          </a:p>
        </p:txBody>
      </p:sp>
      <p:graphicFrame>
        <p:nvGraphicFramePr>
          <p:cNvPr id="220" name="Google Shape;220;p8"/>
          <p:cNvGraphicFramePr/>
          <p:nvPr/>
        </p:nvGraphicFramePr>
        <p:xfrm>
          <a:off x="6858000" y="2057400"/>
          <a:ext cx="4572000" cy="3703320"/>
        </p:xfrm>
        <a:graphic>
          <a:graphicData uri="http://schemas.openxmlformats.org/drawingml/2006/chart">
            <c:chart r:id="rId3"/>
          </a:graphicData>
        </a:graphic>
      </p:graphicFrame>
      <p:sp>
        <p:nvSpPr>
          <p:cNvPr id="221" name="Google Shape;221;p8"/>
          <p:cNvSpPr txBox="1"/>
          <p:nvPr/>
        </p:nvSpPr>
        <p:spPr>
          <a:xfrm>
            <a:off x="9628390" y="4973368"/>
            <a:ext cx="4114800" cy="567000"/>
          </a:xfrm>
          <a:prstGeom prst="rect">
            <a:avLst/>
          </a:prstGeom>
          <a:noFill/>
          <a:ln>
            <a:noFill/>
          </a:ln>
        </p:spPr>
        <p:txBody>
          <a:bodyPr anchorCtr="0" anchor="ctr" bIns="0" lIns="0" spcFirstLastPara="1" rIns="0" wrap="square" tIns="0">
            <a:noAutofit/>
          </a:bodyPr>
          <a:lstStyle/>
          <a:p>
            <a:pPr indent="0" lvl="0" marL="0" marR="0" rtl="0" algn="l">
              <a:lnSpc>
                <a:spcPct val="144000"/>
              </a:lnSpc>
              <a:spcBef>
                <a:spcPts val="0"/>
              </a:spcBef>
              <a:spcAft>
                <a:spcPts val="0"/>
              </a:spcAft>
              <a:buClr>
                <a:srgbClr val="5A6072"/>
              </a:buClr>
              <a:buSzPts val="1250"/>
              <a:buFont typeface="Calibri"/>
              <a:buNone/>
            </a:pPr>
            <a:r>
              <a:rPr lang="en-US" sz="1250">
                <a:solidFill>
                  <a:srgbClr val="5A6072"/>
                </a:solidFill>
                <a:latin typeface="Calibri"/>
                <a:ea typeface="Calibri"/>
                <a:cs typeface="Calibri"/>
                <a:sym typeface="Calibri"/>
              </a:rPr>
              <a:t>in </a:t>
            </a:r>
            <a:r>
              <a:rPr lang="en-US" sz="1250">
                <a:solidFill>
                  <a:srgbClr val="5A6072"/>
                </a:solidFill>
                <a:latin typeface="Calibri"/>
                <a:ea typeface="Calibri"/>
                <a:cs typeface="Calibri"/>
                <a:sym typeface="Calibri"/>
              </a:rPr>
              <a:t>millions</a:t>
            </a:r>
            <a:endParaRPr sz="1250">
              <a:solidFill>
                <a:schemeClr val="dk1"/>
              </a:solidFill>
              <a:latin typeface="Calibri"/>
              <a:ea typeface="Calibri"/>
              <a:cs typeface="Calibri"/>
              <a:sym typeface="Calibri"/>
            </a:endParaRPr>
          </a:p>
        </p:txBody>
      </p:sp>
      <p:sp>
        <p:nvSpPr>
          <p:cNvPr id="222" name="Google Shape;222;p8"/>
          <p:cNvSpPr txBox="1"/>
          <p:nvPr/>
        </p:nvSpPr>
        <p:spPr>
          <a:xfrm rot="-5400000">
            <a:off x="6501519" y="3293331"/>
            <a:ext cx="813600" cy="567000"/>
          </a:xfrm>
          <a:prstGeom prst="rect">
            <a:avLst/>
          </a:prstGeom>
          <a:noFill/>
          <a:ln>
            <a:noFill/>
          </a:ln>
        </p:spPr>
        <p:txBody>
          <a:bodyPr anchorCtr="0" anchor="ctr" bIns="0" lIns="0" spcFirstLastPara="1" rIns="0" wrap="square" tIns="0">
            <a:noAutofit/>
          </a:bodyPr>
          <a:lstStyle/>
          <a:p>
            <a:pPr indent="0" lvl="0" marL="0" marR="0" rtl="0" algn="l">
              <a:lnSpc>
                <a:spcPct val="144000"/>
              </a:lnSpc>
              <a:spcBef>
                <a:spcPts val="0"/>
              </a:spcBef>
              <a:spcAft>
                <a:spcPts val="0"/>
              </a:spcAft>
              <a:buClr>
                <a:srgbClr val="5A6072"/>
              </a:buClr>
              <a:buSzPts val="1250"/>
              <a:buFont typeface="Calibri"/>
              <a:buNone/>
            </a:pPr>
            <a:r>
              <a:rPr lang="en-US" sz="1250">
                <a:solidFill>
                  <a:srgbClr val="5A6072"/>
                </a:solidFill>
                <a:latin typeface="Calibri"/>
                <a:ea typeface="Calibri"/>
                <a:cs typeface="Calibri"/>
                <a:sym typeface="Calibri"/>
              </a:rPr>
              <a:t>time -&gt;</a:t>
            </a:r>
            <a:endParaRPr sz="12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227" name="Shape 227"/>
        <p:cNvGrpSpPr/>
        <p:nvPr/>
      </p:nvGrpSpPr>
      <p:grpSpPr>
        <a:xfrm>
          <a:off x="0" y="0"/>
          <a:ext cx="0" cy="0"/>
          <a:chOff x="0" y="0"/>
          <a:chExt cx="0" cy="0"/>
        </a:xfrm>
      </p:grpSpPr>
      <p:sp>
        <p:nvSpPr>
          <p:cNvPr id="228" name="Google Shape;228;p9"/>
          <p:cNvSpPr txBox="1"/>
          <p:nvPr/>
        </p:nvSpPr>
        <p:spPr>
          <a:xfrm>
            <a:off x="731520" y="41148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200"/>
              <a:buFont typeface="Calibri"/>
              <a:buNone/>
            </a:pPr>
            <a:r>
              <a:rPr b="1" lang="en-US" sz="1200">
                <a:solidFill>
                  <a:srgbClr val="FF6B35"/>
                </a:solidFill>
                <a:latin typeface="Calibri"/>
                <a:ea typeface="Calibri"/>
                <a:cs typeface="Calibri"/>
                <a:sym typeface="Calibri"/>
              </a:rPr>
              <a:t>PRACTICE QUESTION 1</a:t>
            </a:r>
            <a:endParaRPr sz="1200">
              <a:solidFill>
                <a:schemeClr val="dk1"/>
              </a:solidFill>
              <a:latin typeface="Calibri"/>
              <a:ea typeface="Calibri"/>
              <a:cs typeface="Calibri"/>
              <a:sym typeface="Calibri"/>
            </a:endParaRPr>
          </a:p>
        </p:txBody>
      </p:sp>
      <p:sp>
        <p:nvSpPr>
          <p:cNvPr id="229" name="Google Shape;229;p9"/>
          <p:cNvSpPr txBox="1"/>
          <p:nvPr/>
        </p:nvSpPr>
        <p:spPr>
          <a:xfrm>
            <a:off x="731520" y="713232"/>
            <a:ext cx="107899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3200"/>
              <a:buFont typeface="Arial"/>
              <a:buNone/>
            </a:pPr>
            <a:r>
              <a:rPr b="1" lang="en-US" sz="3200">
                <a:solidFill>
                  <a:srgbClr val="1F2333"/>
                </a:solidFill>
                <a:latin typeface="Arial"/>
                <a:ea typeface="Arial"/>
                <a:cs typeface="Arial"/>
                <a:sym typeface="Arial"/>
              </a:rPr>
              <a:t>Worked example: FindMax – Edugator 2.2</a:t>
            </a:r>
            <a:endParaRPr sz="3200">
              <a:solidFill>
                <a:schemeClr val="dk1"/>
              </a:solidFill>
              <a:latin typeface="Calibri"/>
              <a:ea typeface="Calibri"/>
              <a:cs typeface="Calibri"/>
              <a:sym typeface="Calibri"/>
            </a:endParaRPr>
          </a:p>
        </p:txBody>
      </p:sp>
      <p:sp>
        <p:nvSpPr>
          <p:cNvPr id="230" name="Google Shape;230;p9"/>
          <p:cNvSpPr/>
          <p:nvPr/>
        </p:nvSpPr>
        <p:spPr>
          <a:xfrm>
            <a:off x="731520" y="1572768"/>
            <a:ext cx="5212080" cy="4206240"/>
          </a:xfrm>
          <a:prstGeom prst="roundRect">
            <a:avLst>
              <a:gd fmla="val 1087"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9"/>
          <p:cNvSpPr txBox="1"/>
          <p:nvPr/>
        </p:nvSpPr>
        <p:spPr>
          <a:xfrm>
            <a:off x="1005840" y="1783080"/>
            <a:ext cx="46634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700"/>
              <a:buFont typeface="Arial"/>
              <a:buNone/>
            </a:pPr>
            <a:r>
              <a:rPr b="1" lang="en-US" sz="1700">
                <a:solidFill>
                  <a:srgbClr val="1F2333"/>
                </a:solidFill>
                <a:latin typeface="Arial"/>
                <a:ea typeface="Arial"/>
                <a:cs typeface="Arial"/>
                <a:sym typeface="Arial"/>
              </a:rPr>
              <a:t>The problem</a:t>
            </a:r>
            <a:endParaRPr sz="1700">
              <a:solidFill>
                <a:schemeClr val="dk1"/>
              </a:solidFill>
              <a:latin typeface="Calibri"/>
              <a:ea typeface="Calibri"/>
              <a:cs typeface="Calibri"/>
              <a:sym typeface="Calibri"/>
            </a:endParaRPr>
          </a:p>
        </p:txBody>
      </p:sp>
      <p:sp>
        <p:nvSpPr>
          <p:cNvPr id="232" name="Google Shape;232;p9"/>
          <p:cNvSpPr txBox="1"/>
          <p:nvPr/>
        </p:nvSpPr>
        <p:spPr>
          <a:xfrm>
            <a:off x="1005840" y="2121408"/>
            <a:ext cx="4663440" cy="566928"/>
          </a:xfrm>
          <a:prstGeom prst="rect">
            <a:avLst/>
          </a:prstGeom>
          <a:noFill/>
          <a:ln>
            <a:noFill/>
          </a:ln>
        </p:spPr>
        <p:txBody>
          <a:bodyPr anchorCtr="0" anchor="ctr" bIns="0" lIns="0" spcFirstLastPara="1" rIns="0" wrap="square" tIns="0">
            <a:noAutofit/>
          </a:bodyPr>
          <a:lstStyle/>
          <a:p>
            <a:pPr indent="0" lvl="0" marL="0" marR="0" rtl="0" algn="l">
              <a:lnSpc>
                <a:spcPct val="148148"/>
              </a:lnSpc>
              <a:spcBef>
                <a:spcPts val="0"/>
              </a:spcBef>
              <a:spcAft>
                <a:spcPts val="0"/>
              </a:spcAft>
              <a:buClr>
                <a:srgbClr val="5A6072"/>
              </a:buClr>
              <a:buSzPts val="1350"/>
              <a:buFont typeface="Calibri"/>
              <a:buNone/>
            </a:pPr>
            <a:r>
              <a:rPr lang="en-US" sz="1350">
                <a:solidFill>
                  <a:srgbClr val="5A6072"/>
                </a:solidFill>
                <a:latin typeface="Calibri"/>
                <a:ea typeface="Calibri"/>
                <a:cs typeface="Calibri"/>
                <a:sym typeface="Calibri"/>
              </a:rPr>
              <a:t>Return the largest integer in a list. You may not use the built in max function.</a:t>
            </a:r>
            <a:endParaRPr sz="1350">
              <a:solidFill>
                <a:schemeClr val="dk1"/>
              </a:solidFill>
              <a:latin typeface="Calibri"/>
              <a:ea typeface="Calibri"/>
              <a:cs typeface="Calibri"/>
              <a:sym typeface="Calibri"/>
            </a:endParaRPr>
          </a:p>
        </p:txBody>
      </p:sp>
      <p:sp>
        <p:nvSpPr>
          <p:cNvPr id="233" name="Google Shape;233;p9"/>
          <p:cNvSpPr txBox="1"/>
          <p:nvPr/>
        </p:nvSpPr>
        <p:spPr>
          <a:xfrm>
            <a:off x="1005840" y="2743200"/>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250"/>
              <a:buFont typeface="Courier New"/>
              <a:buNone/>
            </a:pPr>
            <a:r>
              <a:rPr lang="en-US" sz="1250">
                <a:solidFill>
                  <a:srgbClr val="1F2333"/>
                </a:solidFill>
                <a:latin typeface="Courier New"/>
                <a:ea typeface="Courier New"/>
                <a:cs typeface="Courier New"/>
                <a:sym typeface="Courier New"/>
              </a:rPr>
              <a:t>[3, 1, 4, 1, 5, 9, 2, 6]  returns  9</a:t>
            </a:r>
            <a:endParaRPr sz="1250">
              <a:solidFill>
                <a:schemeClr val="dk1"/>
              </a:solidFill>
              <a:latin typeface="Calibri"/>
              <a:ea typeface="Calibri"/>
              <a:cs typeface="Calibri"/>
              <a:sym typeface="Calibri"/>
            </a:endParaRPr>
          </a:p>
        </p:txBody>
      </p:sp>
      <p:sp>
        <p:nvSpPr>
          <p:cNvPr id="234" name="Google Shape;234;p9"/>
          <p:cNvSpPr txBox="1"/>
          <p:nvPr/>
        </p:nvSpPr>
        <p:spPr>
          <a:xfrm>
            <a:off x="1005840" y="3035808"/>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250"/>
              <a:buFont typeface="Courier New"/>
              <a:buNone/>
            </a:pPr>
            <a:r>
              <a:rPr lang="en-US" sz="1250">
                <a:solidFill>
                  <a:srgbClr val="1F2333"/>
                </a:solidFill>
                <a:latin typeface="Courier New"/>
                <a:ea typeface="Courier New"/>
                <a:cs typeface="Courier New"/>
                <a:sym typeface="Courier New"/>
              </a:rPr>
              <a:t>[-10, -20, -30, -40, -5]  returns  -5</a:t>
            </a:r>
            <a:endParaRPr sz="1250">
              <a:solidFill>
                <a:schemeClr val="dk1"/>
              </a:solidFill>
              <a:latin typeface="Calibri"/>
              <a:ea typeface="Calibri"/>
              <a:cs typeface="Calibri"/>
              <a:sym typeface="Calibri"/>
            </a:endParaRPr>
          </a:p>
        </p:txBody>
      </p:sp>
      <p:sp>
        <p:nvSpPr>
          <p:cNvPr id="235" name="Google Shape;235;p9"/>
          <p:cNvSpPr/>
          <p:nvPr/>
        </p:nvSpPr>
        <p:spPr>
          <a:xfrm>
            <a:off x="1005840" y="3520440"/>
            <a:ext cx="4663440" cy="960120"/>
          </a:xfrm>
          <a:prstGeom prst="roundRect">
            <a:avLst>
              <a:gd fmla="val 4762" name="adj"/>
            </a:avLst>
          </a:prstGeom>
          <a:solidFill>
            <a:srgbClr val="FFF1EB"/>
          </a:solidFill>
          <a:ln cap="flat" cmpd="sng" w="12700">
            <a:solidFill>
              <a:srgbClr val="FFD5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9"/>
          <p:cNvSpPr txBox="1"/>
          <p:nvPr/>
        </p:nvSpPr>
        <p:spPr>
          <a:xfrm>
            <a:off x="1188720" y="3657600"/>
            <a:ext cx="4297680" cy="713232"/>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B3441F"/>
              </a:buClr>
              <a:buSzPts val="1300"/>
              <a:buFont typeface="Calibri"/>
              <a:buNone/>
            </a:pPr>
            <a:r>
              <a:rPr b="1" lang="en-US" sz="1300">
                <a:solidFill>
                  <a:srgbClr val="B3441F"/>
                </a:solidFill>
                <a:latin typeface="Calibri"/>
                <a:ea typeface="Calibri"/>
                <a:cs typeface="Calibri"/>
                <a:sym typeface="Calibri"/>
              </a:rPr>
              <a:t>Hint: </a:t>
            </a:r>
            <a:r>
              <a:rPr b="1" lang="en-US" sz="1300">
                <a:solidFill>
                  <a:srgbClr val="B3441F"/>
                </a:solidFill>
                <a:latin typeface="Calibri"/>
                <a:ea typeface="Calibri"/>
                <a:cs typeface="Calibri"/>
                <a:sym typeface="Calibri"/>
              </a:rPr>
              <a:t> </a:t>
            </a:r>
            <a:r>
              <a:rPr lang="en-US" sz="1300">
                <a:solidFill>
                  <a:srgbClr val="8A4A33"/>
                </a:solidFill>
                <a:latin typeface="Calibri"/>
                <a:ea typeface="Calibri"/>
                <a:cs typeface="Calibri"/>
                <a:sym typeface="Calibri"/>
              </a:rPr>
              <a:t>starting your answer at 0 breaks on all negative input. Start at the first element instead.</a:t>
            </a:r>
            <a:endParaRPr sz="1300">
              <a:solidFill>
                <a:schemeClr val="dk1"/>
              </a:solidFill>
              <a:latin typeface="Calibri"/>
              <a:ea typeface="Calibri"/>
              <a:cs typeface="Calibri"/>
              <a:sym typeface="Calibri"/>
            </a:endParaRPr>
          </a:p>
        </p:txBody>
      </p:sp>
      <p:grpSp>
        <p:nvGrpSpPr>
          <p:cNvPr id="237" name="Google Shape;237;p9"/>
          <p:cNvGrpSpPr/>
          <p:nvPr/>
        </p:nvGrpSpPr>
        <p:grpSpPr>
          <a:xfrm>
            <a:off x="6217920" y="1572768"/>
            <a:ext cx="5212080" cy="2423160"/>
            <a:chOff x="6217920" y="1572768"/>
            <a:chExt cx="5212080" cy="2423160"/>
          </a:xfrm>
        </p:grpSpPr>
        <p:sp>
          <p:nvSpPr>
            <p:cNvPr id="238" name="Google Shape;238;p9"/>
            <p:cNvSpPr/>
            <p:nvPr/>
          </p:nvSpPr>
          <p:spPr>
            <a:xfrm>
              <a:off x="6217920" y="1572768"/>
              <a:ext cx="5212080" cy="2423160"/>
            </a:xfrm>
            <a:prstGeom prst="roundRect">
              <a:avLst>
                <a:gd fmla="val 2264" name="adj"/>
              </a:avLst>
            </a:prstGeom>
            <a:solidFill>
              <a:srgbClr val="1B1E33"/>
            </a:solidFill>
            <a:ln cap="flat" cmpd="sng" w="12700">
              <a:solidFill>
                <a:srgbClr val="1B1E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9"/>
            <p:cNvSpPr txBox="1"/>
            <p:nvPr/>
          </p:nvSpPr>
          <p:spPr>
            <a:xfrm>
              <a:off x="6419088" y="1783080"/>
              <a:ext cx="4809744" cy="210312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FFFF"/>
                </a:buClr>
                <a:buSzPts val="2400"/>
                <a:buFont typeface="Calibri"/>
                <a:buNone/>
              </a:pPr>
              <a:r>
                <a:rPr lang="en-US" sz="2400">
                  <a:solidFill>
                    <a:srgbClr val="FFFFFF"/>
                  </a:solidFill>
                  <a:latin typeface="Calibri"/>
                  <a:ea typeface="Calibri"/>
                  <a:cs typeface="Calibri"/>
                  <a:sym typeface="Calibri"/>
                </a:rPr>
                <a:t>You have 5 minutes to complete this.</a:t>
              </a:r>
              <a:endParaRPr sz="2400">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FFFF"/>
                </a:buClr>
                <a:buSzPts val="2400"/>
                <a:buFont typeface="Calibri"/>
                <a:buNone/>
              </a:pPr>
              <a:r>
                <a:rPr lang="en-US" sz="2400">
                  <a:solidFill>
                    <a:srgbClr val="FFFFFF"/>
                  </a:solidFill>
                  <a:latin typeface="Calibri"/>
                  <a:ea typeface="Calibri"/>
                  <a:cs typeface="Calibri"/>
                  <a:sym typeface="Calibri"/>
                </a:rPr>
                <a:t>Please feel free to work in pairs or individually.</a:t>
              </a:r>
              <a:endParaRPr sz="2400">
                <a:solidFill>
                  <a:schemeClr val="dk1"/>
                </a:solidFill>
                <a:latin typeface="Calibri"/>
                <a:ea typeface="Calibri"/>
                <a:cs typeface="Calibri"/>
                <a:sym typeface="Calibri"/>
              </a:endParaRPr>
            </a:p>
            <a:p>
              <a:pPr indent="0" lvl="0" marL="0" marR="0" rtl="0" algn="l">
                <a:lnSpc>
                  <a:spcPct val="47125"/>
                </a:lnSpc>
                <a:spcBef>
                  <a:spcPts val="0"/>
                </a:spcBef>
                <a:spcAft>
                  <a:spcPts val="0"/>
                </a:spcAft>
                <a:buClr>
                  <a:schemeClr val="dk1"/>
                </a:buClr>
                <a:buSzPts val="4000"/>
                <a:buFont typeface="Calibri"/>
                <a:buNone/>
              </a:pPr>
              <a:r>
                <a:t/>
              </a:r>
              <a:endParaRPr sz="4000">
                <a:solidFill>
                  <a:schemeClr val="lt1"/>
                </a:solidFill>
                <a:latin typeface="Calibri"/>
                <a:ea typeface="Calibri"/>
                <a:cs typeface="Calibri"/>
                <a:sym typeface="Calibri"/>
              </a:endParaRPr>
            </a:p>
          </p:txBody>
        </p:sp>
      </p:grpSp>
      <p:pic>
        <p:nvPicPr>
          <p:cNvPr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id="240" name="Google Shape;240;p9" title="5 Minute Timer">
            <a:hlinkClick r:id="rId3"/>
          </p:cNvPr>
          <p:cNvPicPr preferRelativeResize="0"/>
          <p:nvPr/>
        </p:nvPicPr>
        <p:blipFill>
          <a:blip r:embed="rId4">
            <a:alphaModFix/>
          </a:blip>
          <a:stretch>
            <a:fillRect/>
          </a:stretch>
        </p:blipFill>
        <p:spPr>
          <a:xfrm>
            <a:off x="6309375" y="4169675"/>
            <a:ext cx="5212075" cy="24518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245" name="Shape 245"/>
        <p:cNvGrpSpPr/>
        <p:nvPr/>
      </p:nvGrpSpPr>
      <p:grpSpPr>
        <a:xfrm>
          <a:off x="0" y="0"/>
          <a:ext cx="0" cy="0"/>
          <a:chOff x="0" y="0"/>
          <a:chExt cx="0" cy="0"/>
        </a:xfrm>
      </p:grpSpPr>
      <p:sp>
        <p:nvSpPr>
          <p:cNvPr id="246" name="Google Shape;246;p10"/>
          <p:cNvSpPr txBox="1"/>
          <p:nvPr/>
        </p:nvSpPr>
        <p:spPr>
          <a:xfrm>
            <a:off x="731520" y="41148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200"/>
              <a:buFont typeface="Calibri"/>
              <a:buNone/>
            </a:pPr>
            <a:r>
              <a:rPr b="1" lang="en-US" sz="1200">
                <a:solidFill>
                  <a:srgbClr val="FF6B35"/>
                </a:solidFill>
                <a:latin typeface="Calibri"/>
                <a:ea typeface="Calibri"/>
                <a:cs typeface="Calibri"/>
                <a:sym typeface="Calibri"/>
              </a:rPr>
              <a:t>PRACTICE QUESTION 1</a:t>
            </a:r>
            <a:endParaRPr sz="1200">
              <a:solidFill>
                <a:schemeClr val="dk1"/>
              </a:solidFill>
              <a:latin typeface="Calibri"/>
              <a:ea typeface="Calibri"/>
              <a:cs typeface="Calibri"/>
              <a:sym typeface="Calibri"/>
            </a:endParaRPr>
          </a:p>
        </p:txBody>
      </p:sp>
      <p:sp>
        <p:nvSpPr>
          <p:cNvPr id="247" name="Google Shape;247;p10"/>
          <p:cNvSpPr txBox="1"/>
          <p:nvPr/>
        </p:nvSpPr>
        <p:spPr>
          <a:xfrm>
            <a:off x="731520" y="713232"/>
            <a:ext cx="107899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3200"/>
              <a:buFont typeface="Arial"/>
              <a:buNone/>
            </a:pPr>
            <a:r>
              <a:rPr b="1" lang="en-US" sz="3200">
                <a:solidFill>
                  <a:srgbClr val="1F2333"/>
                </a:solidFill>
                <a:latin typeface="Arial"/>
                <a:ea typeface="Arial"/>
                <a:cs typeface="Arial"/>
                <a:sym typeface="Arial"/>
              </a:rPr>
              <a:t>Worked example: FindMax – Edugator 2.2</a:t>
            </a:r>
            <a:endParaRPr sz="3200">
              <a:solidFill>
                <a:schemeClr val="dk1"/>
              </a:solidFill>
              <a:latin typeface="Calibri"/>
              <a:ea typeface="Calibri"/>
              <a:cs typeface="Calibri"/>
              <a:sym typeface="Calibri"/>
            </a:endParaRPr>
          </a:p>
        </p:txBody>
      </p:sp>
      <p:sp>
        <p:nvSpPr>
          <p:cNvPr id="248" name="Google Shape;248;p10"/>
          <p:cNvSpPr/>
          <p:nvPr/>
        </p:nvSpPr>
        <p:spPr>
          <a:xfrm>
            <a:off x="731520" y="1572768"/>
            <a:ext cx="5212080" cy="4206240"/>
          </a:xfrm>
          <a:prstGeom prst="roundRect">
            <a:avLst>
              <a:gd fmla="val 1087"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10"/>
          <p:cNvSpPr txBox="1"/>
          <p:nvPr/>
        </p:nvSpPr>
        <p:spPr>
          <a:xfrm>
            <a:off x="1005840" y="1783080"/>
            <a:ext cx="46634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700"/>
              <a:buFont typeface="Arial"/>
              <a:buNone/>
            </a:pPr>
            <a:r>
              <a:rPr b="1" lang="en-US" sz="1700">
                <a:solidFill>
                  <a:srgbClr val="1F2333"/>
                </a:solidFill>
                <a:latin typeface="Arial"/>
                <a:ea typeface="Arial"/>
                <a:cs typeface="Arial"/>
                <a:sym typeface="Arial"/>
              </a:rPr>
              <a:t>The problem</a:t>
            </a:r>
            <a:endParaRPr sz="1700">
              <a:solidFill>
                <a:schemeClr val="dk1"/>
              </a:solidFill>
              <a:latin typeface="Calibri"/>
              <a:ea typeface="Calibri"/>
              <a:cs typeface="Calibri"/>
              <a:sym typeface="Calibri"/>
            </a:endParaRPr>
          </a:p>
        </p:txBody>
      </p:sp>
      <p:sp>
        <p:nvSpPr>
          <p:cNvPr id="250" name="Google Shape;250;p10"/>
          <p:cNvSpPr txBox="1"/>
          <p:nvPr/>
        </p:nvSpPr>
        <p:spPr>
          <a:xfrm>
            <a:off x="1005840" y="2121408"/>
            <a:ext cx="4663440" cy="566928"/>
          </a:xfrm>
          <a:prstGeom prst="rect">
            <a:avLst/>
          </a:prstGeom>
          <a:noFill/>
          <a:ln>
            <a:noFill/>
          </a:ln>
        </p:spPr>
        <p:txBody>
          <a:bodyPr anchorCtr="0" anchor="ctr" bIns="0" lIns="0" spcFirstLastPara="1" rIns="0" wrap="square" tIns="0">
            <a:noAutofit/>
          </a:bodyPr>
          <a:lstStyle/>
          <a:p>
            <a:pPr indent="0" lvl="0" marL="0" marR="0" rtl="0" algn="l">
              <a:lnSpc>
                <a:spcPct val="148148"/>
              </a:lnSpc>
              <a:spcBef>
                <a:spcPts val="0"/>
              </a:spcBef>
              <a:spcAft>
                <a:spcPts val="0"/>
              </a:spcAft>
              <a:buClr>
                <a:srgbClr val="5A6072"/>
              </a:buClr>
              <a:buSzPts val="1350"/>
              <a:buFont typeface="Calibri"/>
              <a:buNone/>
            </a:pPr>
            <a:r>
              <a:rPr lang="en-US" sz="1350">
                <a:solidFill>
                  <a:srgbClr val="5A6072"/>
                </a:solidFill>
                <a:latin typeface="Calibri"/>
                <a:ea typeface="Calibri"/>
                <a:cs typeface="Calibri"/>
                <a:sym typeface="Calibri"/>
              </a:rPr>
              <a:t>Return the largest integer in a list. You may not use the built in max function.</a:t>
            </a:r>
            <a:endParaRPr sz="1350">
              <a:solidFill>
                <a:schemeClr val="dk1"/>
              </a:solidFill>
              <a:latin typeface="Calibri"/>
              <a:ea typeface="Calibri"/>
              <a:cs typeface="Calibri"/>
              <a:sym typeface="Calibri"/>
            </a:endParaRPr>
          </a:p>
        </p:txBody>
      </p:sp>
      <p:sp>
        <p:nvSpPr>
          <p:cNvPr id="251" name="Google Shape;251;p10"/>
          <p:cNvSpPr txBox="1"/>
          <p:nvPr/>
        </p:nvSpPr>
        <p:spPr>
          <a:xfrm>
            <a:off x="1005840" y="2743200"/>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250"/>
              <a:buFont typeface="Courier New"/>
              <a:buNone/>
            </a:pPr>
            <a:r>
              <a:rPr lang="en-US" sz="1250">
                <a:solidFill>
                  <a:srgbClr val="1F2333"/>
                </a:solidFill>
                <a:latin typeface="Courier New"/>
                <a:ea typeface="Courier New"/>
                <a:cs typeface="Courier New"/>
                <a:sym typeface="Courier New"/>
              </a:rPr>
              <a:t>[3, 1, 4, 1, 5, 9, 2, 6]  returns  9</a:t>
            </a:r>
            <a:endParaRPr sz="1250">
              <a:solidFill>
                <a:schemeClr val="dk1"/>
              </a:solidFill>
              <a:latin typeface="Calibri"/>
              <a:ea typeface="Calibri"/>
              <a:cs typeface="Calibri"/>
              <a:sym typeface="Calibri"/>
            </a:endParaRPr>
          </a:p>
        </p:txBody>
      </p:sp>
      <p:sp>
        <p:nvSpPr>
          <p:cNvPr id="252" name="Google Shape;252;p10"/>
          <p:cNvSpPr txBox="1"/>
          <p:nvPr/>
        </p:nvSpPr>
        <p:spPr>
          <a:xfrm>
            <a:off x="1005840" y="3035808"/>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250"/>
              <a:buFont typeface="Courier New"/>
              <a:buNone/>
            </a:pPr>
            <a:r>
              <a:rPr lang="en-US" sz="1250">
                <a:solidFill>
                  <a:srgbClr val="1F2333"/>
                </a:solidFill>
                <a:latin typeface="Courier New"/>
                <a:ea typeface="Courier New"/>
                <a:cs typeface="Courier New"/>
                <a:sym typeface="Courier New"/>
              </a:rPr>
              <a:t>[-10, -20, -30, -40, -5]  returns  -5</a:t>
            </a:r>
            <a:endParaRPr sz="1250">
              <a:solidFill>
                <a:schemeClr val="dk1"/>
              </a:solidFill>
              <a:latin typeface="Calibri"/>
              <a:ea typeface="Calibri"/>
              <a:cs typeface="Calibri"/>
              <a:sym typeface="Calibri"/>
            </a:endParaRPr>
          </a:p>
        </p:txBody>
      </p:sp>
      <p:sp>
        <p:nvSpPr>
          <p:cNvPr id="253" name="Google Shape;253;p10"/>
          <p:cNvSpPr/>
          <p:nvPr/>
        </p:nvSpPr>
        <p:spPr>
          <a:xfrm>
            <a:off x="1005840" y="3520440"/>
            <a:ext cx="4663440" cy="960120"/>
          </a:xfrm>
          <a:prstGeom prst="roundRect">
            <a:avLst>
              <a:gd fmla="val 4762" name="adj"/>
            </a:avLst>
          </a:prstGeom>
          <a:solidFill>
            <a:srgbClr val="FFF1EB"/>
          </a:solidFill>
          <a:ln cap="flat" cmpd="sng" w="12700">
            <a:solidFill>
              <a:srgbClr val="FFD5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10"/>
          <p:cNvSpPr txBox="1"/>
          <p:nvPr/>
        </p:nvSpPr>
        <p:spPr>
          <a:xfrm>
            <a:off x="1188720" y="3657600"/>
            <a:ext cx="4297680" cy="713232"/>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B3441F"/>
              </a:buClr>
              <a:buSzPts val="1300"/>
              <a:buFont typeface="Calibri"/>
              <a:buNone/>
            </a:pPr>
            <a:r>
              <a:rPr b="1" lang="en-US" sz="1300">
                <a:solidFill>
                  <a:srgbClr val="B3441F"/>
                </a:solidFill>
                <a:latin typeface="Calibri"/>
                <a:ea typeface="Calibri"/>
                <a:cs typeface="Calibri"/>
                <a:sym typeface="Calibri"/>
              </a:rPr>
              <a:t>The trap: </a:t>
            </a:r>
            <a:r>
              <a:rPr lang="en-US" sz="1300">
                <a:solidFill>
                  <a:srgbClr val="8A4A33"/>
                </a:solidFill>
                <a:latin typeface="Calibri"/>
                <a:ea typeface="Calibri"/>
                <a:cs typeface="Calibri"/>
                <a:sym typeface="Calibri"/>
              </a:rPr>
              <a:t>starting your answer at 0 breaks on all negative input. Start at the first element instead.</a:t>
            </a:r>
            <a:endParaRPr sz="1300">
              <a:solidFill>
                <a:schemeClr val="dk1"/>
              </a:solidFill>
              <a:latin typeface="Calibri"/>
              <a:ea typeface="Calibri"/>
              <a:cs typeface="Calibri"/>
              <a:sym typeface="Calibri"/>
            </a:endParaRPr>
          </a:p>
        </p:txBody>
      </p:sp>
      <p:sp>
        <p:nvSpPr>
          <p:cNvPr id="255" name="Google Shape;255;p10"/>
          <p:cNvSpPr/>
          <p:nvPr/>
        </p:nvSpPr>
        <p:spPr>
          <a:xfrm>
            <a:off x="6217920" y="1572768"/>
            <a:ext cx="5212080" cy="2423160"/>
          </a:xfrm>
          <a:prstGeom prst="roundRect">
            <a:avLst>
              <a:gd fmla="val 2264" name="adj"/>
            </a:avLst>
          </a:prstGeom>
          <a:solidFill>
            <a:srgbClr val="1B1E33"/>
          </a:solidFill>
          <a:ln cap="flat" cmpd="sng" w="12700">
            <a:solidFill>
              <a:srgbClr val="1B1E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0"/>
          <p:cNvSpPr txBox="1"/>
          <p:nvPr/>
        </p:nvSpPr>
        <p:spPr>
          <a:xfrm>
            <a:off x="6419088" y="1664208"/>
            <a:ext cx="48097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000"/>
              <a:buFont typeface="Calibri"/>
              <a:buNone/>
            </a:pPr>
            <a:r>
              <a:rPr b="1" lang="en-US" sz="1000">
                <a:solidFill>
                  <a:srgbClr val="FF6B35"/>
                </a:solidFill>
                <a:latin typeface="Calibri"/>
                <a:ea typeface="Calibri"/>
                <a:cs typeface="Calibri"/>
                <a:sym typeface="Calibri"/>
              </a:rPr>
              <a:t>PYTHON</a:t>
            </a:r>
            <a:endParaRPr sz="1000">
              <a:solidFill>
                <a:schemeClr val="dk1"/>
              </a:solidFill>
              <a:latin typeface="Calibri"/>
              <a:ea typeface="Calibri"/>
              <a:cs typeface="Calibri"/>
              <a:sym typeface="Calibri"/>
            </a:endParaRPr>
          </a:p>
        </p:txBody>
      </p:sp>
      <p:sp>
        <p:nvSpPr>
          <p:cNvPr id="257" name="Google Shape;257;p10"/>
          <p:cNvSpPr txBox="1"/>
          <p:nvPr/>
        </p:nvSpPr>
        <p:spPr>
          <a:xfrm>
            <a:off x="6419088" y="1920240"/>
            <a:ext cx="4809744" cy="196596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E8EAF6"/>
              </a:buClr>
              <a:buSzPts val="1300"/>
              <a:buFont typeface="Courier New"/>
              <a:buNone/>
            </a:pPr>
            <a:r>
              <a:rPr lang="en-US" sz="1300">
                <a:solidFill>
                  <a:srgbClr val="E8EAF6"/>
                </a:solidFill>
                <a:latin typeface="Courier New"/>
                <a:ea typeface="Courier New"/>
                <a:cs typeface="Courier New"/>
                <a:sym typeface="Courier New"/>
              </a:rPr>
              <a:t>def find_max(arr):</a:t>
            </a:r>
            <a:endParaRPr sz="1300">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E8EAF6"/>
              </a:buClr>
              <a:buSzPts val="1300"/>
              <a:buFont typeface="Courier New"/>
              <a:buNone/>
            </a:pPr>
            <a:r>
              <a:rPr lang="en-US" sz="1300">
                <a:solidFill>
                  <a:srgbClr val="E8EAF6"/>
                </a:solidFill>
                <a:latin typeface="Courier New"/>
                <a:ea typeface="Courier New"/>
                <a:cs typeface="Courier New"/>
                <a:sym typeface="Courier New"/>
              </a:rPr>
              <a:t>    best = arr[0]</a:t>
            </a:r>
            <a:endParaRPr sz="1300">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E8EAF6"/>
              </a:buClr>
              <a:buSzPts val="1300"/>
              <a:buFont typeface="Courier New"/>
              <a:buNone/>
            </a:pPr>
            <a:r>
              <a:rPr lang="en-US" sz="1300">
                <a:solidFill>
                  <a:srgbClr val="E8EAF6"/>
                </a:solidFill>
                <a:latin typeface="Courier New"/>
                <a:ea typeface="Courier New"/>
                <a:cs typeface="Courier New"/>
                <a:sym typeface="Courier New"/>
              </a:rPr>
              <a:t>    for value in arr:</a:t>
            </a:r>
            <a:endParaRPr sz="1300">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E8EAF6"/>
              </a:buClr>
              <a:buSzPts val="1300"/>
              <a:buFont typeface="Courier New"/>
              <a:buNone/>
            </a:pPr>
            <a:r>
              <a:rPr lang="en-US" sz="1300">
                <a:solidFill>
                  <a:srgbClr val="E8EAF6"/>
                </a:solidFill>
                <a:latin typeface="Courier New"/>
                <a:ea typeface="Courier New"/>
                <a:cs typeface="Courier New"/>
                <a:sym typeface="Courier New"/>
              </a:rPr>
              <a:t>        if value &gt; best:</a:t>
            </a:r>
            <a:endParaRPr sz="1300">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E8EAF6"/>
              </a:buClr>
              <a:buSzPts val="1300"/>
              <a:buFont typeface="Courier New"/>
              <a:buNone/>
            </a:pPr>
            <a:r>
              <a:rPr lang="en-US" sz="1300">
                <a:solidFill>
                  <a:srgbClr val="E8EAF6"/>
                </a:solidFill>
                <a:latin typeface="Courier New"/>
                <a:ea typeface="Courier New"/>
                <a:cs typeface="Courier New"/>
                <a:sym typeface="Courier New"/>
              </a:rPr>
              <a:t>            best = value</a:t>
            </a:r>
            <a:endParaRPr sz="1300">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E8EAF6"/>
              </a:buClr>
              <a:buSzPts val="1300"/>
              <a:buFont typeface="Courier New"/>
              <a:buNone/>
            </a:pPr>
            <a:r>
              <a:rPr lang="en-US" sz="1300">
                <a:solidFill>
                  <a:srgbClr val="E8EAF6"/>
                </a:solidFill>
                <a:latin typeface="Courier New"/>
                <a:ea typeface="Courier New"/>
                <a:cs typeface="Courier New"/>
                <a:sym typeface="Courier New"/>
              </a:rPr>
              <a:t>    return best</a:t>
            </a:r>
            <a:endParaRPr sz="1300">
              <a:solidFill>
                <a:schemeClr val="dk1"/>
              </a:solidFill>
              <a:latin typeface="Calibri"/>
              <a:ea typeface="Calibri"/>
              <a:cs typeface="Calibri"/>
              <a:sym typeface="Calibri"/>
            </a:endParaRPr>
          </a:p>
        </p:txBody>
      </p:sp>
      <p:sp>
        <p:nvSpPr>
          <p:cNvPr id="258" name="Google Shape;258;p10"/>
          <p:cNvSpPr/>
          <p:nvPr/>
        </p:nvSpPr>
        <p:spPr>
          <a:xfrm>
            <a:off x="6217920" y="4206240"/>
            <a:ext cx="5212080" cy="1280160"/>
          </a:xfrm>
          <a:prstGeom prst="roundRect">
            <a:avLst>
              <a:gd fmla="val 3571"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0"/>
          <p:cNvSpPr txBox="1"/>
          <p:nvPr/>
        </p:nvSpPr>
        <p:spPr>
          <a:xfrm>
            <a:off x="6492240" y="4407408"/>
            <a:ext cx="4663440" cy="86868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2A9D8F"/>
              </a:buClr>
              <a:buSzPts val="1400"/>
              <a:buFont typeface="Courier New"/>
              <a:buNone/>
            </a:pPr>
            <a:r>
              <a:rPr b="1" lang="en-US" sz="1400">
                <a:solidFill>
                  <a:srgbClr val="2A9D8F"/>
                </a:solidFill>
                <a:latin typeface="Courier New"/>
                <a:ea typeface="Courier New"/>
                <a:cs typeface="Courier New"/>
                <a:sym typeface="Courier New"/>
              </a:rPr>
              <a:t>Time O(n)</a:t>
            </a:r>
            <a:r>
              <a:rPr lang="en-US" sz="1300">
                <a:solidFill>
                  <a:srgbClr val="5A6072"/>
                </a:solidFill>
                <a:latin typeface="Calibri"/>
                <a:ea typeface="Calibri"/>
                <a:cs typeface="Calibri"/>
                <a:sym typeface="Calibri"/>
              </a:rPr>
              <a:t>   one pass over the list</a:t>
            </a:r>
            <a:br>
              <a:rPr lang="en-US" sz="1300">
                <a:solidFill>
                  <a:srgbClr val="5A6072"/>
                </a:solidFill>
                <a:latin typeface="Calibri"/>
                <a:ea typeface="Calibri"/>
                <a:cs typeface="Calibri"/>
                <a:sym typeface="Calibri"/>
              </a:rPr>
            </a:br>
            <a:r>
              <a:rPr b="1" lang="en-US" sz="1400">
                <a:solidFill>
                  <a:srgbClr val="2A9D8F"/>
                </a:solidFill>
                <a:latin typeface="Courier New"/>
                <a:ea typeface="Courier New"/>
                <a:cs typeface="Courier New"/>
                <a:sym typeface="Courier New"/>
              </a:rPr>
              <a:t>Space O(1)</a:t>
            </a:r>
            <a:r>
              <a:rPr lang="en-US" sz="1300">
                <a:solidFill>
                  <a:srgbClr val="5A6072"/>
                </a:solidFill>
                <a:latin typeface="Calibri"/>
                <a:ea typeface="Calibri"/>
                <a:cs typeface="Calibri"/>
                <a:sym typeface="Calibri"/>
              </a:rPr>
              <a:t>   one extra variable, no matter the size</a:t>
            </a:r>
            <a:endParaRPr sz="14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264" name="Shape 264"/>
        <p:cNvGrpSpPr/>
        <p:nvPr/>
      </p:nvGrpSpPr>
      <p:grpSpPr>
        <a:xfrm>
          <a:off x="0" y="0"/>
          <a:ext cx="0" cy="0"/>
          <a:chOff x="0" y="0"/>
          <a:chExt cx="0" cy="0"/>
        </a:xfrm>
      </p:grpSpPr>
      <p:sp>
        <p:nvSpPr>
          <p:cNvPr id="265" name="Google Shape;265;p11"/>
          <p:cNvSpPr txBox="1"/>
          <p:nvPr/>
        </p:nvSpPr>
        <p:spPr>
          <a:xfrm>
            <a:off x="731520" y="41148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200"/>
              <a:buFont typeface="Calibri"/>
              <a:buNone/>
            </a:pPr>
            <a:r>
              <a:rPr b="1" lang="en-US" sz="1200">
                <a:solidFill>
                  <a:srgbClr val="FF6B35"/>
                </a:solidFill>
                <a:latin typeface="Calibri"/>
                <a:ea typeface="Calibri"/>
                <a:cs typeface="Calibri"/>
                <a:sym typeface="Calibri"/>
              </a:rPr>
              <a:t>PRACTICE QUESTION 2</a:t>
            </a:r>
            <a:endParaRPr sz="1200">
              <a:solidFill>
                <a:schemeClr val="dk1"/>
              </a:solidFill>
              <a:latin typeface="Calibri"/>
              <a:ea typeface="Calibri"/>
              <a:cs typeface="Calibri"/>
              <a:sym typeface="Calibri"/>
            </a:endParaRPr>
          </a:p>
        </p:txBody>
      </p:sp>
      <p:sp>
        <p:nvSpPr>
          <p:cNvPr id="266" name="Google Shape;266;p11"/>
          <p:cNvSpPr txBox="1"/>
          <p:nvPr/>
        </p:nvSpPr>
        <p:spPr>
          <a:xfrm>
            <a:off x="731520" y="713232"/>
            <a:ext cx="107899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00">
                <a:solidFill>
                  <a:srgbClr val="1F2333"/>
                </a:solidFill>
                <a:latin typeface="Arial"/>
                <a:ea typeface="Arial"/>
                <a:cs typeface="Arial"/>
                <a:sym typeface="Arial"/>
              </a:rPr>
              <a:t>Worked example: Reverse an Array – Edugator 2.3</a:t>
            </a:r>
            <a:endParaRPr sz="3200">
              <a:solidFill>
                <a:schemeClr val="dk1"/>
              </a:solidFill>
              <a:latin typeface="Calibri"/>
              <a:ea typeface="Calibri"/>
              <a:cs typeface="Calibri"/>
              <a:sym typeface="Calibri"/>
            </a:endParaRPr>
          </a:p>
        </p:txBody>
      </p:sp>
      <p:sp>
        <p:nvSpPr>
          <p:cNvPr id="267" name="Google Shape;267;p11"/>
          <p:cNvSpPr/>
          <p:nvPr/>
        </p:nvSpPr>
        <p:spPr>
          <a:xfrm>
            <a:off x="731520" y="1572768"/>
            <a:ext cx="5595684" cy="4206240"/>
          </a:xfrm>
          <a:prstGeom prst="roundRect">
            <a:avLst>
              <a:gd fmla="val 1087"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11"/>
          <p:cNvSpPr txBox="1"/>
          <p:nvPr/>
        </p:nvSpPr>
        <p:spPr>
          <a:xfrm>
            <a:off x="1005840" y="1783080"/>
            <a:ext cx="46634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700"/>
              <a:buFont typeface="Arial"/>
              <a:buNone/>
            </a:pPr>
            <a:r>
              <a:rPr b="1" lang="en-US" sz="1700">
                <a:solidFill>
                  <a:srgbClr val="1F2333"/>
                </a:solidFill>
                <a:latin typeface="Arial"/>
                <a:ea typeface="Arial"/>
                <a:cs typeface="Arial"/>
                <a:sym typeface="Arial"/>
              </a:rPr>
              <a:t>The problem</a:t>
            </a:r>
            <a:endParaRPr sz="1700">
              <a:solidFill>
                <a:schemeClr val="dk1"/>
              </a:solidFill>
              <a:latin typeface="Calibri"/>
              <a:ea typeface="Calibri"/>
              <a:cs typeface="Calibri"/>
              <a:sym typeface="Calibri"/>
            </a:endParaRPr>
          </a:p>
        </p:txBody>
      </p:sp>
      <p:sp>
        <p:nvSpPr>
          <p:cNvPr id="269" name="Google Shape;269;p11"/>
          <p:cNvSpPr txBox="1"/>
          <p:nvPr/>
        </p:nvSpPr>
        <p:spPr>
          <a:xfrm>
            <a:off x="1005839" y="2121408"/>
            <a:ext cx="5171937" cy="56692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5A6072"/>
              </a:buClr>
              <a:buSzPts val="1600"/>
              <a:buFont typeface="Calibri"/>
              <a:buNone/>
            </a:pPr>
            <a:r>
              <a:rPr lang="en-US" sz="1600">
                <a:solidFill>
                  <a:srgbClr val="5A6072"/>
                </a:solidFill>
                <a:latin typeface="Calibri"/>
                <a:ea typeface="Calibri"/>
                <a:cs typeface="Calibri"/>
                <a:sym typeface="Calibri"/>
              </a:rPr>
              <a:t>Write a function that returns an array </a:t>
            </a:r>
            <a:r>
              <a:rPr b="1" lang="en-US" sz="1600">
                <a:solidFill>
                  <a:srgbClr val="5A6072"/>
                </a:solidFill>
                <a:latin typeface="Calibri"/>
                <a:ea typeface="Calibri"/>
                <a:cs typeface="Calibri"/>
                <a:sym typeface="Calibri"/>
              </a:rPr>
              <a:t>arr </a:t>
            </a:r>
            <a:r>
              <a:rPr lang="en-US" sz="1600">
                <a:solidFill>
                  <a:srgbClr val="5A6072"/>
                </a:solidFill>
                <a:latin typeface="Calibri"/>
                <a:ea typeface="Calibri"/>
                <a:cs typeface="Calibri"/>
                <a:sym typeface="Calibri"/>
              </a:rPr>
              <a:t>with the same elements but in reversed order</a:t>
            </a:r>
            <a:endParaRPr/>
          </a:p>
        </p:txBody>
      </p:sp>
      <p:sp>
        <p:nvSpPr>
          <p:cNvPr id="270" name="Google Shape;270;p11"/>
          <p:cNvSpPr txBox="1"/>
          <p:nvPr/>
        </p:nvSpPr>
        <p:spPr>
          <a:xfrm>
            <a:off x="1005840" y="2743200"/>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lang="en-US" sz="1400">
                <a:solidFill>
                  <a:schemeClr val="dk1"/>
                </a:solidFill>
                <a:latin typeface="Courier New"/>
                <a:ea typeface="Courier New"/>
                <a:cs typeface="Courier New"/>
                <a:sym typeface="Courier New"/>
              </a:rPr>
              <a:t>Input: [10, -3, 0, 7]</a:t>
            </a:r>
            <a:endParaRPr sz="1250">
              <a:solidFill>
                <a:schemeClr val="dk1"/>
              </a:solidFill>
              <a:latin typeface="Courier New"/>
              <a:ea typeface="Courier New"/>
              <a:cs typeface="Courier New"/>
              <a:sym typeface="Courier New"/>
            </a:endParaRPr>
          </a:p>
        </p:txBody>
      </p:sp>
      <p:sp>
        <p:nvSpPr>
          <p:cNvPr id="271" name="Google Shape;271;p11"/>
          <p:cNvSpPr txBox="1"/>
          <p:nvPr/>
        </p:nvSpPr>
        <p:spPr>
          <a:xfrm>
            <a:off x="1005840" y="3035808"/>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lang="en-US" sz="1400">
                <a:solidFill>
                  <a:schemeClr val="dk1"/>
                </a:solidFill>
                <a:latin typeface="Courier New"/>
                <a:ea typeface="Courier New"/>
                <a:cs typeface="Courier New"/>
                <a:sym typeface="Courier New"/>
              </a:rPr>
              <a:t>Output: [7, 0, -3, 10]</a:t>
            </a:r>
            <a:endParaRPr sz="1250">
              <a:solidFill>
                <a:schemeClr val="dk1"/>
              </a:solidFill>
              <a:latin typeface="Courier New"/>
              <a:ea typeface="Courier New"/>
              <a:cs typeface="Courier New"/>
              <a:sym typeface="Courier New"/>
            </a:endParaRPr>
          </a:p>
        </p:txBody>
      </p:sp>
      <p:sp>
        <p:nvSpPr>
          <p:cNvPr id="272" name="Google Shape;272;p11"/>
          <p:cNvSpPr/>
          <p:nvPr/>
        </p:nvSpPr>
        <p:spPr>
          <a:xfrm>
            <a:off x="1005840" y="3520440"/>
            <a:ext cx="4663440" cy="960120"/>
          </a:xfrm>
          <a:prstGeom prst="roundRect">
            <a:avLst>
              <a:gd fmla="val 4762" name="adj"/>
            </a:avLst>
          </a:prstGeom>
          <a:solidFill>
            <a:srgbClr val="FFF1EB"/>
          </a:solidFill>
          <a:ln cap="flat" cmpd="sng" w="12700">
            <a:solidFill>
              <a:srgbClr val="FFD5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11"/>
          <p:cNvSpPr txBox="1"/>
          <p:nvPr/>
        </p:nvSpPr>
        <p:spPr>
          <a:xfrm>
            <a:off x="1099510" y="3602736"/>
            <a:ext cx="4297680" cy="713232"/>
          </a:xfrm>
          <a:prstGeom prst="rect">
            <a:avLst/>
          </a:prstGeom>
          <a:noFill/>
          <a:ln>
            <a:noFill/>
          </a:ln>
        </p:spPr>
        <p:txBody>
          <a:bodyPr anchorCtr="0" anchor="ctr" bIns="0" lIns="0" spcFirstLastPara="1" rIns="0" wrap="square" tIns="0">
            <a:noAutofit/>
          </a:bodyPr>
          <a:lstStyle/>
          <a:p>
            <a:pPr indent="0" lvl="0" marL="0" marR="0" rtl="0" algn="l">
              <a:lnSpc>
                <a:spcPct val="135714"/>
              </a:lnSpc>
              <a:spcBef>
                <a:spcPts val="0"/>
              </a:spcBef>
              <a:spcAft>
                <a:spcPts val="0"/>
              </a:spcAft>
              <a:buClr>
                <a:srgbClr val="B3441F"/>
              </a:buClr>
              <a:buSzPts val="1400"/>
              <a:buFont typeface="Calibri"/>
              <a:buNone/>
            </a:pPr>
            <a:r>
              <a:rPr b="1" lang="en-US" sz="1400">
                <a:solidFill>
                  <a:srgbClr val="B3441F"/>
                </a:solidFill>
                <a:latin typeface="Calibri"/>
                <a:ea typeface="Calibri"/>
                <a:cs typeface="Calibri"/>
                <a:sym typeface="Calibri"/>
              </a:rPr>
              <a:t>Explanation: </a:t>
            </a:r>
            <a:r>
              <a:rPr lang="en-US" sz="1400">
                <a:solidFill>
                  <a:srgbClr val="8A4A33"/>
                </a:solidFill>
                <a:latin typeface="Calibri"/>
                <a:ea typeface="Calibri"/>
                <a:cs typeface="Calibri"/>
                <a:sym typeface="Calibri"/>
              </a:rPr>
              <a:t>the arrays are in the opposite order of each other.</a:t>
            </a:r>
            <a:endParaRPr sz="1400">
              <a:solidFill>
                <a:schemeClr val="dk1"/>
              </a:solidFill>
              <a:latin typeface="Calibri"/>
              <a:ea typeface="Calibri"/>
              <a:cs typeface="Calibri"/>
              <a:sym typeface="Calibri"/>
            </a:endParaRPr>
          </a:p>
        </p:txBody>
      </p:sp>
      <p:sp>
        <p:nvSpPr>
          <p:cNvPr id="274" name="Google Shape;274;p11"/>
          <p:cNvSpPr/>
          <p:nvPr/>
        </p:nvSpPr>
        <p:spPr>
          <a:xfrm>
            <a:off x="6503391" y="1572768"/>
            <a:ext cx="5212080" cy="2423160"/>
          </a:xfrm>
          <a:prstGeom prst="roundRect">
            <a:avLst>
              <a:gd fmla="val 2264" name="adj"/>
            </a:avLst>
          </a:prstGeom>
          <a:solidFill>
            <a:srgbClr val="1B1E33"/>
          </a:solidFill>
          <a:ln cap="flat" cmpd="sng" w="12700">
            <a:solidFill>
              <a:srgbClr val="1B1E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1"/>
          <p:cNvSpPr txBox="1"/>
          <p:nvPr/>
        </p:nvSpPr>
        <p:spPr>
          <a:xfrm>
            <a:off x="6704559" y="1783080"/>
            <a:ext cx="4809744" cy="210312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FFFF"/>
              </a:buClr>
              <a:buSzPts val="2400"/>
              <a:buFont typeface="Calibri"/>
              <a:buNone/>
            </a:pPr>
            <a:r>
              <a:rPr lang="en-US" sz="2400">
                <a:solidFill>
                  <a:srgbClr val="FFFFFF"/>
                </a:solidFill>
                <a:latin typeface="Calibri"/>
                <a:ea typeface="Calibri"/>
                <a:cs typeface="Calibri"/>
                <a:sym typeface="Calibri"/>
              </a:rPr>
              <a:t>You have 5 minutes to complete this.</a:t>
            </a:r>
            <a:endParaRPr sz="2400">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a:p>
            <a:pPr indent="0" lvl="0" marL="0" rtl="0" algn="l">
              <a:lnSpc>
                <a:spcPct val="133333"/>
              </a:lnSpc>
              <a:spcBef>
                <a:spcPts val="0"/>
              </a:spcBef>
              <a:spcAft>
                <a:spcPts val="0"/>
              </a:spcAft>
              <a:buClr>
                <a:schemeClr val="lt1"/>
              </a:buClr>
              <a:buSzPts val="2400"/>
              <a:buFont typeface="Calibri"/>
              <a:buNone/>
            </a:pPr>
            <a:r>
              <a:rPr lang="en-US" sz="2400">
                <a:solidFill>
                  <a:schemeClr val="lt1"/>
                </a:solidFill>
                <a:latin typeface="Calibri"/>
                <a:ea typeface="Calibri"/>
                <a:cs typeface="Calibri"/>
                <a:sym typeface="Calibri"/>
              </a:rPr>
              <a:t>Please feel free to work in pairs or individually.</a:t>
            </a:r>
            <a:endParaRPr sz="2400">
              <a:solidFill>
                <a:schemeClr val="dk1"/>
              </a:solidFill>
              <a:latin typeface="Calibri"/>
              <a:ea typeface="Calibri"/>
              <a:cs typeface="Calibri"/>
              <a:sym typeface="Calibri"/>
            </a:endParaRPr>
          </a:p>
          <a:p>
            <a:pPr indent="0" lvl="0" marL="0" marR="0" rtl="0" algn="l">
              <a:lnSpc>
                <a:spcPct val="47125"/>
              </a:lnSpc>
              <a:spcBef>
                <a:spcPts val="0"/>
              </a:spcBef>
              <a:spcAft>
                <a:spcPts val="0"/>
              </a:spcAft>
              <a:buClr>
                <a:schemeClr val="dk1"/>
              </a:buClr>
              <a:buSzPts val="4000"/>
              <a:buFont typeface="Calibri"/>
              <a:buNone/>
            </a:pPr>
            <a:r>
              <a:t/>
            </a:r>
            <a:endParaRPr sz="4000">
              <a:solidFill>
                <a:schemeClr val="lt1"/>
              </a:solidFill>
              <a:latin typeface="Calibri"/>
              <a:ea typeface="Calibri"/>
              <a:cs typeface="Calibri"/>
              <a:sym typeface="Calibri"/>
            </a:endParaRPr>
          </a:p>
        </p:txBody>
      </p:sp>
      <p:pic>
        <p:nvPicPr>
          <p:cNvPr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id="276" name="Google Shape;276;p11" title="5 Minute Timer">
            <a:hlinkClick r:id="rId3"/>
          </p:cNvPr>
          <p:cNvPicPr preferRelativeResize="0"/>
          <p:nvPr/>
        </p:nvPicPr>
        <p:blipFill>
          <a:blip r:embed="rId4">
            <a:alphaModFix/>
          </a:blip>
          <a:stretch>
            <a:fillRect/>
          </a:stretch>
        </p:blipFill>
        <p:spPr>
          <a:xfrm>
            <a:off x="6503400" y="4086300"/>
            <a:ext cx="5212075" cy="2316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2"/>
          <p:cNvSpPr txBox="1"/>
          <p:nvPr/>
        </p:nvSpPr>
        <p:spPr>
          <a:xfrm>
            <a:off x="731520" y="41148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200"/>
              <a:buFont typeface="Calibri"/>
              <a:buNone/>
            </a:pPr>
            <a:r>
              <a:rPr b="1" lang="en-US" sz="1200">
                <a:solidFill>
                  <a:srgbClr val="FF6B35"/>
                </a:solidFill>
                <a:latin typeface="Calibri"/>
                <a:ea typeface="Calibri"/>
                <a:cs typeface="Calibri"/>
                <a:sym typeface="Calibri"/>
              </a:rPr>
              <a:t>PRACTICE QUESTION 2</a:t>
            </a:r>
            <a:endParaRPr sz="1200">
              <a:solidFill>
                <a:schemeClr val="dk1"/>
              </a:solidFill>
              <a:latin typeface="Calibri"/>
              <a:ea typeface="Calibri"/>
              <a:cs typeface="Calibri"/>
              <a:sym typeface="Calibri"/>
            </a:endParaRPr>
          </a:p>
        </p:txBody>
      </p:sp>
      <p:sp>
        <p:nvSpPr>
          <p:cNvPr id="283" name="Google Shape;283;p12"/>
          <p:cNvSpPr txBox="1"/>
          <p:nvPr/>
        </p:nvSpPr>
        <p:spPr>
          <a:xfrm>
            <a:off x="731520" y="713232"/>
            <a:ext cx="107899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3200"/>
              <a:buFont typeface="Arial"/>
              <a:buNone/>
            </a:pPr>
            <a:r>
              <a:rPr b="1" lang="en-US" sz="3200">
                <a:solidFill>
                  <a:srgbClr val="1F2333"/>
                </a:solidFill>
                <a:latin typeface="Arial"/>
                <a:ea typeface="Arial"/>
                <a:cs typeface="Arial"/>
                <a:sym typeface="Arial"/>
              </a:rPr>
              <a:t>Worked example: Reverse an Array – Edugator 2.3</a:t>
            </a:r>
            <a:endParaRPr sz="3200">
              <a:solidFill>
                <a:schemeClr val="dk1"/>
              </a:solidFill>
              <a:latin typeface="Calibri"/>
              <a:ea typeface="Calibri"/>
              <a:cs typeface="Calibri"/>
              <a:sym typeface="Calibri"/>
            </a:endParaRPr>
          </a:p>
        </p:txBody>
      </p:sp>
      <p:sp>
        <p:nvSpPr>
          <p:cNvPr id="284" name="Google Shape;284;p12"/>
          <p:cNvSpPr/>
          <p:nvPr/>
        </p:nvSpPr>
        <p:spPr>
          <a:xfrm>
            <a:off x="731520" y="1572768"/>
            <a:ext cx="5212080" cy="4206240"/>
          </a:xfrm>
          <a:prstGeom prst="roundRect">
            <a:avLst>
              <a:gd fmla="val 1087"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12"/>
          <p:cNvSpPr txBox="1"/>
          <p:nvPr/>
        </p:nvSpPr>
        <p:spPr>
          <a:xfrm>
            <a:off x="1005840" y="1783080"/>
            <a:ext cx="46634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700"/>
              <a:buFont typeface="Arial"/>
              <a:buNone/>
            </a:pPr>
            <a:r>
              <a:rPr b="1" lang="en-US" sz="1700">
                <a:solidFill>
                  <a:srgbClr val="1F2333"/>
                </a:solidFill>
                <a:latin typeface="Arial"/>
                <a:ea typeface="Arial"/>
                <a:cs typeface="Arial"/>
                <a:sym typeface="Arial"/>
              </a:rPr>
              <a:t>The problem</a:t>
            </a:r>
            <a:endParaRPr sz="1700">
              <a:solidFill>
                <a:schemeClr val="dk1"/>
              </a:solidFill>
              <a:latin typeface="Calibri"/>
              <a:ea typeface="Calibri"/>
              <a:cs typeface="Calibri"/>
              <a:sym typeface="Calibri"/>
            </a:endParaRPr>
          </a:p>
        </p:txBody>
      </p:sp>
      <p:sp>
        <p:nvSpPr>
          <p:cNvPr id="286" name="Google Shape;286;p12"/>
          <p:cNvSpPr txBox="1"/>
          <p:nvPr/>
        </p:nvSpPr>
        <p:spPr>
          <a:xfrm>
            <a:off x="1005840" y="2121408"/>
            <a:ext cx="4663440" cy="566928"/>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5A6072"/>
              </a:buClr>
              <a:buSzPts val="1350"/>
              <a:buFont typeface="Calibri"/>
              <a:buNone/>
            </a:pPr>
            <a:r>
              <a:rPr lang="en-US" sz="1350">
                <a:solidFill>
                  <a:srgbClr val="5A6072"/>
                </a:solidFill>
                <a:latin typeface="Calibri"/>
                <a:ea typeface="Calibri"/>
                <a:cs typeface="Calibri"/>
                <a:sym typeface="Calibri"/>
              </a:rPr>
              <a:t>Write a function that returns an array arr with the same elements but in reversed order.</a:t>
            </a:r>
            <a:endParaRPr sz="1350">
              <a:solidFill>
                <a:schemeClr val="dk1"/>
              </a:solidFill>
              <a:latin typeface="Calibri"/>
              <a:ea typeface="Calibri"/>
              <a:cs typeface="Calibri"/>
              <a:sym typeface="Calibri"/>
            </a:endParaRPr>
          </a:p>
        </p:txBody>
      </p:sp>
      <p:sp>
        <p:nvSpPr>
          <p:cNvPr id="287" name="Google Shape;287;p12"/>
          <p:cNvSpPr txBox="1"/>
          <p:nvPr/>
        </p:nvSpPr>
        <p:spPr>
          <a:xfrm>
            <a:off x="1005840" y="2761488"/>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250"/>
              <a:buFont typeface="Courier New"/>
              <a:buNone/>
            </a:pPr>
            <a:r>
              <a:rPr lang="en-US" sz="1250">
                <a:solidFill>
                  <a:srgbClr val="1F2333"/>
                </a:solidFill>
                <a:latin typeface="Courier New"/>
                <a:ea typeface="Courier New"/>
                <a:cs typeface="Courier New"/>
                <a:sym typeface="Courier New"/>
              </a:rPr>
              <a:t>Input:   [10, -3, 0, 7]</a:t>
            </a:r>
            <a:endParaRPr sz="1250">
              <a:solidFill>
                <a:schemeClr val="dk1"/>
              </a:solidFill>
              <a:latin typeface="Calibri"/>
              <a:ea typeface="Calibri"/>
              <a:cs typeface="Calibri"/>
              <a:sym typeface="Calibri"/>
            </a:endParaRPr>
          </a:p>
        </p:txBody>
      </p:sp>
      <p:sp>
        <p:nvSpPr>
          <p:cNvPr id="288" name="Google Shape;288;p12"/>
          <p:cNvSpPr txBox="1"/>
          <p:nvPr/>
        </p:nvSpPr>
        <p:spPr>
          <a:xfrm>
            <a:off x="1005840" y="3054096"/>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250"/>
              <a:buFont typeface="Courier New"/>
              <a:buNone/>
            </a:pPr>
            <a:r>
              <a:rPr lang="en-US" sz="1250">
                <a:solidFill>
                  <a:srgbClr val="1F2333"/>
                </a:solidFill>
                <a:latin typeface="Courier New"/>
                <a:ea typeface="Courier New"/>
                <a:cs typeface="Courier New"/>
                <a:sym typeface="Courier New"/>
              </a:rPr>
              <a:t>Output:  [7, 0, -3, 10]</a:t>
            </a:r>
            <a:endParaRPr sz="1250">
              <a:solidFill>
                <a:schemeClr val="dk1"/>
              </a:solidFill>
              <a:latin typeface="Calibri"/>
              <a:ea typeface="Calibri"/>
              <a:cs typeface="Calibri"/>
              <a:sym typeface="Calibri"/>
            </a:endParaRPr>
          </a:p>
        </p:txBody>
      </p:sp>
      <p:sp>
        <p:nvSpPr>
          <p:cNvPr id="289" name="Google Shape;289;p12"/>
          <p:cNvSpPr/>
          <p:nvPr/>
        </p:nvSpPr>
        <p:spPr>
          <a:xfrm>
            <a:off x="1005840" y="3520440"/>
            <a:ext cx="4663440" cy="749808"/>
          </a:xfrm>
          <a:prstGeom prst="roundRect">
            <a:avLst>
              <a:gd fmla="val 6098" name="adj"/>
            </a:avLst>
          </a:prstGeom>
          <a:solidFill>
            <a:srgbClr val="FFF1EB"/>
          </a:solidFill>
          <a:ln cap="flat" cmpd="sng" w="12700">
            <a:solidFill>
              <a:srgbClr val="FFD5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12"/>
          <p:cNvSpPr txBox="1"/>
          <p:nvPr/>
        </p:nvSpPr>
        <p:spPr>
          <a:xfrm>
            <a:off x="1188720" y="3639312"/>
            <a:ext cx="4297680" cy="548640"/>
          </a:xfrm>
          <a:prstGeom prst="rect">
            <a:avLst/>
          </a:prstGeom>
          <a:noFill/>
          <a:ln>
            <a:noFill/>
          </a:ln>
        </p:spPr>
        <p:txBody>
          <a:bodyPr anchorCtr="0" anchor="t" bIns="0" lIns="0" spcFirstLastPara="1" rIns="0" wrap="square" tIns="0">
            <a:noAutofit/>
          </a:bodyPr>
          <a:lstStyle/>
          <a:p>
            <a:pPr indent="0" lvl="0" marL="0" marR="0" rtl="0" algn="l">
              <a:lnSpc>
                <a:spcPct val="146153"/>
              </a:lnSpc>
              <a:spcBef>
                <a:spcPts val="0"/>
              </a:spcBef>
              <a:spcAft>
                <a:spcPts val="0"/>
              </a:spcAft>
              <a:buClr>
                <a:srgbClr val="B3441F"/>
              </a:buClr>
              <a:buSzPts val="1300"/>
              <a:buFont typeface="Calibri"/>
              <a:buNone/>
            </a:pPr>
            <a:r>
              <a:rPr b="1" lang="en-US" sz="1300">
                <a:solidFill>
                  <a:srgbClr val="B3441F"/>
                </a:solidFill>
                <a:latin typeface="Calibri"/>
                <a:ea typeface="Calibri"/>
                <a:cs typeface="Calibri"/>
                <a:sym typeface="Calibri"/>
              </a:rPr>
              <a:t>Explanation: </a:t>
            </a:r>
            <a:r>
              <a:rPr lang="en-US" sz="1300">
                <a:solidFill>
                  <a:srgbClr val="8A4A33"/>
                </a:solidFill>
                <a:latin typeface="Calibri"/>
                <a:ea typeface="Calibri"/>
                <a:cs typeface="Calibri"/>
                <a:sym typeface="Calibri"/>
              </a:rPr>
              <a:t>the arrays are in the opposite order of each other.</a:t>
            </a:r>
            <a:endParaRPr sz="1300">
              <a:solidFill>
                <a:schemeClr val="dk1"/>
              </a:solidFill>
              <a:latin typeface="Calibri"/>
              <a:ea typeface="Calibri"/>
              <a:cs typeface="Calibri"/>
              <a:sym typeface="Calibri"/>
            </a:endParaRPr>
          </a:p>
        </p:txBody>
      </p:sp>
      <p:sp>
        <p:nvSpPr>
          <p:cNvPr id="291" name="Google Shape;291;p12"/>
          <p:cNvSpPr txBox="1"/>
          <p:nvPr/>
        </p:nvSpPr>
        <p:spPr>
          <a:xfrm>
            <a:off x="1005840" y="4480560"/>
            <a:ext cx="4663440" cy="77724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5A6072"/>
              </a:buClr>
              <a:buSzPts val="1300"/>
              <a:buFont typeface="Calibri"/>
              <a:buNone/>
            </a:pPr>
            <a:r>
              <a:rPr i="1" lang="en-US" sz="1300">
                <a:solidFill>
                  <a:srgbClr val="5A6072"/>
                </a:solidFill>
                <a:latin typeface="Calibri"/>
                <a:ea typeface="Calibri"/>
                <a:cs typeface="Calibri"/>
                <a:sym typeface="Calibri"/>
              </a:rPr>
              <a:t>Constraints allow a list of length 0, so your loop has to survive an empty array and a single element.</a:t>
            </a:r>
            <a:endParaRPr sz="1300">
              <a:solidFill>
                <a:schemeClr val="dk1"/>
              </a:solidFill>
              <a:latin typeface="Calibri"/>
              <a:ea typeface="Calibri"/>
              <a:cs typeface="Calibri"/>
              <a:sym typeface="Calibri"/>
            </a:endParaRPr>
          </a:p>
        </p:txBody>
      </p:sp>
      <p:sp>
        <p:nvSpPr>
          <p:cNvPr id="292" name="Google Shape;292;p12"/>
          <p:cNvSpPr/>
          <p:nvPr/>
        </p:nvSpPr>
        <p:spPr>
          <a:xfrm>
            <a:off x="6217925" y="1572775"/>
            <a:ext cx="5212200" cy="2496300"/>
          </a:xfrm>
          <a:prstGeom prst="roundRect">
            <a:avLst>
              <a:gd fmla="val 2353" name="adj"/>
            </a:avLst>
          </a:prstGeom>
          <a:solidFill>
            <a:srgbClr val="1B1E33"/>
          </a:solidFill>
          <a:ln cap="flat" cmpd="sng" w="12700">
            <a:solidFill>
              <a:srgbClr val="1B1E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12"/>
          <p:cNvSpPr txBox="1"/>
          <p:nvPr/>
        </p:nvSpPr>
        <p:spPr>
          <a:xfrm>
            <a:off x="6419088" y="1664208"/>
            <a:ext cx="48097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000"/>
              <a:buFont typeface="Calibri"/>
              <a:buNone/>
            </a:pPr>
            <a:r>
              <a:rPr b="1" lang="en-US" sz="1000">
                <a:solidFill>
                  <a:srgbClr val="FF6B35"/>
                </a:solidFill>
                <a:latin typeface="Calibri"/>
                <a:ea typeface="Calibri"/>
                <a:cs typeface="Calibri"/>
                <a:sym typeface="Calibri"/>
              </a:rPr>
              <a:t>PYTHON</a:t>
            </a:r>
            <a:endParaRPr sz="1000">
              <a:solidFill>
                <a:schemeClr val="dk1"/>
              </a:solidFill>
              <a:latin typeface="Calibri"/>
              <a:ea typeface="Calibri"/>
              <a:cs typeface="Calibri"/>
              <a:sym typeface="Calibri"/>
            </a:endParaRPr>
          </a:p>
        </p:txBody>
      </p:sp>
      <p:sp>
        <p:nvSpPr>
          <p:cNvPr id="294" name="Google Shape;294;p12"/>
          <p:cNvSpPr txBox="1"/>
          <p:nvPr/>
        </p:nvSpPr>
        <p:spPr>
          <a:xfrm>
            <a:off x="6419100" y="1938525"/>
            <a:ext cx="4809600" cy="2031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8EAF6"/>
              </a:buClr>
              <a:buSzPts val="1150"/>
              <a:buFont typeface="Courier New"/>
              <a:buNone/>
            </a:pPr>
            <a:r>
              <a:rPr lang="en-US" sz="1150">
                <a:solidFill>
                  <a:srgbClr val="E8EAF6"/>
                </a:solidFill>
                <a:latin typeface="Courier New"/>
                <a:ea typeface="Courier New"/>
                <a:cs typeface="Courier New"/>
                <a:sym typeface="Courier New"/>
              </a:rPr>
              <a:t>def reverse_array(arr: list) -&gt; list:</a:t>
            </a:r>
            <a:endParaRPr sz="11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E8EAF6"/>
              </a:buClr>
              <a:buSzPts val="1150"/>
              <a:buFont typeface="Courier New"/>
              <a:buNone/>
            </a:pPr>
            <a:r>
              <a:rPr lang="en-US" sz="1150">
                <a:solidFill>
                  <a:srgbClr val="E8EAF6"/>
                </a:solidFill>
                <a:latin typeface="Courier New"/>
                <a:ea typeface="Courier New"/>
                <a:cs typeface="Courier New"/>
                <a:sym typeface="Courier New"/>
              </a:rPr>
              <a:t>    left, right = 0, len(arr) - 1</a:t>
            </a:r>
            <a:endParaRPr sz="11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E8EAF6"/>
              </a:buClr>
              <a:buSzPts val="1150"/>
              <a:buFont typeface="Courier New"/>
              <a:buNone/>
            </a:pPr>
            <a:r>
              <a:rPr lang="en-US" sz="1150">
                <a:solidFill>
                  <a:srgbClr val="E8EAF6"/>
                </a:solidFill>
                <a:latin typeface="Courier New"/>
                <a:ea typeface="Courier New"/>
                <a:cs typeface="Courier New"/>
                <a:sym typeface="Courier New"/>
              </a:rPr>
              <a:t>    while left &lt; right:</a:t>
            </a:r>
            <a:endParaRPr sz="11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E8EAF6"/>
              </a:buClr>
              <a:buSzPts val="1150"/>
              <a:buFont typeface="Courier New"/>
              <a:buNone/>
            </a:pPr>
            <a:r>
              <a:rPr lang="en-US" sz="1150">
                <a:solidFill>
                  <a:srgbClr val="E8EAF6"/>
                </a:solidFill>
                <a:latin typeface="Courier New"/>
                <a:ea typeface="Courier New"/>
                <a:cs typeface="Courier New"/>
                <a:sym typeface="Courier New"/>
              </a:rPr>
              <a:t>        arr[left], arr[right] = \</a:t>
            </a:r>
            <a:endParaRPr sz="11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E8EAF6"/>
              </a:buClr>
              <a:buSzPts val="1150"/>
              <a:buFont typeface="Courier New"/>
              <a:buNone/>
            </a:pPr>
            <a:r>
              <a:rPr lang="en-US" sz="1150">
                <a:solidFill>
                  <a:srgbClr val="E8EAF6"/>
                </a:solidFill>
                <a:latin typeface="Courier New"/>
                <a:ea typeface="Courier New"/>
                <a:cs typeface="Courier New"/>
                <a:sym typeface="Courier New"/>
              </a:rPr>
              <a:t>            arr[right], arr[left]</a:t>
            </a:r>
            <a:endParaRPr sz="11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E8EAF6"/>
              </a:buClr>
              <a:buSzPts val="1150"/>
              <a:buFont typeface="Courier New"/>
              <a:buNone/>
            </a:pPr>
            <a:r>
              <a:rPr lang="en-US" sz="1150">
                <a:solidFill>
                  <a:srgbClr val="E8EAF6"/>
                </a:solidFill>
                <a:latin typeface="Courier New"/>
                <a:ea typeface="Courier New"/>
                <a:cs typeface="Courier New"/>
                <a:sym typeface="Courier New"/>
              </a:rPr>
              <a:t>        left += 1</a:t>
            </a:r>
            <a:endParaRPr sz="11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E8EAF6"/>
              </a:buClr>
              <a:buSzPts val="1150"/>
              <a:buFont typeface="Courier New"/>
              <a:buNone/>
            </a:pPr>
            <a:r>
              <a:rPr lang="en-US" sz="1150">
                <a:solidFill>
                  <a:srgbClr val="E8EAF6"/>
                </a:solidFill>
                <a:latin typeface="Courier New"/>
                <a:ea typeface="Courier New"/>
                <a:cs typeface="Courier New"/>
                <a:sym typeface="Courier New"/>
              </a:rPr>
              <a:t>        right -= 1</a:t>
            </a:r>
            <a:endParaRPr sz="11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E8EAF6"/>
              </a:buClr>
              <a:buSzPts val="1150"/>
              <a:buFont typeface="Courier New"/>
              <a:buNone/>
            </a:pPr>
            <a:r>
              <a:rPr lang="en-US" sz="1150">
                <a:solidFill>
                  <a:srgbClr val="E8EAF6"/>
                </a:solidFill>
                <a:latin typeface="Courier New"/>
                <a:ea typeface="Courier New"/>
                <a:cs typeface="Courier New"/>
                <a:sym typeface="Courier New"/>
              </a:rPr>
              <a:t>    return arr</a:t>
            </a:r>
            <a:endParaRPr sz="1150">
              <a:solidFill>
                <a:schemeClr val="dk1"/>
              </a:solidFill>
              <a:latin typeface="Calibri"/>
              <a:ea typeface="Calibri"/>
              <a:cs typeface="Calibri"/>
              <a:sym typeface="Calibri"/>
            </a:endParaRPr>
          </a:p>
        </p:txBody>
      </p:sp>
      <p:sp>
        <p:nvSpPr>
          <p:cNvPr id="295" name="Google Shape;295;p12"/>
          <p:cNvSpPr/>
          <p:nvPr/>
        </p:nvSpPr>
        <p:spPr>
          <a:xfrm>
            <a:off x="6217920" y="4069080"/>
            <a:ext cx="5212080" cy="960120"/>
          </a:xfrm>
          <a:prstGeom prst="roundRect">
            <a:avLst>
              <a:gd fmla="val 4762"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12"/>
          <p:cNvSpPr txBox="1"/>
          <p:nvPr/>
        </p:nvSpPr>
        <p:spPr>
          <a:xfrm>
            <a:off x="6492240" y="4224528"/>
            <a:ext cx="4663440" cy="73152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2A9D8F"/>
              </a:buClr>
              <a:buSzPts val="1400"/>
              <a:buFont typeface="Courier New"/>
              <a:buNone/>
            </a:pPr>
            <a:r>
              <a:rPr b="1" lang="en-US" sz="1400">
                <a:solidFill>
                  <a:srgbClr val="2A9D8F"/>
                </a:solidFill>
                <a:latin typeface="Courier New"/>
                <a:ea typeface="Courier New"/>
                <a:cs typeface="Courier New"/>
                <a:sym typeface="Courier New"/>
              </a:rPr>
              <a:t>Time O(n)</a:t>
            </a:r>
            <a:r>
              <a:rPr lang="en-US" sz="1300">
                <a:solidFill>
                  <a:srgbClr val="5A6072"/>
                </a:solidFill>
                <a:latin typeface="Calibri"/>
                <a:ea typeface="Calibri"/>
                <a:cs typeface="Calibri"/>
                <a:sym typeface="Calibri"/>
              </a:rPr>
              <a:t>   each element is touched once</a:t>
            </a:r>
            <a:br>
              <a:rPr lang="en-US" sz="1300">
                <a:solidFill>
                  <a:srgbClr val="5A6072"/>
                </a:solidFill>
                <a:latin typeface="Calibri"/>
                <a:ea typeface="Calibri"/>
                <a:cs typeface="Calibri"/>
                <a:sym typeface="Calibri"/>
              </a:rPr>
            </a:br>
            <a:r>
              <a:rPr b="1" lang="en-US" sz="1400">
                <a:solidFill>
                  <a:srgbClr val="2A9D8F"/>
                </a:solidFill>
                <a:latin typeface="Courier New"/>
                <a:ea typeface="Courier New"/>
                <a:cs typeface="Courier New"/>
                <a:sym typeface="Courier New"/>
              </a:rPr>
              <a:t>Space O(1)</a:t>
            </a:r>
            <a:r>
              <a:rPr lang="en-US" sz="1300">
                <a:solidFill>
                  <a:srgbClr val="5A6072"/>
                </a:solidFill>
                <a:latin typeface="Calibri"/>
                <a:ea typeface="Calibri"/>
                <a:cs typeface="Calibri"/>
                <a:sym typeface="Calibri"/>
              </a:rPr>
              <a:t>   swapped in place, no second list</a:t>
            </a:r>
            <a:endParaRPr sz="1400">
              <a:solidFill>
                <a:schemeClr val="dk1"/>
              </a:solidFill>
              <a:latin typeface="Calibri"/>
              <a:ea typeface="Calibri"/>
              <a:cs typeface="Calibri"/>
              <a:sym typeface="Calibri"/>
            </a:endParaRPr>
          </a:p>
        </p:txBody>
      </p:sp>
      <p:sp>
        <p:nvSpPr>
          <p:cNvPr id="297" name="Google Shape;297;p12"/>
          <p:cNvSpPr/>
          <p:nvPr/>
        </p:nvSpPr>
        <p:spPr>
          <a:xfrm>
            <a:off x="6217920" y="5138928"/>
            <a:ext cx="5212080" cy="640080"/>
          </a:xfrm>
          <a:prstGeom prst="roundRect">
            <a:avLst>
              <a:gd fmla="val 7143"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2"/>
          <p:cNvSpPr txBox="1"/>
          <p:nvPr/>
        </p:nvSpPr>
        <p:spPr>
          <a:xfrm>
            <a:off x="6492240" y="5266944"/>
            <a:ext cx="4663440" cy="41148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1F2333"/>
              </a:buClr>
              <a:buSzPts val="1250"/>
              <a:buFont typeface="Courier New"/>
              <a:buNone/>
            </a:pPr>
            <a:r>
              <a:rPr b="1" lang="en-US" sz="1250">
                <a:solidFill>
                  <a:srgbClr val="1F2333"/>
                </a:solidFill>
                <a:latin typeface="Courier New"/>
                <a:ea typeface="Courier New"/>
                <a:cs typeface="Courier New"/>
                <a:sym typeface="Courier New"/>
              </a:rPr>
              <a:t>arr[::-1] </a:t>
            </a:r>
            <a:r>
              <a:rPr lang="en-US" sz="1250">
                <a:solidFill>
                  <a:srgbClr val="5A6072"/>
                </a:solidFill>
                <a:latin typeface="Calibri"/>
                <a:ea typeface="Calibri"/>
                <a:cs typeface="Calibri"/>
                <a:sym typeface="Calibri"/>
              </a:rPr>
              <a:t>is also correct, but it builds a second list, so space becomes O(n).</a:t>
            </a:r>
            <a:endParaRPr sz="1250">
              <a:solidFill>
                <a:schemeClr val="dk1"/>
              </a:solidFill>
              <a:latin typeface="Calibri"/>
              <a:ea typeface="Calibri"/>
              <a:cs typeface="Calibri"/>
              <a:sym typeface="Calibri"/>
            </a:endParaRPr>
          </a:p>
        </p:txBody>
      </p:sp>
      <p:sp>
        <p:nvSpPr>
          <p:cNvPr id="299" name="Google Shape;299;p12"/>
          <p:cNvSpPr/>
          <p:nvPr/>
        </p:nvSpPr>
        <p:spPr>
          <a:xfrm>
            <a:off x="731520" y="5989320"/>
            <a:ext cx="10698480" cy="566928"/>
          </a:xfrm>
          <a:prstGeom prst="roundRect">
            <a:avLst>
              <a:gd fmla="val 8065"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12"/>
          <p:cNvSpPr txBox="1"/>
          <p:nvPr/>
        </p:nvSpPr>
        <p:spPr>
          <a:xfrm>
            <a:off x="1005840" y="6108192"/>
            <a:ext cx="10149840" cy="365760"/>
          </a:xfrm>
          <a:prstGeom prst="rect">
            <a:avLst/>
          </a:prstGeom>
          <a:noFill/>
          <a:ln>
            <a:noFill/>
          </a:ln>
        </p:spPr>
        <p:txBody>
          <a:bodyPr anchorCtr="0" anchor="t" bIns="0" lIns="0" spcFirstLastPara="1" rIns="0" wrap="square" tIns="0">
            <a:noAutofit/>
          </a:bodyPr>
          <a:lstStyle/>
          <a:p>
            <a:pPr indent="0" lvl="0" marL="0" marR="0" rtl="0" algn="l">
              <a:lnSpc>
                <a:spcPct val="146153"/>
              </a:lnSpc>
              <a:spcBef>
                <a:spcPts val="0"/>
              </a:spcBef>
              <a:spcAft>
                <a:spcPts val="0"/>
              </a:spcAft>
              <a:buClr>
                <a:srgbClr val="1F2333"/>
              </a:buClr>
              <a:buSzPts val="1300"/>
              <a:buFont typeface="Calibri"/>
              <a:buNone/>
            </a:pPr>
            <a:r>
              <a:rPr b="1" lang="en-US" sz="1300">
                <a:solidFill>
                  <a:srgbClr val="1F2333"/>
                </a:solidFill>
                <a:latin typeface="Calibri"/>
                <a:ea typeface="Calibri"/>
                <a:cs typeface="Calibri"/>
                <a:sym typeface="Calibri"/>
              </a:rPr>
              <a:t>Common bug:  </a:t>
            </a:r>
            <a:r>
              <a:rPr lang="en-US" sz="1300">
                <a:solidFill>
                  <a:srgbClr val="5A6072"/>
                </a:solidFill>
                <a:latin typeface="Calibri"/>
                <a:ea typeface="Calibri"/>
                <a:cs typeface="Calibri"/>
                <a:sym typeface="Calibri"/>
              </a:rPr>
              <a:t>the pointers stop at the middle on purpose. Walking past it swaps every pair a second time and hands back the original order.</a:t>
            </a:r>
            <a:endParaRPr sz="13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3"/>
          <p:cNvSpPr txBox="1"/>
          <p:nvPr/>
        </p:nvSpPr>
        <p:spPr>
          <a:xfrm>
            <a:off x="731520" y="41148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200"/>
              <a:buFont typeface="Calibri"/>
              <a:buNone/>
            </a:pPr>
            <a:r>
              <a:rPr b="1" lang="en-US" sz="1200">
                <a:solidFill>
                  <a:srgbClr val="FF6B35"/>
                </a:solidFill>
                <a:latin typeface="Calibri"/>
                <a:ea typeface="Calibri"/>
                <a:cs typeface="Calibri"/>
                <a:sym typeface="Calibri"/>
              </a:rPr>
              <a:t>PRACTICE QUESTION 3</a:t>
            </a:r>
            <a:endParaRPr sz="1200">
              <a:solidFill>
                <a:schemeClr val="dk1"/>
              </a:solidFill>
              <a:latin typeface="Calibri"/>
              <a:ea typeface="Calibri"/>
              <a:cs typeface="Calibri"/>
              <a:sym typeface="Calibri"/>
            </a:endParaRPr>
          </a:p>
        </p:txBody>
      </p:sp>
      <p:sp>
        <p:nvSpPr>
          <p:cNvPr id="307" name="Google Shape;307;p13"/>
          <p:cNvSpPr txBox="1"/>
          <p:nvPr/>
        </p:nvSpPr>
        <p:spPr>
          <a:xfrm>
            <a:off x="731520" y="713232"/>
            <a:ext cx="107899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3200"/>
              <a:buFont typeface="Arial"/>
              <a:buNone/>
            </a:pPr>
            <a:r>
              <a:rPr b="1" lang="en-US" sz="3200">
                <a:solidFill>
                  <a:srgbClr val="1F2333"/>
                </a:solidFill>
                <a:latin typeface="Arial"/>
                <a:ea typeface="Arial"/>
                <a:cs typeface="Arial"/>
                <a:sym typeface="Arial"/>
              </a:rPr>
              <a:t>Worked example: Merge Ordered Lists – Edugator 2.4</a:t>
            </a:r>
            <a:endParaRPr sz="3200">
              <a:solidFill>
                <a:schemeClr val="dk1"/>
              </a:solidFill>
              <a:latin typeface="Calibri"/>
              <a:ea typeface="Calibri"/>
              <a:cs typeface="Calibri"/>
              <a:sym typeface="Calibri"/>
            </a:endParaRPr>
          </a:p>
        </p:txBody>
      </p:sp>
      <p:sp>
        <p:nvSpPr>
          <p:cNvPr id="308" name="Google Shape;308;p13"/>
          <p:cNvSpPr/>
          <p:nvPr/>
        </p:nvSpPr>
        <p:spPr>
          <a:xfrm>
            <a:off x="731520" y="1572768"/>
            <a:ext cx="5212080" cy="4206240"/>
          </a:xfrm>
          <a:prstGeom prst="roundRect">
            <a:avLst>
              <a:gd fmla="val 1087"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13"/>
          <p:cNvSpPr txBox="1"/>
          <p:nvPr/>
        </p:nvSpPr>
        <p:spPr>
          <a:xfrm>
            <a:off x="1005840" y="1783080"/>
            <a:ext cx="46634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700"/>
              <a:buFont typeface="Arial"/>
              <a:buNone/>
            </a:pPr>
            <a:r>
              <a:rPr b="1" lang="en-US" sz="1700">
                <a:solidFill>
                  <a:srgbClr val="1F2333"/>
                </a:solidFill>
                <a:latin typeface="Arial"/>
                <a:ea typeface="Arial"/>
                <a:cs typeface="Arial"/>
                <a:sym typeface="Arial"/>
              </a:rPr>
              <a:t>The problem</a:t>
            </a:r>
            <a:endParaRPr sz="1700">
              <a:solidFill>
                <a:schemeClr val="dk1"/>
              </a:solidFill>
              <a:latin typeface="Calibri"/>
              <a:ea typeface="Calibri"/>
              <a:cs typeface="Calibri"/>
              <a:sym typeface="Calibri"/>
            </a:endParaRPr>
          </a:p>
        </p:txBody>
      </p:sp>
      <p:sp>
        <p:nvSpPr>
          <p:cNvPr id="310" name="Google Shape;310;p13"/>
          <p:cNvSpPr txBox="1"/>
          <p:nvPr/>
        </p:nvSpPr>
        <p:spPr>
          <a:xfrm>
            <a:off x="1005840" y="2121408"/>
            <a:ext cx="4663440" cy="822960"/>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5A6072"/>
              </a:buClr>
              <a:buSzPts val="1350"/>
              <a:buFont typeface="Calibri"/>
              <a:buNone/>
            </a:pPr>
            <a:r>
              <a:rPr lang="en-US" sz="1350">
                <a:solidFill>
                  <a:srgbClr val="5A6072"/>
                </a:solidFill>
                <a:latin typeface="Calibri"/>
                <a:ea typeface="Calibri"/>
                <a:cs typeface="Calibri"/>
                <a:sym typeface="Calibri"/>
              </a:rPr>
              <a:t>Write a function that takes two lists of integers, list1 and list2, both sorted in non-decreasing order, and returns a combined list that is also sorted.</a:t>
            </a:r>
            <a:endParaRPr sz="1350">
              <a:solidFill>
                <a:schemeClr val="dk1"/>
              </a:solidFill>
              <a:latin typeface="Calibri"/>
              <a:ea typeface="Calibri"/>
              <a:cs typeface="Calibri"/>
              <a:sym typeface="Calibri"/>
            </a:endParaRPr>
          </a:p>
        </p:txBody>
      </p:sp>
      <p:sp>
        <p:nvSpPr>
          <p:cNvPr id="311" name="Google Shape;311;p13"/>
          <p:cNvSpPr txBox="1"/>
          <p:nvPr/>
        </p:nvSpPr>
        <p:spPr>
          <a:xfrm>
            <a:off x="1005840" y="3017520"/>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150"/>
              <a:buFont typeface="Courier New"/>
              <a:buNone/>
            </a:pPr>
            <a:r>
              <a:rPr lang="en-US" sz="1150">
                <a:solidFill>
                  <a:srgbClr val="1F2333"/>
                </a:solidFill>
                <a:latin typeface="Courier New"/>
                <a:ea typeface="Courier New"/>
                <a:cs typeface="Courier New"/>
                <a:sym typeface="Courier New"/>
              </a:rPr>
              <a:t>Input:   list1 = [1, 3, 5], list2 = [2, 4, 6]</a:t>
            </a:r>
            <a:endParaRPr sz="1150">
              <a:solidFill>
                <a:schemeClr val="dk1"/>
              </a:solidFill>
              <a:latin typeface="Calibri"/>
              <a:ea typeface="Calibri"/>
              <a:cs typeface="Calibri"/>
              <a:sym typeface="Calibri"/>
            </a:endParaRPr>
          </a:p>
        </p:txBody>
      </p:sp>
      <p:sp>
        <p:nvSpPr>
          <p:cNvPr id="312" name="Google Shape;312;p13"/>
          <p:cNvSpPr txBox="1"/>
          <p:nvPr/>
        </p:nvSpPr>
        <p:spPr>
          <a:xfrm>
            <a:off x="1005840" y="3310128"/>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150"/>
              <a:buFont typeface="Courier New"/>
              <a:buNone/>
            </a:pPr>
            <a:r>
              <a:rPr lang="en-US" sz="1150">
                <a:solidFill>
                  <a:srgbClr val="1F2333"/>
                </a:solidFill>
                <a:latin typeface="Courier New"/>
                <a:ea typeface="Courier New"/>
                <a:cs typeface="Courier New"/>
                <a:sym typeface="Courier New"/>
              </a:rPr>
              <a:t>Output:  [1, 2, 3, 4, 5, 6]</a:t>
            </a:r>
            <a:endParaRPr sz="1150">
              <a:solidFill>
                <a:schemeClr val="dk1"/>
              </a:solidFill>
              <a:latin typeface="Calibri"/>
              <a:ea typeface="Calibri"/>
              <a:cs typeface="Calibri"/>
              <a:sym typeface="Calibri"/>
            </a:endParaRPr>
          </a:p>
        </p:txBody>
      </p:sp>
      <p:sp>
        <p:nvSpPr>
          <p:cNvPr id="313" name="Google Shape;313;p13"/>
          <p:cNvSpPr/>
          <p:nvPr/>
        </p:nvSpPr>
        <p:spPr>
          <a:xfrm>
            <a:off x="1005840" y="3749040"/>
            <a:ext cx="4663440" cy="777240"/>
          </a:xfrm>
          <a:prstGeom prst="roundRect">
            <a:avLst>
              <a:gd fmla="val 5882" name="adj"/>
            </a:avLst>
          </a:prstGeom>
          <a:solidFill>
            <a:srgbClr val="FFF1EB"/>
          </a:solidFill>
          <a:ln cap="flat" cmpd="sng" w="12700">
            <a:solidFill>
              <a:srgbClr val="FFD5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13"/>
          <p:cNvSpPr txBox="1"/>
          <p:nvPr/>
        </p:nvSpPr>
        <p:spPr>
          <a:xfrm>
            <a:off x="1188720" y="3858768"/>
            <a:ext cx="4297680" cy="594360"/>
          </a:xfrm>
          <a:prstGeom prst="rect">
            <a:avLst/>
          </a:prstGeom>
          <a:noFill/>
          <a:ln>
            <a:noFill/>
          </a:ln>
        </p:spPr>
        <p:txBody>
          <a:bodyPr anchorCtr="0" anchor="t" bIns="0" lIns="0" spcFirstLastPara="1" rIns="0" wrap="square" tIns="0">
            <a:noAutofit/>
          </a:bodyPr>
          <a:lstStyle/>
          <a:p>
            <a:pPr indent="0" lvl="0" marL="0" marR="0" rtl="0" algn="l">
              <a:lnSpc>
                <a:spcPct val="146153"/>
              </a:lnSpc>
              <a:spcBef>
                <a:spcPts val="0"/>
              </a:spcBef>
              <a:spcAft>
                <a:spcPts val="0"/>
              </a:spcAft>
              <a:buClr>
                <a:srgbClr val="B3441F"/>
              </a:buClr>
              <a:buSzPts val="1300"/>
              <a:buFont typeface="Calibri"/>
              <a:buNone/>
            </a:pPr>
            <a:r>
              <a:rPr b="1" lang="en-US" sz="1300">
                <a:solidFill>
                  <a:srgbClr val="B3441F"/>
                </a:solidFill>
                <a:latin typeface="Calibri"/>
                <a:ea typeface="Calibri"/>
                <a:cs typeface="Calibri"/>
                <a:sym typeface="Calibri"/>
              </a:rPr>
              <a:t>Explanation: </a:t>
            </a:r>
            <a:r>
              <a:rPr lang="en-US" sz="1300">
                <a:solidFill>
                  <a:srgbClr val="8A4A33"/>
                </a:solidFill>
                <a:latin typeface="Calibri"/>
                <a:ea typeface="Calibri"/>
                <a:cs typeface="Calibri"/>
                <a:sym typeface="Calibri"/>
              </a:rPr>
              <a:t>the merged list holds every element from both, still in non-decreasing order.</a:t>
            </a:r>
            <a:endParaRPr sz="1300">
              <a:solidFill>
                <a:schemeClr val="dk1"/>
              </a:solidFill>
              <a:latin typeface="Calibri"/>
              <a:ea typeface="Calibri"/>
              <a:cs typeface="Calibri"/>
              <a:sym typeface="Calibri"/>
            </a:endParaRPr>
          </a:p>
        </p:txBody>
      </p:sp>
      <p:sp>
        <p:nvSpPr>
          <p:cNvPr id="315" name="Google Shape;315;p13"/>
          <p:cNvSpPr txBox="1"/>
          <p:nvPr/>
        </p:nvSpPr>
        <p:spPr>
          <a:xfrm>
            <a:off x="1005840" y="4709160"/>
            <a:ext cx="4663440" cy="82296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5A6072"/>
              </a:buClr>
              <a:buSzPts val="1300"/>
              <a:buFont typeface="Calibri"/>
              <a:buNone/>
            </a:pPr>
            <a:r>
              <a:rPr i="1" lang="en-US" sz="1300">
                <a:solidFill>
                  <a:srgbClr val="5A6072"/>
                </a:solidFill>
                <a:latin typeface="Calibri"/>
                <a:ea typeface="Calibri"/>
                <a:cs typeface="Calibri"/>
                <a:sym typeface="Calibri"/>
              </a:rPr>
              <a:t>Either list can be empty and they can be different lengths, so one always runs out before the other.</a:t>
            </a:r>
            <a:endParaRPr sz="1300">
              <a:solidFill>
                <a:schemeClr val="dk1"/>
              </a:solidFill>
              <a:latin typeface="Calibri"/>
              <a:ea typeface="Calibri"/>
              <a:cs typeface="Calibri"/>
              <a:sym typeface="Calibri"/>
            </a:endParaRPr>
          </a:p>
        </p:txBody>
      </p:sp>
      <p:grpSp>
        <p:nvGrpSpPr>
          <p:cNvPr id="316" name="Google Shape;316;p13"/>
          <p:cNvGrpSpPr/>
          <p:nvPr/>
        </p:nvGrpSpPr>
        <p:grpSpPr>
          <a:xfrm>
            <a:off x="6217920" y="1572768"/>
            <a:ext cx="5212080" cy="2468880"/>
            <a:chOff x="6217920" y="1572768"/>
            <a:chExt cx="5212080" cy="2468880"/>
          </a:xfrm>
        </p:grpSpPr>
        <p:sp>
          <p:nvSpPr>
            <p:cNvPr id="317" name="Google Shape;317;p13"/>
            <p:cNvSpPr/>
            <p:nvPr/>
          </p:nvSpPr>
          <p:spPr>
            <a:xfrm>
              <a:off x="6217920" y="1572768"/>
              <a:ext cx="5212080" cy="2468880"/>
            </a:xfrm>
            <a:prstGeom prst="roundRect">
              <a:avLst>
                <a:gd fmla="val 1852" name="adj"/>
              </a:avLst>
            </a:prstGeom>
            <a:solidFill>
              <a:srgbClr val="16182B"/>
            </a:solidFill>
            <a:ln cap="flat" cmpd="sng" w="12700">
              <a:solidFill>
                <a:srgbClr val="1618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13"/>
            <p:cNvSpPr txBox="1"/>
            <p:nvPr/>
          </p:nvSpPr>
          <p:spPr>
            <a:xfrm>
              <a:off x="6537960" y="1874520"/>
              <a:ext cx="4572000" cy="192024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FFFFF"/>
                </a:buClr>
                <a:buSzPts val="2000"/>
                <a:buFont typeface="Calibri"/>
                <a:buNone/>
              </a:pPr>
              <a:r>
                <a:rPr lang="en-US" sz="2000">
                  <a:solidFill>
                    <a:srgbClr val="FFFFFF"/>
                  </a:solidFill>
                  <a:latin typeface="Calibri"/>
                  <a:ea typeface="Calibri"/>
                  <a:cs typeface="Calibri"/>
                  <a:sym typeface="Calibri"/>
                </a:rPr>
                <a:t>You have 5 minutes to complete this.</a:t>
              </a:r>
              <a:endParaRPr sz="2000">
                <a:solidFill>
                  <a:schemeClr val="dk1"/>
                </a:solidFill>
                <a:latin typeface="Calibri"/>
                <a:ea typeface="Calibri"/>
                <a:cs typeface="Calibri"/>
                <a:sym typeface="Calibri"/>
              </a:endParaRPr>
            </a:p>
            <a:p>
              <a:pPr indent="0" lvl="0" marL="0" marR="0" rtl="0" algn="l">
                <a:lnSpc>
                  <a:spcPct val="160000"/>
                </a:lnSpc>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a:p>
              <a:pPr indent="0" lvl="0" marL="0" rtl="0" algn="l">
                <a:lnSpc>
                  <a:spcPct val="133333"/>
                </a:lnSpc>
                <a:spcBef>
                  <a:spcPts val="0"/>
                </a:spcBef>
                <a:spcAft>
                  <a:spcPts val="0"/>
                </a:spcAft>
                <a:buClr>
                  <a:schemeClr val="lt1"/>
                </a:buClr>
                <a:buSzPts val="2400"/>
                <a:buFont typeface="Calibri"/>
                <a:buNone/>
              </a:pPr>
              <a:r>
                <a:rPr lang="en-US" sz="2400">
                  <a:solidFill>
                    <a:schemeClr val="lt1"/>
                  </a:solidFill>
                  <a:latin typeface="Calibri"/>
                  <a:ea typeface="Calibri"/>
                  <a:cs typeface="Calibri"/>
                  <a:sym typeface="Calibri"/>
                </a:rPr>
                <a:t>Please feel free to work in pairs or individually.</a:t>
              </a:r>
              <a:endParaRPr sz="2000">
                <a:solidFill>
                  <a:schemeClr val="dk1"/>
                </a:solidFill>
                <a:latin typeface="Calibri"/>
                <a:ea typeface="Calibri"/>
                <a:cs typeface="Calibri"/>
                <a:sym typeface="Calibri"/>
              </a:endParaRPr>
            </a:p>
          </p:txBody>
        </p:sp>
      </p:grpSp>
      <p:grpSp>
        <p:nvGrpSpPr>
          <p:cNvPr id="319" name="Google Shape;319;p13"/>
          <p:cNvGrpSpPr/>
          <p:nvPr/>
        </p:nvGrpSpPr>
        <p:grpSpPr>
          <a:xfrm>
            <a:off x="731457" y="5788140"/>
            <a:ext cx="5212200" cy="914400"/>
            <a:chOff x="731458" y="5788140"/>
            <a:chExt cx="5212200" cy="914400"/>
          </a:xfrm>
        </p:grpSpPr>
        <p:sp>
          <p:nvSpPr>
            <p:cNvPr id="320" name="Google Shape;320;p13"/>
            <p:cNvSpPr/>
            <p:nvPr/>
          </p:nvSpPr>
          <p:spPr>
            <a:xfrm>
              <a:off x="731457" y="5788140"/>
              <a:ext cx="5212200" cy="914400"/>
            </a:xfrm>
            <a:prstGeom prst="roundRect">
              <a:avLst>
                <a:gd fmla="val 5000"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13"/>
            <p:cNvSpPr txBox="1"/>
            <p:nvPr/>
          </p:nvSpPr>
          <p:spPr>
            <a:xfrm>
              <a:off x="1005778" y="5952732"/>
              <a:ext cx="4663500" cy="640200"/>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1F2333"/>
                </a:buClr>
                <a:buSzPts val="1350"/>
                <a:buFont typeface="Calibri"/>
                <a:buNone/>
              </a:pPr>
              <a:r>
                <a:rPr b="1" lang="en-US" sz="1350">
                  <a:solidFill>
                    <a:srgbClr val="1F2333"/>
                  </a:solidFill>
                  <a:latin typeface="Calibri"/>
                  <a:ea typeface="Calibri"/>
                  <a:cs typeface="Calibri"/>
                  <a:sym typeface="Calibri"/>
                </a:rPr>
                <a:t>Hint:  </a:t>
              </a:r>
              <a:r>
                <a:rPr lang="en-US" sz="1350">
                  <a:solidFill>
                    <a:srgbClr val="5A6072"/>
                  </a:solidFill>
                  <a:latin typeface="Calibri"/>
                  <a:ea typeface="Calibri"/>
                  <a:cs typeface="Calibri"/>
                  <a:sym typeface="Calibri"/>
                </a:rPr>
                <a:t>both lists are already sorted, so you should not need to call sort anywhere.</a:t>
              </a:r>
              <a:endParaRPr sz="1350">
                <a:solidFill>
                  <a:schemeClr val="dk1"/>
                </a:solidFill>
                <a:latin typeface="Calibri"/>
                <a:ea typeface="Calibri"/>
                <a:cs typeface="Calibri"/>
                <a:sym typeface="Calibri"/>
              </a:endParaRPr>
            </a:p>
          </p:txBody>
        </p:sp>
      </p:grpSp>
      <p:pic>
        <p:nvPicPr>
          <p:cNvPr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id="322" name="Google Shape;322;p13" title="5 Minute Timer">
            <a:hlinkClick r:id="rId3"/>
          </p:cNvPr>
          <p:cNvPicPr preferRelativeResize="0"/>
          <p:nvPr/>
        </p:nvPicPr>
        <p:blipFill>
          <a:blip r:embed="rId4">
            <a:alphaModFix/>
          </a:blip>
          <a:stretch>
            <a:fillRect/>
          </a:stretch>
        </p:blipFill>
        <p:spPr>
          <a:xfrm>
            <a:off x="6215467" y="4215400"/>
            <a:ext cx="5212075" cy="24518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4"/>
          <p:cNvSpPr txBox="1"/>
          <p:nvPr/>
        </p:nvSpPr>
        <p:spPr>
          <a:xfrm>
            <a:off x="731520" y="41148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200"/>
              <a:buFont typeface="Calibri"/>
              <a:buNone/>
            </a:pPr>
            <a:r>
              <a:rPr b="1" lang="en-US" sz="1200">
                <a:solidFill>
                  <a:srgbClr val="FF6B35"/>
                </a:solidFill>
                <a:latin typeface="Calibri"/>
                <a:ea typeface="Calibri"/>
                <a:cs typeface="Calibri"/>
                <a:sym typeface="Calibri"/>
              </a:rPr>
              <a:t>PRACTICE QUESTION 3</a:t>
            </a:r>
            <a:endParaRPr sz="1200">
              <a:solidFill>
                <a:schemeClr val="dk1"/>
              </a:solidFill>
              <a:latin typeface="Calibri"/>
              <a:ea typeface="Calibri"/>
              <a:cs typeface="Calibri"/>
              <a:sym typeface="Calibri"/>
            </a:endParaRPr>
          </a:p>
        </p:txBody>
      </p:sp>
      <p:sp>
        <p:nvSpPr>
          <p:cNvPr id="329" name="Google Shape;329;p14"/>
          <p:cNvSpPr txBox="1"/>
          <p:nvPr/>
        </p:nvSpPr>
        <p:spPr>
          <a:xfrm>
            <a:off x="731520" y="713232"/>
            <a:ext cx="107899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3200"/>
              <a:buFont typeface="Arial"/>
              <a:buNone/>
            </a:pPr>
            <a:r>
              <a:rPr b="1" lang="en-US" sz="3200">
                <a:solidFill>
                  <a:srgbClr val="1F2333"/>
                </a:solidFill>
                <a:latin typeface="Arial"/>
                <a:ea typeface="Arial"/>
                <a:cs typeface="Arial"/>
                <a:sym typeface="Arial"/>
              </a:rPr>
              <a:t>Worked example: Merge Ordered Lists – Edugator 2.4</a:t>
            </a:r>
            <a:endParaRPr sz="3200">
              <a:solidFill>
                <a:schemeClr val="dk1"/>
              </a:solidFill>
              <a:latin typeface="Calibri"/>
              <a:ea typeface="Calibri"/>
              <a:cs typeface="Calibri"/>
              <a:sym typeface="Calibri"/>
            </a:endParaRPr>
          </a:p>
        </p:txBody>
      </p:sp>
      <p:sp>
        <p:nvSpPr>
          <p:cNvPr id="330" name="Google Shape;330;p14"/>
          <p:cNvSpPr/>
          <p:nvPr/>
        </p:nvSpPr>
        <p:spPr>
          <a:xfrm>
            <a:off x="731520" y="1572768"/>
            <a:ext cx="5212080" cy="4206240"/>
          </a:xfrm>
          <a:prstGeom prst="roundRect">
            <a:avLst>
              <a:gd fmla="val 1087"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14"/>
          <p:cNvSpPr txBox="1"/>
          <p:nvPr/>
        </p:nvSpPr>
        <p:spPr>
          <a:xfrm>
            <a:off x="1005840" y="1783080"/>
            <a:ext cx="46634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700"/>
              <a:buFont typeface="Arial"/>
              <a:buNone/>
            </a:pPr>
            <a:r>
              <a:rPr b="1" lang="en-US" sz="1700">
                <a:solidFill>
                  <a:srgbClr val="1F2333"/>
                </a:solidFill>
                <a:latin typeface="Arial"/>
                <a:ea typeface="Arial"/>
                <a:cs typeface="Arial"/>
                <a:sym typeface="Arial"/>
              </a:rPr>
              <a:t>The problem</a:t>
            </a:r>
            <a:endParaRPr sz="1700">
              <a:solidFill>
                <a:schemeClr val="dk1"/>
              </a:solidFill>
              <a:latin typeface="Calibri"/>
              <a:ea typeface="Calibri"/>
              <a:cs typeface="Calibri"/>
              <a:sym typeface="Calibri"/>
            </a:endParaRPr>
          </a:p>
        </p:txBody>
      </p:sp>
      <p:sp>
        <p:nvSpPr>
          <p:cNvPr id="332" name="Google Shape;332;p14"/>
          <p:cNvSpPr txBox="1"/>
          <p:nvPr/>
        </p:nvSpPr>
        <p:spPr>
          <a:xfrm>
            <a:off x="1005840" y="2121408"/>
            <a:ext cx="4663440" cy="822960"/>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5A6072"/>
              </a:buClr>
              <a:buSzPts val="1350"/>
              <a:buFont typeface="Calibri"/>
              <a:buNone/>
            </a:pPr>
            <a:r>
              <a:rPr lang="en-US" sz="1350">
                <a:solidFill>
                  <a:srgbClr val="5A6072"/>
                </a:solidFill>
                <a:latin typeface="Calibri"/>
                <a:ea typeface="Calibri"/>
                <a:cs typeface="Calibri"/>
                <a:sym typeface="Calibri"/>
              </a:rPr>
              <a:t>Write a function that takes two lists of integers, list1 and list2, both sorted in non-decreasing order, and returns a combined list that is also sorted.</a:t>
            </a:r>
            <a:endParaRPr sz="1350">
              <a:solidFill>
                <a:schemeClr val="dk1"/>
              </a:solidFill>
              <a:latin typeface="Calibri"/>
              <a:ea typeface="Calibri"/>
              <a:cs typeface="Calibri"/>
              <a:sym typeface="Calibri"/>
            </a:endParaRPr>
          </a:p>
        </p:txBody>
      </p:sp>
      <p:sp>
        <p:nvSpPr>
          <p:cNvPr id="333" name="Google Shape;333;p14"/>
          <p:cNvSpPr txBox="1"/>
          <p:nvPr/>
        </p:nvSpPr>
        <p:spPr>
          <a:xfrm>
            <a:off x="1005840" y="3017520"/>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150"/>
              <a:buFont typeface="Courier New"/>
              <a:buNone/>
            </a:pPr>
            <a:r>
              <a:rPr lang="en-US" sz="1150">
                <a:solidFill>
                  <a:srgbClr val="1F2333"/>
                </a:solidFill>
                <a:latin typeface="Courier New"/>
                <a:ea typeface="Courier New"/>
                <a:cs typeface="Courier New"/>
                <a:sym typeface="Courier New"/>
              </a:rPr>
              <a:t>Input:   list1 = [1, 3, 5], list2 = [2, 4, 6]</a:t>
            </a:r>
            <a:endParaRPr sz="1150">
              <a:solidFill>
                <a:schemeClr val="dk1"/>
              </a:solidFill>
              <a:latin typeface="Calibri"/>
              <a:ea typeface="Calibri"/>
              <a:cs typeface="Calibri"/>
              <a:sym typeface="Calibri"/>
            </a:endParaRPr>
          </a:p>
        </p:txBody>
      </p:sp>
      <p:sp>
        <p:nvSpPr>
          <p:cNvPr id="334" name="Google Shape;334;p14"/>
          <p:cNvSpPr txBox="1"/>
          <p:nvPr/>
        </p:nvSpPr>
        <p:spPr>
          <a:xfrm>
            <a:off x="1005840" y="3310128"/>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333"/>
              </a:buClr>
              <a:buSzPts val="1150"/>
              <a:buFont typeface="Courier New"/>
              <a:buNone/>
            </a:pPr>
            <a:r>
              <a:rPr lang="en-US" sz="1150">
                <a:solidFill>
                  <a:srgbClr val="1F2333"/>
                </a:solidFill>
                <a:latin typeface="Courier New"/>
                <a:ea typeface="Courier New"/>
                <a:cs typeface="Courier New"/>
                <a:sym typeface="Courier New"/>
              </a:rPr>
              <a:t>Output:  [1, 2, 3, 4, 5, 6]</a:t>
            </a:r>
            <a:endParaRPr sz="1150">
              <a:solidFill>
                <a:schemeClr val="dk1"/>
              </a:solidFill>
              <a:latin typeface="Calibri"/>
              <a:ea typeface="Calibri"/>
              <a:cs typeface="Calibri"/>
              <a:sym typeface="Calibri"/>
            </a:endParaRPr>
          </a:p>
        </p:txBody>
      </p:sp>
      <p:sp>
        <p:nvSpPr>
          <p:cNvPr id="335" name="Google Shape;335;p14"/>
          <p:cNvSpPr/>
          <p:nvPr/>
        </p:nvSpPr>
        <p:spPr>
          <a:xfrm>
            <a:off x="1005840" y="3749040"/>
            <a:ext cx="4663440" cy="777240"/>
          </a:xfrm>
          <a:prstGeom prst="roundRect">
            <a:avLst>
              <a:gd fmla="val 5882" name="adj"/>
            </a:avLst>
          </a:prstGeom>
          <a:solidFill>
            <a:srgbClr val="FFF1EB"/>
          </a:solidFill>
          <a:ln cap="flat" cmpd="sng" w="12700">
            <a:solidFill>
              <a:srgbClr val="FFD5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14"/>
          <p:cNvSpPr txBox="1"/>
          <p:nvPr/>
        </p:nvSpPr>
        <p:spPr>
          <a:xfrm>
            <a:off x="1188720" y="3858768"/>
            <a:ext cx="4297680" cy="594360"/>
          </a:xfrm>
          <a:prstGeom prst="rect">
            <a:avLst/>
          </a:prstGeom>
          <a:noFill/>
          <a:ln>
            <a:noFill/>
          </a:ln>
        </p:spPr>
        <p:txBody>
          <a:bodyPr anchorCtr="0" anchor="t" bIns="0" lIns="0" spcFirstLastPara="1" rIns="0" wrap="square" tIns="0">
            <a:noAutofit/>
          </a:bodyPr>
          <a:lstStyle/>
          <a:p>
            <a:pPr indent="0" lvl="0" marL="0" marR="0" rtl="0" algn="l">
              <a:lnSpc>
                <a:spcPct val="146153"/>
              </a:lnSpc>
              <a:spcBef>
                <a:spcPts val="0"/>
              </a:spcBef>
              <a:spcAft>
                <a:spcPts val="0"/>
              </a:spcAft>
              <a:buClr>
                <a:srgbClr val="B3441F"/>
              </a:buClr>
              <a:buSzPts val="1300"/>
              <a:buFont typeface="Calibri"/>
              <a:buNone/>
            </a:pPr>
            <a:r>
              <a:rPr b="1" lang="en-US" sz="1300">
                <a:solidFill>
                  <a:srgbClr val="B3441F"/>
                </a:solidFill>
                <a:latin typeface="Calibri"/>
                <a:ea typeface="Calibri"/>
                <a:cs typeface="Calibri"/>
                <a:sym typeface="Calibri"/>
              </a:rPr>
              <a:t>Explanation: </a:t>
            </a:r>
            <a:r>
              <a:rPr lang="en-US" sz="1300">
                <a:solidFill>
                  <a:srgbClr val="8A4A33"/>
                </a:solidFill>
                <a:latin typeface="Calibri"/>
                <a:ea typeface="Calibri"/>
                <a:cs typeface="Calibri"/>
                <a:sym typeface="Calibri"/>
              </a:rPr>
              <a:t>the merged list holds every element from both, still in non-decreasing order.</a:t>
            </a:r>
            <a:endParaRPr sz="1300">
              <a:solidFill>
                <a:schemeClr val="dk1"/>
              </a:solidFill>
              <a:latin typeface="Calibri"/>
              <a:ea typeface="Calibri"/>
              <a:cs typeface="Calibri"/>
              <a:sym typeface="Calibri"/>
            </a:endParaRPr>
          </a:p>
        </p:txBody>
      </p:sp>
      <p:sp>
        <p:nvSpPr>
          <p:cNvPr id="337" name="Google Shape;337;p14"/>
          <p:cNvSpPr txBox="1"/>
          <p:nvPr/>
        </p:nvSpPr>
        <p:spPr>
          <a:xfrm>
            <a:off x="1005840" y="4709160"/>
            <a:ext cx="4663440" cy="82296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5A6072"/>
              </a:buClr>
              <a:buSzPts val="1300"/>
              <a:buFont typeface="Calibri"/>
              <a:buNone/>
            </a:pPr>
            <a:r>
              <a:rPr i="1" lang="en-US" sz="1300">
                <a:solidFill>
                  <a:srgbClr val="5A6072"/>
                </a:solidFill>
                <a:latin typeface="Calibri"/>
                <a:ea typeface="Calibri"/>
                <a:cs typeface="Calibri"/>
                <a:sym typeface="Calibri"/>
              </a:rPr>
              <a:t>Either list can be empty and they can be different lengths, so one always runs out before the other.</a:t>
            </a:r>
            <a:endParaRPr sz="1300">
              <a:solidFill>
                <a:schemeClr val="dk1"/>
              </a:solidFill>
              <a:latin typeface="Calibri"/>
              <a:ea typeface="Calibri"/>
              <a:cs typeface="Calibri"/>
              <a:sym typeface="Calibri"/>
            </a:endParaRPr>
          </a:p>
        </p:txBody>
      </p:sp>
      <p:sp>
        <p:nvSpPr>
          <p:cNvPr id="338" name="Google Shape;338;p14"/>
          <p:cNvSpPr/>
          <p:nvPr/>
        </p:nvSpPr>
        <p:spPr>
          <a:xfrm>
            <a:off x="6217925" y="1572775"/>
            <a:ext cx="5212200" cy="2804400"/>
          </a:xfrm>
          <a:prstGeom prst="roundRect">
            <a:avLst>
              <a:gd fmla="val 2034" name="adj"/>
            </a:avLst>
          </a:prstGeom>
          <a:solidFill>
            <a:srgbClr val="1B1E33"/>
          </a:solidFill>
          <a:ln cap="flat" cmpd="sng" w="12700">
            <a:solidFill>
              <a:srgbClr val="1B1E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14"/>
          <p:cNvSpPr txBox="1"/>
          <p:nvPr/>
        </p:nvSpPr>
        <p:spPr>
          <a:xfrm>
            <a:off x="6419088" y="1664208"/>
            <a:ext cx="48097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000"/>
              <a:buFont typeface="Calibri"/>
              <a:buNone/>
            </a:pPr>
            <a:r>
              <a:rPr b="1" lang="en-US" sz="1000">
                <a:solidFill>
                  <a:srgbClr val="FF6B35"/>
                </a:solidFill>
                <a:latin typeface="Calibri"/>
                <a:ea typeface="Calibri"/>
                <a:cs typeface="Calibri"/>
                <a:sym typeface="Calibri"/>
              </a:rPr>
              <a:t>PYTHON</a:t>
            </a:r>
            <a:endParaRPr sz="1000">
              <a:solidFill>
                <a:schemeClr val="dk1"/>
              </a:solidFill>
              <a:latin typeface="Calibri"/>
              <a:ea typeface="Calibri"/>
              <a:cs typeface="Calibri"/>
              <a:sym typeface="Calibri"/>
            </a:endParaRPr>
          </a:p>
        </p:txBody>
      </p:sp>
      <p:sp>
        <p:nvSpPr>
          <p:cNvPr id="340" name="Google Shape;340;p14"/>
          <p:cNvSpPr txBox="1"/>
          <p:nvPr/>
        </p:nvSpPr>
        <p:spPr>
          <a:xfrm>
            <a:off x="6419100" y="1938525"/>
            <a:ext cx="4809600" cy="23319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8EAF6"/>
              </a:buClr>
              <a:buSzPts val="1050"/>
              <a:buFont typeface="Courier New"/>
              <a:buNone/>
            </a:pPr>
            <a:r>
              <a:rPr lang="en-US" sz="950">
                <a:solidFill>
                  <a:srgbClr val="E8EAF6"/>
                </a:solidFill>
                <a:latin typeface="Courier New"/>
                <a:ea typeface="Courier New"/>
                <a:cs typeface="Courier New"/>
                <a:sym typeface="Courier New"/>
              </a:rPr>
              <a:t>def merge_ordered_lists(list1, list2):</a:t>
            </a:r>
            <a:endParaRPr sz="9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E8EAF6"/>
              </a:buClr>
              <a:buSzPts val="1050"/>
              <a:buFont typeface="Courier New"/>
              <a:buNone/>
            </a:pPr>
            <a:r>
              <a:rPr lang="en-US" sz="950">
                <a:solidFill>
                  <a:srgbClr val="E8EAF6"/>
                </a:solidFill>
                <a:latin typeface="Courier New"/>
                <a:ea typeface="Courier New"/>
                <a:cs typeface="Courier New"/>
                <a:sym typeface="Courier New"/>
              </a:rPr>
              <a:t>    merged = []</a:t>
            </a:r>
            <a:endParaRPr sz="9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E8EAF6"/>
              </a:buClr>
              <a:buSzPts val="1050"/>
              <a:buFont typeface="Courier New"/>
              <a:buNone/>
            </a:pPr>
            <a:r>
              <a:rPr lang="en-US" sz="950">
                <a:solidFill>
                  <a:srgbClr val="E8EAF6"/>
                </a:solidFill>
                <a:latin typeface="Courier New"/>
                <a:ea typeface="Courier New"/>
                <a:cs typeface="Courier New"/>
                <a:sym typeface="Courier New"/>
              </a:rPr>
              <a:t>    i = j = 0</a:t>
            </a:r>
            <a:endParaRPr sz="9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E8EAF6"/>
              </a:buClr>
              <a:buSzPts val="1050"/>
              <a:buFont typeface="Courier New"/>
              <a:buNone/>
            </a:pPr>
            <a:r>
              <a:rPr lang="en-US" sz="950">
                <a:solidFill>
                  <a:srgbClr val="E8EAF6"/>
                </a:solidFill>
                <a:latin typeface="Courier New"/>
                <a:ea typeface="Courier New"/>
                <a:cs typeface="Courier New"/>
                <a:sym typeface="Courier New"/>
              </a:rPr>
              <a:t>    while i &lt; len(list1) and j &lt; len(list2):</a:t>
            </a:r>
            <a:endParaRPr sz="9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E8EAF6"/>
              </a:buClr>
              <a:buSzPts val="1050"/>
              <a:buFont typeface="Courier New"/>
              <a:buNone/>
            </a:pPr>
            <a:r>
              <a:rPr lang="en-US" sz="950">
                <a:solidFill>
                  <a:srgbClr val="E8EAF6"/>
                </a:solidFill>
                <a:latin typeface="Courier New"/>
                <a:ea typeface="Courier New"/>
                <a:cs typeface="Courier New"/>
                <a:sym typeface="Courier New"/>
              </a:rPr>
              <a:t>        if list1[i] &lt;= list2[j]:</a:t>
            </a:r>
            <a:endParaRPr sz="9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E8EAF6"/>
              </a:buClr>
              <a:buSzPts val="1050"/>
              <a:buFont typeface="Courier New"/>
              <a:buNone/>
            </a:pPr>
            <a:r>
              <a:rPr lang="en-US" sz="950">
                <a:solidFill>
                  <a:srgbClr val="E8EAF6"/>
                </a:solidFill>
                <a:latin typeface="Courier New"/>
                <a:ea typeface="Courier New"/>
                <a:cs typeface="Courier New"/>
                <a:sym typeface="Courier New"/>
              </a:rPr>
              <a:t>            merged.append(list1[i])</a:t>
            </a:r>
            <a:endParaRPr sz="9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E8EAF6"/>
              </a:buClr>
              <a:buSzPts val="1050"/>
              <a:buFont typeface="Courier New"/>
              <a:buNone/>
            </a:pPr>
            <a:r>
              <a:rPr lang="en-US" sz="950">
                <a:solidFill>
                  <a:srgbClr val="E8EAF6"/>
                </a:solidFill>
                <a:latin typeface="Courier New"/>
                <a:ea typeface="Courier New"/>
                <a:cs typeface="Courier New"/>
                <a:sym typeface="Courier New"/>
              </a:rPr>
              <a:t>            i += 1</a:t>
            </a:r>
            <a:endParaRPr sz="9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E8EAF6"/>
              </a:buClr>
              <a:buSzPts val="1050"/>
              <a:buFont typeface="Courier New"/>
              <a:buNone/>
            </a:pPr>
            <a:r>
              <a:rPr lang="en-US" sz="950">
                <a:solidFill>
                  <a:srgbClr val="E8EAF6"/>
                </a:solidFill>
                <a:latin typeface="Courier New"/>
                <a:ea typeface="Courier New"/>
                <a:cs typeface="Courier New"/>
                <a:sym typeface="Courier New"/>
              </a:rPr>
              <a:t>        else:</a:t>
            </a:r>
            <a:endParaRPr sz="9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E8EAF6"/>
              </a:buClr>
              <a:buSzPts val="1050"/>
              <a:buFont typeface="Courier New"/>
              <a:buNone/>
            </a:pPr>
            <a:r>
              <a:rPr lang="en-US" sz="950">
                <a:solidFill>
                  <a:srgbClr val="E8EAF6"/>
                </a:solidFill>
                <a:latin typeface="Courier New"/>
                <a:ea typeface="Courier New"/>
                <a:cs typeface="Courier New"/>
                <a:sym typeface="Courier New"/>
              </a:rPr>
              <a:t>            merged.append(list2[j])</a:t>
            </a:r>
            <a:endParaRPr sz="9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E8EAF6"/>
              </a:buClr>
              <a:buSzPts val="1050"/>
              <a:buFont typeface="Courier New"/>
              <a:buNone/>
            </a:pPr>
            <a:r>
              <a:rPr lang="en-US" sz="950">
                <a:solidFill>
                  <a:srgbClr val="E8EAF6"/>
                </a:solidFill>
                <a:latin typeface="Courier New"/>
                <a:ea typeface="Courier New"/>
                <a:cs typeface="Courier New"/>
                <a:sym typeface="Courier New"/>
              </a:rPr>
              <a:t>            j += 1</a:t>
            </a:r>
            <a:endParaRPr sz="9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E8EAF6"/>
              </a:buClr>
              <a:buSzPts val="1050"/>
              <a:buFont typeface="Courier New"/>
              <a:buNone/>
            </a:pPr>
            <a:r>
              <a:rPr lang="en-US" sz="950">
                <a:solidFill>
                  <a:srgbClr val="E8EAF6"/>
                </a:solidFill>
                <a:latin typeface="Courier New"/>
                <a:ea typeface="Courier New"/>
                <a:cs typeface="Courier New"/>
                <a:sym typeface="Courier New"/>
              </a:rPr>
              <a:t>    return merged + list1[i:] + list2[j:]</a:t>
            </a:r>
            <a:endParaRPr sz="950">
              <a:solidFill>
                <a:schemeClr val="dk1"/>
              </a:solidFill>
              <a:latin typeface="Calibri"/>
              <a:ea typeface="Calibri"/>
              <a:cs typeface="Calibri"/>
              <a:sym typeface="Calibri"/>
            </a:endParaRPr>
          </a:p>
        </p:txBody>
      </p:sp>
      <p:sp>
        <p:nvSpPr>
          <p:cNvPr id="341" name="Google Shape;341;p14"/>
          <p:cNvSpPr/>
          <p:nvPr/>
        </p:nvSpPr>
        <p:spPr>
          <a:xfrm>
            <a:off x="6217920" y="4434840"/>
            <a:ext cx="5212080" cy="1344168"/>
          </a:xfrm>
          <a:prstGeom prst="roundRect">
            <a:avLst>
              <a:gd fmla="val 3401"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14"/>
          <p:cNvSpPr txBox="1"/>
          <p:nvPr/>
        </p:nvSpPr>
        <p:spPr>
          <a:xfrm>
            <a:off x="6492240" y="4572000"/>
            <a:ext cx="4663440" cy="1097280"/>
          </a:xfrm>
          <a:prstGeom prst="rect">
            <a:avLst/>
          </a:prstGeom>
          <a:noFill/>
          <a:ln>
            <a:noFill/>
          </a:ln>
        </p:spPr>
        <p:txBody>
          <a:bodyPr anchorCtr="0" anchor="t" bIns="0" lIns="0" spcFirstLastPara="1" rIns="0" wrap="square" tIns="0">
            <a:noAutofit/>
          </a:bodyPr>
          <a:lstStyle/>
          <a:p>
            <a:pPr indent="0" lvl="0" marL="0" marR="0" rtl="0" algn="l">
              <a:lnSpc>
                <a:spcPct val="146153"/>
              </a:lnSpc>
              <a:spcBef>
                <a:spcPts val="0"/>
              </a:spcBef>
              <a:spcAft>
                <a:spcPts val="0"/>
              </a:spcAft>
              <a:buClr>
                <a:srgbClr val="2A9D8F"/>
              </a:buClr>
              <a:buSzPts val="1300"/>
              <a:buFont typeface="Courier New"/>
              <a:buNone/>
            </a:pPr>
            <a:r>
              <a:rPr b="1" lang="en-US" sz="1300">
                <a:solidFill>
                  <a:srgbClr val="2A9D8F"/>
                </a:solidFill>
                <a:latin typeface="Courier New"/>
                <a:ea typeface="Courier New"/>
                <a:cs typeface="Courier New"/>
                <a:sym typeface="Courier New"/>
              </a:rPr>
              <a:t>Time O(n + m)</a:t>
            </a:r>
            <a:r>
              <a:rPr lang="en-US" sz="1300">
                <a:solidFill>
                  <a:srgbClr val="5A6072"/>
                </a:solidFill>
                <a:latin typeface="Calibri"/>
                <a:ea typeface="Calibri"/>
                <a:cs typeface="Calibri"/>
                <a:sym typeface="Calibri"/>
              </a:rPr>
              <a:t>   every element is copied once</a:t>
            </a:r>
            <a:br>
              <a:rPr lang="en-US" sz="1300">
                <a:solidFill>
                  <a:srgbClr val="5A6072"/>
                </a:solidFill>
                <a:latin typeface="Calibri"/>
                <a:ea typeface="Calibri"/>
                <a:cs typeface="Calibri"/>
                <a:sym typeface="Calibri"/>
              </a:rPr>
            </a:br>
            <a:r>
              <a:rPr b="1" lang="en-US" sz="1300">
                <a:solidFill>
                  <a:srgbClr val="2A9D8F"/>
                </a:solidFill>
                <a:latin typeface="Courier New"/>
                <a:ea typeface="Courier New"/>
                <a:cs typeface="Courier New"/>
                <a:sym typeface="Courier New"/>
              </a:rPr>
              <a:t>Space O(n + m)</a:t>
            </a:r>
            <a:r>
              <a:rPr lang="en-US" sz="1300">
                <a:solidFill>
                  <a:srgbClr val="5A6072"/>
                </a:solidFill>
                <a:latin typeface="Calibri"/>
                <a:ea typeface="Calibri"/>
                <a:cs typeface="Calibri"/>
                <a:sym typeface="Calibri"/>
              </a:rPr>
              <a:t>   the merged list is new</a:t>
            </a:r>
            <a:br>
              <a:rPr lang="en-US" sz="1300">
                <a:solidFill>
                  <a:srgbClr val="5A6072"/>
                </a:solidFill>
                <a:latin typeface="Calibri"/>
                <a:ea typeface="Calibri"/>
                <a:cs typeface="Calibri"/>
                <a:sym typeface="Calibri"/>
              </a:rPr>
            </a:br>
            <a:br>
              <a:rPr lang="en-US" sz="1300">
                <a:solidFill>
                  <a:srgbClr val="5A6072"/>
                </a:solidFill>
                <a:latin typeface="Calibri"/>
                <a:ea typeface="Calibri"/>
                <a:cs typeface="Calibri"/>
                <a:sym typeface="Calibri"/>
              </a:rPr>
            </a:br>
            <a:r>
              <a:rPr b="1" lang="en-US" sz="1200">
                <a:solidFill>
                  <a:srgbClr val="1F2333"/>
                </a:solidFill>
                <a:latin typeface="Courier New"/>
                <a:ea typeface="Courier New"/>
                <a:cs typeface="Courier New"/>
                <a:sym typeface="Courier New"/>
              </a:rPr>
              <a:t>sorted(list1 + list2) </a:t>
            </a:r>
            <a:r>
              <a:rPr lang="en-US" sz="1200">
                <a:solidFill>
                  <a:srgbClr val="5A6072"/>
                </a:solidFill>
                <a:latin typeface="Calibri"/>
                <a:ea typeface="Calibri"/>
                <a:cs typeface="Calibri"/>
                <a:sym typeface="Calibri"/>
              </a:rPr>
              <a:t>also passes, but it re-sorts data that was already in order.</a:t>
            </a:r>
            <a:endParaRPr sz="1300">
              <a:solidFill>
                <a:schemeClr val="dk1"/>
              </a:solidFill>
              <a:latin typeface="Calibri"/>
              <a:ea typeface="Calibri"/>
              <a:cs typeface="Calibri"/>
              <a:sym typeface="Calibri"/>
            </a:endParaRPr>
          </a:p>
        </p:txBody>
      </p:sp>
      <p:sp>
        <p:nvSpPr>
          <p:cNvPr id="343" name="Google Shape;343;p14"/>
          <p:cNvSpPr/>
          <p:nvPr/>
        </p:nvSpPr>
        <p:spPr>
          <a:xfrm>
            <a:off x="731520" y="5989320"/>
            <a:ext cx="10698480" cy="566928"/>
          </a:xfrm>
          <a:prstGeom prst="roundRect">
            <a:avLst>
              <a:gd fmla="val 8065" name="adj"/>
            </a:avLst>
          </a:prstGeom>
          <a:solidFill>
            <a:srgbClr val="FFFFFF"/>
          </a:solidFill>
          <a:ln cap="flat" cmpd="sng" w="12700">
            <a:solidFill>
              <a:srgbClr val="DDE1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14"/>
          <p:cNvSpPr txBox="1"/>
          <p:nvPr/>
        </p:nvSpPr>
        <p:spPr>
          <a:xfrm>
            <a:off x="1005840" y="6108192"/>
            <a:ext cx="10149840" cy="365760"/>
          </a:xfrm>
          <a:prstGeom prst="rect">
            <a:avLst/>
          </a:prstGeom>
          <a:noFill/>
          <a:ln>
            <a:noFill/>
          </a:ln>
        </p:spPr>
        <p:txBody>
          <a:bodyPr anchorCtr="0" anchor="t" bIns="0" lIns="0" spcFirstLastPara="1" rIns="0" wrap="square" tIns="0">
            <a:noAutofit/>
          </a:bodyPr>
          <a:lstStyle/>
          <a:p>
            <a:pPr indent="0" lvl="0" marL="0" marR="0" rtl="0" algn="l">
              <a:lnSpc>
                <a:spcPct val="146153"/>
              </a:lnSpc>
              <a:spcBef>
                <a:spcPts val="0"/>
              </a:spcBef>
              <a:spcAft>
                <a:spcPts val="0"/>
              </a:spcAft>
              <a:buClr>
                <a:srgbClr val="1F2333"/>
              </a:buClr>
              <a:buSzPts val="1300"/>
              <a:buFont typeface="Calibri"/>
              <a:buNone/>
            </a:pPr>
            <a:r>
              <a:rPr b="1" lang="en-US" sz="1300">
                <a:solidFill>
                  <a:srgbClr val="1F2333"/>
                </a:solidFill>
                <a:latin typeface="Calibri"/>
                <a:ea typeface="Calibri"/>
                <a:cs typeface="Calibri"/>
                <a:sym typeface="Calibri"/>
              </a:rPr>
              <a:t>Common bug:  </a:t>
            </a:r>
            <a:r>
              <a:rPr lang="en-US" sz="1300">
                <a:solidFill>
                  <a:srgbClr val="5A6072"/>
                </a:solidFill>
                <a:latin typeface="Calibri"/>
                <a:ea typeface="Calibri"/>
                <a:cs typeface="Calibri"/>
                <a:sym typeface="Calibri"/>
              </a:rPr>
              <a:t>dropping the leftovers. When one list runs out, everything remaining in the other is already sorted, so append it as is.</a:t>
            </a:r>
            <a:endParaRPr sz="13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2B"/>
        </a:solidFill>
      </p:bgPr>
    </p:bg>
    <p:spTree>
      <p:nvGrpSpPr>
        <p:cNvPr id="349" name="Shape 349"/>
        <p:cNvGrpSpPr/>
        <p:nvPr/>
      </p:nvGrpSpPr>
      <p:grpSpPr>
        <a:xfrm>
          <a:off x="0" y="0"/>
          <a:ext cx="0" cy="0"/>
          <a:chOff x="0" y="0"/>
          <a:chExt cx="0" cy="0"/>
        </a:xfrm>
      </p:grpSpPr>
      <p:sp>
        <p:nvSpPr>
          <p:cNvPr id="350" name="Google Shape;350;p15"/>
          <p:cNvSpPr txBox="1"/>
          <p:nvPr/>
        </p:nvSpPr>
        <p:spPr>
          <a:xfrm>
            <a:off x="777240" y="7772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200"/>
              <a:buFont typeface="Calibri"/>
              <a:buNone/>
            </a:pPr>
            <a:r>
              <a:rPr b="1" lang="en-US" sz="1200">
                <a:solidFill>
                  <a:srgbClr val="FF6B35"/>
                </a:solidFill>
                <a:latin typeface="Calibri"/>
                <a:ea typeface="Calibri"/>
                <a:cs typeface="Calibri"/>
                <a:sym typeface="Calibri"/>
              </a:rPr>
              <a:t>TAKEAWAYS</a:t>
            </a:r>
            <a:endParaRPr sz="1200">
              <a:solidFill>
                <a:schemeClr val="dk1"/>
              </a:solidFill>
              <a:latin typeface="Calibri"/>
              <a:ea typeface="Calibri"/>
              <a:cs typeface="Calibri"/>
              <a:sym typeface="Calibri"/>
            </a:endParaRPr>
          </a:p>
        </p:txBody>
      </p:sp>
      <p:sp>
        <p:nvSpPr>
          <p:cNvPr id="351" name="Google Shape;351;p15"/>
          <p:cNvSpPr txBox="1"/>
          <p:nvPr/>
        </p:nvSpPr>
        <p:spPr>
          <a:xfrm>
            <a:off x="731520" y="1097280"/>
            <a:ext cx="10789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Arial"/>
              <a:buNone/>
            </a:pPr>
            <a:r>
              <a:rPr b="1" lang="en-US" sz="3600">
                <a:solidFill>
                  <a:srgbClr val="FFFFFF"/>
                </a:solidFill>
                <a:latin typeface="Arial"/>
                <a:ea typeface="Arial"/>
                <a:cs typeface="Arial"/>
                <a:sym typeface="Arial"/>
              </a:rPr>
              <a:t>What to remember</a:t>
            </a:r>
            <a:endParaRPr sz="3600">
              <a:solidFill>
                <a:schemeClr val="dk1"/>
              </a:solidFill>
              <a:latin typeface="Calibri"/>
              <a:ea typeface="Calibri"/>
              <a:cs typeface="Calibri"/>
              <a:sym typeface="Calibri"/>
            </a:endParaRPr>
          </a:p>
        </p:txBody>
      </p:sp>
      <p:sp>
        <p:nvSpPr>
          <p:cNvPr id="352" name="Google Shape;352;p15"/>
          <p:cNvSpPr/>
          <p:nvPr/>
        </p:nvSpPr>
        <p:spPr>
          <a:xfrm>
            <a:off x="777240" y="2240280"/>
            <a:ext cx="128016" cy="292608"/>
          </a:xfrm>
          <a:prstGeom prst="roundRect">
            <a:avLst>
              <a:gd fmla="val 35714" name="adj"/>
            </a:avLst>
          </a:prstGeom>
          <a:solidFill>
            <a:srgbClr val="FF6B35"/>
          </a:solidFill>
          <a:ln cap="flat" cmpd="sng" w="12700">
            <a:solidFill>
              <a:srgbClr val="FF6B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15"/>
          <p:cNvSpPr txBox="1"/>
          <p:nvPr/>
        </p:nvSpPr>
        <p:spPr>
          <a:xfrm>
            <a:off x="1234440" y="2148840"/>
            <a:ext cx="10058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E7F3"/>
              </a:buClr>
              <a:buSzPts val="1700"/>
              <a:buFont typeface="Calibri"/>
              <a:buNone/>
            </a:pPr>
            <a:r>
              <a:rPr lang="en-US" sz="1700">
                <a:solidFill>
                  <a:srgbClr val="E4E7F3"/>
                </a:solidFill>
                <a:latin typeface="Calibri"/>
                <a:ea typeface="Calibri"/>
                <a:cs typeface="Calibri"/>
                <a:sym typeface="Calibri"/>
              </a:rPr>
              <a:t>Index access is free. Searching and shifting are not.</a:t>
            </a:r>
            <a:endParaRPr sz="1700">
              <a:solidFill>
                <a:schemeClr val="dk1"/>
              </a:solidFill>
              <a:latin typeface="Calibri"/>
              <a:ea typeface="Calibri"/>
              <a:cs typeface="Calibri"/>
              <a:sym typeface="Calibri"/>
            </a:endParaRPr>
          </a:p>
        </p:txBody>
      </p:sp>
      <p:sp>
        <p:nvSpPr>
          <p:cNvPr id="354" name="Google Shape;354;p15"/>
          <p:cNvSpPr/>
          <p:nvPr/>
        </p:nvSpPr>
        <p:spPr>
          <a:xfrm>
            <a:off x="777240" y="2990088"/>
            <a:ext cx="128016" cy="292608"/>
          </a:xfrm>
          <a:prstGeom prst="roundRect">
            <a:avLst>
              <a:gd fmla="val 35714" name="adj"/>
            </a:avLst>
          </a:prstGeom>
          <a:solidFill>
            <a:srgbClr val="FF6B35"/>
          </a:solidFill>
          <a:ln cap="flat" cmpd="sng" w="12700">
            <a:solidFill>
              <a:srgbClr val="FF6B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15"/>
          <p:cNvSpPr txBox="1"/>
          <p:nvPr/>
        </p:nvSpPr>
        <p:spPr>
          <a:xfrm>
            <a:off x="1234440" y="2898648"/>
            <a:ext cx="10058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E7F3"/>
              </a:buClr>
              <a:buSzPts val="1700"/>
              <a:buFont typeface="Calibri"/>
              <a:buNone/>
            </a:pPr>
            <a:r>
              <a:rPr lang="en-US" sz="1700">
                <a:solidFill>
                  <a:srgbClr val="E4E7F3"/>
                </a:solidFill>
                <a:latin typeface="Calibri"/>
                <a:ea typeface="Calibri"/>
                <a:cs typeface="Calibri"/>
                <a:sym typeface="Calibri"/>
              </a:rPr>
              <a:t>Insert and delete at the end is cheap. In the middle it is a full shift.</a:t>
            </a:r>
            <a:endParaRPr sz="1700">
              <a:solidFill>
                <a:schemeClr val="dk1"/>
              </a:solidFill>
              <a:latin typeface="Calibri"/>
              <a:ea typeface="Calibri"/>
              <a:cs typeface="Calibri"/>
              <a:sym typeface="Calibri"/>
            </a:endParaRPr>
          </a:p>
        </p:txBody>
      </p:sp>
      <p:sp>
        <p:nvSpPr>
          <p:cNvPr id="356" name="Google Shape;356;p15"/>
          <p:cNvSpPr/>
          <p:nvPr/>
        </p:nvSpPr>
        <p:spPr>
          <a:xfrm>
            <a:off x="777240" y="3739896"/>
            <a:ext cx="128016" cy="292608"/>
          </a:xfrm>
          <a:prstGeom prst="roundRect">
            <a:avLst>
              <a:gd fmla="val 35714" name="adj"/>
            </a:avLst>
          </a:prstGeom>
          <a:solidFill>
            <a:srgbClr val="FF6B35"/>
          </a:solidFill>
          <a:ln cap="flat" cmpd="sng" w="12700">
            <a:solidFill>
              <a:srgbClr val="FF6B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7" name="Google Shape;357;p15"/>
          <p:cNvSpPr txBox="1"/>
          <p:nvPr/>
        </p:nvSpPr>
        <p:spPr>
          <a:xfrm>
            <a:off x="1234440" y="3648456"/>
            <a:ext cx="10058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E7F3"/>
              </a:buClr>
              <a:buSzPts val="1700"/>
              <a:buFont typeface="Calibri"/>
              <a:buNone/>
            </a:pPr>
            <a:r>
              <a:rPr lang="en-US" sz="1700">
                <a:solidFill>
                  <a:srgbClr val="E4E7F3"/>
                </a:solidFill>
                <a:latin typeface="Calibri"/>
                <a:ea typeface="Calibri"/>
                <a:cs typeface="Calibri"/>
                <a:sym typeface="Calibri"/>
              </a:rPr>
              <a:t>Two pointers and sliding windows turn nested loops into single passes.</a:t>
            </a:r>
            <a:endParaRPr sz="1700">
              <a:solidFill>
                <a:schemeClr val="dk1"/>
              </a:solidFill>
              <a:latin typeface="Calibri"/>
              <a:ea typeface="Calibri"/>
              <a:cs typeface="Calibri"/>
              <a:sym typeface="Calibri"/>
            </a:endParaRPr>
          </a:p>
        </p:txBody>
      </p:sp>
      <p:sp>
        <p:nvSpPr>
          <p:cNvPr id="358" name="Google Shape;358;p15"/>
          <p:cNvSpPr/>
          <p:nvPr/>
        </p:nvSpPr>
        <p:spPr>
          <a:xfrm>
            <a:off x="777240" y="4489704"/>
            <a:ext cx="128016" cy="292608"/>
          </a:xfrm>
          <a:prstGeom prst="roundRect">
            <a:avLst>
              <a:gd fmla="val 35714" name="adj"/>
            </a:avLst>
          </a:prstGeom>
          <a:solidFill>
            <a:srgbClr val="FF6B35"/>
          </a:solidFill>
          <a:ln cap="flat" cmpd="sng" w="12700">
            <a:solidFill>
              <a:srgbClr val="FF6B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15"/>
          <p:cNvSpPr txBox="1"/>
          <p:nvPr/>
        </p:nvSpPr>
        <p:spPr>
          <a:xfrm>
            <a:off x="1234440" y="4398264"/>
            <a:ext cx="10058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E7F3"/>
              </a:buClr>
              <a:buSzPts val="1700"/>
              <a:buFont typeface="Calibri"/>
              <a:buNone/>
            </a:pPr>
            <a:r>
              <a:rPr lang="en-US" sz="1700">
                <a:solidFill>
                  <a:srgbClr val="E4E7F3"/>
                </a:solidFill>
                <a:latin typeface="Calibri"/>
                <a:ea typeface="Calibri"/>
                <a:cs typeface="Calibri"/>
                <a:sym typeface="Calibri"/>
              </a:rPr>
              <a:t>Choosing between speed and memory out loud is part of the answer.</a:t>
            </a:r>
            <a:endParaRPr sz="17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82B"/>
        </a:solidFill>
      </p:bgPr>
    </p:bg>
    <p:spTree>
      <p:nvGrpSpPr>
        <p:cNvPr id="364" name="Shape 364"/>
        <p:cNvGrpSpPr/>
        <p:nvPr/>
      </p:nvGrpSpPr>
      <p:grpSpPr>
        <a:xfrm>
          <a:off x="0" y="0"/>
          <a:ext cx="0" cy="0"/>
          <a:chOff x="0" y="0"/>
          <a:chExt cx="0" cy="0"/>
        </a:xfrm>
      </p:grpSpPr>
      <p:sp>
        <p:nvSpPr>
          <p:cNvPr id="365" name="Google Shape;365;p16"/>
          <p:cNvSpPr txBox="1"/>
          <p:nvPr/>
        </p:nvSpPr>
        <p:spPr>
          <a:xfrm>
            <a:off x="777240" y="594360"/>
            <a:ext cx="82296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F6B35"/>
                </a:solidFill>
                <a:latin typeface="Calibri"/>
                <a:ea typeface="Calibri"/>
                <a:cs typeface="Calibri"/>
                <a:sym typeface="Calibri"/>
              </a:rPr>
              <a:t>NEXT STEPS</a:t>
            </a:r>
            <a:endParaRPr/>
          </a:p>
        </p:txBody>
      </p:sp>
      <p:sp>
        <p:nvSpPr>
          <p:cNvPr id="366" name="Google Shape;366;p16"/>
          <p:cNvSpPr txBox="1"/>
          <p:nvPr/>
        </p:nvSpPr>
        <p:spPr>
          <a:xfrm>
            <a:off x="731520" y="896112"/>
            <a:ext cx="107899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a:solidFill>
                  <a:srgbClr val="FFFFFF"/>
                </a:solidFill>
                <a:latin typeface="Arial"/>
                <a:ea typeface="Arial"/>
                <a:cs typeface="Arial"/>
                <a:sym typeface="Arial"/>
              </a:rPr>
              <a:t>Where to go from here</a:t>
            </a:r>
            <a:endParaRPr/>
          </a:p>
        </p:txBody>
      </p:sp>
      <p:sp>
        <p:nvSpPr>
          <p:cNvPr id="367" name="Google Shape;367;p16"/>
          <p:cNvSpPr/>
          <p:nvPr/>
        </p:nvSpPr>
        <p:spPr>
          <a:xfrm>
            <a:off x="731520" y="1828800"/>
            <a:ext cx="5166360" cy="2331720"/>
          </a:xfrm>
          <a:prstGeom prst="roundRect">
            <a:avLst>
              <a:gd fmla="val 4000" name="adj"/>
            </a:avLst>
          </a:prstGeom>
          <a:solidFill>
            <a:srgbClr val="232640"/>
          </a:solidFill>
          <a:ln cap="flat" cmpd="sng" w="12700">
            <a:solidFill>
              <a:srgbClr val="3438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 name="Google Shape;368;p16"/>
          <p:cNvSpPr txBox="1"/>
          <p:nvPr/>
        </p:nvSpPr>
        <p:spPr>
          <a:xfrm>
            <a:off x="1024128" y="2057400"/>
            <a:ext cx="45720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a:solidFill>
                  <a:srgbClr val="FFFFFF"/>
                </a:solidFill>
                <a:latin typeface="Arial"/>
                <a:ea typeface="Arial"/>
                <a:cs typeface="Arial"/>
                <a:sym typeface="Arial"/>
              </a:rPr>
              <a:t>Practice these two</a:t>
            </a:r>
            <a:endParaRPr/>
          </a:p>
        </p:txBody>
      </p:sp>
      <p:sp>
        <p:nvSpPr>
          <p:cNvPr id="369" name="Google Shape;369;p16"/>
          <p:cNvSpPr txBox="1"/>
          <p:nvPr/>
        </p:nvSpPr>
        <p:spPr>
          <a:xfrm>
            <a:off x="1024128" y="2542032"/>
            <a:ext cx="457200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FF6B35"/>
                </a:solidFill>
                <a:latin typeface="Courier New"/>
                <a:ea typeface="Courier New"/>
                <a:cs typeface="Courier New"/>
                <a:sym typeface="Courier New"/>
              </a:rPr>
              <a:t>2.5   </a:t>
            </a:r>
            <a:r>
              <a:rPr b="1" i="0" lang="en-US" sz="1500">
                <a:solidFill>
                  <a:srgbClr val="FFFFFF"/>
                </a:solidFill>
                <a:latin typeface="Arial"/>
                <a:ea typeface="Arial"/>
                <a:cs typeface="Arial"/>
                <a:sym typeface="Arial"/>
              </a:rPr>
              <a:t>Combination Sum</a:t>
            </a:r>
            <a:endParaRPr/>
          </a:p>
        </p:txBody>
      </p:sp>
      <p:sp>
        <p:nvSpPr>
          <p:cNvPr id="370" name="Google Shape;370;p16"/>
          <p:cNvSpPr txBox="1"/>
          <p:nvPr/>
        </p:nvSpPr>
        <p:spPr>
          <a:xfrm>
            <a:off x="1024128" y="2843784"/>
            <a:ext cx="45720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50">
                <a:solidFill>
                  <a:srgbClr val="BEC3D8"/>
                </a:solidFill>
                <a:latin typeface="Calibri"/>
                <a:ea typeface="Calibri"/>
                <a:cs typeface="Calibri"/>
                <a:sym typeface="Calibri"/>
              </a:rPr>
              <a:t>recursion over choices, reuse allowed</a:t>
            </a:r>
            <a:endParaRPr/>
          </a:p>
        </p:txBody>
      </p:sp>
      <p:sp>
        <p:nvSpPr>
          <p:cNvPr id="371" name="Google Shape;371;p16"/>
          <p:cNvSpPr txBox="1"/>
          <p:nvPr/>
        </p:nvSpPr>
        <p:spPr>
          <a:xfrm>
            <a:off x="1024128" y="3291839"/>
            <a:ext cx="457200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FF6B35"/>
                </a:solidFill>
                <a:latin typeface="Courier New"/>
                <a:ea typeface="Courier New"/>
                <a:cs typeface="Courier New"/>
                <a:sym typeface="Courier New"/>
              </a:rPr>
              <a:t>2.6   </a:t>
            </a:r>
            <a:r>
              <a:rPr b="1" i="0" lang="en-US" sz="1500">
                <a:solidFill>
                  <a:srgbClr val="FFFFFF"/>
                </a:solidFill>
                <a:latin typeface="Arial"/>
                <a:ea typeface="Arial"/>
                <a:cs typeface="Arial"/>
                <a:sym typeface="Arial"/>
              </a:rPr>
              <a:t>Weave Linked List</a:t>
            </a:r>
            <a:endParaRPr/>
          </a:p>
        </p:txBody>
      </p:sp>
      <p:sp>
        <p:nvSpPr>
          <p:cNvPr id="372" name="Google Shape;372;p16"/>
          <p:cNvSpPr txBox="1"/>
          <p:nvPr/>
        </p:nvSpPr>
        <p:spPr>
          <a:xfrm>
            <a:off x="1024128" y="3593591"/>
            <a:ext cx="45720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50">
                <a:solidFill>
                  <a:srgbClr val="BEC3D8"/>
                </a:solidFill>
                <a:latin typeface="Calibri"/>
                <a:ea typeface="Calibri"/>
                <a:cs typeface="Calibri"/>
                <a:sym typeface="Calibri"/>
              </a:rPr>
              <a:t>rearranging nodes in place</a:t>
            </a:r>
            <a:endParaRPr/>
          </a:p>
        </p:txBody>
      </p:sp>
      <p:sp>
        <p:nvSpPr>
          <p:cNvPr id="373" name="Google Shape;373;p16"/>
          <p:cNvSpPr/>
          <p:nvPr/>
        </p:nvSpPr>
        <p:spPr>
          <a:xfrm>
            <a:off x="6309360" y="1828800"/>
            <a:ext cx="5166360" cy="2331720"/>
          </a:xfrm>
          <a:prstGeom prst="roundRect">
            <a:avLst>
              <a:gd fmla="val 4000" name="adj"/>
            </a:avLst>
          </a:prstGeom>
          <a:solidFill>
            <a:srgbClr val="232640"/>
          </a:solidFill>
          <a:ln cap="flat" cmpd="sng" w="12700">
            <a:solidFill>
              <a:srgbClr val="3438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4" name="Google Shape;374;p16"/>
          <p:cNvSpPr txBox="1"/>
          <p:nvPr/>
        </p:nvSpPr>
        <p:spPr>
          <a:xfrm>
            <a:off x="6601968" y="2057400"/>
            <a:ext cx="45720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a:solidFill>
                  <a:srgbClr val="FFFFFF"/>
                </a:solidFill>
                <a:latin typeface="Arial"/>
                <a:ea typeface="Arial"/>
                <a:cs typeface="Arial"/>
                <a:sym typeface="Arial"/>
              </a:rPr>
              <a:t>If you have time</a:t>
            </a:r>
            <a:endParaRPr/>
          </a:p>
        </p:txBody>
      </p:sp>
      <p:sp>
        <p:nvSpPr>
          <p:cNvPr id="375" name="Google Shape;375;p16"/>
          <p:cNvSpPr txBox="1"/>
          <p:nvPr/>
        </p:nvSpPr>
        <p:spPr>
          <a:xfrm>
            <a:off x="6601968" y="2542032"/>
            <a:ext cx="457200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FF6B35"/>
                </a:solidFill>
                <a:latin typeface="Courier New"/>
                <a:ea typeface="Courier New"/>
                <a:cs typeface="Courier New"/>
                <a:sym typeface="Courier New"/>
              </a:rPr>
              <a:t>2.7   </a:t>
            </a:r>
            <a:r>
              <a:rPr b="1" i="0" lang="en-US" sz="1400">
                <a:solidFill>
                  <a:srgbClr val="FFFFFF"/>
                </a:solidFill>
                <a:latin typeface="Arial"/>
                <a:ea typeface="Arial"/>
                <a:cs typeface="Arial"/>
                <a:sym typeface="Arial"/>
              </a:rPr>
              <a:t>Validate Sudoku</a:t>
            </a:r>
            <a:endParaRPr/>
          </a:p>
        </p:txBody>
      </p:sp>
      <p:sp>
        <p:nvSpPr>
          <p:cNvPr id="376" name="Google Shape;376;p16"/>
          <p:cNvSpPr txBox="1"/>
          <p:nvPr/>
        </p:nvSpPr>
        <p:spPr>
          <a:xfrm>
            <a:off x="6601968" y="2843784"/>
            <a:ext cx="45720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50">
                <a:solidFill>
                  <a:srgbClr val="BEC3D8"/>
                </a:solidFill>
                <a:latin typeface="Calibri"/>
                <a:ea typeface="Calibri"/>
                <a:cs typeface="Calibri"/>
                <a:sym typeface="Calibri"/>
              </a:rPr>
              <a:t>helper sets over rows, columns, boxes</a:t>
            </a:r>
            <a:endParaRPr/>
          </a:p>
        </p:txBody>
      </p:sp>
      <p:sp>
        <p:nvSpPr>
          <p:cNvPr id="377" name="Google Shape;377;p16"/>
          <p:cNvSpPr txBox="1"/>
          <p:nvPr/>
        </p:nvSpPr>
        <p:spPr>
          <a:xfrm>
            <a:off x="6601968" y="3291839"/>
            <a:ext cx="457200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FF6B35"/>
                </a:solidFill>
                <a:latin typeface="Courier New"/>
                <a:ea typeface="Courier New"/>
                <a:cs typeface="Courier New"/>
                <a:sym typeface="Courier New"/>
              </a:rPr>
              <a:t>2.8   </a:t>
            </a:r>
            <a:r>
              <a:rPr b="1" i="0" lang="en-US" sz="1400">
                <a:solidFill>
                  <a:srgbClr val="FFFFFF"/>
                </a:solidFill>
                <a:latin typeface="Arial"/>
                <a:ea typeface="Arial"/>
                <a:cs typeface="Arial"/>
                <a:sym typeface="Arial"/>
              </a:rPr>
              <a:t>Delete Middle Node of Linked List</a:t>
            </a:r>
            <a:endParaRPr/>
          </a:p>
        </p:txBody>
      </p:sp>
      <p:sp>
        <p:nvSpPr>
          <p:cNvPr id="378" name="Google Shape;378;p16"/>
          <p:cNvSpPr txBox="1"/>
          <p:nvPr/>
        </p:nvSpPr>
        <p:spPr>
          <a:xfrm>
            <a:off x="6601968" y="3593591"/>
            <a:ext cx="45720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50">
                <a:solidFill>
                  <a:srgbClr val="BEC3D8"/>
                </a:solidFill>
                <a:latin typeface="Calibri"/>
                <a:ea typeface="Calibri"/>
                <a:cs typeface="Calibri"/>
                <a:sym typeface="Calibri"/>
              </a:rPr>
              <a:t>fast and slow pointers</a:t>
            </a:r>
            <a:endParaRPr/>
          </a:p>
        </p:txBody>
      </p:sp>
      <p:sp>
        <p:nvSpPr>
          <p:cNvPr id="379" name="Google Shape;379;p16"/>
          <p:cNvSpPr/>
          <p:nvPr/>
        </p:nvSpPr>
        <p:spPr>
          <a:xfrm>
            <a:off x="731520" y="4526280"/>
            <a:ext cx="10744200" cy="1325880"/>
          </a:xfrm>
          <a:prstGeom prst="roundRect">
            <a:avLst>
              <a:gd fmla="val 4000" name="adj"/>
            </a:avLst>
          </a:prstGeom>
          <a:solidFill>
            <a:srgbClr val="232640"/>
          </a:solidFill>
          <a:ln cap="flat" cmpd="sng" w="12700">
            <a:solidFill>
              <a:srgbClr val="3438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0" name="Google Shape;380;p16"/>
          <p:cNvSpPr txBox="1"/>
          <p:nvPr/>
        </p:nvSpPr>
        <p:spPr>
          <a:xfrm>
            <a:off x="1024128" y="4754880"/>
            <a:ext cx="8229600"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F6B35"/>
                </a:solidFill>
                <a:latin typeface="Calibri"/>
                <a:ea typeface="Calibri"/>
                <a:cs typeface="Calibri"/>
                <a:sym typeface="Calibri"/>
              </a:rPr>
              <a:t>NEXT WORKSHOP</a:t>
            </a:r>
            <a:endParaRPr/>
          </a:p>
        </p:txBody>
      </p:sp>
      <p:sp>
        <p:nvSpPr>
          <p:cNvPr id="381" name="Google Shape;381;p16"/>
          <p:cNvSpPr txBox="1"/>
          <p:nvPr/>
        </p:nvSpPr>
        <p:spPr>
          <a:xfrm>
            <a:off x="1024128" y="5047488"/>
            <a:ext cx="100584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a:solidFill>
                  <a:srgbClr val="FFFFFF"/>
                </a:solidFill>
                <a:latin typeface="Arial"/>
                <a:ea typeface="Arial"/>
                <a:cs typeface="Arial"/>
                <a:sym typeface="Arial"/>
              </a:rPr>
              <a:t>Strings</a:t>
            </a:r>
            <a:endParaRPr/>
          </a:p>
        </p:txBody>
      </p:sp>
      <p:sp>
        <p:nvSpPr>
          <p:cNvPr id="382" name="Google Shape;382;p16"/>
          <p:cNvSpPr txBox="1"/>
          <p:nvPr/>
        </p:nvSpPr>
        <p:spPr>
          <a:xfrm>
            <a:off x="1024128" y="5468112"/>
            <a:ext cx="1005840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a:solidFill>
                  <a:srgbClr val="BEC3D8"/>
                </a:solidFill>
                <a:latin typeface="Calibri"/>
                <a:ea typeface="Calibri"/>
                <a:cs typeface="Calibri"/>
                <a:sym typeface="Calibri"/>
              </a:rPr>
              <a:t>Same format, built on everything you did today. Come with the four problems above attempted.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2026-09-28T13:58:18Z</dcterms:created>
  <dc:creator>Technical Interviews 101</dc:creator>
</cp:coreProperties>
</file>